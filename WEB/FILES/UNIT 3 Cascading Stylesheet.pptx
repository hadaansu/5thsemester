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3" r:id="rId13"/>
    <p:sldId id="274" r:id="rId14"/>
    <p:sldId id="275" r:id="rId15"/>
    <p:sldId id="276" r:id="rId16"/>
    <p:sldId id="279" r:id="rId17"/>
    <p:sldId id="280" r:id="rId18"/>
    <p:sldId id="281" r:id="rId19"/>
    <p:sldId id="282" r:id="rId20"/>
    <p:sldId id="283" r:id="rId21"/>
    <p:sldId id="284" r:id="rId22"/>
    <p:sldId id="287" r:id="rId23"/>
    <p:sldId id="285" r:id="rId24"/>
    <p:sldId id="286" r:id="rId25"/>
    <p:sldId id="288" r:id="rId26"/>
    <p:sldId id="289" r:id="rId27"/>
    <p:sldId id="290" r:id="rId28"/>
    <p:sldId id="291" r:id="rId29"/>
    <p:sldId id="292" r:id="rId30"/>
    <p:sldId id="293" r:id="rId31"/>
    <p:sldId id="294" r:id="rId32"/>
    <p:sldId id="295" r:id="rId33"/>
    <p:sldId id="296" r:id="rId34"/>
    <p:sldId id="297" r:id="rId35"/>
    <p:sldId id="267" r:id="rId36"/>
    <p:sldId id="268" r:id="rId37"/>
    <p:sldId id="269" r:id="rId38"/>
    <p:sldId id="270" r:id="rId39"/>
    <p:sldId id="271" r:id="rId40"/>
    <p:sldId id="272" r:id="rId41"/>
    <p:sldId id="298" r:id="rId42"/>
    <p:sldId id="299" r:id="rId43"/>
    <p:sldId id="300" r:id="rId44"/>
    <p:sldId id="303" r:id="rId45"/>
    <p:sldId id="301" r:id="rId46"/>
    <p:sldId id="302" r:id="rId47"/>
    <p:sldId id="304" r:id="rId48"/>
    <p:sldId id="312" r:id="rId49"/>
    <p:sldId id="316" r:id="rId50"/>
    <p:sldId id="317" r:id="rId51"/>
    <p:sldId id="320" r:id="rId52"/>
    <p:sldId id="318" r:id="rId53"/>
    <p:sldId id="319" r:id="rId54"/>
    <p:sldId id="322" r:id="rId55"/>
    <p:sldId id="321" r:id="rId56"/>
    <p:sldId id="323" r:id="rId57"/>
    <p:sldId id="334" r:id="rId58"/>
    <p:sldId id="352" r:id="rId59"/>
    <p:sldId id="325" r:id="rId60"/>
    <p:sldId id="329" r:id="rId61"/>
    <p:sldId id="308" r:id="rId62"/>
    <p:sldId id="309" r:id="rId63"/>
    <p:sldId id="315" r:id="rId64"/>
    <p:sldId id="305" r:id="rId65"/>
    <p:sldId id="306" r:id="rId66"/>
    <p:sldId id="307" r:id="rId67"/>
    <p:sldId id="310" r:id="rId68"/>
    <p:sldId id="311" r:id="rId69"/>
    <p:sldId id="313" r:id="rId70"/>
    <p:sldId id="314" r:id="rId71"/>
    <p:sldId id="326" r:id="rId72"/>
    <p:sldId id="330" r:id="rId73"/>
    <p:sldId id="324" r:id="rId74"/>
    <p:sldId id="328" r:id="rId75"/>
    <p:sldId id="327" r:id="rId76"/>
    <p:sldId id="331" r:id="rId77"/>
    <p:sldId id="332" r:id="rId78"/>
    <p:sldId id="333" r:id="rId79"/>
    <p:sldId id="335" r:id="rId80"/>
    <p:sldId id="336" r:id="rId81"/>
    <p:sldId id="337" r:id="rId82"/>
    <p:sldId id="338" r:id="rId83"/>
    <p:sldId id="339" r:id="rId84"/>
    <p:sldId id="348" r:id="rId85"/>
    <p:sldId id="340" r:id="rId86"/>
    <p:sldId id="349" r:id="rId87"/>
    <p:sldId id="341" r:id="rId88"/>
    <p:sldId id="350" r:id="rId89"/>
    <p:sldId id="342" r:id="rId90"/>
    <p:sldId id="351" r:id="rId91"/>
    <p:sldId id="343" r:id="rId92"/>
    <p:sldId id="353" r:id="rId93"/>
    <p:sldId id="354" r:id="rId94"/>
    <p:sldId id="355" r:id="rId95"/>
    <p:sldId id="356" r:id="rId96"/>
    <p:sldId id="357" r:id="rId97"/>
    <p:sldId id="359" r:id="rId98"/>
    <p:sldId id="358" r:id="rId99"/>
    <p:sldId id="344" r:id="rId100"/>
    <p:sldId id="345" r:id="rId101"/>
    <p:sldId id="346" r:id="rId102"/>
    <p:sldId id="347" r:id="rId103"/>
    <p:sldId id="360" r:id="rId10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59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227" autoAdjust="0"/>
    <p:restoredTop sz="94660"/>
  </p:normalViewPr>
  <p:slideViewPr>
    <p:cSldViewPr snapToGrid="0">
      <p:cViewPr>
        <p:scale>
          <a:sx n="100" d="100"/>
          <a:sy n="100" d="100"/>
        </p:scale>
        <p:origin x="-283"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2961329-2A18-4135-9351-4CCEDE2F4933}"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3A833-81D4-4036-A406-8BFB522E0C9A}" type="slidenum">
              <a:rPr lang="en-US" smtClean="0"/>
              <a:t>‹#›</a:t>
            </a:fld>
            <a:endParaRPr lang="en-US"/>
          </a:p>
        </p:txBody>
      </p:sp>
    </p:spTree>
    <p:extLst>
      <p:ext uri="{BB962C8B-B14F-4D97-AF65-F5344CB8AC3E}">
        <p14:creationId xmlns:p14="http://schemas.microsoft.com/office/powerpoint/2010/main" val="4231933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961329-2A18-4135-9351-4CCEDE2F4933}"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3A833-81D4-4036-A406-8BFB522E0C9A}" type="slidenum">
              <a:rPr lang="en-US" smtClean="0"/>
              <a:t>‹#›</a:t>
            </a:fld>
            <a:endParaRPr lang="en-US"/>
          </a:p>
        </p:txBody>
      </p:sp>
    </p:spTree>
    <p:extLst>
      <p:ext uri="{BB962C8B-B14F-4D97-AF65-F5344CB8AC3E}">
        <p14:creationId xmlns:p14="http://schemas.microsoft.com/office/powerpoint/2010/main" val="1683956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961329-2A18-4135-9351-4CCEDE2F4933}"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3A833-81D4-4036-A406-8BFB522E0C9A}" type="slidenum">
              <a:rPr lang="en-US" smtClean="0"/>
              <a:t>‹#›</a:t>
            </a:fld>
            <a:endParaRPr lang="en-US"/>
          </a:p>
        </p:txBody>
      </p:sp>
    </p:spTree>
    <p:extLst>
      <p:ext uri="{BB962C8B-B14F-4D97-AF65-F5344CB8AC3E}">
        <p14:creationId xmlns:p14="http://schemas.microsoft.com/office/powerpoint/2010/main" val="3863612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2961329-2A18-4135-9351-4CCEDE2F4933}"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33A833-81D4-4036-A406-8BFB522E0C9A}" type="slidenum">
              <a:rPr lang="en-US" smtClean="0"/>
              <a:t>‹#›</a:t>
            </a:fld>
            <a:endParaRPr lang="en-US"/>
          </a:p>
        </p:txBody>
      </p:sp>
    </p:spTree>
    <p:extLst>
      <p:ext uri="{BB962C8B-B14F-4D97-AF65-F5344CB8AC3E}">
        <p14:creationId xmlns:p14="http://schemas.microsoft.com/office/powerpoint/2010/main" val="2437070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2961329-2A18-4135-9351-4CCEDE2F4933}" type="datetimeFigureOut">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833A833-81D4-4036-A406-8BFB522E0C9A}" type="slidenum">
              <a:rPr lang="en-US" smtClean="0"/>
              <a:t>‹#›</a:t>
            </a:fld>
            <a:endParaRPr lang="en-US"/>
          </a:p>
        </p:txBody>
      </p:sp>
    </p:spTree>
    <p:extLst>
      <p:ext uri="{BB962C8B-B14F-4D97-AF65-F5344CB8AC3E}">
        <p14:creationId xmlns:p14="http://schemas.microsoft.com/office/powerpoint/2010/main" val="3837348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2961329-2A18-4135-9351-4CCEDE2F4933}"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833A833-81D4-4036-A406-8BFB522E0C9A}" type="slidenum">
              <a:rPr lang="en-US" smtClean="0"/>
              <a:t>‹#›</a:t>
            </a:fld>
            <a:endParaRPr lang="en-US"/>
          </a:p>
        </p:txBody>
      </p:sp>
    </p:spTree>
    <p:extLst>
      <p:ext uri="{BB962C8B-B14F-4D97-AF65-F5344CB8AC3E}">
        <p14:creationId xmlns:p14="http://schemas.microsoft.com/office/powerpoint/2010/main" val="177240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961329-2A18-4135-9351-4CCEDE2F4933}" type="datetimeFigureOut">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833A833-81D4-4036-A406-8BFB522E0C9A}" type="slidenum">
              <a:rPr lang="en-US" smtClean="0"/>
              <a:t>‹#›</a:t>
            </a:fld>
            <a:endParaRPr lang="en-US"/>
          </a:p>
        </p:txBody>
      </p:sp>
    </p:spTree>
    <p:extLst>
      <p:ext uri="{BB962C8B-B14F-4D97-AF65-F5344CB8AC3E}">
        <p14:creationId xmlns:p14="http://schemas.microsoft.com/office/powerpoint/2010/main" val="1323683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2961329-2A18-4135-9351-4CCEDE2F4933}"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33A833-81D4-4036-A406-8BFB522E0C9A}" type="slidenum">
              <a:rPr lang="en-US" smtClean="0"/>
              <a:t>‹#›</a:t>
            </a:fld>
            <a:endParaRPr lang="en-US"/>
          </a:p>
        </p:txBody>
      </p:sp>
    </p:spTree>
    <p:extLst>
      <p:ext uri="{BB962C8B-B14F-4D97-AF65-F5344CB8AC3E}">
        <p14:creationId xmlns:p14="http://schemas.microsoft.com/office/powerpoint/2010/main" val="3243961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2961329-2A18-4135-9351-4CCEDE2F4933}"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33A833-81D4-4036-A406-8BFB522E0C9A}" type="slidenum">
              <a:rPr lang="en-US" smtClean="0"/>
              <a:t>‹#›</a:t>
            </a:fld>
            <a:endParaRPr lang="en-US"/>
          </a:p>
        </p:txBody>
      </p:sp>
    </p:spTree>
    <p:extLst>
      <p:ext uri="{BB962C8B-B14F-4D97-AF65-F5344CB8AC3E}">
        <p14:creationId xmlns:p14="http://schemas.microsoft.com/office/powerpoint/2010/main" val="2610126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961329-2A18-4135-9351-4CCEDE2F4933}"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3A833-81D4-4036-A406-8BFB522E0C9A}" type="slidenum">
              <a:rPr lang="en-US" smtClean="0"/>
              <a:t>‹#›</a:t>
            </a:fld>
            <a:endParaRPr lang="en-US"/>
          </a:p>
        </p:txBody>
      </p:sp>
    </p:spTree>
    <p:extLst>
      <p:ext uri="{BB962C8B-B14F-4D97-AF65-F5344CB8AC3E}">
        <p14:creationId xmlns:p14="http://schemas.microsoft.com/office/powerpoint/2010/main" val="186280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961329-2A18-4135-9351-4CCEDE2F4933}"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3A833-81D4-4036-A406-8BFB522E0C9A}"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1663892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961329-2A18-4135-9351-4CCEDE2F4933}"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3A833-81D4-4036-A406-8BFB522E0C9A}" type="slidenum">
              <a:rPr lang="en-US" smtClean="0"/>
              <a:t>‹#›</a:t>
            </a:fld>
            <a:endParaRPr lang="en-US"/>
          </a:p>
        </p:txBody>
      </p:sp>
    </p:spTree>
    <p:extLst>
      <p:ext uri="{BB962C8B-B14F-4D97-AF65-F5344CB8AC3E}">
        <p14:creationId xmlns:p14="http://schemas.microsoft.com/office/powerpoint/2010/main" val="30665773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961329-2A18-4135-9351-4CCEDE2F4933}"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3A833-81D4-4036-A406-8BFB522E0C9A}"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728037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961329-2A18-4135-9351-4CCEDE2F4933}"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3A833-81D4-4036-A406-8BFB522E0C9A}" type="slidenum">
              <a:rPr lang="en-US" smtClean="0"/>
              <a:t>‹#›</a:t>
            </a:fld>
            <a:endParaRPr lang="en-US"/>
          </a:p>
        </p:txBody>
      </p:sp>
    </p:spTree>
    <p:extLst>
      <p:ext uri="{BB962C8B-B14F-4D97-AF65-F5344CB8AC3E}">
        <p14:creationId xmlns:p14="http://schemas.microsoft.com/office/powerpoint/2010/main" val="39333418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961329-2A18-4135-9351-4CCEDE2F4933}"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3A833-81D4-4036-A406-8BFB522E0C9A}" type="slidenum">
              <a:rPr lang="en-US" smtClean="0"/>
              <a:t>‹#›</a:t>
            </a:fld>
            <a:endParaRPr lang="en-US"/>
          </a:p>
        </p:txBody>
      </p:sp>
    </p:spTree>
    <p:extLst>
      <p:ext uri="{BB962C8B-B14F-4D97-AF65-F5344CB8AC3E}">
        <p14:creationId xmlns:p14="http://schemas.microsoft.com/office/powerpoint/2010/main" val="24165950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961329-2A18-4135-9351-4CCEDE2F4933}"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3A833-81D4-4036-A406-8BFB522E0C9A}" type="slidenum">
              <a:rPr lang="en-US" smtClean="0"/>
              <a:t>‹#›</a:t>
            </a:fld>
            <a:endParaRPr lang="en-US"/>
          </a:p>
        </p:txBody>
      </p:sp>
    </p:spTree>
    <p:extLst>
      <p:ext uri="{BB962C8B-B14F-4D97-AF65-F5344CB8AC3E}">
        <p14:creationId xmlns:p14="http://schemas.microsoft.com/office/powerpoint/2010/main" val="3968654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2961329-2A18-4135-9351-4CCEDE2F4933}" type="datetimeFigureOut">
              <a:rPr lang="en-US" smtClean="0"/>
              <a:t>1/22/2025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833A833-81D4-4036-A406-8BFB522E0C9A}" type="slidenum">
              <a:rPr lang="en-US" smtClean="0"/>
              <a:t>‹#›</a:t>
            </a:fld>
            <a:endParaRPr lang="en-US"/>
          </a:p>
        </p:txBody>
      </p:sp>
    </p:spTree>
    <p:extLst>
      <p:ext uri="{BB962C8B-B14F-4D97-AF65-F5344CB8AC3E}">
        <p14:creationId xmlns:p14="http://schemas.microsoft.com/office/powerpoint/2010/main" val="144198793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hyperlink" Target="https://www.geeksforgeeks.org/css-box-shadow-property/" TargetMode="Externa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9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hyperlink" Target="https://www.geeksforgeeks.org/css-box-shadow-property/" TargetMode="Externa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9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Unit 3</a:t>
            </a:r>
            <a:br>
              <a:rPr lang="en-US" b="1" dirty="0"/>
            </a:br>
            <a:r>
              <a:rPr lang="en-US" b="1" dirty="0"/>
              <a:t>Cascading Style Sheet</a:t>
            </a:r>
          </a:p>
        </p:txBody>
      </p:sp>
      <p:sp>
        <p:nvSpPr>
          <p:cNvPr id="3" name="Subtitle 2"/>
          <p:cNvSpPr>
            <a:spLocks noGrp="1"/>
          </p:cNvSpPr>
          <p:nvPr>
            <p:ph type="subTitle" idx="1"/>
          </p:nvPr>
        </p:nvSpPr>
        <p:spPr/>
        <p:txBody>
          <a:bodyPr/>
          <a:lstStyle/>
          <a:p>
            <a:r>
              <a:rPr lang="en-US" dirty="0"/>
              <a:t>Prepared by: Yachu Shakya</a:t>
            </a:r>
          </a:p>
          <a:p>
            <a:endParaRPr lang="en-US" dirty="0"/>
          </a:p>
        </p:txBody>
      </p:sp>
    </p:spTree>
    <p:extLst>
      <p:ext uri="{BB962C8B-B14F-4D97-AF65-F5344CB8AC3E}">
        <p14:creationId xmlns:p14="http://schemas.microsoft.com/office/powerpoint/2010/main" val="2958331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(Cascading Style Sheets)</a:t>
            </a:r>
          </a:p>
        </p:txBody>
      </p:sp>
      <p:sp>
        <p:nvSpPr>
          <p:cNvPr id="3" name="Content Placeholder 2"/>
          <p:cNvSpPr>
            <a:spLocks noGrp="1"/>
          </p:cNvSpPr>
          <p:nvPr>
            <p:ph idx="1"/>
          </p:nvPr>
        </p:nvSpPr>
        <p:spPr/>
        <p:txBody>
          <a:bodyPr/>
          <a:lstStyle/>
          <a:p>
            <a:pPr algn="just"/>
            <a:r>
              <a:rPr lang="en-US" dirty="0"/>
              <a:t>CSS (Cascading Style Sheets) is a stylesheet language used for describing the presentation and formatting of a document written in HTML or XML. It is used to control the layout, design, and appearance of web pages.</a:t>
            </a:r>
          </a:p>
          <a:p>
            <a:pPr algn="just"/>
            <a:r>
              <a:rPr lang="en-US" dirty="0"/>
              <a:t>CSS works by selecting HTML elements and applying specific styles to them. These styles define how the elements should be displayed on the screen, including properties such as color, font, size, spacing, and positioning.</a:t>
            </a:r>
          </a:p>
        </p:txBody>
      </p:sp>
    </p:spTree>
    <p:extLst>
      <p:ext uri="{BB962C8B-B14F-4D97-AF65-F5344CB8AC3E}">
        <p14:creationId xmlns:p14="http://schemas.microsoft.com/office/powerpoint/2010/main" val="3530910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Syntax</a:t>
            </a:r>
          </a:p>
        </p:txBody>
      </p:sp>
      <p:sp>
        <p:nvSpPr>
          <p:cNvPr id="3" name="Content Placeholder 2"/>
          <p:cNvSpPr>
            <a:spLocks noGrp="1"/>
          </p:cNvSpPr>
          <p:nvPr>
            <p:ph idx="1"/>
          </p:nvPr>
        </p:nvSpPr>
        <p:spPr/>
        <p:txBody>
          <a:bodyPr/>
          <a:lstStyle/>
          <a:p>
            <a:r>
              <a:rPr lang="en-US" dirty="0"/>
              <a:t>The selector points to the HTML element you want to style.</a:t>
            </a:r>
          </a:p>
          <a:p>
            <a:r>
              <a:rPr lang="en-US" dirty="0"/>
              <a:t>The declaration block contains one or more declarations separated by semicolons.</a:t>
            </a:r>
          </a:p>
          <a:p>
            <a:r>
              <a:rPr lang="en-US" dirty="0"/>
              <a:t>Each declaration includes a CSS property name and a value, separated by a colon.</a:t>
            </a:r>
          </a:p>
          <a:p>
            <a:r>
              <a:rPr lang="en-US" dirty="0"/>
              <a:t>Multiple CSS declarations are separated with semicolons, and declaration blocks are surrounded by curly braces.</a:t>
            </a:r>
          </a:p>
          <a:p>
            <a:endParaRPr lang="en-US" dirty="0"/>
          </a:p>
        </p:txBody>
      </p:sp>
      <p:pic>
        <p:nvPicPr>
          <p:cNvPr id="4" name="Picture 3"/>
          <p:cNvPicPr>
            <a:picLocks noChangeAspect="1"/>
          </p:cNvPicPr>
          <p:nvPr/>
        </p:nvPicPr>
        <p:blipFill>
          <a:blip r:embed="rId2"/>
          <a:stretch>
            <a:fillRect/>
          </a:stretch>
        </p:blipFill>
        <p:spPr>
          <a:xfrm>
            <a:off x="3264050" y="5080913"/>
            <a:ext cx="6040205" cy="1498080"/>
          </a:xfrm>
          <a:prstGeom prst="rect">
            <a:avLst/>
          </a:prstGeom>
        </p:spPr>
      </p:pic>
    </p:spTree>
    <p:extLst>
      <p:ext uri="{BB962C8B-B14F-4D97-AF65-F5344CB8AC3E}">
        <p14:creationId xmlns:p14="http://schemas.microsoft.com/office/powerpoint/2010/main" val="1193319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To Add CSS</a:t>
            </a:r>
          </a:p>
        </p:txBody>
      </p:sp>
      <p:sp>
        <p:nvSpPr>
          <p:cNvPr id="3" name="Content Placeholder 2"/>
          <p:cNvSpPr>
            <a:spLocks noGrp="1"/>
          </p:cNvSpPr>
          <p:nvPr>
            <p:ph idx="1"/>
          </p:nvPr>
        </p:nvSpPr>
        <p:spPr/>
        <p:txBody>
          <a:bodyPr/>
          <a:lstStyle/>
          <a:p>
            <a:pPr marL="0" indent="0">
              <a:buNone/>
            </a:pPr>
            <a:r>
              <a:rPr lang="en-US" dirty="0"/>
              <a:t>There are three ways of inserting a style sheet:</a:t>
            </a:r>
          </a:p>
          <a:p>
            <a:r>
              <a:rPr lang="en-US" b="1" dirty="0"/>
              <a:t>Inline CSS</a:t>
            </a:r>
          </a:p>
          <a:p>
            <a:r>
              <a:rPr lang="en-US" b="1" dirty="0"/>
              <a:t>Internal CSS</a:t>
            </a:r>
          </a:p>
          <a:p>
            <a:r>
              <a:rPr lang="en-US" b="1" dirty="0"/>
              <a:t>External CSS</a:t>
            </a:r>
          </a:p>
          <a:p>
            <a:endParaRPr lang="en-US" b="1" dirty="0"/>
          </a:p>
          <a:p>
            <a:endParaRPr lang="en-US" b="1" dirty="0"/>
          </a:p>
        </p:txBody>
      </p:sp>
    </p:spTree>
    <p:extLst>
      <p:ext uri="{BB962C8B-B14F-4D97-AF65-F5344CB8AC3E}">
        <p14:creationId xmlns:p14="http://schemas.microsoft.com/office/powerpoint/2010/main" val="793130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Inline CSS</a:t>
            </a:r>
          </a:p>
        </p:txBody>
      </p:sp>
      <p:sp>
        <p:nvSpPr>
          <p:cNvPr id="3" name="Content Placeholder 2"/>
          <p:cNvSpPr>
            <a:spLocks noGrp="1"/>
          </p:cNvSpPr>
          <p:nvPr>
            <p:ph idx="1"/>
          </p:nvPr>
        </p:nvSpPr>
        <p:spPr/>
        <p:txBody>
          <a:bodyPr/>
          <a:lstStyle/>
          <a:p>
            <a:pPr algn="just"/>
            <a:r>
              <a:rPr lang="en-US" dirty="0"/>
              <a:t>Inline CSS is a method of applying styles directly to individual HTML elements</a:t>
            </a:r>
          </a:p>
          <a:p>
            <a:pPr marL="0" indent="0" algn="just">
              <a:buNone/>
            </a:pPr>
            <a:r>
              <a:rPr lang="en-US" dirty="0"/>
              <a:t>&lt;p </a:t>
            </a:r>
            <a:r>
              <a:rPr lang="en-US" b="1" dirty="0"/>
              <a:t>style="color: blue; font-size: 18px; text-align: center;"</a:t>
            </a:r>
            <a:r>
              <a:rPr lang="en-US" dirty="0"/>
              <a:t>&gt;This is a paragraph with inline CSS.&lt;/p&gt;</a:t>
            </a:r>
          </a:p>
          <a:p>
            <a:pPr marL="0" indent="0" algn="just">
              <a:buNone/>
            </a:pPr>
            <a:r>
              <a:rPr lang="en-US" dirty="0"/>
              <a:t>In the example above, the &lt;p&gt; element has inline CSS applied to it. The style attribute contains multiple CSS property-value pairs separated by semicolons.</a:t>
            </a:r>
          </a:p>
          <a:p>
            <a:pPr marL="0" indent="0" algn="just">
              <a:buNone/>
            </a:pPr>
            <a:endParaRPr lang="en-US" dirty="0"/>
          </a:p>
          <a:p>
            <a:pPr marL="0" indent="0" algn="just">
              <a:buNone/>
            </a:pPr>
            <a:endParaRPr lang="en-US" dirty="0"/>
          </a:p>
        </p:txBody>
      </p:sp>
    </p:spTree>
    <p:extLst>
      <p:ext uri="{BB962C8B-B14F-4D97-AF65-F5344CB8AC3E}">
        <p14:creationId xmlns:p14="http://schemas.microsoft.com/office/powerpoint/2010/main" val="1792402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Inline CSS</a:t>
            </a:r>
          </a:p>
        </p:txBody>
      </p:sp>
      <p:sp>
        <p:nvSpPr>
          <p:cNvPr id="3" name="Content Placeholder 2"/>
          <p:cNvSpPr>
            <a:spLocks noGrp="1"/>
          </p:cNvSpPr>
          <p:nvPr>
            <p:ph idx="1"/>
          </p:nvPr>
        </p:nvSpPr>
        <p:spPr>
          <a:xfrm>
            <a:off x="838200" y="1571101"/>
            <a:ext cx="10515600" cy="4351338"/>
          </a:xfrm>
        </p:spPr>
        <p:txBody>
          <a:bodyPr>
            <a:normAutofit/>
          </a:bodyPr>
          <a:lstStyle/>
          <a:p>
            <a:pPr algn="just"/>
            <a:endParaRPr lang="en-US" dirty="0"/>
          </a:p>
          <a:p>
            <a:pPr algn="just"/>
            <a:r>
              <a:rPr lang="en-US" dirty="0"/>
              <a:t>The color property is set to "blue," which will make the text inside the paragraph appear in blue.</a:t>
            </a:r>
          </a:p>
          <a:p>
            <a:pPr algn="just"/>
            <a:r>
              <a:rPr lang="en-US" dirty="0"/>
              <a:t>The font-size property is set to "18px," which will make the text size larger than the default size.</a:t>
            </a:r>
          </a:p>
          <a:p>
            <a:pPr algn="just"/>
            <a:r>
              <a:rPr lang="en-US" dirty="0"/>
              <a:t>The text-align property is set to "center," which will align the text in the center of the paragraph.</a:t>
            </a:r>
          </a:p>
          <a:p>
            <a:pPr algn="just"/>
            <a:r>
              <a:rPr lang="en-US" dirty="0"/>
              <a:t>You can add or modify CSS properties within the style attribute to customize the appearance of the element. However, keep in mind that using inline CSS for extensive styling can become cumbersome and harder to maintain compared to using external or internal CSS stylesheets.</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p:txBody>
      </p:sp>
    </p:spTree>
    <p:extLst>
      <p:ext uri="{BB962C8B-B14F-4D97-AF65-F5344CB8AC3E}">
        <p14:creationId xmlns:p14="http://schemas.microsoft.com/office/powerpoint/2010/main" val="3022997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t>Internal CSS</a:t>
            </a:r>
          </a:p>
        </p:txBody>
      </p:sp>
      <p:sp>
        <p:nvSpPr>
          <p:cNvPr id="3" name="Content Placeholder 2"/>
          <p:cNvSpPr>
            <a:spLocks noGrp="1"/>
          </p:cNvSpPr>
          <p:nvPr>
            <p:ph sz="half" idx="1"/>
          </p:nvPr>
        </p:nvSpPr>
        <p:spPr/>
        <p:txBody>
          <a:bodyPr>
            <a:normAutofit fontScale="77500" lnSpcReduction="20000"/>
          </a:bodyPr>
          <a:lstStyle/>
          <a:p>
            <a:pPr marL="0" indent="0" algn="just">
              <a:buNone/>
            </a:pPr>
            <a:r>
              <a:rPr lang="en-US" dirty="0"/>
              <a:t>Internal CSS is a method of defining styles within the &lt;style&gt; tags in the &lt;head&gt; section of an HTML document. Here's an example of internal CSS:</a:t>
            </a:r>
          </a:p>
          <a:p>
            <a:pPr marL="0" indent="0" algn="just">
              <a:buNone/>
            </a:pPr>
            <a:r>
              <a:rPr lang="en-US" dirty="0"/>
              <a:t>&lt;!DOCTYPE html&gt;</a:t>
            </a:r>
          </a:p>
          <a:p>
            <a:pPr marL="0" indent="0" algn="just">
              <a:buNone/>
            </a:pPr>
            <a:r>
              <a:rPr lang="en-US" dirty="0"/>
              <a:t>&lt;html&gt;</a:t>
            </a:r>
          </a:p>
          <a:p>
            <a:pPr marL="0" indent="0" algn="just">
              <a:buNone/>
            </a:pPr>
            <a:r>
              <a:rPr lang="en-US" dirty="0"/>
              <a:t>&lt;head&gt;</a:t>
            </a:r>
          </a:p>
          <a:p>
            <a:pPr marL="0" indent="0" algn="just">
              <a:buNone/>
            </a:pPr>
            <a:r>
              <a:rPr lang="en-US" b="1" dirty="0"/>
              <a:t>  &lt;style&gt;</a:t>
            </a:r>
          </a:p>
          <a:p>
            <a:pPr marL="0" indent="0" algn="just">
              <a:buNone/>
            </a:pPr>
            <a:r>
              <a:rPr lang="en-US" b="1" dirty="0"/>
              <a:t>    p {</a:t>
            </a:r>
          </a:p>
          <a:p>
            <a:pPr marL="0" indent="0" algn="just">
              <a:buNone/>
            </a:pPr>
            <a:r>
              <a:rPr lang="en-US" b="1" dirty="0"/>
              <a:t>      color: blue;</a:t>
            </a:r>
          </a:p>
          <a:p>
            <a:pPr marL="0" indent="0" algn="just">
              <a:buNone/>
            </a:pPr>
            <a:r>
              <a:rPr lang="en-US" b="1" dirty="0"/>
              <a:t>      font-size: 18px;</a:t>
            </a:r>
          </a:p>
          <a:p>
            <a:pPr marL="0" indent="0" algn="just">
              <a:buNone/>
            </a:pPr>
            <a:r>
              <a:rPr lang="en-US" b="1" dirty="0"/>
              <a:t>      text-align: center;</a:t>
            </a:r>
          </a:p>
          <a:p>
            <a:pPr marL="0" indent="0" algn="just">
              <a:buNone/>
            </a:pPr>
            <a:r>
              <a:rPr lang="en-US" b="1" dirty="0"/>
              <a:t>    }</a:t>
            </a:r>
          </a:p>
          <a:p>
            <a:pPr marL="0" indent="0" algn="just">
              <a:buNone/>
            </a:pPr>
            <a:r>
              <a:rPr lang="en-US" b="1" dirty="0"/>
              <a:t>  &lt;/style&gt;</a:t>
            </a:r>
          </a:p>
          <a:p>
            <a:pPr marL="0" indent="0" algn="just">
              <a:buNone/>
            </a:pPr>
            <a:endParaRPr lang="en-US" dirty="0"/>
          </a:p>
        </p:txBody>
      </p:sp>
      <p:sp>
        <p:nvSpPr>
          <p:cNvPr id="6" name="Content Placeholder 5"/>
          <p:cNvSpPr>
            <a:spLocks noGrp="1"/>
          </p:cNvSpPr>
          <p:nvPr>
            <p:ph sz="half" idx="2"/>
          </p:nvPr>
        </p:nvSpPr>
        <p:spPr/>
        <p:txBody>
          <a:bodyPr>
            <a:normAutofit fontScale="77500" lnSpcReduction="20000"/>
          </a:bodyPr>
          <a:lstStyle/>
          <a:p>
            <a:pPr marL="0" indent="0">
              <a:buNone/>
            </a:pPr>
            <a:r>
              <a:rPr lang="en-US" dirty="0"/>
              <a:t>&lt;/head&gt;</a:t>
            </a:r>
          </a:p>
          <a:p>
            <a:pPr marL="0" indent="0">
              <a:buNone/>
            </a:pPr>
            <a:r>
              <a:rPr lang="en-US" dirty="0"/>
              <a:t>&lt;body&gt;</a:t>
            </a:r>
          </a:p>
          <a:p>
            <a:pPr marL="0" indent="0">
              <a:buNone/>
            </a:pPr>
            <a:r>
              <a:rPr lang="en-US" dirty="0"/>
              <a:t>  &lt;p&gt;This is a paragraph with internal CSS.&lt;/p&gt;</a:t>
            </a:r>
          </a:p>
          <a:p>
            <a:pPr marL="0" indent="0">
              <a:buNone/>
            </a:pPr>
            <a:r>
              <a:rPr lang="en-US" dirty="0"/>
              <a:t>&lt;/body&gt;</a:t>
            </a:r>
          </a:p>
          <a:p>
            <a:pPr marL="0" indent="0">
              <a:buNone/>
            </a:pPr>
            <a:r>
              <a:rPr lang="en-US" dirty="0"/>
              <a:t>&lt;/html&gt;</a:t>
            </a:r>
          </a:p>
        </p:txBody>
      </p:sp>
    </p:spTree>
    <p:extLst>
      <p:ext uri="{BB962C8B-B14F-4D97-AF65-F5344CB8AC3E}">
        <p14:creationId xmlns:p14="http://schemas.microsoft.com/office/powerpoint/2010/main" val="1582684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t>Internal CSS</a:t>
            </a:r>
            <a:endParaRPr lang="en-US" dirty="0"/>
          </a:p>
        </p:txBody>
      </p:sp>
      <p:sp>
        <p:nvSpPr>
          <p:cNvPr id="6" name="Content Placeholder 5"/>
          <p:cNvSpPr>
            <a:spLocks noGrp="1"/>
          </p:cNvSpPr>
          <p:nvPr>
            <p:ph idx="1"/>
          </p:nvPr>
        </p:nvSpPr>
        <p:spPr/>
        <p:txBody>
          <a:bodyPr>
            <a:normAutofit fontScale="92500" lnSpcReduction="10000"/>
          </a:bodyPr>
          <a:lstStyle/>
          <a:p>
            <a:pPr marL="0" indent="0" algn="just">
              <a:buNone/>
            </a:pPr>
            <a:r>
              <a:rPr lang="en-US" dirty="0"/>
              <a:t>In the example above, the styles for the &lt;p&gt; element are defined within the &lt;style&gt; tags in the &lt;head&gt; section of the HTML document.</a:t>
            </a:r>
          </a:p>
          <a:p>
            <a:pPr algn="just"/>
            <a:endParaRPr lang="en-US" dirty="0"/>
          </a:p>
          <a:p>
            <a:pPr algn="just"/>
            <a:r>
              <a:rPr lang="en-US" dirty="0"/>
              <a:t>The p selector targets all &lt;p&gt; elements.</a:t>
            </a:r>
          </a:p>
          <a:p>
            <a:pPr algn="just"/>
            <a:r>
              <a:rPr lang="en-US" dirty="0"/>
              <a:t>The color property is set to "blue," which will make the text inside the paragraphs appear in blue.</a:t>
            </a:r>
          </a:p>
          <a:p>
            <a:pPr algn="just"/>
            <a:r>
              <a:rPr lang="en-US" dirty="0"/>
              <a:t>The font-size property is set to "18px," which will make the text size larger than the default size.</a:t>
            </a:r>
          </a:p>
          <a:p>
            <a:pPr algn="just"/>
            <a:r>
              <a:rPr lang="en-US" dirty="0"/>
              <a:t>The text-align property is set to "center," which will align the text in the center of the paragraphs.</a:t>
            </a:r>
          </a:p>
          <a:p>
            <a:pPr algn="just"/>
            <a:r>
              <a:rPr lang="en-US" dirty="0"/>
              <a:t>By placing the styles within the &lt;style&gt; tags in the &lt;head&gt; section, the defined styles will be applied to all &lt;p&gt; elements within the HTML document</a:t>
            </a:r>
          </a:p>
        </p:txBody>
      </p:sp>
    </p:spTree>
    <p:extLst>
      <p:ext uri="{BB962C8B-B14F-4D97-AF65-F5344CB8AC3E}">
        <p14:creationId xmlns:p14="http://schemas.microsoft.com/office/powerpoint/2010/main" val="842400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External CSS</a:t>
            </a:r>
            <a:endParaRPr lang="en-US" dirty="0"/>
          </a:p>
        </p:txBody>
      </p:sp>
      <p:sp>
        <p:nvSpPr>
          <p:cNvPr id="5" name="Content Placeholder 4"/>
          <p:cNvSpPr>
            <a:spLocks noGrp="1"/>
          </p:cNvSpPr>
          <p:nvPr>
            <p:ph sz="half" idx="1"/>
          </p:nvPr>
        </p:nvSpPr>
        <p:spPr>
          <a:xfrm>
            <a:off x="1131217" y="2935860"/>
            <a:ext cx="4379536" cy="3669434"/>
          </a:xfrm>
        </p:spPr>
        <p:txBody>
          <a:bodyPr>
            <a:normAutofit fontScale="92500" lnSpcReduction="20000"/>
          </a:bodyPr>
          <a:lstStyle/>
          <a:p>
            <a:pPr marL="0" indent="0">
              <a:buNone/>
            </a:pPr>
            <a:r>
              <a:rPr lang="en-US" b="1" dirty="0"/>
              <a:t>Index.html</a:t>
            </a:r>
          </a:p>
          <a:p>
            <a:pPr marL="0" indent="0">
              <a:buNone/>
            </a:pPr>
            <a:r>
              <a:rPr lang="en-US" dirty="0"/>
              <a:t>&lt;!DOCTYPE html&gt;</a:t>
            </a:r>
          </a:p>
          <a:p>
            <a:pPr marL="0" indent="0">
              <a:buNone/>
            </a:pPr>
            <a:r>
              <a:rPr lang="en-US" dirty="0"/>
              <a:t>&lt;html&gt;</a:t>
            </a:r>
          </a:p>
          <a:p>
            <a:pPr marL="0" indent="0">
              <a:buNone/>
            </a:pPr>
            <a:r>
              <a:rPr lang="en-US" dirty="0"/>
              <a:t>&lt;head&gt;</a:t>
            </a:r>
          </a:p>
          <a:p>
            <a:pPr marL="0" indent="0">
              <a:buNone/>
            </a:pPr>
            <a:r>
              <a:rPr lang="en-US" dirty="0"/>
              <a:t>  </a:t>
            </a:r>
            <a:r>
              <a:rPr lang="en-US" b="1" dirty="0"/>
              <a:t>&lt;link </a:t>
            </a:r>
            <a:r>
              <a:rPr lang="en-US" b="1" dirty="0" err="1"/>
              <a:t>rel</a:t>
            </a:r>
            <a:r>
              <a:rPr lang="en-US" b="1" dirty="0"/>
              <a:t>="stylesheet" </a:t>
            </a:r>
            <a:r>
              <a:rPr lang="en-US" b="1" dirty="0" err="1"/>
              <a:t>href</a:t>
            </a:r>
            <a:r>
              <a:rPr lang="en-US" b="1" dirty="0"/>
              <a:t>="styles.css"&gt;</a:t>
            </a:r>
          </a:p>
          <a:p>
            <a:pPr marL="0" indent="0">
              <a:buNone/>
            </a:pPr>
            <a:r>
              <a:rPr lang="en-US" dirty="0"/>
              <a:t>&lt;/head&gt;</a:t>
            </a:r>
          </a:p>
          <a:p>
            <a:pPr marL="0" indent="0">
              <a:buNone/>
            </a:pPr>
            <a:r>
              <a:rPr lang="en-US" dirty="0"/>
              <a:t>&lt;body&gt;</a:t>
            </a:r>
          </a:p>
          <a:p>
            <a:pPr marL="0" indent="0">
              <a:buNone/>
            </a:pPr>
            <a:r>
              <a:rPr lang="en-US" dirty="0"/>
              <a:t>  &lt;p&gt;This is a paragraph with external CSS.&lt;/p&gt;</a:t>
            </a:r>
          </a:p>
          <a:p>
            <a:pPr marL="0" indent="0">
              <a:buNone/>
            </a:pPr>
            <a:r>
              <a:rPr lang="en-US" dirty="0"/>
              <a:t>&lt;/body&gt;</a:t>
            </a:r>
          </a:p>
          <a:p>
            <a:pPr marL="0" indent="0">
              <a:buNone/>
            </a:pPr>
            <a:r>
              <a:rPr lang="en-US" dirty="0"/>
              <a:t>&lt;/html&gt;</a:t>
            </a:r>
          </a:p>
          <a:p>
            <a:pPr marL="0" indent="0" algn="just">
              <a:buNone/>
            </a:pPr>
            <a:endParaRPr lang="en-US" dirty="0"/>
          </a:p>
        </p:txBody>
      </p:sp>
      <p:sp>
        <p:nvSpPr>
          <p:cNvPr id="6" name="Content Placeholder 5"/>
          <p:cNvSpPr>
            <a:spLocks noGrp="1"/>
          </p:cNvSpPr>
          <p:nvPr>
            <p:ph sz="half" idx="2"/>
          </p:nvPr>
        </p:nvSpPr>
        <p:spPr>
          <a:xfrm>
            <a:off x="6419652" y="3076109"/>
            <a:ext cx="4755038" cy="3388936"/>
          </a:xfrm>
        </p:spPr>
        <p:txBody>
          <a:bodyPr>
            <a:normAutofit fontScale="92500" lnSpcReduction="20000"/>
          </a:bodyPr>
          <a:lstStyle/>
          <a:p>
            <a:pPr marL="0" indent="0">
              <a:buNone/>
            </a:pPr>
            <a:r>
              <a:rPr lang="en-US" b="1" dirty="0"/>
              <a:t>styles.css</a:t>
            </a:r>
          </a:p>
          <a:p>
            <a:pPr marL="0" indent="0">
              <a:buNone/>
            </a:pPr>
            <a:r>
              <a:rPr lang="en-US" dirty="0"/>
              <a:t>p {</a:t>
            </a:r>
          </a:p>
          <a:p>
            <a:pPr marL="0" indent="0">
              <a:buNone/>
            </a:pPr>
            <a:r>
              <a:rPr lang="en-US" dirty="0"/>
              <a:t>  color: blue;</a:t>
            </a:r>
          </a:p>
          <a:p>
            <a:pPr marL="0" indent="0">
              <a:buNone/>
            </a:pPr>
            <a:r>
              <a:rPr lang="en-US" dirty="0"/>
              <a:t>  font-size: 18px;</a:t>
            </a:r>
          </a:p>
          <a:p>
            <a:pPr marL="0" indent="0">
              <a:buNone/>
            </a:pPr>
            <a:r>
              <a:rPr lang="en-US" dirty="0"/>
              <a:t>  text-align: center;</a:t>
            </a:r>
          </a:p>
          <a:p>
            <a:pPr marL="0" indent="0">
              <a:buNone/>
            </a:pPr>
            <a:r>
              <a:rPr lang="en-US" dirty="0"/>
              <a:t>}</a:t>
            </a:r>
          </a:p>
        </p:txBody>
      </p:sp>
      <p:sp>
        <p:nvSpPr>
          <p:cNvPr id="8" name="TextBox 7"/>
          <p:cNvSpPr txBox="1"/>
          <p:nvPr/>
        </p:nvSpPr>
        <p:spPr>
          <a:xfrm>
            <a:off x="1027522" y="1690688"/>
            <a:ext cx="10326278" cy="1754326"/>
          </a:xfrm>
          <a:prstGeom prst="rect">
            <a:avLst/>
          </a:prstGeom>
          <a:noFill/>
        </p:spPr>
        <p:txBody>
          <a:bodyPr wrap="square" rtlCol="0">
            <a:spAutoFit/>
          </a:bodyPr>
          <a:lstStyle/>
          <a:p>
            <a:pPr algn="just"/>
            <a:r>
              <a:rPr lang="en-US" dirty="0"/>
              <a:t>External CSS is a method of defining styles in a separate CSS file and linking it to an HTML document using the &lt;link&gt; tag. Here's an example of external CSS:</a:t>
            </a:r>
          </a:p>
          <a:p>
            <a:pPr algn="just"/>
            <a:r>
              <a:rPr lang="en-US" dirty="0"/>
              <a:t>Suppose you have an HTML file named "index.html" and a CSS file named "styles.css" located in the same directory.</a:t>
            </a:r>
          </a:p>
          <a:p>
            <a:endParaRPr lang="en-US" dirty="0"/>
          </a:p>
          <a:p>
            <a:endParaRPr lang="en-US" dirty="0"/>
          </a:p>
        </p:txBody>
      </p:sp>
      <p:cxnSp>
        <p:nvCxnSpPr>
          <p:cNvPr id="10" name="Elbow Connector 9"/>
          <p:cNvCxnSpPr/>
          <p:nvPr/>
        </p:nvCxnSpPr>
        <p:spPr>
          <a:xfrm flipV="1">
            <a:off x="5099901" y="3205115"/>
            <a:ext cx="1319751" cy="76357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8075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t>External CSS</a:t>
            </a:r>
            <a:endParaRPr lang="en-US" dirty="0"/>
          </a:p>
        </p:txBody>
      </p:sp>
      <p:sp>
        <p:nvSpPr>
          <p:cNvPr id="6" name="Content Placeholder 5"/>
          <p:cNvSpPr>
            <a:spLocks noGrp="1"/>
          </p:cNvSpPr>
          <p:nvPr>
            <p:ph idx="1"/>
          </p:nvPr>
        </p:nvSpPr>
        <p:spPr/>
        <p:txBody>
          <a:bodyPr>
            <a:normAutofit fontScale="92500" lnSpcReduction="20000"/>
          </a:bodyPr>
          <a:lstStyle/>
          <a:p>
            <a:pPr marL="0" indent="0" algn="just">
              <a:buNone/>
            </a:pPr>
            <a:r>
              <a:rPr lang="en-US" dirty="0"/>
              <a:t>In the example above, the CSS styles are defined in a separate file named "styles.css". The &lt;link&gt; tag in the &lt;head&gt; section of the HTML document links the CSS file to the HTML file using the </a:t>
            </a:r>
            <a:r>
              <a:rPr lang="en-US" dirty="0" err="1"/>
              <a:t>href</a:t>
            </a:r>
            <a:r>
              <a:rPr lang="en-US" dirty="0"/>
              <a:t> attribute.</a:t>
            </a:r>
          </a:p>
          <a:p>
            <a:pPr algn="just"/>
            <a:endParaRPr lang="en-US" dirty="0"/>
          </a:p>
          <a:p>
            <a:pPr marL="0" indent="0" algn="just">
              <a:buNone/>
            </a:pPr>
            <a:r>
              <a:rPr lang="en-US" dirty="0"/>
              <a:t>The styles defined in "styles.css" are applied to all &lt;p&gt; elements in the HTML document. The styles include:</a:t>
            </a:r>
          </a:p>
          <a:p>
            <a:pPr algn="just"/>
            <a:endParaRPr lang="en-US" dirty="0"/>
          </a:p>
          <a:p>
            <a:pPr algn="just"/>
            <a:r>
              <a:rPr lang="en-US" dirty="0"/>
              <a:t>The color property is set to "blue," which will make the text inside the paragraphs appear in blue.</a:t>
            </a:r>
          </a:p>
          <a:p>
            <a:pPr algn="just"/>
            <a:r>
              <a:rPr lang="en-US" dirty="0"/>
              <a:t>The font-size property is set to "18px," which will make the text size larger than the default size.</a:t>
            </a:r>
          </a:p>
          <a:p>
            <a:pPr algn="just"/>
            <a:r>
              <a:rPr lang="en-US" dirty="0"/>
              <a:t>The text-align property is set to "center," which will align the text in the center of the paragraphs.</a:t>
            </a:r>
          </a:p>
        </p:txBody>
      </p:sp>
    </p:spTree>
    <p:extLst>
      <p:ext uri="{BB962C8B-B14F-4D97-AF65-F5344CB8AC3E}">
        <p14:creationId xmlns:p14="http://schemas.microsoft.com/office/powerpoint/2010/main" val="252926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pPr marL="0" indent="0">
              <a:buNone/>
            </a:pPr>
            <a:r>
              <a:rPr lang="en-US" dirty="0"/>
              <a:t>What is CSS(Cascading Style Sheet)? Define CSS Syntax. What are the three ways to insert a stylesheet. Explain with example</a:t>
            </a:r>
          </a:p>
        </p:txBody>
      </p:sp>
    </p:spTree>
    <p:extLst>
      <p:ext uri="{BB962C8B-B14F-4D97-AF65-F5344CB8AC3E}">
        <p14:creationId xmlns:p14="http://schemas.microsoft.com/office/powerpoint/2010/main" val="1166246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Writing comments in CSS</a:t>
            </a:r>
          </a:p>
        </p:txBody>
      </p:sp>
      <p:sp>
        <p:nvSpPr>
          <p:cNvPr id="3" name="Content Placeholder 2"/>
          <p:cNvSpPr>
            <a:spLocks noGrp="1"/>
          </p:cNvSpPr>
          <p:nvPr>
            <p:ph idx="1"/>
          </p:nvPr>
        </p:nvSpPr>
        <p:spPr>
          <a:xfrm>
            <a:off x="838200" y="1825625"/>
            <a:ext cx="5279796" cy="4351338"/>
          </a:xfrm>
        </p:spPr>
        <p:txBody>
          <a:bodyPr/>
          <a:lstStyle/>
          <a:p>
            <a:pPr algn="just"/>
            <a:r>
              <a:rPr lang="en-US" dirty="0"/>
              <a:t>To add a comment in a CSS file, you can use the following syntax:</a:t>
            </a:r>
          </a:p>
          <a:p>
            <a:pPr algn="just"/>
            <a:r>
              <a:rPr lang="en-US" dirty="0"/>
              <a:t>/* This is a comment in CSS */</a:t>
            </a:r>
          </a:p>
          <a:p>
            <a:pPr algn="just"/>
            <a:r>
              <a:rPr lang="en-US" dirty="0"/>
              <a:t>Any text between /* and */ will be considered a comment and will be ignored by the browser when rendering the page. Here's an example of how you can use comments in a CSS file:</a:t>
            </a:r>
          </a:p>
        </p:txBody>
      </p:sp>
      <p:pic>
        <p:nvPicPr>
          <p:cNvPr id="5" name="Picture 4"/>
          <p:cNvPicPr>
            <a:picLocks noChangeAspect="1"/>
          </p:cNvPicPr>
          <p:nvPr/>
        </p:nvPicPr>
        <p:blipFill>
          <a:blip r:embed="rId2"/>
          <a:stretch>
            <a:fillRect/>
          </a:stretch>
        </p:blipFill>
        <p:spPr>
          <a:xfrm>
            <a:off x="6274771" y="2212731"/>
            <a:ext cx="5524784" cy="3073558"/>
          </a:xfrm>
          <a:prstGeom prst="rect">
            <a:avLst/>
          </a:prstGeom>
        </p:spPr>
      </p:pic>
    </p:spTree>
    <p:extLst>
      <p:ext uri="{BB962C8B-B14F-4D97-AF65-F5344CB8AC3E}">
        <p14:creationId xmlns:p14="http://schemas.microsoft.com/office/powerpoint/2010/main" val="2908015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Writing comments in HTML</a:t>
            </a:r>
            <a:endParaRPr lang="en-US" dirty="0"/>
          </a:p>
        </p:txBody>
      </p:sp>
      <p:sp>
        <p:nvSpPr>
          <p:cNvPr id="3" name="Content Placeholder 2"/>
          <p:cNvSpPr>
            <a:spLocks noGrp="1"/>
          </p:cNvSpPr>
          <p:nvPr>
            <p:ph idx="1"/>
          </p:nvPr>
        </p:nvSpPr>
        <p:spPr>
          <a:xfrm>
            <a:off x="838200" y="1825625"/>
            <a:ext cx="4459664" cy="4351338"/>
          </a:xfrm>
        </p:spPr>
        <p:txBody>
          <a:bodyPr>
            <a:normAutofit/>
          </a:bodyPr>
          <a:lstStyle/>
          <a:p>
            <a:pPr algn="just"/>
            <a:r>
              <a:rPr lang="en-US" dirty="0"/>
              <a:t>Anything between &lt;!-- and --&gt; will be treated as a comment and will be ignored by the browser. </a:t>
            </a:r>
          </a:p>
          <a:p>
            <a:pPr algn="just"/>
            <a:r>
              <a:rPr lang="en-US" dirty="0"/>
              <a:t>Both HTML and CSS comments play an important role in improving code readability, facilitating collaboration, and making future modifications or debugging easier. It's good practice to use comments effectively in both HTML and CSS to provide clarity and context to your code.</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p:txBody>
      </p:sp>
      <p:pic>
        <p:nvPicPr>
          <p:cNvPr id="5" name="Picture 4"/>
          <p:cNvPicPr>
            <a:picLocks noChangeAspect="1"/>
          </p:cNvPicPr>
          <p:nvPr/>
        </p:nvPicPr>
        <p:blipFill>
          <a:blip r:embed="rId2"/>
          <a:stretch>
            <a:fillRect/>
          </a:stretch>
        </p:blipFill>
        <p:spPr>
          <a:xfrm>
            <a:off x="5512203" y="1979959"/>
            <a:ext cx="5937555" cy="3727642"/>
          </a:xfrm>
          <a:prstGeom prst="rect">
            <a:avLst/>
          </a:prstGeom>
        </p:spPr>
      </p:pic>
    </p:spTree>
    <p:extLst>
      <p:ext uri="{BB962C8B-B14F-4D97-AF65-F5344CB8AC3E}">
        <p14:creationId xmlns:p14="http://schemas.microsoft.com/office/powerpoint/2010/main" val="3197073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selector</a:t>
            </a:r>
          </a:p>
        </p:txBody>
      </p:sp>
      <p:sp>
        <p:nvSpPr>
          <p:cNvPr id="3" name="Content Placeholder 2"/>
          <p:cNvSpPr>
            <a:spLocks noGrp="1"/>
          </p:cNvSpPr>
          <p:nvPr>
            <p:ph idx="1"/>
          </p:nvPr>
        </p:nvSpPr>
        <p:spPr/>
        <p:txBody>
          <a:bodyPr>
            <a:normAutofit/>
          </a:bodyPr>
          <a:lstStyle/>
          <a:p>
            <a:pPr marL="0" indent="0" algn="just">
              <a:buNone/>
            </a:pPr>
            <a:r>
              <a:rPr lang="en-US" dirty="0"/>
              <a:t>In CSS, there are several types of selectors that allow you to target and style specific elements in an HTML document. Here are some of the most commonly used selector types:</a:t>
            </a:r>
          </a:p>
          <a:p>
            <a:pPr marL="514350" indent="-514350" algn="just">
              <a:buAutoNum type="arabicPeriod"/>
            </a:pPr>
            <a:r>
              <a:rPr lang="en-US" b="1" dirty="0"/>
              <a:t>Simple selector</a:t>
            </a:r>
          </a:p>
          <a:p>
            <a:pPr marL="514350" indent="-514350" algn="just">
              <a:buAutoNum type="arabicPeriod"/>
            </a:pPr>
            <a:r>
              <a:rPr lang="en-US" b="1" dirty="0"/>
              <a:t>Universal selector</a:t>
            </a:r>
          </a:p>
          <a:p>
            <a:pPr marL="514350" indent="-514350" algn="just">
              <a:buAutoNum type="arabicPeriod"/>
            </a:pPr>
            <a:r>
              <a:rPr lang="en-US" b="1" dirty="0"/>
              <a:t>Grouping selector</a:t>
            </a:r>
          </a:p>
          <a:p>
            <a:pPr marL="514350" indent="-514350" algn="just">
              <a:buAutoNum type="arabicPeriod"/>
            </a:pPr>
            <a:r>
              <a:rPr lang="en-US" b="1" dirty="0"/>
              <a:t>Attribute selector</a:t>
            </a:r>
          </a:p>
          <a:p>
            <a:pPr marL="514350" indent="-514350" algn="just">
              <a:buAutoNum type="arabicPeriod"/>
            </a:pPr>
            <a:r>
              <a:rPr lang="en-US" b="1" dirty="0"/>
              <a:t>Pseudo class selector</a:t>
            </a:r>
          </a:p>
          <a:p>
            <a:pPr marL="514350" indent="-514350" algn="just">
              <a:buAutoNum type="arabicPeriod"/>
            </a:pPr>
            <a:r>
              <a:rPr lang="en-US" b="1" dirty="0"/>
              <a:t>Pseudo element selector</a:t>
            </a:r>
          </a:p>
          <a:p>
            <a:pPr marL="514350" indent="-514350" algn="just">
              <a:buAutoNum type="arabicPeriod"/>
            </a:pPr>
            <a:r>
              <a:rPr lang="en-US" b="1" dirty="0"/>
              <a:t>Combinators selector</a:t>
            </a:r>
          </a:p>
          <a:p>
            <a:pPr marL="514350" indent="-514350" algn="just">
              <a:buAutoNum type="arabicPeriod"/>
            </a:pPr>
            <a:endParaRPr lang="en-US" dirty="0"/>
          </a:p>
        </p:txBody>
      </p:sp>
    </p:spTree>
    <p:extLst>
      <p:ext uri="{BB962C8B-B14F-4D97-AF65-F5344CB8AC3E}">
        <p14:creationId xmlns:p14="http://schemas.microsoft.com/office/powerpoint/2010/main" val="30363078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Simple selector</a:t>
            </a:r>
            <a:endParaRPr lang="en-US" dirty="0"/>
          </a:p>
        </p:txBody>
      </p:sp>
      <p:sp>
        <p:nvSpPr>
          <p:cNvPr id="3" name="Content Placeholder 2"/>
          <p:cNvSpPr>
            <a:spLocks noGrp="1"/>
          </p:cNvSpPr>
          <p:nvPr>
            <p:ph idx="1"/>
          </p:nvPr>
        </p:nvSpPr>
        <p:spPr>
          <a:xfrm>
            <a:off x="838200" y="1825624"/>
            <a:ext cx="5204381" cy="5032376"/>
          </a:xfrm>
        </p:spPr>
        <p:txBody>
          <a:bodyPr>
            <a:normAutofit fontScale="92500" lnSpcReduction="10000"/>
          </a:bodyPr>
          <a:lstStyle/>
          <a:p>
            <a:pPr marL="0" indent="0" algn="just">
              <a:buNone/>
            </a:pPr>
            <a:r>
              <a:rPr lang="en-US" b="1" dirty="0"/>
              <a:t>1.1 Element Selector: </a:t>
            </a:r>
            <a:r>
              <a:rPr lang="en-US" dirty="0"/>
              <a:t>Selects elements based on their HTML tag name. For example:</a:t>
            </a:r>
          </a:p>
          <a:p>
            <a:pPr marL="0" indent="0" algn="just">
              <a:buNone/>
            </a:pPr>
            <a:r>
              <a:rPr lang="en-US" b="1" dirty="0"/>
              <a:t>p {</a:t>
            </a:r>
          </a:p>
          <a:p>
            <a:pPr marL="0" indent="0" algn="just">
              <a:buNone/>
            </a:pPr>
            <a:r>
              <a:rPr lang="en-US" b="1" dirty="0"/>
              <a:t>  color: blue;</a:t>
            </a:r>
          </a:p>
          <a:p>
            <a:pPr marL="0" indent="0" algn="just">
              <a:buNone/>
            </a:pPr>
            <a:r>
              <a:rPr lang="en-US" b="1" dirty="0"/>
              <a:t>}</a:t>
            </a:r>
          </a:p>
          <a:p>
            <a:pPr algn="just"/>
            <a:r>
              <a:rPr lang="en-US" dirty="0"/>
              <a:t>This rule selects all &lt;p&gt; elements and applies the specified style.</a:t>
            </a:r>
          </a:p>
          <a:p>
            <a:pPr marL="0" indent="0" algn="just">
              <a:buNone/>
            </a:pPr>
            <a:endParaRPr lang="en-US" dirty="0"/>
          </a:p>
          <a:p>
            <a:pPr marL="0" indent="0" algn="just">
              <a:buNone/>
            </a:pPr>
            <a:r>
              <a:rPr lang="en-US" b="1" dirty="0"/>
              <a:t>1.2 Class Selector: </a:t>
            </a:r>
            <a:r>
              <a:rPr lang="en-US" dirty="0"/>
              <a:t>Selects elements based on the value of their class attribute. For example:</a:t>
            </a:r>
          </a:p>
          <a:p>
            <a:pPr marL="0" indent="0" algn="just">
              <a:buNone/>
            </a:pPr>
            <a:r>
              <a:rPr lang="en-US" b="1" dirty="0"/>
              <a:t>.highlight {</a:t>
            </a:r>
          </a:p>
          <a:p>
            <a:pPr marL="0" indent="0" algn="just">
              <a:buNone/>
            </a:pPr>
            <a:r>
              <a:rPr lang="en-US" b="1" dirty="0"/>
              <a:t>  background-color: yellow;</a:t>
            </a:r>
          </a:p>
          <a:p>
            <a:pPr marL="0" indent="0" algn="just">
              <a:buNone/>
            </a:pPr>
            <a:r>
              <a:rPr lang="en-US" b="1" dirty="0"/>
              <a:t>}</a:t>
            </a:r>
          </a:p>
          <a:p>
            <a:pPr algn="just"/>
            <a:r>
              <a:rPr lang="en-US" dirty="0"/>
              <a:t>This rule selects all elements with class="highlight" and applies the specified style.</a:t>
            </a:r>
          </a:p>
          <a:p>
            <a:pPr algn="just"/>
            <a:endParaRPr lang="en-US" dirty="0"/>
          </a:p>
        </p:txBody>
      </p:sp>
      <p:sp>
        <p:nvSpPr>
          <p:cNvPr id="4" name="Rectangle 3"/>
          <p:cNvSpPr/>
          <p:nvPr/>
        </p:nvSpPr>
        <p:spPr>
          <a:xfrm>
            <a:off x="6413370" y="2699356"/>
            <a:ext cx="5558672" cy="2031325"/>
          </a:xfrm>
          <a:prstGeom prst="rect">
            <a:avLst/>
          </a:prstGeom>
        </p:spPr>
        <p:txBody>
          <a:bodyPr wrap="square">
            <a:spAutoFit/>
          </a:bodyPr>
          <a:lstStyle/>
          <a:p>
            <a:pPr algn="just"/>
            <a:r>
              <a:rPr lang="en-US" b="1" dirty="0"/>
              <a:t>1.3 ID Selector: </a:t>
            </a:r>
            <a:r>
              <a:rPr lang="en-US" dirty="0"/>
              <a:t>Selects a single element based on its unique id attribute. For example:</a:t>
            </a:r>
          </a:p>
          <a:p>
            <a:pPr algn="just"/>
            <a:r>
              <a:rPr lang="en-US" b="1" dirty="0"/>
              <a:t>#header {</a:t>
            </a:r>
          </a:p>
          <a:p>
            <a:pPr algn="just"/>
            <a:r>
              <a:rPr lang="en-US" b="1" dirty="0"/>
              <a:t>  font-size: 24px;</a:t>
            </a:r>
          </a:p>
          <a:p>
            <a:pPr algn="just"/>
            <a:r>
              <a:rPr lang="en-US" b="1" dirty="0"/>
              <a:t>}</a:t>
            </a:r>
          </a:p>
          <a:p>
            <a:pPr algn="just"/>
            <a:r>
              <a:rPr lang="en-US" dirty="0"/>
              <a:t>This rule selects the element with id="header" and applies the specified style.</a:t>
            </a:r>
          </a:p>
        </p:txBody>
      </p:sp>
    </p:spTree>
    <p:extLst>
      <p:ext uri="{BB962C8B-B14F-4D97-AF65-F5344CB8AC3E}">
        <p14:creationId xmlns:p14="http://schemas.microsoft.com/office/powerpoint/2010/main" val="3294511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7418"/>
            <a:ext cx="10515600" cy="1325563"/>
          </a:xfrm>
        </p:spPr>
        <p:txBody>
          <a:bodyPr/>
          <a:lstStyle/>
          <a:p>
            <a:r>
              <a:rPr lang="en-US" b="1" dirty="0"/>
              <a:t>2. Universal selector</a:t>
            </a:r>
          </a:p>
        </p:txBody>
      </p:sp>
      <p:sp>
        <p:nvSpPr>
          <p:cNvPr id="3" name="Content Placeholder 2"/>
          <p:cNvSpPr>
            <a:spLocks noGrp="1"/>
          </p:cNvSpPr>
          <p:nvPr>
            <p:ph idx="1"/>
          </p:nvPr>
        </p:nvSpPr>
        <p:spPr/>
        <p:txBody>
          <a:bodyPr>
            <a:normAutofit fontScale="92500"/>
          </a:bodyPr>
          <a:lstStyle/>
          <a:p>
            <a:pPr algn="just"/>
            <a:r>
              <a:rPr lang="en-US" dirty="0"/>
              <a:t>The universal selector</a:t>
            </a:r>
            <a:r>
              <a:rPr lang="en-US" i="1" dirty="0"/>
              <a:t> in CSS is a special type of selector that matches any element in the HTML document. It is represented by an asterisk </a:t>
            </a:r>
            <a:r>
              <a:rPr lang="en-US" dirty="0"/>
              <a:t>. When used in a CSS rule, the universal selector applies that rule to every element on the page.</a:t>
            </a:r>
          </a:p>
          <a:p>
            <a:pPr algn="just"/>
            <a:r>
              <a:rPr lang="en-US" dirty="0"/>
              <a:t>Here's an example of how the universal selector can be used in CSS:</a:t>
            </a:r>
          </a:p>
          <a:p>
            <a:pPr marL="0" indent="0" algn="just">
              <a:buNone/>
            </a:pPr>
            <a:r>
              <a:rPr lang="en-US" b="1" dirty="0"/>
              <a:t>* {</a:t>
            </a:r>
          </a:p>
          <a:p>
            <a:pPr marL="0" indent="0" algn="just">
              <a:buNone/>
            </a:pPr>
            <a:r>
              <a:rPr lang="en-US" b="1" dirty="0"/>
              <a:t>  margin: 0;</a:t>
            </a:r>
          </a:p>
          <a:p>
            <a:pPr marL="0" indent="0" algn="just">
              <a:buNone/>
            </a:pPr>
            <a:r>
              <a:rPr lang="en-US" b="1" dirty="0"/>
              <a:t>  padding: 0;</a:t>
            </a:r>
          </a:p>
          <a:p>
            <a:pPr marL="0" indent="0" algn="just">
              <a:buNone/>
            </a:pPr>
            <a:r>
              <a:rPr lang="en-US" b="1" dirty="0"/>
              <a:t>}</a:t>
            </a:r>
          </a:p>
          <a:p>
            <a:pPr marL="0" indent="0" algn="just">
              <a:buNone/>
            </a:pPr>
            <a:r>
              <a:rPr lang="en-US" dirty="0"/>
              <a:t>In this example, the universal selector is used to target all elements on the page and set their margin and padding properties to zero. This rule essentially resets the margin and padding of all elements, providing a consistent starting point for styling.</a:t>
            </a:r>
          </a:p>
          <a:p>
            <a:pPr algn="just"/>
            <a:endParaRPr lang="en-US" dirty="0"/>
          </a:p>
        </p:txBody>
      </p:sp>
    </p:spTree>
    <p:extLst>
      <p:ext uri="{BB962C8B-B14F-4D97-AF65-F5344CB8AC3E}">
        <p14:creationId xmlns:p14="http://schemas.microsoft.com/office/powerpoint/2010/main" val="3033565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 Grouping selector</a:t>
            </a:r>
          </a:p>
        </p:txBody>
      </p:sp>
      <p:sp>
        <p:nvSpPr>
          <p:cNvPr id="3" name="Content Placeholder 2"/>
          <p:cNvSpPr>
            <a:spLocks noGrp="1"/>
          </p:cNvSpPr>
          <p:nvPr>
            <p:ph idx="1"/>
          </p:nvPr>
        </p:nvSpPr>
        <p:spPr/>
        <p:txBody>
          <a:bodyPr>
            <a:normAutofit/>
          </a:bodyPr>
          <a:lstStyle/>
          <a:p>
            <a:r>
              <a:rPr lang="en-US" dirty="0"/>
              <a:t>In CSS, a grouping selector allows you to apply styles to multiple selectors at once. It enables you to group together multiple selectors and define the same styles for all of them. Grouping selectors can be useful for reducing code repetition and applying consistent styles to related elements. Here's how you can use grouping selectors:</a:t>
            </a:r>
          </a:p>
          <a:p>
            <a:r>
              <a:rPr lang="en-US" dirty="0"/>
              <a:t>For instance, if you want to apply the same font color and font size to all &lt;h1&gt;, &lt;h2&gt;, and &lt;h3&gt; elements, you can use a grouping selector like this:</a:t>
            </a:r>
          </a:p>
          <a:p>
            <a:pPr marL="0" indent="0">
              <a:buNone/>
            </a:pPr>
            <a:r>
              <a:rPr lang="pt-BR" b="1" dirty="0"/>
              <a:t>h1, h2, h3 {</a:t>
            </a:r>
          </a:p>
          <a:p>
            <a:pPr marL="0" indent="0">
              <a:buNone/>
            </a:pPr>
            <a:r>
              <a:rPr lang="pt-BR" b="1" dirty="0"/>
              <a:t>  color: #333;</a:t>
            </a:r>
          </a:p>
          <a:p>
            <a:pPr marL="0" indent="0">
              <a:buNone/>
            </a:pPr>
            <a:r>
              <a:rPr lang="pt-BR" b="1" dirty="0"/>
              <a:t>  font-size: 24px;</a:t>
            </a:r>
          </a:p>
          <a:p>
            <a:pPr marL="0" indent="0">
              <a:buNone/>
            </a:pPr>
            <a:r>
              <a:rPr lang="pt-BR" b="1" dirty="0"/>
              <a:t>}</a:t>
            </a:r>
          </a:p>
          <a:p>
            <a:endParaRPr lang="en-US" dirty="0"/>
          </a:p>
          <a:p>
            <a:endParaRPr lang="en-US" dirty="0"/>
          </a:p>
        </p:txBody>
      </p:sp>
    </p:spTree>
    <p:extLst>
      <p:ext uri="{BB962C8B-B14F-4D97-AF65-F5344CB8AC3E}">
        <p14:creationId xmlns:p14="http://schemas.microsoft.com/office/powerpoint/2010/main" val="246694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 Grouping selector</a:t>
            </a:r>
            <a:endParaRPr lang="en-US" dirty="0"/>
          </a:p>
        </p:txBody>
      </p:sp>
      <p:sp>
        <p:nvSpPr>
          <p:cNvPr id="3" name="Content Placeholder 2"/>
          <p:cNvSpPr>
            <a:spLocks noGrp="1"/>
          </p:cNvSpPr>
          <p:nvPr>
            <p:ph idx="1"/>
          </p:nvPr>
        </p:nvSpPr>
        <p:spPr/>
        <p:txBody>
          <a:bodyPr>
            <a:normAutofit lnSpcReduction="10000"/>
          </a:bodyPr>
          <a:lstStyle/>
          <a:p>
            <a:pPr marL="0" indent="0" algn="just">
              <a:buNone/>
            </a:pPr>
            <a:r>
              <a:rPr lang="en-US" dirty="0"/>
              <a:t>Grouping selectors can also be combined with other types of selectors to create more specific rules. For example, you can use a combination of class selectors and grouping selectors like this:</a:t>
            </a:r>
          </a:p>
          <a:p>
            <a:pPr marL="0" indent="0" algn="just">
              <a:buNone/>
            </a:pPr>
            <a:r>
              <a:rPr lang="en-US" b="1" dirty="0"/>
              <a:t>.header, .footer, .sidebar {</a:t>
            </a:r>
          </a:p>
          <a:p>
            <a:pPr marL="0" indent="0" algn="just">
              <a:buNone/>
            </a:pPr>
            <a:r>
              <a:rPr lang="en-US" b="1" dirty="0"/>
              <a:t>  background-color: #f2f2f2;</a:t>
            </a:r>
          </a:p>
          <a:p>
            <a:pPr marL="0" indent="0" algn="just">
              <a:buNone/>
            </a:pPr>
            <a:r>
              <a:rPr lang="en-US" b="1" dirty="0"/>
              <a:t>  padding: 10px;</a:t>
            </a:r>
          </a:p>
          <a:p>
            <a:pPr marL="0" indent="0" algn="just">
              <a:buNone/>
            </a:pPr>
            <a:r>
              <a:rPr lang="en-US" b="1" dirty="0"/>
              <a:t>}</a:t>
            </a:r>
          </a:p>
          <a:p>
            <a:pPr marL="0" indent="0" algn="just">
              <a:buNone/>
            </a:pPr>
            <a:r>
              <a:rPr lang="en-US" dirty="0"/>
              <a:t>In this case, the styles defined within the curly braces will be applied to elements with the class .header, .footer, or .sidebar.</a:t>
            </a:r>
          </a:p>
          <a:p>
            <a:pPr marL="0" indent="0" algn="just">
              <a:buNone/>
            </a:pPr>
            <a:r>
              <a:rPr lang="en-US" dirty="0"/>
              <a:t>Using grouping selectors can help streamline your CSS code by applying shared styles to multiple selectors at once, making it easier to maintain and update your styles.</a:t>
            </a:r>
          </a:p>
          <a:p>
            <a:pPr algn="just"/>
            <a:endParaRPr lang="en-US" dirty="0"/>
          </a:p>
        </p:txBody>
      </p:sp>
    </p:spTree>
    <p:extLst>
      <p:ext uri="{BB962C8B-B14F-4D97-AF65-F5344CB8AC3E}">
        <p14:creationId xmlns:p14="http://schemas.microsoft.com/office/powerpoint/2010/main" val="1482248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 Attribute Selector</a:t>
            </a:r>
          </a:p>
        </p:txBody>
      </p:sp>
      <p:sp>
        <p:nvSpPr>
          <p:cNvPr id="3" name="Content Placeholder 2"/>
          <p:cNvSpPr>
            <a:spLocks noGrp="1"/>
          </p:cNvSpPr>
          <p:nvPr>
            <p:ph idx="1"/>
          </p:nvPr>
        </p:nvSpPr>
        <p:spPr/>
        <p:txBody>
          <a:bodyPr>
            <a:normAutofit/>
          </a:bodyPr>
          <a:lstStyle/>
          <a:p>
            <a:pPr algn="just"/>
            <a:r>
              <a:rPr lang="en-US" dirty="0"/>
              <a:t>In CSS, an attribute selector allows you to target elements based on the presence or value of an attribute. It provides a way to select elements that match specific attribute conditions. Attribute selectors are denoted by square brackets ([]). Here are some examples of how attribute selectors can be used:</a:t>
            </a:r>
          </a:p>
          <a:p>
            <a:pPr marL="0" indent="0" algn="just">
              <a:buNone/>
            </a:pPr>
            <a:r>
              <a:rPr lang="en-US" b="1" dirty="0"/>
              <a:t>4.1 CSS [attribute] Selector</a:t>
            </a:r>
          </a:p>
          <a:p>
            <a:pPr algn="just"/>
            <a:r>
              <a:rPr lang="en-US" dirty="0"/>
              <a:t>The [attribute] selector is used to select elements with a specified attribute.</a:t>
            </a:r>
          </a:p>
          <a:p>
            <a:pPr algn="just"/>
            <a:r>
              <a:rPr lang="en-US" dirty="0"/>
              <a:t>The following example selects all &lt;a&gt; elements with a target attribute:</a:t>
            </a:r>
          </a:p>
          <a:p>
            <a:pPr marL="0" indent="0" algn="just">
              <a:buNone/>
            </a:pPr>
            <a:r>
              <a:rPr lang="en-US" b="1" dirty="0"/>
              <a:t>a[target] {</a:t>
            </a:r>
          </a:p>
          <a:p>
            <a:pPr marL="0" indent="0" algn="just">
              <a:buNone/>
            </a:pPr>
            <a:r>
              <a:rPr lang="en-US" b="1" dirty="0"/>
              <a:t>  background-color: yellow;</a:t>
            </a:r>
          </a:p>
          <a:p>
            <a:pPr marL="0" indent="0" algn="just">
              <a:buNone/>
            </a:pPr>
            <a:r>
              <a:rPr lang="en-US" b="1" dirty="0"/>
              <a:t>}</a:t>
            </a:r>
          </a:p>
        </p:txBody>
      </p:sp>
    </p:spTree>
    <p:extLst>
      <p:ext uri="{BB962C8B-B14F-4D97-AF65-F5344CB8AC3E}">
        <p14:creationId xmlns:p14="http://schemas.microsoft.com/office/powerpoint/2010/main" val="11164342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4.2 CSS [attribute="value"] Selector</a:t>
            </a:r>
            <a:endParaRPr lang="en-US" dirty="0"/>
          </a:p>
        </p:txBody>
      </p:sp>
      <p:sp>
        <p:nvSpPr>
          <p:cNvPr id="3" name="Content Placeholder 2"/>
          <p:cNvSpPr>
            <a:spLocks noGrp="1"/>
          </p:cNvSpPr>
          <p:nvPr>
            <p:ph idx="1"/>
          </p:nvPr>
        </p:nvSpPr>
        <p:spPr/>
        <p:txBody>
          <a:bodyPr>
            <a:normAutofit/>
          </a:bodyPr>
          <a:lstStyle/>
          <a:p>
            <a:pPr algn="just"/>
            <a:r>
              <a:rPr lang="en-US" dirty="0"/>
              <a:t>The [attribute="value"] selector is used to select elements with a specified attribute and value.</a:t>
            </a:r>
          </a:p>
          <a:p>
            <a:pPr algn="just"/>
            <a:r>
              <a:rPr lang="en-US" dirty="0"/>
              <a:t>The following example selects all &lt;input&gt; elements with a type=“text" attribute:</a:t>
            </a:r>
          </a:p>
          <a:p>
            <a:pPr marL="0" indent="0" algn="just">
              <a:buNone/>
            </a:pPr>
            <a:r>
              <a:rPr lang="en-US" b="1" dirty="0"/>
              <a:t>input[type="text"] {</a:t>
            </a:r>
          </a:p>
          <a:p>
            <a:pPr marL="0" indent="0" algn="just">
              <a:buNone/>
            </a:pPr>
            <a:r>
              <a:rPr lang="en-US" b="1" dirty="0"/>
              <a:t>  border: 1px solid gray;</a:t>
            </a:r>
          </a:p>
          <a:p>
            <a:pPr marL="0" indent="0" algn="just">
              <a:buNone/>
            </a:pPr>
            <a:r>
              <a:rPr lang="en-US" b="1" dirty="0"/>
              <a:t>}</a:t>
            </a:r>
          </a:p>
          <a:p>
            <a:pPr algn="just"/>
            <a:r>
              <a:rPr lang="en-US" dirty="0"/>
              <a:t>This rule selects all &lt;input&gt; elements with type="text" and applies the specified style.</a:t>
            </a:r>
          </a:p>
          <a:p>
            <a:pPr algn="just"/>
            <a:endParaRPr lang="en-US" dirty="0"/>
          </a:p>
        </p:txBody>
      </p:sp>
    </p:spTree>
    <p:extLst>
      <p:ext uri="{BB962C8B-B14F-4D97-AF65-F5344CB8AC3E}">
        <p14:creationId xmlns:p14="http://schemas.microsoft.com/office/powerpoint/2010/main" val="2448772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7418"/>
            <a:ext cx="10515600" cy="1325563"/>
          </a:xfrm>
        </p:spPr>
        <p:txBody>
          <a:bodyPr/>
          <a:lstStyle/>
          <a:p>
            <a:pPr marL="0" indent="0"/>
            <a:r>
              <a:rPr lang="en-US" b="1" dirty="0"/>
              <a:t>4.3 CSS [attribute~="value"] Selector</a:t>
            </a:r>
          </a:p>
        </p:txBody>
      </p:sp>
      <p:sp>
        <p:nvSpPr>
          <p:cNvPr id="3" name="Content Placeholder 2"/>
          <p:cNvSpPr>
            <a:spLocks noGrp="1"/>
          </p:cNvSpPr>
          <p:nvPr>
            <p:ph idx="1"/>
          </p:nvPr>
        </p:nvSpPr>
        <p:spPr/>
        <p:txBody>
          <a:bodyPr>
            <a:normAutofit/>
          </a:bodyPr>
          <a:lstStyle/>
          <a:p>
            <a:pPr algn="just"/>
            <a:r>
              <a:rPr lang="en-US" dirty="0"/>
              <a:t>The [attribute~="value"] selector is used to select elements with an attribute value containing a specified word.</a:t>
            </a:r>
          </a:p>
          <a:p>
            <a:pPr algn="just"/>
            <a:r>
              <a:rPr lang="en-US" dirty="0"/>
              <a:t>The following example selects all elements with a title attribute that contains a space-separated list of words, one of which is "flower":</a:t>
            </a:r>
          </a:p>
          <a:p>
            <a:pPr marL="0" indent="0">
              <a:buNone/>
            </a:pPr>
            <a:r>
              <a:rPr lang="en-US" b="1" dirty="0"/>
              <a:t>[title~="flower"] {</a:t>
            </a:r>
            <a:br>
              <a:rPr lang="en-US" b="1" dirty="0"/>
            </a:br>
            <a:r>
              <a:rPr lang="en-US" b="1" dirty="0"/>
              <a:t>  border: 5px solid yellow;</a:t>
            </a:r>
            <a:br>
              <a:rPr lang="en-US" b="1" dirty="0"/>
            </a:br>
            <a:r>
              <a:rPr lang="en-US" b="1" dirty="0"/>
              <a:t>}</a:t>
            </a:r>
          </a:p>
          <a:p>
            <a:pPr algn="just"/>
            <a:r>
              <a:rPr lang="en-US" dirty="0"/>
              <a:t>The example above will match elements with title="flower", title="summer flower", and title="flower new", but not title="my-flower".</a:t>
            </a:r>
          </a:p>
        </p:txBody>
      </p:sp>
    </p:spTree>
    <p:extLst>
      <p:ext uri="{BB962C8B-B14F-4D97-AF65-F5344CB8AC3E}">
        <p14:creationId xmlns:p14="http://schemas.microsoft.com/office/powerpoint/2010/main" val="31603666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4.4 CSS [attribute|="value"] Selector</a:t>
            </a:r>
          </a:p>
        </p:txBody>
      </p:sp>
      <p:sp>
        <p:nvSpPr>
          <p:cNvPr id="3" name="Content Placeholder 2"/>
          <p:cNvSpPr>
            <a:spLocks noGrp="1"/>
          </p:cNvSpPr>
          <p:nvPr>
            <p:ph idx="1"/>
          </p:nvPr>
        </p:nvSpPr>
        <p:spPr>
          <a:xfrm>
            <a:off x="677334" y="2170016"/>
            <a:ext cx="8596668" cy="3880773"/>
          </a:xfrm>
        </p:spPr>
        <p:txBody>
          <a:bodyPr/>
          <a:lstStyle/>
          <a:p>
            <a:r>
              <a:rPr lang="en-US" dirty="0"/>
              <a:t>The [attribute|="value"] selector is used to select elements with the specified attribute, whose value can be exactly the specified value, or the specified value followed by a hyphen (-).</a:t>
            </a:r>
          </a:p>
          <a:p>
            <a:r>
              <a:rPr lang="en-US" dirty="0"/>
              <a:t>Note: The value has to be a whole word, either alone, like class="top", or followed by a hyphen( - ), like class="top-text".</a:t>
            </a:r>
          </a:p>
          <a:p>
            <a:r>
              <a:rPr lang="en-US" dirty="0"/>
              <a:t>Example:</a:t>
            </a:r>
          </a:p>
          <a:p>
            <a:pPr marL="0" indent="0">
              <a:buNone/>
            </a:pPr>
            <a:r>
              <a:rPr lang="en-US" b="1" dirty="0"/>
              <a:t>[class|="top"] {</a:t>
            </a:r>
            <a:br>
              <a:rPr lang="en-US" b="1" dirty="0"/>
            </a:br>
            <a:r>
              <a:rPr lang="en-US" b="1" dirty="0"/>
              <a:t>  background: yellow;</a:t>
            </a:r>
            <a:br>
              <a:rPr lang="en-US" b="1" dirty="0"/>
            </a:br>
            <a:r>
              <a:rPr lang="en-US" b="1" dirty="0"/>
              <a:t>}</a:t>
            </a:r>
          </a:p>
        </p:txBody>
      </p:sp>
    </p:spTree>
    <p:extLst>
      <p:ext uri="{BB962C8B-B14F-4D97-AF65-F5344CB8AC3E}">
        <p14:creationId xmlns:p14="http://schemas.microsoft.com/office/powerpoint/2010/main" val="9434858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4.5 CSS [attribute^="value"] Selector</a:t>
            </a:r>
          </a:p>
        </p:txBody>
      </p:sp>
      <p:sp>
        <p:nvSpPr>
          <p:cNvPr id="3" name="Content Placeholder 2"/>
          <p:cNvSpPr>
            <a:spLocks noGrp="1"/>
          </p:cNvSpPr>
          <p:nvPr>
            <p:ph idx="1"/>
          </p:nvPr>
        </p:nvSpPr>
        <p:spPr/>
        <p:txBody>
          <a:bodyPr/>
          <a:lstStyle/>
          <a:p>
            <a:r>
              <a:rPr lang="en-US" dirty="0"/>
              <a:t>The [attribute^="value"] selector is used to select elements with the specified attribute, whose value starts with the specified value.</a:t>
            </a:r>
          </a:p>
          <a:p>
            <a:r>
              <a:rPr lang="en-US" dirty="0"/>
              <a:t>The following example selects all elements with a class attribute value that starts with "top":</a:t>
            </a:r>
          </a:p>
          <a:p>
            <a:r>
              <a:rPr lang="en-US" b="1" dirty="0"/>
              <a:t>Note: </a:t>
            </a:r>
            <a:r>
              <a:rPr lang="en-US" dirty="0"/>
              <a:t>The value does not have to be a whole word!</a:t>
            </a:r>
          </a:p>
          <a:p>
            <a:pPr marL="0" indent="0">
              <a:buNone/>
            </a:pPr>
            <a:endParaRPr lang="en-US" dirty="0"/>
          </a:p>
          <a:p>
            <a:pPr marL="0" indent="0">
              <a:buNone/>
            </a:pPr>
            <a:r>
              <a:rPr lang="en-US" b="1" dirty="0"/>
              <a:t>[class^="top"] {</a:t>
            </a:r>
            <a:br>
              <a:rPr lang="en-US" b="1" dirty="0"/>
            </a:br>
            <a:r>
              <a:rPr lang="en-US" b="1" dirty="0"/>
              <a:t>  background: yellow;</a:t>
            </a:r>
            <a:br>
              <a:rPr lang="en-US" b="1" dirty="0"/>
            </a:br>
            <a:r>
              <a:rPr lang="en-US" b="1" dirty="0"/>
              <a:t>}</a:t>
            </a:r>
          </a:p>
        </p:txBody>
      </p:sp>
    </p:spTree>
    <p:extLst>
      <p:ext uri="{BB962C8B-B14F-4D97-AF65-F5344CB8AC3E}">
        <p14:creationId xmlns:p14="http://schemas.microsoft.com/office/powerpoint/2010/main" val="7563380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4.6 CSS [attribute$="value"] Selector</a:t>
            </a:r>
          </a:p>
        </p:txBody>
      </p:sp>
      <p:sp>
        <p:nvSpPr>
          <p:cNvPr id="3" name="Content Placeholder 2"/>
          <p:cNvSpPr>
            <a:spLocks noGrp="1"/>
          </p:cNvSpPr>
          <p:nvPr>
            <p:ph idx="1"/>
          </p:nvPr>
        </p:nvSpPr>
        <p:spPr/>
        <p:txBody>
          <a:bodyPr/>
          <a:lstStyle/>
          <a:p>
            <a:pPr algn="just"/>
            <a:r>
              <a:rPr lang="en-US" dirty="0"/>
              <a:t>The [attribute$="value"] selector is used to select elements whose attribute value ends with a specified value.</a:t>
            </a:r>
          </a:p>
          <a:p>
            <a:pPr algn="just"/>
            <a:r>
              <a:rPr lang="en-US" dirty="0"/>
              <a:t>The following example selects all elements with a class attribute value that ends with "test":</a:t>
            </a:r>
          </a:p>
          <a:p>
            <a:pPr algn="just"/>
            <a:r>
              <a:rPr lang="en-US" dirty="0"/>
              <a:t>Note: The value does not have to be a whole word!</a:t>
            </a:r>
          </a:p>
          <a:p>
            <a:pPr marL="0" indent="0">
              <a:buNone/>
            </a:pPr>
            <a:r>
              <a:rPr lang="en-US" b="1" dirty="0"/>
              <a:t>[class$="test"] {</a:t>
            </a:r>
            <a:br>
              <a:rPr lang="en-US" b="1" dirty="0"/>
            </a:br>
            <a:r>
              <a:rPr lang="en-US" b="1" dirty="0"/>
              <a:t>  background: yellow;</a:t>
            </a:r>
            <a:br>
              <a:rPr lang="en-US" b="1" dirty="0"/>
            </a:br>
            <a:r>
              <a:rPr lang="en-US" b="1" dirty="0"/>
              <a:t>}</a:t>
            </a:r>
          </a:p>
        </p:txBody>
      </p:sp>
    </p:spTree>
    <p:extLst>
      <p:ext uri="{BB962C8B-B14F-4D97-AF65-F5344CB8AC3E}">
        <p14:creationId xmlns:p14="http://schemas.microsoft.com/office/powerpoint/2010/main" val="36707005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7418"/>
            <a:ext cx="10515600" cy="1325563"/>
          </a:xfrm>
        </p:spPr>
        <p:txBody>
          <a:bodyPr/>
          <a:lstStyle/>
          <a:p>
            <a:r>
              <a:rPr lang="en-US" b="1" dirty="0"/>
              <a:t>4.7 CSS [attribute*="value"] Selector</a:t>
            </a:r>
          </a:p>
        </p:txBody>
      </p:sp>
      <p:sp>
        <p:nvSpPr>
          <p:cNvPr id="3" name="Content Placeholder 2"/>
          <p:cNvSpPr>
            <a:spLocks noGrp="1"/>
          </p:cNvSpPr>
          <p:nvPr>
            <p:ph idx="1"/>
          </p:nvPr>
        </p:nvSpPr>
        <p:spPr/>
        <p:txBody>
          <a:bodyPr/>
          <a:lstStyle/>
          <a:p>
            <a:r>
              <a:rPr lang="en-US" dirty="0"/>
              <a:t>The [attribute*="value"] selector is used to select elements whose attribute value contains a specified value.</a:t>
            </a:r>
          </a:p>
          <a:p>
            <a:r>
              <a:rPr lang="en-US" dirty="0"/>
              <a:t>The following example selects all elements with a class attribute value that contains "</a:t>
            </a:r>
            <a:r>
              <a:rPr lang="en-US" dirty="0" err="1"/>
              <a:t>te</a:t>
            </a:r>
            <a:r>
              <a:rPr lang="en-US" dirty="0"/>
              <a:t>":</a:t>
            </a:r>
          </a:p>
          <a:p>
            <a:r>
              <a:rPr lang="en-US" dirty="0"/>
              <a:t>Note: The value does not have to be a whole word! </a:t>
            </a:r>
          </a:p>
          <a:p>
            <a:pPr marL="0" indent="0">
              <a:buNone/>
            </a:pPr>
            <a:r>
              <a:rPr lang="en-US" b="1" dirty="0"/>
              <a:t>[class*="</a:t>
            </a:r>
            <a:r>
              <a:rPr lang="en-US" b="1" dirty="0" err="1"/>
              <a:t>te</a:t>
            </a:r>
            <a:r>
              <a:rPr lang="en-US" b="1" dirty="0"/>
              <a:t>"] {</a:t>
            </a:r>
            <a:br>
              <a:rPr lang="en-US" b="1" dirty="0"/>
            </a:br>
            <a:r>
              <a:rPr lang="en-US" b="1" dirty="0"/>
              <a:t>  background: yellow;</a:t>
            </a:r>
            <a:br>
              <a:rPr lang="en-US" b="1" dirty="0"/>
            </a:br>
            <a:r>
              <a:rPr lang="en-US" b="1" dirty="0"/>
              <a:t>}</a:t>
            </a:r>
          </a:p>
        </p:txBody>
      </p:sp>
    </p:spTree>
    <p:extLst>
      <p:ext uri="{BB962C8B-B14F-4D97-AF65-F5344CB8AC3E}">
        <p14:creationId xmlns:p14="http://schemas.microsoft.com/office/powerpoint/2010/main" val="27382331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 Pseudo-class selector</a:t>
            </a:r>
          </a:p>
        </p:txBody>
      </p:sp>
      <p:sp>
        <p:nvSpPr>
          <p:cNvPr id="3" name="Content Placeholder 2"/>
          <p:cNvSpPr>
            <a:spLocks noGrp="1"/>
          </p:cNvSpPr>
          <p:nvPr>
            <p:ph idx="1"/>
          </p:nvPr>
        </p:nvSpPr>
        <p:spPr/>
        <p:txBody>
          <a:bodyPr/>
          <a:lstStyle/>
          <a:p>
            <a:pPr marL="0" indent="0">
              <a:buNone/>
            </a:pPr>
            <a:r>
              <a:rPr lang="en-US" dirty="0"/>
              <a:t>A pseudo-class is used to define a special state of an element.</a:t>
            </a:r>
          </a:p>
          <a:p>
            <a:pPr marL="0" indent="0">
              <a:buNone/>
            </a:pPr>
            <a:r>
              <a:rPr lang="en-US" dirty="0"/>
              <a:t>For example, it can be used to:</a:t>
            </a:r>
          </a:p>
          <a:p>
            <a:r>
              <a:rPr lang="en-US" dirty="0"/>
              <a:t>Style an element when a user mouse over it</a:t>
            </a:r>
          </a:p>
          <a:p>
            <a:r>
              <a:rPr lang="en-US" dirty="0"/>
              <a:t>Style visited and unvisited links differently</a:t>
            </a:r>
          </a:p>
          <a:p>
            <a:r>
              <a:rPr lang="en-US" dirty="0"/>
              <a:t>Style an element when it gets focus</a:t>
            </a:r>
          </a:p>
          <a:p>
            <a:r>
              <a:rPr lang="en-US" dirty="0"/>
              <a:t>Syntax:</a:t>
            </a:r>
          </a:p>
          <a:p>
            <a:pPr marL="0" indent="0">
              <a:buNone/>
            </a:pPr>
            <a:r>
              <a:rPr lang="en-US" b="1" dirty="0" err="1"/>
              <a:t>selector:pseudo-class</a:t>
            </a:r>
            <a:r>
              <a:rPr lang="en-US" b="1" dirty="0"/>
              <a:t> {</a:t>
            </a:r>
            <a:br>
              <a:rPr lang="en-US" b="1" dirty="0"/>
            </a:br>
            <a:r>
              <a:rPr lang="en-US" b="1" dirty="0"/>
              <a:t>  property: value;</a:t>
            </a:r>
            <a:br>
              <a:rPr lang="en-US" b="1" dirty="0"/>
            </a:br>
            <a:r>
              <a:rPr lang="en-US" b="1" dirty="0"/>
              <a:t>}</a:t>
            </a:r>
          </a:p>
        </p:txBody>
      </p:sp>
    </p:spTree>
    <p:extLst>
      <p:ext uri="{BB962C8B-B14F-4D97-AF65-F5344CB8AC3E}">
        <p14:creationId xmlns:p14="http://schemas.microsoft.com/office/powerpoint/2010/main" val="36175159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 Pseudo-class selector</a:t>
            </a:r>
            <a:endParaRPr lang="en-US" dirty="0"/>
          </a:p>
        </p:txBody>
      </p:sp>
      <p:pic>
        <p:nvPicPr>
          <p:cNvPr id="1026" name="Picture 2" descr="CSS Pseudo-class — TutorialBrain"/>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388394" y="2160588"/>
            <a:ext cx="5175249" cy="3881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23795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6. Pseudo-element selector</a:t>
            </a:r>
          </a:p>
        </p:txBody>
      </p:sp>
      <p:sp>
        <p:nvSpPr>
          <p:cNvPr id="3" name="Content Placeholder 2"/>
          <p:cNvSpPr>
            <a:spLocks noGrp="1"/>
          </p:cNvSpPr>
          <p:nvPr>
            <p:ph idx="1"/>
          </p:nvPr>
        </p:nvSpPr>
        <p:spPr/>
        <p:txBody>
          <a:bodyPr/>
          <a:lstStyle/>
          <a:p>
            <a:r>
              <a:rPr lang="en-US" dirty="0"/>
              <a:t>A CSS pseudo-element is used to style specified parts of an element.</a:t>
            </a:r>
          </a:p>
          <a:p>
            <a:r>
              <a:rPr lang="en-US" dirty="0"/>
              <a:t>For example, it can be used to:</a:t>
            </a:r>
          </a:p>
          <a:p>
            <a:r>
              <a:rPr lang="en-US" dirty="0"/>
              <a:t>Style the first letter, or line, of an element</a:t>
            </a:r>
          </a:p>
          <a:p>
            <a:r>
              <a:rPr lang="en-US" dirty="0"/>
              <a:t>Insert content before, or after, the content of an element</a:t>
            </a:r>
          </a:p>
          <a:p>
            <a:r>
              <a:rPr lang="en-US" dirty="0"/>
              <a:t>Syntax:</a:t>
            </a:r>
          </a:p>
          <a:p>
            <a:pPr marL="0" indent="0">
              <a:buNone/>
            </a:pPr>
            <a:r>
              <a:rPr lang="en-US" b="1" dirty="0"/>
              <a:t>selector::pseudo-element {</a:t>
            </a:r>
            <a:br>
              <a:rPr lang="en-US" b="1" dirty="0"/>
            </a:br>
            <a:r>
              <a:rPr lang="en-US" b="1" dirty="0"/>
              <a:t>  property: value;</a:t>
            </a:r>
            <a:br>
              <a:rPr lang="en-US" b="1" dirty="0"/>
            </a:br>
            <a:r>
              <a:rPr lang="en-US" b="1" dirty="0"/>
              <a:t>}</a:t>
            </a:r>
          </a:p>
        </p:txBody>
      </p:sp>
    </p:spTree>
    <p:extLst>
      <p:ext uri="{BB962C8B-B14F-4D97-AF65-F5344CB8AC3E}">
        <p14:creationId xmlns:p14="http://schemas.microsoft.com/office/powerpoint/2010/main" val="15365543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6. Pseudo-element selector</a:t>
            </a:r>
            <a:endParaRPr lang="en-US" dirty="0"/>
          </a:p>
        </p:txBody>
      </p:sp>
      <p:pic>
        <p:nvPicPr>
          <p:cNvPr id="4" name="Content Placeholder 3"/>
          <p:cNvPicPr>
            <a:picLocks noGrp="1" noChangeAspect="1"/>
          </p:cNvPicPr>
          <p:nvPr>
            <p:ph idx="1"/>
          </p:nvPr>
        </p:nvPicPr>
        <p:blipFill>
          <a:blip r:embed="rId2"/>
          <a:stretch>
            <a:fillRect/>
          </a:stretch>
        </p:blipFill>
        <p:spPr>
          <a:xfrm>
            <a:off x="1173605" y="2139824"/>
            <a:ext cx="9844790" cy="3403137"/>
          </a:xfrm>
          <a:prstGeom prst="rect">
            <a:avLst/>
          </a:prstGeom>
        </p:spPr>
      </p:pic>
    </p:spTree>
    <p:extLst>
      <p:ext uri="{BB962C8B-B14F-4D97-AF65-F5344CB8AC3E}">
        <p14:creationId xmlns:p14="http://schemas.microsoft.com/office/powerpoint/2010/main" val="14497471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7. Combinators selector</a:t>
            </a:r>
          </a:p>
        </p:txBody>
      </p:sp>
      <p:sp>
        <p:nvSpPr>
          <p:cNvPr id="3" name="Content Placeholder 2"/>
          <p:cNvSpPr>
            <a:spLocks noGrp="1"/>
          </p:cNvSpPr>
          <p:nvPr>
            <p:ph idx="1"/>
          </p:nvPr>
        </p:nvSpPr>
        <p:spPr/>
        <p:txBody>
          <a:bodyPr/>
          <a:lstStyle/>
          <a:p>
            <a:pPr marL="0" indent="0">
              <a:buNone/>
            </a:pPr>
            <a:r>
              <a:rPr lang="en-US" dirty="0"/>
              <a:t>A CSS selector can contain more than one simple selector. Between the simple selectors, we can include a combinator.</a:t>
            </a:r>
          </a:p>
          <a:p>
            <a:pPr marL="0" indent="0">
              <a:buNone/>
            </a:pPr>
            <a:r>
              <a:rPr lang="en-US" dirty="0"/>
              <a:t>There are four different combinators in CSS:</a:t>
            </a:r>
          </a:p>
          <a:p>
            <a:r>
              <a:rPr lang="en-US" b="1" dirty="0"/>
              <a:t>descendant selector (space)</a:t>
            </a:r>
          </a:p>
          <a:p>
            <a:r>
              <a:rPr lang="en-US" b="1" dirty="0"/>
              <a:t>child selector (&gt;)</a:t>
            </a:r>
          </a:p>
          <a:p>
            <a:r>
              <a:rPr lang="en-US" b="1" dirty="0"/>
              <a:t>adjacent sibling selector (+)</a:t>
            </a:r>
          </a:p>
          <a:p>
            <a:r>
              <a:rPr lang="en-US" b="1" dirty="0"/>
              <a:t>general sibling selector (~)</a:t>
            </a:r>
          </a:p>
        </p:txBody>
      </p:sp>
    </p:spTree>
    <p:extLst>
      <p:ext uri="{BB962C8B-B14F-4D97-AF65-F5344CB8AC3E}">
        <p14:creationId xmlns:p14="http://schemas.microsoft.com/office/powerpoint/2010/main" val="41741232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7.1 Descendant Selector</a:t>
            </a:r>
          </a:p>
        </p:txBody>
      </p:sp>
      <p:sp>
        <p:nvSpPr>
          <p:cNvPr id="3" name="Content Placeholder 2"/>
          <p:cNvSpPr>
            <a:spLocks noGrp="1"/>
          </p:cNvSpPr>
          <p:nvPr>
            <p:ph idx="1"/>
          </p:nvPr>
        </p:nvSpPr>
        <p:spPr/>
        <p:txBody>
          <a:bodyPr/>
          <a:lstStyle/>
          <a:p>
            <a:r>
              <a:rPr lang="en-US" dirty="0"/>
              <a:t>The descendant selector matches all elements that are descendants of a specified element.</a:t>
            </a:r>
          </a:p>
          <a:p>
            <a:r>
              <a:rPr lang="en-US" dirty="0"/>
              <a:t>The following example selects all &lt;p&gt; elements inside &lt;div&gt; elements:</a:t>
            </a:r>
          </a:p>
          <a:p>
            <a:pPr marL="0" indent="0">
              <a:buNone/>
            </a:pPr>
            <a:endParaRPr lang="en-US" dirty="0"/>
          </a:p>
          <a:p>
            <a:pPr marL="0" indent="0">
              <a:buNone/>
            </a:pPr>
            <a:r>
              <a:rPr lang="en-US" b="1" dirty="0"/>
              <a:t>div p {</a:t>
            </a:r>
            <a:br>
              <a:rPr lang="en-US" b="1" dirty="0"/>
            </a:br>
            <a:r>
              <a:rPr lang="en-US" b="1" dirty="0"/>
              <a:t>  background-color: yellow;</a:t>
            </a:r>
            <a:br>
              <a:rPr lang="en-US" b="1" dirty="0"/>
            </a:br>
            <a:r>
              <a:rPr lang="en-US" b="1" dirty="0"/>
              <a:t>}</a:t>
            </a:r>
          </a:p>
        </p:txBody>
      </p:sp>
    </p:spTree>
    <p:extLst>
      <p:ext uri="{BB962C8B-B14F-4D97-AF65-F5344CB8AC3E}">
        <p14:creationId xmlns:p14="http://schemas.microsoft.com/office/powerpoint/2010/main" val="3754451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7418"/>
            <a:ext cx="10515600" cy="1325563"/>
          </a:xfrm>
        </p:spPr>
        <p:txBody>
          <a:bodyPr/>
          <a:lstStyle/>
          <a:p>
            <a:r>
              <a:rPr lang="en-US" b="1" dirty="0"/>
              <a:t>7.2 Child Selector (&gt;)</a:t>
            </a:r>
          </a:p>
        </p:txBody>
      </p:sp>
      <p:sp>
        <p:nvSpPr>
          <p:cNvPr id="3" name="Content Placeholder 2"/>
          <p:cNvSpPr>
            <a:spLocks noGrp="1"/>
          </p:cNvSpPr>
          <p:nvPr>
            <p:ph idx="1"/>
          </p:nvPr>
        </p:nvSpPr>
        <p:spPr/>
        <p:txBody>
          <a:bodyPr/>
          <a:lstStyle/>
          <a:p>
            <a:r>
              <a:rPr lang="en-US" dirty="0"/>
              <a:t>The child selector selects all elements that are the children of a specified element.</a:t>
            </a:r>
          </a:p>
          <a:p>
            <a:r>
              <a:rPr lang="en-US" dirty="0"/>
              <a:t>The following example selects all &lt;p&gt; elements that are children of a &lt;div&gt; element:</a:t>
            </a:r>
          </a:p>
          <a:p>
            <a:endParaRPr lang="en-US" dirty="0"/>
          </a:p>
          <a:p>
            <a:pPr marL="0" indent="0">
              <a:buNone/>
            </a:pPr>
            <a:r>
              <a:rPr lang="en-US" b="1" dirty="0"/>
              <a:t>div &gt; p {</a:t>
            </a:r>
            <a:br>
              <a:rPr lang="en-US" b="1" dirty="0"/>
            </a:br>
            <a:r>
              <a:rPr lang="en-US" b="1" dirty="0"/>
              <a:t>  background-color: yellow;</a:t>
            </a:r>
            <a:br>
              <a:rPr lang="en-US" b="1" dirty="0"/>
            </a:br>
            <a:r>
              <a:rPr lang="en-US" b="1" dirty="0"/>
              <a:t>}</a:t>
            </a:r>
          </a:p>
        </p:txBody>
      </p:sp>
    </p:spTree>
    <p:extLst>
      <p:ext uri="{BB962C8B-B14F-4D97-AF65-F5344CB8AC3E}">
        <p14:creationId xmlns:p14="http://schemas.microsoft.com/office/powerpoint/2010/main" val="41073139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7.3 Adjacent Sibling Selector (+)</a:t>
            </a:r>
          </a:p>
        </p:txBody>
      </p:sp>
      <p:sp>
        <p:nvSpPr>
          <p:cNvPr id="3" name="Content Placeholder 2"/>
          <p:cNvSpPr>
            <a:spLocks noGrp="1"/>
          </p:cNvSpPr>
          <p:nvPr>
            <p:ph idx="1"/>
          </p:nvPr>
        </p:nvSpPr>
        <p:spPr/>
        <p:txBody>
          <a:bodyPr>
            <a:normAutofit/>
          </a:bodyPr>
          <a:lstStyle/>
          <a:p>
            <a:pPr algn="just"/>
            <a:r>
              <a:rPr lang="en-US" dirty="0"/>
              <a:t>The adjacent sibling selector is used to select an element that is directly after another specific element.</a:t>
            </a:r>
          </a:p>
          <a:p>
            <a:pPr algn="just"/>
            <a:r>
              <a:rPr lang="en-US" dirty="0"/>
              <a:t>Sibling elements must have the same parent element, and "adjacent" means "immediately following".</a:t>
            </a:r>
          </a:p>
          <a:p>
            <a:pPr algn="just"/>
            <a:r>
              <a:rPr lang="en-US" dirty="0"/>
              <a:t>The following example selects the first &lt;p&gt; element that are placed immediately after &lt;div&gt; elements:</a:t>
            </a:r>
          </a:p>
          <a:p>
            <a:pPr marL="0" indent="0">
              <a:buNone/>
            </a:pPr>
            <a:endParaRPr lang="en-US" b="1" dirty="0"/>
          </a:p>
          <a:p>
            <a:pPr marL="0" indent="0">
              <a:buNone/>
            </a:pPr>
            <a:r>
              <a:rPr lang="en-US" b="1" dirty="0"/>
              <a:t>div + p {</a:t>
            </a:r>
            <a:br>
              <a:rPr lang="en-US" b="1" dirty="0"/>
            </a:br>
            <a:r>
              <a:rPr lang="en-US" b="1" dirty="0"/>
              <a:t>  background-color: yellow;</a:t>
            </a:r>
            <a:br>
              <a:rPr lang="en-US" b="1" dirty="0"/>
            </a:br>
            <a:r>
              <a:rPr lang="en-US" b="1" dirty="0"/>
              <a:t>}</a:t>
            </a:r>
          </a:p>
        </p:txBody>
      </p:sp>
    </p:spTree>
    <p:extLst>
      <p:ext uri="{BB962C8B-B14F-4D97-AF65-F5344CB8AC3E}">
        <p14:creationId xmlns:p14="http://schemas.microsoft.com/office/powerpoint/2010/main" val="14646838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7.4 General Sibling Selector (~)</a:t>
            </a:r>
          </a:p>
        </p:txBody>
      </p:sp>
      <p:sp>
        <p:nvSpPr>
          <p:cNvPr id="3" name="Content Placeholder 2"/>
          <p:cNvSpPr>
            <a:spLocks noGrp="1"/>
          </p:cNvSpPr>
          <p:nvPr>
            <p:ph idx="1"/>
          </p:nvPr>
        </p:nvSpPr>
        <p:spPr/>
        <p:txBody>
          <a:bodyPr/>
          <a:lstStyle/>
          <a:p>
            <a:r>
              <a:rPr lang="en-US" dirty="0"/>
              <a:t>The general sibling selector selects all elements that are next siblings of a specified element.</a:t>
            </a:r>
          </a:p>
          <a:p>
            <a:r>
              <a:rPr lang="en-US" dirty="0"/>
              <a:t>The following example selects all &lt;p&gt; elements that are next siblings of &lt;div&gt; elements: </a:t>
            </a:r>
          </a:p>
          <a:p>
            <a:endParaRPr lang="en-US" dirty="0"/>
          </a:p>
          <a:p>
            <a:pPr marL="0" indent="0">
              <a:buNone/>
            </a:pPr>
            <a:r>
              <a:rPr lang="en-US" b="1" dirty="0"/>
              <a:t>div ~ p {</a:t>
            </a:r>
            <a:br>
              <a:rPr lang="en-US" b="1" dirty="0"/>
            </a:br>
            <a:r>
              <a:rPr lang="en-US" b="1" dirty="0"/>
              <a:t>  background-color: yellow;</a:t>
            </a:r>
            <a:br>
              <a:rPr lang="en-US" b="1" dirty="0"/>
            </a:br>
            <a:r>
              <a:rPr lang="en-US" b="1" dirty="0"/>
              <a:t>}</a:t>
            </a:r>
          </a:p>
        </p:txBody>
      </p:sp>
    </p:spTree>
    <p:extLst>
      <p:ext uri="{BB962C8B-B14F-4D97-AF65-F5344CB8AC3E}">
        <p14:creationId xmlns:p14="http://schemas.microsoft.com/office/powerpoint/2010/main" val="33007081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Background-color</a:t>
            </a:r>
          </a:p>
        </p:txBody>
      </p:sp>
      <p:sp>
        <p:nvSpPr>
          <p:cNvPr id="3" name="Content Placeholder 2"/>
          <p:cNvSpPr>
            <a:spLocks noGrp="1"/>
          </p:cNvSpPr>
          <p:nvPr>
            <p:ph idx="1"/>
          </p:nvPr>
        </p:nvSpPr>
        <p:spPr/>
        <p:txBody>
          <a:bodyPr>
            <a:normAutofit/>
          </a:bodyPr>
          <a:lstStyle/>
          <a:p>
            <a:pPr marL="0" indent="0">
              <a:buNone/>
            </a:pPr>
            <a:r>
              <a:rPr lang="en-US" dirty="0"/>
              <a:t>In CSS (Cascading Style Sheets), you can set the background color of an element using the background-color property. This property allows you to specify a color value to be used as the background of the element. Here's how you can use it:</a:t>
            </a:r>
          </a:p>
          <a:p>
            <a:pPr marL="0" indent="0">
              <a:buNone/>
            </a:pPr>
            <a:r>
              <a:rPr lang="en-US" b="1" dirty="0"/>
              <a:t>.selector {</a:t>
            </a:r>
          </a:p>
          <a:p>
            <a:pPr marL="0" indent="0">
              <a:buNone/>
            </a:pPr>
            <a:r>
              <a:rPr lang="en-US" b="1" dirty="0"/>
              <a:t>  background-color: value;</a:t>
            </a:r>
          </a:p>
          <a:p>
            <a:pPr marL="0" indent="0">
              <a:buNone/>
            </a:pPr>
            <a:r>
              <a:rPr lang="en-US" b="1" dirty="0"/>
              <a:t>}</a:t>
            </a:r>
          </a:p>
          <a:p>
            <a:pPr marL="0" indent="0">
              <a:buNone/>
            </a:pPr>
            <a:r>
              <a:rPr lang="en-US" dirty="0"/>
              <a:t>In the above code snippet, replace .selector with the appropriate selector for your element. It can be a class name (prefixed with a dot), an ID (prefixed with a hash), or an HTML element name.</a:t>
            </a:r>
          </a:p>
        </p:txBody>
      </p:sp>
    </p:spTree>
    <p:extLst>
      <p:ext uri="{BB962C8B-B14F-4D97-AF65-F5344CB8AC3E}">
        <p14:creationId xmlns:p14="http://schemas.microsoft.com/office/powerpoint/2010/main" val="20149351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Background-color</a:t>
            </a:r>
            <a:endParaRPr lang="en-US" dirty="0"/>
          </a:p>
        </p:txBody>
      </p:sp>
      <p:sp>
        <p:nvSpPr>
          <p:cNvPr id="3" name="Content Placeholder 2"/>
          <p:cNvSpPr>
            <a:spLocks noGrp="1"/>
          </p:cNvSpPr>
          <p:nvPr>
            <p:ph idx="1"/>
          </p:nvPr>
        </p:nvSpPr>
        <p:spPr>
          <a:xfrm>
            <a:off x="677333" y="1244339"/>
            <a:ext cx="10559417" cy="5613662"/>
          </a:xfrm>
        </p:spPr>
        <p:txBody>
          <a:bodyPr>
            <a:normAutofit fontScale="92500"/>
          </a:bodyPr>
          <a:lstStyle/>
          <a:p>
            <a:pPr marL="0" indent="0" algn="just">
              <a:buNone/>
            </a:pPr>
            <a:r>
              <a:rPr lang="en-US" dirty="0"/>
              <a:t>Replace value with the desired color for the background. There are several ways to define a color value in CSS:</a:t>
            </a:r>
          </a:p>
          <a:p>
            <a:pPr algn="just"/>
            <a:r>
              <a:rPr lang="en-US" dirty="0"/>
              <a:t>Named Colors: You can use named colors such as red, blue, green, etc.</a:t>
            </a:r>
          </a:p>
          <a:p>
            <a:pPr algn="just"/>
            <a:r>
              <a:rPr lang="en-US" dirty="0"/>
              <a:t>Hexadecimal Colors: Hex values are specified using a pound sign (#) followed by six hexadecimal digits. For example, #FF0000 represents red, #00FF00 represents green, and #0000FF represents blue.</a:t>
            </a:r>
          </a:p>
          <a:p>
            <a:pPr algn="just"/>
            <a:r>
              <a:rPr lang="en-US" dirty="0"/>
              <a:t>RGB Colors: RGB (Red, Green, Blue) values allow you to define a color using the intensity of each primary color. It is represented as </a:t>
            </a:r>
            <a:r>
              <a:rPr lang="en-US" dirty="0" err="1"/>
              <a:t>rgb</a:t>
            </a:r>
            <a:r>
              <a:rPr lang="en-US" dirty="0"/>
              <a:t>(red, green, blue), where each component value ranges from 0 to 255. For example, </a:t>
            </a:r>
            <a:r>
              <a:rPr lang="en-US" dirty="0" err="1"/>
              <a:t>rgb</a:t>
            </a:r>
            <a:r>
              <a:rPr lang="en-US" dirty="0"/>
              <a:t>(255, 0, 0) represents red, </a:t>
            </a:r>
            <a:r>
              <a:rPr lang="en-US" dirty="0" err="1"/>
              <a:t>rgb</a:t>
            </a:r>
            <a:r>
              <a:rPr lang="en-US" dirty="0"/>
              <a:t>(0, 255, 0) represents green, and </a:t>
            </a:r>
            <a:r>
              <a:rPr lang="en-US" dirty="0" err="1"/>
              <a:t>rgb</a:t>
            </a:r>
            <a:r>
              <a:rPr lang="en-US" dirty="0"/>
              <a:t>(0, 0, 255) represents blue.</a:t>
            </a:r>
          </a:p>
          <a:p>
            <a:pPr algn="l"/>
            <a:r>
              <a:rPr lang="en-US" dirty="0"/>
              <a:t>HSL:</a:t>
            </a:r>
            <a:r>
              <a:rPr lang="en-US" b="0" i="0" dirty="0">
                <a:solidFill>
                  <a:srgbClr val="000000"/>
                </a:solidFill>
                <a:effectLst/>
                <a:latin typeface="Verdana" panose="020B0604030504040204" pitchFamily="34" charset="0"/>
              </a:rPr>
              <a:t>HSL stands for Hue, Saturation and Lightness.</a:t>
            </a:r>
          </a:p>
          <a:p>
            <a:pPr lvl="1"/>
            <a:r>
              <a:rPr lang="en-US" b="0" i="0" dirty="0">
                <a:solidFill>
                  <a:srgbClr val="000000"/>
                </a:solidFill>
                <a:effectLst/>
                <a:latin typeface="Verdana" panose="020B0604030504040204" pitchFamily="34" charset="0"/>
              </a:rPr>
              <a:t>An HSL color value is specified with: </a:t>
            </a:r>
            <a:r>
              <a:rPr lang="en-US" b="0" i="0" dirty="0" err="1">
                <a:solidFill>
                  <a:srgbClr val="000000"/>
                </a:solidFill>
                <a:effectLst/>
                <a:latin typeface="Verdana" panose="020B0604030504040204" pitchFamily="34" charset="0"/>
              </a:rPr>
              <a:t>hsl</a:t>
            </a:r>
            <a:r>
              <a:rPr lang="en-US" b="0" i="0" dirty="0">
                <a:solidFill>
                  <a:srgbClr val="000000"/>
                </a:solidFill>
                <a:effectLst/>
                <a:latin typeface="Verdana" panose="020B0604030504040204" pitchFamily="34" charset="0"/>
              </a:rPr>
              <a:t>(hue, saturation, lightness).</a:t>
            </a:r>
          </a:p>
          <a:p>
            <a:pPr lvl="1">
              <a:buFont typeface="+mj-lt"/>
              <a:buAutoNum type="arabicPeriod"/>
            </a:pPr>
            <a:r>
              <a:rPr lang="en-US" b="0" i="0" dirty="0">
                <a:solidFill>
                  <a:srgbClr val="000000"/>
                </a:solidFill>
                <a:effectLst/>
                <a:latin typeface="Verdana" panose="020B0604030504040204" pitchFamily="34" charset="0"/>
              </a:rPr>
              <a:t>Hue is a degree on the color wheel (from 0 to 360):</a:t>
            </a:r>
          </a:p>
          <a:p>
            <a:pPr lvl="2" indent="-285750">
              <a:buFont typeface="+mj-lt"/>
              <a:buAutoNum type="arabicPeriod"/>
            </a:pPr>
            <a:r>
              <a:rPr lang="en-US" b="0" i="0" dirty="0">
                <a:solidFill>
                  <a:srgbClr val="000000"/>
                </a:solidFill>
                <a:effectLst/>
                <a:latin typeface="Verdana" panose="020B0604030504040204" pitchFamily="34" charset="0"/>
              </a:rPr>
              <a:t>0 (or 360) is red</a:t>
            </a:r>
          </a:p>
          <a:p>
            <a:pPr lvl="2" indent="-285750">
              <a:buFont typeface="+mj-lt"/>
              <a:buAutoNum type="arabicPeriod"/>
            </a:pPr>
            <a:r>
              <a:rPr lang="en-US" b="0" i="0" dirty="0">
                <a:solidFill>
                  <a:srgbClr val="000000"/>
                </a:solidFill>
                <a:effectLst/>
                <a:latin typeface="Verdana" panose="020B0604030504040204" pitchFamily="34" charset="0"/>
              </a:rPr>
              <a:t>120 is green</a:t>
            </a:r>
          </a:p>
          <a:p>
            <a:pPr lvl="2" indent="-285750">
              <a:buFont typeface="+mj-lt"/>
              <a:buAutoNum type="arabicPeriod"/>
            </a:pPr>
            <a:r>
              <a:rPr lang="en-US" b="0" i="0" dirty="0">
                <a:solidFill>
                  <a:srgbClr val="000000"/>
                </a:solidFill>
                <a:effectLst/>
                <a:latin typeface="Verdana" panose="020B0604030504040204" pitchFamily="34" charset="0"/>
              </a:rPr>
              <a:t>240 is blue</a:t>
            </a:r>
          </a:p>
          <a:p>
            <a:pPr lvl="1">
              <a:buFont typeface="+mj-lt"/>
              <a:buAutoNum type="arabicPeriod"/>
            </a:pPr>
            <a:r>
              <a:rPr lang="en-US" b="0" i="0" dirty="0">
                <a:solidFill>
                  <a:srgbClr val="000000"/>
                </a:solidFill>
                <a:effectLst/>
                <a:latin typeface="Verdana" panose="020B0604030504040204" pitchFamily="34" charset="0"/>
              </a:rPr>
              <a:t>Saturation is a percentage value: 100% is the full color.</a:t>
            </a:r>
          </a:p>
          <a:p>
            <a:pPr lvl="1">
              <a:buFont typeface="+mj-lt"/>
              <a:buAutoNum type="arabicPeriod"/>
            </a:pPr>
            <a:r>
              <a:rPr lang="en-US" b="0" i="0" dirty="0">
                <a:solidFill>
                  <a:srgbClr val="000000"/>
                </a:solidFill>
                <a:effectLst/>
                <a:latin typeface="Verdana" panose="020B0604030504040204" pitchFamily="34" charset="0"/>
              </a:rPr>
              <a:t>Lightness is also a percentage; 0% is dark (black) and 100% is white.</a:t>
            </a:r>
          </a:p>
          <a:p>
            <a:pPr algn="just"/>
            <a:endParaRPr lang="en-US" dirty="0"/>
          </a:p>
        </p:txBody>
      </p:sp>
    </p:spTree>
    <p:extLst>
      <p:ext uri="{BB962C8B-B14F-4D97-AF65-F5344CB8AC3E}">
        <p14:creationId xmlns:p14="http://schemas.microsoft.com/office/powerpoint/2010/main" val="18159412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p:txBody>
          <a:bodyPr/>
          <a:lstStyle/>
          <a:p>
            <a:r>
              <a:rPr lang="en-US" dirty="0"/>
              <a:t>.example { background-color: red; } </a:t>
            </a:r>
          </a:p>
          <a:p>
            <a:r>
              <a:rPr lang="en-US" dirty="0"/>
              <a:t>.example { background-color: #00FF00; }</a:t>
            </a:r>
          </a:p>
          <a:p>
            <a:r>
              <a:rPr lang="en-US" dirty="0"/>
              <a:t>.example { background-color: </a:t>
            </a:r>
            <a:r>
              <a:rPr lang="en-US" dirty="0" err="1"/>
              <a:t>rgb</a:t>
            </a:r>
            <a:r>
              <a:rPr lang="en-US" dirty="0"/>
              <a:t>(0, 0, 255); }</a:t>
            </a:r>
          </a:p>
        </p:txBody>
      </p:sp>
    </p:spTree>
    <p:extLst>
      <p:ext uri="{BB962C8B-B14F-4D97-AF65-F5344CB8AC3E}">
        <p14:creationId xmlns:p14="http://schemas.microsoft.com/office/powerpoint/2010/main" val="8248809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Background Image</a:t>
            </a:r>
          </a:p>
        </p:txBody>
      </p:sp>
      <p:sp>
        <p:nvSpPr>
          <p:cNvPr id="3" name="Content Placeholder 2"/>
          <p:cNvSpPr>
            <a:spLocks noGrp="1"/>
          </p:cNvSpPr>
          <p:nvPr>
            <p:ph idx="1"/>
          </p:nvPr>
        </p:nvSpPr>
        <p:spPr/>
        <p:txBody>
          <a:bodyPr>
            <a:normAutofit fontScale="92500" lnSpcReduction="10000"/>
          </a:bodyPr>
          <a:lstStyle/>
          <a:p>
            <a:pPr algn="just"/>
            <a:r>
              <a:rPr lang="en-US" dirty="0"/>
              <a:t>In CSS, you can set a background image for an element using the background-image property. This property allows you to specify the URL of the image you want to use as the background. Here's how you can use it:</a:t>
            </a:r>
          </a:p>
          <a:p>
            <a:pPr marL="0" indent="0" algn="just">
              <a:buNone/>
            </a:pPr>
            <a:r>
              <a:rPr lang="en-US" b="1" dirty="0"/>
              <a:t>.selector {</a:t>
            </a:r>
          </a:p>
          <a:p>
            <a:pPr marL="0" indent="0" algn="just">
              <a:buNone/>
            </a:pPr>
            <a:r>
              <a:rPr lang="en-US" b="1" dirty="0"/>
              <a:t>  background-image: </a:t>
            </a:r>
            <a:r>
              <a:rPr lang="en-US" b="1" dirty="0" err="1"/>
              <a:t>url</a:t>
            </a:r>
            <a:r>
              <a:rPr lang="en-US" b="1" dirty="0"/>
              <a:t>(image-</a:t>
            </a:r>
            <a:r>
              <a:rPr lang="en-US" b="1" dirty="0" err="1"/>
              <a:t>url</a:t>
            </a:r>
            <a:r>
              <a:rPr lang="en-US" b="1" dirty="0"/>
              <a:t>);</a:t>
            </a:r>
          </a:p>
          <a:p>
            <a:pPr marL="0" indent="0" algn="just">
              <a:buNone/>
            </a:pPr>
            <a:r>
              <a:rPr lang="en-US" b="1" dirty="0"/>
              <a:t>}</a:t>
            </a:r>
          </a:p>
          <a:p>
            <a:pPr algn="just"/>
            <a:r>
              <a:rPr lang="en-US" dirty="0"/>
              <a:t>Replace .selector with the appropriate selector for your element, as described in the previous response.</a:t>
            </a:r>
          </a:p>
          <a:p>
            <a:pPr algn="just"/>
            <a:r>
              <a:rPr lang="en-US" dirty="0"/>
              <a:t>Replace image-</a:t>
            </a:r>
            <a:r>
              <a:rPr lang="en-US" dirty="0" err="1"/>
              <a:t>url</a:t>
            </a:r>
            <a:r>
              <a:rPr lang="en-US" dirty="0"/>
              <a:t> with the URL or relative path to the image you want to use as the background. For example, if the image is in the same directory as your CSS file, you can simply provide the filename: </a:t>
            </a:r>
            <a:r>
              <a:rPr lang="en-US" dirty="0" err="1"/>
              <a:t>url</a:t>
            </a:r>
            <a:r>
              <a:rPr lang="en-US" dirty="0"/>
              <a:t>(image.jpg). If the image is hosted on a different server, you'll need to provide the full URL, such as </a:t>
            </a:r>
            <a:r>
              <a:rPr lang="en-US" dirty="0" err="1"/>
              <a:t>url</a:t>
            </a:r>
            <a:r>
              <a:rPr lang="en-US" dirty="0"/>
              <a:t>(http://example.com/image.jpg)</a:t>
            </a:r>
          </a:p>
          <a:p>
            <a:pPr algn="just"/>
            <a:endParaRPr lang="en-US" dirty="0"/>
          </a:p>
        </p:txBody>
      </p:sp>
    </p:spTree>
    <p:extLst>
      <p:ext uri="{BB962C8B-B14F-4D97-AF65-F5344CB8AC3E}">
        <p14:creationId xmlns:p14="http://schemas.microsoft.com/office/powerpoint/2010/main" val="1258187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Background Image</a:t>
            </a:r>
            <a:endParaRPr lang="en-US" dirty="0"/>
          </a:p>
        </p:txBody>
      </p:sp>
      <p:sp>
        <p:nvSpPr>
          <p:cNvPr id="3" name="Content Placeholder 2"/>
          <p:cNvSpPr>
            <a:spLocks noGrp="1"/>
          </p:cNvSpPr>
          <p:nvPr>
            <p:ph idx="1"/>
          </p:nvPr>
        </p:nvSpPr>
        <p:spPr/>
        <p:txBody>
          <a:bodyPr>
            <a:normAutofit fontScale="92500" lnSpcReduction="10000"/>
          </a:bodyPr>
          <a:lstStyle/>
          <a:p>
            <a:pPr marL="0" indent="0" algn="just">
              <a:buNone/>
            </a:pPr>
            <a:r>
              <a:rPr lang="en-US" dirty="0"/>
              <a:t>Additionally, you can use the following CSS properties to control the behavior of the background image:</a:t>
            </a:r>
          </a:p>
          <a:p>
            <a:pPr algn="just"/>
            <a:endParaRPr lang="en-US" dirty="0"/>
          </a:p>
          <a:p>
            <a:pPr algn="just"/>
            <a:r>
              <a:rPr lang="en-US" b="1" dirty="0"/>
              <a:t>background-repeat: </a:t>
            </a:r>
            <a:r>
              <a:rPr lang="en-US" dirty="0"/>
              <a:t>Specifies whether and how the background image should repeat. Possible values include repeat (default), repeat-x, repeat-y, and no-repeat.</a:t>
            </a:r>
          </a:p>
          <a:p>
            <a:pPr algn="just"/>
            <a:r>
              <a:rPr lang="en-US" b="1" dirty="0"/>
              <a:t>background-position: </a:t>
            </a:r>
            <a:r>
              <a:rPr lang="en-US" dirty="0"/>
              <a:t>Specifies the starting position of the background image. You can use keywords like top, bottom, left, right, center, or specific measurements such as 10px 20px.</a:t>
            </a:r>
          </a:p>
          <a:p>
            <a:pPr algn="just"/>
            <a:r>
              <a:rPr lang="en-US" b="1" dirty="0"/>
              <a:t>background-size: </a:t>
            </a:r>
            <a:r>
              <a:rPr lang="en-US" dirty="0"/>
              <a:t>Specifies the size of the background image. You can use values like cover (scales the image to cover the entire background), contain (scales the image to fit within the background), or specific measurements such as 200px 100px.</a:t>
            </a:r>
          </a:p>
        </p:txBody>
      </p:sp>
    </p:spTree>
    <p:extLst>
      <p:ext uri="{BB962C8B-B14F-4D97-AF65-F5344CB8AC3E}">
        <p14:creationId xmlns:p14="http://schemas.microsoft.com/office/powerpoint/2010/main" val="25541955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Background Image</a:t>
            </a:r>
            <a:endParaRPr lang="en-US" dirty="0"/>
          </a:p>
        </p:txBody>
      </p:sp>
      <p:sp>
        <p:nvSpPr>
          <p:cNvPr id="3" name="Content Placeholder 2"/>
          <p:cNvSpPr>
            <a:spLocks noGrp="1"/>
          </p:cNvSpPr>
          <p:nvPr>
            <p:ph idx="1"/>
          </p:nvPr>
        </p:nvSpPr>
        <p:spPr/>
        <p:txBody>
          <a:bodyPr>
            <a:normAutofit/>
          </a:bodyPr>
          <a:lstStyle/>
          <a:p>
            <a:pPr marL="0" indent="0" algn="just">
              <a:buNone/>
            </a:pPr>
            <a:r>
              <a:rPr lang="en-US" dirty="0"/>
              <a:t>.example {</a:t>
            </a:r>
          </a:p>
          <a:p>
            <a:pPr marL="0" indent="0" algn="just">
              <a:buNone/>
            </a:pPr>
            <a:r>
              <a:rPr lang="en-US" dirty="0"/>
              <a:t>  background-image: </a:t>
            </a:r>
            <a:r>
              <a:rPr lang="en-US" dirty="0" err="1"/>
              <a:t>url</a:t>
            </a:r>
            <a:r>
              <a:rPr lang="en-US" dirty="0"/>
              <a:t>(image.jpg);</a:t>
            </a:r>
          </a:p>
          <a:p>
            <a:pPr marL="0" indent="0" algn="just">
              <a:buNone/>
            </a:pPr>
            <a:r>
              <a:rPr lang="en-US" dirty="0"/>
              <a:t>  background-repeat: no-repeat;</a:t>
            </a:r>
          </a:p>
          <a:p>
            <a:pPr marL="0" indent="0" algn="just">
              <a:buNone/>
            </a:pPr>
            <a:r>
              <a:rPr lang="en-US" dirty="0"/>
              <a:t>  background-position: center;</a:t>
            </a:r>
          </a:p>
          <a:p>
            <a:pPr marL="0" indent="0" algn="just">
              <a:buNone/>
            </a:pPr>
            <a:r>
              <a:rPr lang="en-US" dirty="0"/>
              <a:t>  background-size: cover;</a:t>
            </a:r>
          </a:p>
          <a:p>
            <a:pPr marL="0" indent="0" algn="just">
              <a:buNone/>
            </a:pPr>
            <a:r>
              <a:rPr lang="en-US" dirty="0"/>
              <a:t>}</a:t>
            </a:r>
          </a:p>
          <a:p>
            <a:pPr marL="0" indent="0" algn="just">
              <a:buNone/>
            </a:pPr>
            <a:r>
              <a:rPr lang="en-US" dirty="0"/>
              <a:t>In the above example, the image image.jpg will be used as the background for the elements with the class .example. It won't repeat, and it will be positioned at the center of the element. The image will be scaled to cover the entire background area.</a:t>
            </a:r>
          </a:p>
          <a:p>
            <a:pPr marL="0" indent="0" algn="just">
              <a:buNone/>
            </a:pPr>
            <a:endParaRPr lang="en-US" dirty="0"/>
          </a:p>
        </p:txBody>
      </p:sp>
    </p:spTree>
    <p:extLst>
      <p:ext uri="{BB962C8B-B14F-4D97-AF65-F5344CB8AC3E}">
        <p14:creationId xmlns:p14="http://schemas.microsoft.com/office/powerpoint/2010/main" val="27771366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Border</a:t>
            </a:r>
          </a:p>
        </p:txBody>
      </p:sp>
      <p:sp>
        <p:nvSpPr>
          <p:cNvPr id="3" name="Content Placeholder 2"/>
          <p:cNvSpPr>
            <a:spLocks noGrp="1"/>
          </p:cNvSpPr>
          <p:nvPr>
            <p:ph idx="1"/>
          </p:nvPr>
        </p:nvSpPr>
        <p:spPr/>
        <p:txBody>
          <a:bodyPr/>
          <a:lstStyle/>
          <a:p>
            <a:pPr marL="0" indent="0">
              <a:buNone/>
            </a:pPr>
            <a:r>
              <a:rPr lang="en-US" dirty="0"/>
              <a:t>In CSS (Cascading Style Sheets), you can use the border property to add borders to elements on a webpage. The border property allows you to control the width, style, and color of the border.</a:t>
            </a:r>
          </a:p>
          <a:p>
            <a:pPr marL="0" indent="0">
              <a:buNone/>
            </a:pPr>
            <a:r>
              <a:rPr lang="en-US" dirty="0"/>
              <a:t>Here's the basic syntax for the border property:</a:t>
            </a:r>
          </a:p>
          <a:p>
            <a:pPr marL="0" indent="0">
              <a:buNone/>
            </a:pPr>
            <a:endParaRPr lang="en-US" dirty="0"/>
          </a:p>
          <a:p>
            <a:pPr marL="0" indent="0">
              <a:buNone/>
            </a:pPr>
            <a:r>
              <a:rPr lang="en-US" b="1" dirty="0"/>
              <a:t>selector {</a:t>
            </a:r>
          </a:p>
          <a:p>
            <a:pPr marL="0" indent="0">
              <a:buNone/>
            </a:pPr>
            <a:r>
              <a:rPr lang="en-US" b="1" dirty="0"/>
              <a:t>  border: width style color;</a:t>
            </a:r>
          </a:p>
          <a:p>
            <a:pPr marL="0" indent="0">
              <a:buNone/>
            </a:pPr>
            <a:r>
              <a:rPr lang="en-US" b="1" dirty="0"/>
              <a:t>}</a:t>
            </a:r>
          </a:p>
          <a:p>
            <a:pPr marL="0" indent="0">
              <a:buNone/>
            </a:pPr>
            <a:endParaRPr lang="en-US" dirty="0"/>
          </a:p>
        </p:txBody>
      </p:sp>
    </p:spTree>
    <p:extLst>
      <p:ext uri="{BB962C8B-B14F-4D97-AF65-F5344CB8AC3E}">
        <p14:creationId xmlns:p14="http://schemas.microsoft.com/office/powerpoint/2010/main" val="9753608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Border</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US" b="1" dirty="0"/>
              <a:t>width </a:t>
            </a:r>
            <a:r>
              <a:rPr lang="en-US" dirty="0"/>
              <a:t>specifies the width of the border. It can be set using a length value like pixels (e.g., 1px, 2px), or you can use keywords such as thin, medium, or thick. You can also set different widths for different sides of the border using the border-width property.</a:t>
            </a:r>
          </a:p>
          <a:p>
            <a:pPr algn="just"/>
            <a:r>
              <a:rPr lang="en-US" b="1" dirty="0"/>
              <a:t>style</a:t>
            </a:r>
            <a:r>
              <a:rPr lang="en-US" dirty="0"/>
              <a:t> defines the style of the border. It can be set using keywords such as none, solid, dashed, dotted, double, groove, ridge, inset, or outset. You can also use the border-style property to set different styles for different sides of the border.</a:t>
            </a:r>
          </a:p>
          <a:p>
            <a:pPr algn="just"/>
            <a:r>
              <a:rPr lang="en-US" b="1" dirty="0"/>
              <a:t>color</a:t>
            </a:r>
            <a:r>
              <a:rPr lang="en-US" dirty="0"/>
              <a:t> determines the color of the border. It can be set using a color name (e.g., red, blue), a hexadecimal value (e.g., #FF0000, #00F), an RGB value (e.g., </a:t>
            </a:r>
            <a:r>
              <a:rPr lang="en-US" dirty="0" err="1"/>
              <a:t>rgb</a:t>
            </a:r>
            <a:r>
              <a:rPr lang="en-US" dirty="0"/>
              <a:t>(255, 0, 0)), or an HSL value (e.g., </a:t>
            </a:r>
            <a:r>
              <a:rPr lang="en-US" dirty="0" err="1"/>
              <a:t>hsl</a:t>
            </a:r>
            <a:r>
              <a:rPr lang="en-US" dirty="0"/>
              <a:t>(0, 100%, 50%)). You can also use the border-color property to set different colors for different sides of the border.</a:t>
            </a:r>
          </a:p>
          <a:p>
            <a:pPr algn="just"/>
            <a:r>
              <a:rPr lang="en-US" dirty="0"/>
              <a:t>Example:</a:t>
            </a:r>
          </a:p>
          <a:p>
            <a:pPr marL="0" indent="0">
              <a:buNone/>
            </a:pPr>
            <a:r>
              <a:rPr lang="es-ES" b="1" dirty="0"/>
              <a:t>div {</a:t>
            </a:r>
          </a:p>
          <a:p>
            <a:pPr marL="0" indent="0">
              <a:buNone/>
            </a:pPr>
            <a:r>
              <a:rPr lang="es-ES" b="1" dirty="0"/>
              <a:t>  </a:t>
            </a:r>
            <a:r>
              <a:rPr lang="es-ES" b="1" dirty="0" err="1"/>
              <a:t>border</a:t>
            </a:r>
            <a:r>
              <a:rPr lang="es-ES" b="1" dirty="0"/>
              <a:t>: 2px </a:t>
            </a:r>
            <a:r>
              <a:rPr lang="es-ES" b="1" dirty="0" err="1"/>
              <a:t>solid</a:t>
            </a:r>
            <a:r>
              <a:rPr lang="es-ES" b="1" dirty="0"/>
              <a:t> red;</a:t>
            </a:r>
          </a:p>
          <a:p>
            <a:pPr marL="0" indent="0">
              <a:buNone/>
            </a:pPr>
            <a:r>
              <a:rPr lang="es-ES" b="1" dirty="0"/>
              <a:t>}</a:t>
            </a:r>
          </a:p>
          <a:p>
            <a:pPr algn="just"/>
            <a:endParaRPr lang="en-US" dirty="0"/>
          </a:p>
        </p:txBody>
      </p:sp>
    </p:spTree>
    <p:extLst>
      <p:ext uri="{BB962C8B-B14F-4D97-AF65-F5344CB8AC3E}">
        <p14:creationId xmlns:p14="http://schemas.microsoft.com/office/powerpoint/2010/main" val="34984045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Border Style</a:t>
            </a:r>
          </a:p>
        </p:txBody>
      </p:sp>
      <p:pic>
        <p:nvPicPr>
          <p:cNvPr id="4" name="Content Placeholder 3"/>
          <p:cNvPicPr>
            <a:picLocks noGrp="1" noChangeAspect="1"/>
          </p:cNvPicPr>
          <p:nvPr>
            <p:ph idx="1"/>
          </p:nvPr>
        </p:nvPicPr>
        <p:blipFill>
          <a:blip r:embed="rId2"/>
          <a:stretch>
            <a:fillRect/>
          </a:stretch>
        </p:blipFill>
        <p:spPr>
          <a:xfrm>
            <a:off x="1012461" y="1886782"/>
            <a:ext cx="5281244" cy="3156558"/>
          </a:xfrm>
          <a:prstGeom prst="rect">
            <a:avLst/>
          </a:prstGeom>
        </p:spPr>
      </p:pic>
      <p:pic>
        <p:nvPicPr>
          <p:cNvPr id="5" name="Picture 4"/>
          <p:cNvPicPr>
            <a:picLocks noChangeAspect="1"/>
          </p:cNvPicPr>
          <p:nvPr/>
        </p:nvPicPr>
        <p:blipFill>
          <a:blip r:embed="rId3"/>
          <a:stretch>
            <a:fillRect/>
          </a:stretch>
        </p:blipFill>
        <p:spPr>
          <a:xfrm>
            <a:off x="6293705" y="1809011"/>
            <a:ext cx="5060095" cy="3244497"/>
          </a:xfrm>
          <a:prstGeom prst="rect">
            <a:avLst/>
          </a:prstGeom>
        </p:spPr>
      </p:pic>
    </p:spTree>
    <p:extLst>
      <p:ext uri="{BB962C8B-B14F-4D97-AF65-F5344CB8AC3E}">
        <p14:creationId xmlns:p14="http://schemas.microsoft.com/office/powerpoint/2010/main" val="37381482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border individual side</a:t>
            </a:r>
          </a:p>
        </p:txBody>
      </p:sp>
      <p:sp>
        <p:nvSpPr>
          <p:cNvPr id="3" name="Content Placeholder 2"/>
          <p:cNvSpPr>
            <a:spLocks noGrp="1"/>
          </p:cNvSpPr>
          <p:nvPr>
            <p:ph idx="1"/>
          </p:nvPr>
        </p:nvSpPr>
        <p:spPr/>
        <p:txBody>
          <a:bodyPr/>
          <a:lstStyle/>
          <a:p>
            <a:r>
              <a:rPr lang="en-US" dirty="0"/>
              <a:t>From the examples on the previous pages, you have seen that it is possible to specify a different border for each side.</a:t>
            </a:r>
          </a:p>
          <a:p>
            <a:r>
              <a:rPr lang="en-US" dirty="0"/>
              <a:t>In CSS, there are also properties for specifying each of the borders (top, right, bottom, and left):</a:t>
            </a:r>
          </a:p>
          <a:p>
            <a:endParaRPr lang="en-US" dirty="0"/>
          </a:p>
        </p:txBody>
      </p:sp>
      <p:pic>
        <p:nvPicPr>
          <p:cNvPr id="4" name="Picture 3"/>
          <p:cNvPicPr>
            <a:picLocks noChangeAspect="1"/>
          </p:cNvPicPr>
          <p:nvPr/>
        </p:nvPicPr>
        <p:blipFill>
          <a:blip r:embed="rId2"/>
          <a:stretch>
            <a:fillRect/>
          </a:stretch>
        </p:blipFill>
        <p:spPr>
          <a:xfrm>
            <a:off x="1023362" y="4001294"/>
            <a:ext cx="3897430" cy="1981745"/>
          </a:xfrm>
          <a:prstGeom prst="rect">
            <a:avLst/>
          </a:prstGeom>
        </p:spPr>
      </p:pic>
      <p:pic>
        <p:nvPicPr>
          <p:cNvPr id="5" name="Picture 4"/>
          <p:cNvPicPr>
            <a:picLocks noChangeAspect="1"/>
          </p:cNvPicPr>
          <p:nvPr/>
        </p:nvPicPr>
        <p:blipFill>
          <a:blip r:embed="rId3"/>
          <a:stretch>
            <a:fillRect/>
          </a:stretch>
        </p:blipFill>
        <p:spPr>
          <a:xfrm>
            <a:off x="5348926" y="4569660"/>
            <a:ext cx="6004874" cy="603281"/>
          </a:xfrm>
          <a:prstGeom prst="rect">
            <a:avLst/>
          </a:prstGeom>
        </p:spPr>
      </p:pic>
    </p:spTree>
    <p:extLst>
      <p:ext uri="{BB962C8B-B14F-4D97-AF65-F5344CB8AC3E}">
        <p14:creationId xmlns:p14="http://schemas.microsoft.com/office/powerpoint/2010/main" val="15011241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Border Width</a:t>
            </a:r>
          </a:p>
        </p:txBody>
      </p:sp>
      <p:sp>
        <p:nvSpPr>
          <p:cNvPr id="3" name="Content Placeholder 2"/>
          <p:cNvSpPr>
            <a:spLocks noGrp="1"/>
          </p:cNvSpPr>
          <p:nvPr>
            <p:ph idx="1"/>
          </p:nvPr>
        </p:nvSpPr>
        <p:spPr/>
        <p:txBody>
          <a:bodyPr/>
          <a:lstStyle/>
          <a:p>
            <a:r>
              <a:rPr lang="en-US" dirty="0"/>
              <a:t>The border-width property specifies the width of the four borders.</a:t>
            </a:r>
          </a:p>
          <a:p>
            <a:r>
              <a:rPr lang="en-US" dirty="0"/>
              <a:t>The width can be set as a specific size (in </a:t>
            </a:r>
            <a:r>
              <a:rPr lang="en-US" dirty="0" err="1"/>
              <a:t>px</a:t>
            </a:r>
            <a:r>
              <a:rPr lang="en-US" dirty="0"/>
              <a:t>, </a:t>
            </a:r>
            <a:r>
              <a:rPr lang="en-US" dirty="0" err="1"/>
              <a:t>pt</a:t>
            </a:r>
            <a:r>
              <a:rPr lang="en-US" dirty="0"/>
              <a:t>, cm, </a:t>
            </a:r>
            <a:r>
              <a:rPr lang="en-US" dirty="0" err="1"/>
              <a:t>em</a:t>
            </a:r>
            <a:r>
              <a:rPr lang="en-US" dirty="0"/>
              <a:t>, </a:t>
            </a:r>
            <a:r>
              <a:rPr lang="en-US" dirty="0" err="1"/>
              <a:t>etc</a:t>
            </a:r>
            <a:r>
              <a:rPr lang="en-US" dirty="0"/>
              <a:t>) or by using one of the three pre-defined values: thin, medium, or thick:</a:t>
            </a:r>
          </a:p>
        </p:txBody>
      </p:sp>
      <p:pic>
        <p:nvPicPr>
          <p:cNvPr id="5" name="Picture 4"/>
          <p:cNvPicPr>
            <a:picLocks noChangeAspect="1"/>
          </p:cNvPicPr>
          <p:nvPr/>
        </p:nvPicPr>
        <p:blipFill>
          <a:blip r:embed="rId2"/>
          <a:stretch>
            <a:fillRect/>
          </a:stretch>
        </p:blipFill>
        <p:spPr>
          <a:xfrm>
            <a:off x="2061595" y="3245550"/>
            <a:ext cx="1977285" cy="3494614"/>
          </a:xfrm>
          <a:prstGeom prst="rect">
            <a:avLst/>
          </a:prstGeom>
        </p:spPr>
      </p:pic>
      <p:pic>
        <p:nvPicPr>
          <p:cNvPr id="6" name="Picture 5"/>
          <p:cNvPicPr>
            <a:picLocks noChangeAspect="1"/>
          </p:cNvPicPr>
          <p:nvPr/>
        </p:nvPicPr>
        <p:blipFill>
          <a:blip r:embed="rId3"/>
          <a:stretch>
            <a:fillRect/>
          </a:stretch>
        </p:blipFill>
        <p:spPr>
          <a:xfrm>
            <a:off x="4479666" y="3708994"/>
            <a:ext cx="7218998" cy="2362321"/>
          </a:xfrm>
          <a:prstGeom prst="rect">
            <a:avLst/>
          </a:prstGeom>
        </p:spPr>
      </p:pic>
    </p:spTree>
    <p:extLst>
      <p:ext uri="{BB962C8B-B14F-4D97-AF65-F5344CB8AC3E}">
        <p14:creationId xmlns:p14="http://schemas.microsoft.com/office/powerpoint/2010/main" val="32849516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Border Color</a:t>
            </a:r>
          </a:p>
        </p:txBody>
      </p:sp>
      <p:sp>
        <p:nvSpPr>
          <p:cNvPr id="3" name="Content Placeholder 2"/>
          <p:cNvSpPr>
            <a:spLocks noGrp="1"/>
          </p:cNvSpPr>
          <p:nvPr>
            <p:ph idx="1"/>
          </p:nvPr>
        </p:nvSpPr>
        <p:spPr/>
        <p:txBody>
          <a:bodyPr/>
          <a:lstStyle/>
          <a:p>
            <a:r>
              <a:rPr lang="en-US" dirty="0"/>
              <a:t>The border-color property is used to set the color of the four borders.</a:t>
            </a:r>
          </a:p>
          <a:p>
            <a:r>
              <a:rPr lang="en-US" dirty="0"/>
              <a:t>The color can be set by:</a:t>
            </a:r>
          </a:p>
          <a:p>
            <a:r>
              <a:rPr lang="en-US" dirty="0"/>
              <a:t>name - specify a color name, like "red"</a:t>
            </a:r>
          </a:p>
          <a:p>
            <a:r>
              <a:rPr lang="en-US" dirty="0"/>
              <a:t>HEX - specify a HEX value, like "#ff0000"</a:t>
            </a:r>
          </a:p>
          <a:p>
            <a:r>
              <a:rPr lang="en-US" dirty="0"/>
              <a:t>RGB - specify a RGB value, like "</a:t>
            </a:r>
            <a:r>
              <a:rPr lang="en-US" dirty="0" err="1"/>
              <a:t>rgb</a:t>
            </a:r>
            <a:r>
              <a:rPr lang="en-US" dirty="0"/>
              <a:t>(255,0,0)"</a:t>
            </a:r>
          </a:p>
          <a:p>
            <a:r>
              <a:rPr lang="en-US" dirty="0"/>
              <a:t>HSL - specify a HSL value, like "</a:t>
            </a:r>
            <a:r>
              <a:rPr lang="en-US" dirty="0" err="1"/>
              <a:t>hsl</a:t>
            </a:r>
            <a:r>
              <a:rPr lang="en-US" dirty="0"/>
              <a:t>(0, 100%, 50%)"</a:t>
            </a:r>
          </a:p>
        </p:txBody>
      </p:sp>
    </p:spTree>
    <p:extLst>
      <p:ext uri="{BB962C8B-B14F-4D97-AF65-F5344CB8AC3E}">
        <p14:creationId xmlns:p14="http://schemas.microsoft.com/office/powerpoint/2010/main" val="12291511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Rounded Borders</a:t>
            </a:r>
          </a:p>
        </p:txBody>
      </p:sp>
      <p:sp>
        <p:nvSpPr>
          <p:cNvPr id="3" name="Content Placeholder 2"/>
          <p:cNvSpPr>
            <a:spLocks noGrp="1"/>
          </p:cNvSpPr>
          <p:nvPr>
            <p:ph idx="1"/>
          </p:nvPr>
        </p:nvSpPr>
        <p:spPr/>
        <p:txBody>
          <a:bodyPr/>
          <a:lstStyle/>
          <a:p>
            <a:r>
              <a:rPr lang="en-US" dirty="0"/>
              <a:t>The border-radius property is used to add rounded borders to an element:</a:t>
            </a:r>
          </a:p>
          <a:p>
            <a:endParaRPr lang="en-US" dirty="0"/>
          </a:p>
        </p:txBody>
      </p:sp>
      <p:pic>
        <p:nvPicPr>
          <p:cNvPr id="4" name="Picture 3"/>
          <p:cNvPicPr>
            <a:picLocks noChangeAspect="1"/>
          </p:cNvPicPr>
          <p:nvPr/>
        </p:nvPicPr>
        <p:blipFill>
          <a:blip r:embed="rId2"/>
          <a:stretch>
            <a:fillRect/>
          </a:stretch>
        </p:blipFill>
        <p:spPr>
          <a:xfrm>
            <a:off x="1796476" y="2699078"/>
            <a:ext cx="3206915" cy="3816546"/>
          </a:xfrm>
          <a:prstGeom prst="rect">
            <a:avLst/>
          </a:prstGeom>
        </p:spPr>
      </p:pic>
      <p:pic>
        <p:nvPicPr>
          <p:cNvPr id="5" name="Picture 4"/>
          <p:cNvPicPr>
            <a:picLocks noChangeAspect="1"/>
          </p:cNvPicPr>
          <p:nvPr/>
        </p:nvPicPr>
        <p:blipFill>
          <a:blip r:embed="rId3"/>
          <a:stretch>
            <a:fillRect/>
          </a:stretch>
        </p:blipFill>
        <p:spPr>
          <a:xfrm>
            <a:off x="5235219" y="3680203"/>
            <a:ext cx="5886753" cy="1854295"/>
          </a:xfrm>
          <a:prstGeom prst="rect">
            <a:avLst/>
          </a:prstGeom>
        </p:spPr>
      </p:pic>
    </p:spTree>
    <p:extLst>
      <p:ext uri="{BB962C8B-B14F-4D97-AF65-F5344CB8AC3E}">
        <p14:creationId xmlns:p14="http://schemas.microsoft.com/office/powerpoint/2010/main" val="18367822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Height/Width</a:t>
            </a:r>
          </a:p>
        </p:txBody>
      </p:sp>
      <p:sp>
        <p:nvSpPr>
          <p:cNvPr id="3" name="Content Placeholder 2"/>
          <p:cNvSpPr>
            <a:spLocks noGrp="1"/>
          </p:cNvSpPr>
          <p:nvPr>
            <p:ph idx="1"/>
          </p:nvPr>
        </p:nvSpPr>
        <p:spPr/>
        <p:txBody>
          <a:bodyPr/>
          <a:lstStyle/>
          <a:p>
            <a:pPr algn="just"/>
            <a:r>
              <a:rPr lang="en-US" dirty="0"/>
              <a:t>In CSS, you can set the height and width of an element using the height and width properties. These properties allow you to specify the dimensions of an element in various units of measurement.</a:t>
            </a:r>
          </a:p>
          <a:p>
            <a:pPr algn="just"/>
            <a:r>
              <a:rPr lang="en-US" dirty="0"/>
              <a:t>Here's an example of how you can set the height and width of an element in CSS:</a:t>
            </a:r>
          </a:p>
          <a:p>
            <a:pPr algn="just"/>
            <a:r>
              <a:rPr lang="en-US" dirty="0"/>
              <a:t>Example:</a:t>
            </a:r>
          </a:p>
          <a:p>
            <a:pPr marL="0" indent="0" algn="just">
              <a:buNone/>
            </a:pPr>
            <a:r>
              <a:rPr lang="en-US" b="1" dirty="0"/>
              <a:t>.element { height: 200px; width: 300px; }</a:t>
            </a:r>
          </a:p>
        </p:txBody>
      </p:sp>
    </p:spTree>
    <p:extLst>
      <p:ext uri="{BB962C8B-B14F-4D97-AF65-F5344CB8AC3E}">
        <p14:creationId xmlns:p14="http://schemas.microsoft.com/office/powerpoint/2010/main" val="15496445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Text</a:t>
            </a:r>
          </a:p>
        </p:txBody>
      </p:sp>
      <p:sp>
        <p:nvSpPr>
          <p:cNvPr id="3" name="Content Placeholder 2"/>
          <p:cNvSpPr>
            <a:spLocks noGrp="1"/>
          </p:cNvSpPr>
          <p:nvPr>
            <p:ph idx="1"/>
          </p:nvPr>
        </p:nvSpPr>
        <p:spPr>
          <a:xfrm>
            <a:off x="838200" y="1825625"/>
            <a:ext cx="10935878" cy="4754284"/>
          </a:xfrm>
        </p:spPr>
        <p:txBody>
          <a:bodyPr>
            <a:normAutofit/>
          </a:bodyPr>
          <a:lstStyle/>
          <a:p>
            <a:pPr marL="0" indent="0">
              <a:buNone/>
            </a:pPr>
            <a:r>
              <a:rPr lang="en-US" dirty="0"/>
              <a:t>In CSS, you can style text in various ways using different properties. Here are some common CSS properties used for styling text:</a:t>
            </a:r>
          </a:p>
          <a:p>
            <a:endParaRPr lang="en-US" dirty="0"/>
          </a:p>
          <a:p>
            <a:r>
              <a:rPr lang="en-US" dirty="0"/>
              <a:t>The </a:t>
            </a:r>
            <a:r>
              <a:rPr lang="en-US" b="1" dirty="0"/>
              <a:t>color</a:t>
            </a:r>
            <a:r>
              <a:rPr lang="en-US" dirty="0"/>
              <a:t> property is used to set the color of a text.</a:t>
            </a:r>
          </a:p>
          <a:p>
            <a:endParaRPr lang="en-US" dirty="0"/>
          </a:p>
          <a:p>
            <a:r>
              <a:rPr lang="en-US" dirty="0"/>
              <a:t>The </a:t>
            </a:r>
            <a:r>
              <a:rPr lang="en-US" b="1" dirty="0"/>
              <a:t>direction</a:t>
            </a:r>
            <a:r>
              <a:rPr lang="en-US" dirty="0"/>
              <a:t> property is used to set the text direction.</a:t>
            </a:r>
          </a:p>
          <a:p>
            <a:endParaRPr lang="en-US" dirty="0"/>
          </a:p>
          <a:p>
            <a:r>
              <a:rPr lang="en-US" dirty="0"/>
              <a:t>The </a:t>
            </a:r>
            <a:r>
              <a:rPr lang="en-US" b="1" dirty="0"/>
              <a:t>letter-spacing</a:t>
            </a:r>
            <a:r>
              <a:rPr lang="en-US" dirty="0"/>
              <a:t> property is used to add or subtract space between the letters that make up a word.</a:t>
            </a:r>
          </a:p>
          <a:p>
            <a:endParaRPr lang="en-US" dirty="0"/>
          </a:p>
          <a:p>
            <a:r>
              <a:rPr lang="en-US" dirty="0"/>
              <a:t>The </a:t>
            </a:r>
            <a:r>
              <a:rPr lang="en-US" b="1" dirty="0"/>
              <a:t>word-spacing</a:t>
            </a:r>
            <a:r>
              <a:rPr lang="en-US" dirty="0"/>
              <a:t> property is used to add or subtract space between the words of a sentence.</a:t>
            </a:r>
          </a:p>
          <a:p>
            <a:endParaRPr lang="en-US" dirty="0"/>
          </a:p>
          <a:p>
            <a:endParaRPr lang="en-US" dirty="0"/>
          </a:p>
        </p:txBody>
      </p:sp>
    </p:spTree>
    <p:extLst>
      <p:ext uri="{BB962C8B-B14F-4D97-AF65-F5344CB8AC3E}">
        <p14:creationId xmlns:p14="http://schemas.microsoft.com/office/powerpoint/2010/main" val="11793067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Text</a:t>
            </a:r>
            <a:endParaRPr lang="en-US" dirty="0"/>
          </a:p>
        </p:txBody>
      </p:sp>
      <p:sp>
        <p:nvSpPr>
          <p:cNvPr id="3" name="Content Placeholder 2"/>
          <p:cNvSpPr>
            <a:spLocks noGrp="1"/>
          </p:cNvSpPr>
          <p:nvPr>
            <p:ph idx="1"/>
          </p:nvPr>
        </p:nvSpPr>
        <p:spPr/>
        <p:txBody>
          <a:bodyPr>
            <a:normAutofit/>
          </a:bodyPr>
          <a:lstStyle/>
          <a:p>
            <a:pPr algn="just"/>
            <a:r>
              <a:rPr lang="en-US" dirty="0"/>
              <a:t>The </a:t>
            </a:r>
            <a:r>
              <a:rPr lang="en-US" b="1" dirty="0"/>
              <a:t>text-align</a:t>
            </a:r>
            <a:r>
              <a:rPr lang="en-US" dirty="0"/>
              <a:t> property is used to align the text of a document.</a:t>
            </a:r>
          </a:p>
          <a:p>
            <a:pPr algn="just"/>
            <a:endParaRPr lang="en-US" dirty="0"/>
          </a:p>
          <a:p>
            <a:pPr algn="just"/>
            <a:r>
              <a:rPr lang="en-US" dirty="0"/>
              <a:t>The </a:t>
            </a:r>
            <a:r>
              <a:rPr lang="en-US" b="1" dirty="0"/>
              <a:t>text-decoration </a:t>
            </a:r>
            <a:r>
              <a:rPr lang="en-US" dirty="0"/>
              <a:t>property is used to underline, </a:t>
            </a:r>
            <a:r>
              <a:rPr lang="en-US" dirty="0" err="1"/>
              <a:t>overline</a:t>
            </a:r>
            <a:r>
              <a:rPr lang="en-US" dirty="0"/>
              <a:t>, and strikethrough text.</a:t>
            </a:r>
          </a:p>
          <a:p>
            <a:pPr algn="just"/>
            <a:endParaRPr lang="en-US" dirty="0"/>
          </a:p>
          <a:p>
            <a:pPr algn="just"/>
            <a:r>
              <a:rPr lang="en-US" dirty="0"/>
              <a:t>The </a:t>
            </a:r>
            <a:r>
              <a:rPr lang="en-US" b="1" dirty="0"/>
              <a:t>text-transform </a:t>
            </a:r>
            <a:r>
              <a:rPr lang="en-US" dirty="0"/>
              <a:t>property is used to capitalize text or convert text to uppercase or lowercase letters.</a:t>
            </a:r>
          </a:p>
          <a:p>
            <a:pPr marL="0" indent="0" algn="just">
              <a:buNone/>
            </a:pPr>
            <a:endParaRPr lang="en-US" dirty="0"/>
          </a:p>
          <a:p>
            <a:pPr algn="just"/>
            <a:r>
              <a:rPr lang="en-US" dirty="0"/>
              <a:t>The </a:t>
            </a:r>
            <a:r>
              <a:rPr lang="en-US" b="1" dirty="0"/>
              <a:t>text-shadow</a:t>
            </a:r>
            <a:r>
              <a:rPr lang="en-US" dirty="0"/>
              <a:t> property is used to set the text shadow around a text.</a:t>
            </a:r>
          </a:p>
        </p:txBody>
      </p:sp>
    </p:spTree>
    <p:extLst>
      <p:ext uri="{BB962C8B-B14F-4D97-AF65-F5344CB8AC3E}">
        <p14:creationId xmlns:p14="http://schemas.microsoft.com/office/powerpoint/2010/main" val="23201311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3259790" y="1425610"/>
            <a:ext cx="5823249" cy="4057859"/>
          </a:xfrm>
          <a:prstGeom prst="rect">
            <a:avLst/>
          </a:prstGeom>
        </p:spPr>
      </p:pic>
      <p:pic>
        <p:nvPicPr>
          <p:cNvPr id="5" name="Picture 4"/>
          <p:cNvPicPr>
            <a:picLocks noChangeAspect="1"/>
          </p:cNvPicPr>
          <p:nvPr/>
        </p:nvPicPr>
        <p:blipFill>
          <a:blip r:embed="rId3"/>
          <a:stretch>
            <a:fillRect/>
          </a:stretch>
        </p:blipFill>
        <p:spPr>
          <a:xfrm>
            <a:off x="2375910" y="5916062"/>
            <a:ext cx="7817252" cy="838243"/>
          </a:xfrm>
          <a:prstGeom prst="rect">
            <a:avLst/>
          </a:prstGeom>
        </p:spPr>
      </p:pic>
    </p:spTree>
    <p:extLst>
      <p:ext uri="{BB962C8B-B14F-4D97-AF65-F5344CB8AC3E}">
        <p14:creationId xmlns:p14="http://schemas.microsoft.com/office/powerpoint/2010/main" val="33946072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Font</a:t>
            </a:r>
          </a:p>
        </p:txBody>
      </p:sp>
      <p:sp>
        <p:nvSpPr>
          <p:cNvPr id="3" name="Content Placeholder 2"/>
          <p:cNvSpPr>
            <a:spLocks noGrp="1"/>
          </p:cNvSpPr>
          <p:nvPr>
            <p:ph idx="1"/>
          </p:nvPr>
        </p:nvSpPr>
        <p:spPr/>
        <p:txBody>
          <a:bodyPr/>
          <a:lstStyle/>
          <a:p>
            <a:r>
              <a:rPr lang="en-US" dirty="0"/>
              <a:t>In CSS, you can control the font styles and properties of your web page using the font property. The font property allows you to set various aspects of the font, such as the font family, size, weight, style, and more.</a:t>
            </a:r>
          </a:p>
          <a:p>
            <a:r>
              <a:rPr lang="en-US" dirty="0"/>
              <a:t>Here's the general syntax for the font property:</a:t>
            </a:r>
          </a:p>
          <a:p>
            <a:pPr marL="0" indent="0">
              <a:buNone/>
            </a:pPr>
            <a:r>
              <a:rPr lang="en-US" b="1" dirty="0"/>
              <a:t>selector {</a:t>
            </a:r>
          </a:p>
          <a:p>
            <a:pPr marL="0" indent="0">
              <a:buNone/>
            </a:pPr>
            <a:r>
              <a:rPr lang="en-US" b="1" dirty="0"/>
              <a:t>  font: font-style font-variant font-weight font-size/line-height font-family;</a:t>
            </a:r>
          </a:p>
          <a:p>
            <a:pPr marL="0" indent="0">
              <a:buNone/>
            </a:pPr>
            <a:r>
              <a:rPr lang="en-US" b="1" dirty="0"/>
              <a:t>}</a:t>
            </a:r>
          </a:p>
          <a:p>
            <a:endParaRPr lang="en-US" dirty="0"/>
          </a:p>
        </p:txBody>
      </p:sp>
    </p:spTree>
    <p:extLst>
      <p:ext uri="{BB962C8B-B14F-4D97-AF65-F5344CB8AC3E}">
        <p14:creationId xmlns:p14="http://schemas.microsoft.com/office/powerpoint/2010/main" val="24078504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Font property</a:t>
            </a:r>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a:t>Let's break down each part of the font property:</a:t>
            </a:r>
          </a:p>
          <a:p>
            <a:pPr algn="just"/>
            <a:endParaRPr lang="en-US" dirty="0"/>
          </a:p>
          <a:p>
            <a:pPr algn="just"/>
            <a:r>
              <a:rPr lang="en-US" dirty="0"/>
              <a:t>font-style: Specifies the style of the font, such as "normal" (default), "italic," or "oblique."</a:t>
            </a:r>
          </a:p>
          <a:p>
            <a:pPr algn="just"/>
            <a:r>
              <a:rPr lang="en-US" dirty="0"/>
              <a:t>font-variant: Specifies whether the font should be displayed in small caps. Common values are "normal" (default) or "small-caps."</a:t>
            </a:r>
          </a:p>
          <a:p>
            <a:pPr algn="just"/>
            <a:r>
              <a:rPr lang="en-US" dirty="0"/>
              <a:t>font-weight: Specifies the weight or thickness of the font, such as "normal" (default), "bold," "bolder," "lighter," or numeric values like 100, 200, 300, etc.</a:t>
            </a:r>
          </a:p>
          <a:p>
            <a:pPr algn="just"/>
            <a:r>
              <a:rPr lang="en-US" dirty="0"/>
              <a:t>font-size/line-height: Specifies the size of the font and the height of each line. You can set the size in pixels (</a:t>
            </a:r>
            <a:r>
              <a:rPr lang="en-US" dirty="0" err="1"/>
              <a:t>px</a:t>
            </a:r>
            <a:r>
              <a:rPr lang="en-US" dirty="0"/>
              <a:t>), ems (</a:t>
            </a:r>
            <a:r>
              <a:rPr lang="en-US" dirty="0" err="1"/>
              <a:t>em</a:t>
            </a:r>
            <a:r>
              <a:rPr lang="en-US" dirty="0"/>
              <a:t>), rems (rem), or other length units. Line height can be set as a number, percentage, or length unit.</a:t>
            </a:r>
          </a:p>
          <a:p>
            <a:pPr algn="just"/>
            <a:r>
              <a:rPr lang="en-US" dirty="0"/>
              <a:t>font-family: Specifies the font family or multiple font families to be used. You can list multiple font families separated by commas, and the browser will use the first available font on the user's system.</a:t>
            </a:r>
          </a:p>
        </p:txBody>
      </p:sp>
    </p:spTree>
    <p:extLst>
      <p:ext uri="{BB962C8B-B14F-4D97-AF65-F5344CB8AC3E}">
        <p14:creationId xmlns:p14="http://schemas.microsoft.com/office/powerpoint/2010/main" val="16770036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1353940" y="1690688"/>
            <a:ext cx="5449448" cy="4351338"/>
          </a:xfrm>
          <a:prstGeom prst="rect">
            <a:avLst/>
          </a:prstGeom>
        </p:spPr>
      </p:pic>
      <p:pic>
        <p:nvPicPr>
          <p:cNvPr id="5" name="Picture 4"/>
          <p:cNvPicPr>
            <a:picLocks noChangeAspect="1"/>
          </p:cNvPicPr>
          <p:nvPr/>
        </p:nvPicPr>
        <p:blipFill>
          <a:blip r:embed="rId3"/>
          <a:stretch>
            <a:fillRect/>
          </a:stretch>
        </p:blipFill>
        <p:spPr>
          <a:xfrm>
            <a:off x="7728815" y="3103826"/>
            <a:ext cx="3257717" cy="1276416"/>
          </a:xfrm>
          <a:prstGeom prst="rect">
            <a:avLst/>
          </a:prstGeom>
        </p:spPr>
      </p:pic>
    </p:spTree>
    <p:extLst>
      <p:ext uri="{BB962C8B-B14F-4D97-AF65-F5344CB8AC3E}">
        <p14:creationId xmlns:p14="http://schemas.microsoft.com/office/powerpoint/2010/main" val="6061389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List Styling</a:t>
            </a:r>
          </a:p>
        </p:txBody>
      </p:sp>
      <p:sp>
        <p:nvSpPr>
          <p:cNvPr id="3" name="Content Placeholder 2"/>
          <p:cNvSpPr>
            <a:spLocks noGrp="1"/>
          </p:cNvSpPr>
          <p:nvPr>
            <p:ph idx="1"/>
          </p:nvPr>
        </p:nvSpPr>
        <p:spPr/>
        <p:txBody>
          <a:bodyPr/>
          <a:lstStyle/>
          <a:p>
            <a:pPr algn="just"/>
            <a:r>
              <a:rPr lang="en-US" dirty="0"/>
              <a:t>In CSS, you can style lists using the list-style property to control the appearance of bullets or numbering for unordered and ordered lists, respectively. Additionally, you can use other properties to customize the layout and presentation of list items. Here are some common CSS properties for list styling:</a:t>
            </a:r>
          </a:p>
          <a:p>
            <a:pPr algn="just"/>
            <a:endParaRPr lang="en-US" dirty="0"/>
          </a:p>
        </p:txBody>
      </p:sp>
      <p:pic>
        <p:nvPicPr>
          <p:cNvPr id="4" name="Picture 3"/>
          <p:cNvPicPr>
            <a:picLocks noChangeAspect="1"/>
          </p:cNvPicPr>
          <p:nvPr/>
        </p:nvPicPr>
        <p:blipFill>
          <a:blip r:embed="rId2"/>
          <a:stretch>
            <a:fillRect/>
          </a:stretch>
        </p:blipFill>
        <p:spPr>
          <a:xfrm>
            <a:off x="1898220" y="3904426"/>
            <a:ext cx="9088426" cy="2343974"/>
          </a:xfrm>
          <a:prstGeom prst="rect">
            <a:avLst/>
          </a:prstGeom>
        </p:spPr>
      </p:pic>
    </p:spTree>
    <p:extLst>
      <p:ext uri="{BB962C8B-B14F-4D97-AF65-F5344CB8AC3E}">
        <p14:creationId xmlns:p14="http://schemas.microsoft.com/office/powerpoint/2010/main" val="42396253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1468361" y="1827210"/>
            <a:ext cx="6478532" cy="4351338"/>
          </a:xfrm>
          <a:prstGeom prst="rect">
            <a:avLst/>
          </a:prstGeom>
        </p:spPr>
      </p:pic>
      <p:pic>
        <p:nvPicPr>
          <p:cNvPr id="5" name="Picture 4"/>
          <p:cNvPicPr>
            <a:picLocks noChangeAspect="1"/>
          </p:cNvPicPr>
          <p:nvPr/>
        </p:nvPicPr>
        <p:blipFill>
          <a:blip r:embed="rId3"/>
          <a:stretch>
            <a:fillRect/>
          </a:stretch>
        </p:blipFill>
        <p:spPr>
          <a:xfrm>
            <a:off x="5671794" y="4758131"/>
            <a:ext cx="4730993" cy="1828894"/>
          </a:xfrm>
          <a:prstGeom prst="rect">
            <a:avLst/>
          </a:prstGeom>
        </p:spPr>
      </p:pic>
    </p:spTree>
    <p:extLst>
      <p:ext uri="{BB962C8B-B14F-4D97-AF65-F5344CB8AC3E}">
        <p14:creationId xmlns:p14="http://schemas.microsoft.com/office/powerpoint/2010/main" val="314405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1873312" y="1535063"/>
            <a:ext cx="9150550" cy="4888753"/>
          </a:xfrm>
          <a:prstGeom prst="rect">
            <a:avLst/>
          </a:prstGeom>
        </p:spPr>
      </p:pic>
    </p:spTree>
    <p:extLst>
      <p:ext uri="{BB962C8B-B14F-4D97-AF65-F5344CB8AC3E}">
        <p14:creationId xmlns:p14="http://schemas.microsoft.com/office/powerpoint/2010/main" val="28254142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83508-A6F6-4B56-841A-62C0F409BB18}"/>
              </a:ext>
            </a:extLst>
          </p:cNvPr>
          <p:cNvSpPr>
            <a:spLocks noGrp="1"/>
          </p:cNvSpPr>
          <p:nvPr>
            <p:ph type="title"/>
          </p:nvPr>
        </p:nvSpPr>
        <p:spPr/>
        <p:txBody>
          <a:bodyPr/>
          <a:lstStyle/>
          <a:p>
            <a:r>
              <a:rPr lang="en-US" dirty="0"/>
              <a:t>CSS table</a:t>
            </a:r>
          </a:p>
        </p:txBody>
      </p:sp>
      <p:sp>
        <p:nvSpPr>
          <p:cNvPr id="3" name="Content Placeholder 2">
            <a:extLst>
              <a:ext uri="{FF2B5EF4-FFF2-40B4-BE49-F238E27FC236}">
                <a16:creationId xmlns:a16="http://schemas.microsoft.com/office/drawing/2014/main" id="{11095DC5-37BA-4CA2-9983-B0D1B48660E4}"/>
              </a:ext>
            </a:extLst>
          </p:cNvPr>
          <p:cNvSpPr>
            <a:spLocks noGrp="1"/>
          </p:cNvSpPr>
          <p:nvPr>
            <p:ph idx="1"/>
          </p:nvPr>
        </p:nvSpPr>
        <p:spPr/>
        <p:txBody>
          <a:bodyPr>
            <a:normAutofit fontScale="92500" lnSpcReduction="20000"/>
          </a:bodyPr>
          <a:lstStyle/>
          <a:p>
            <a:pPr algn="just" rtl="0" fontAlgn="base"/>
            <a:r>
              <a:rPr lang="en-US" b="1" i="0" dirty="0">
                <a:solidFill>
                  <a:srgbClr val="273239"/>
                </a:solidFill>
                <a:effectLst/>
                <a:latin typeface="Nunito" pitchFamily="2" charset="0"/>
              </a:rPr>
              <a:t>CSS tables</a:t>
            </a:r>
            <a:r>
              <a:rPr lang="en-US" b="0" i="0" dirty="0">
                <a:solidFill>
                  <a:srgbClr val="273239"/>
                </a:solidFill>
                <a:effectLst/>
                <a:latin typeface="Nunito" pitchFamily="2" charset="0"/>
              </a:rPr>
              <a:t> are used to style HTML tables, making them look neat and organized for clear data presentation.</a:t>
            </a:r>
          </a:p>
          <a:p>
            <a:pPr algn="l" fontAlgn="base">
              <a:buFont typeface="Arial" panose="020B0604020202020204" pitchFamily="34" charset="0"/>
              <a:buChar char="•"/>
            </a:pPr>
            <a:r>
              <a:rPr lang="en-US" b="0" i="0" dirty="0">
                <a:solidFill>
                  <a:srgbClr val="273239"/>
                </a:solidFill>
                <a:effectLst/>
                <a:latin typeface="Nunito" pitchFamily="2" charset="0"/>
              </a:rPr>
              <a:t>Add borders, spacing, and colors to enhance table design.</a:t>
            </a:r>
          </a:p>
          <a:p>
            <a:pPr algn="l" fontAlgn="base">
              <a:buFont typeface="Arial" panose="020B0604020202020204" pitchFamily="34" charset="0"/>
              <a:buChar char="•"/>
            </a:pPr>
            <a:r>
              <a:rPr lang="en-US" b="0" i="0" dirty="0">
                <a:solidFill>
                  <a:srgbClr val="273239"/>
                </a:solidFill>
                <a:effectLst/>
                <a:latin typeface="Nunito" pitchFamily="2" charset="0"/>
              </a:rPr>
              <a:t>Create responsive tables that adjust for all screen sizes.</a:t>
            </a:r>
          </a:p>
          <a:p>
            <a:pPr marL="0" indent="0">
              <a:buNone/>
            </a:pPr>
            <a:r>
              <a:rPr lang="en-US" dirty="0"/>
              <a:t>Properties:</a:t>
            </a:r>
          </a:p>
          <a:p>
            <a:pPr marL="0" indent="0">
              <a:buNone/>
            </a:pPr>
            <a:r>
              <a:rPr lang="en-US" dirty="0"/>
              <a:t>	border:1px solid black</a:t>
            </a:r>
          </a:p>
          <a:p>
            <a:pPr marL="0" indent="0">
              <a:buNone/>
            </a:pPr>
            <a:r>
              <a:rPr lang="en-US" dirty="0"/>
              <a:t>	margin: 25px</a:t>
            </a:r>
          </a:p>
          <a:p>
            <a:pPr marL="0" indent="0">
              <a:buNone/>
            </a:pPr>
            <a:r>
              <a:rPr lang="en-US" dirty="0"/>
              <a:t>	border-collapse: collapse</a:t>
            </a:r>
          </a:p>
          <a:p>
            <a:pPr marL="0" indent="0">
              <a:buNone/>
            </a:pPr>
            <a:r>
              <a:rPr lang="en-US" dirty="0"/>
              <a:t>	border-spacing</a:t>
            </a:r>
          </a:p>
          <a:p>
            <a:pPr marL="0" indent="0">
              <a:buNone/>
            </a:pPr>
            <a:r>
              <a:rPr lang="en-US" dirty="0"/>
              <a:t>	width:</a:t>
            </a:r>
          </a:p>
          <a:p>
            <a:pPr marL="0" indent="0">
              <a:buNone/>
            </a:pPr>
            <a:r>
              <a:rPr lang="en-US" dirty="0"/>
              <a:t>	height:</a:t>
            </a:r>
          </a:p>
          <a:p>
            <a:pPr marL="0" indent="0">
              <a:buNone/>
            </a:pPr>
            <a:r>
              <a:rPr lang="en-US" dirty="0"/>
              <a:t>	vertical-align:</a:t>
            </a:r>
          </a:p>
          <a:p>
            <a:pPr marL="0" indent="0">
              <a:buNone/>
            </a:pPr>
            <a:endParaRPr lang="en-US" dirty="0"/>
          </a:p>
        </p:txBody>
      </p:sp>
    </p:spTree>
    <p:extLst>
      <p:ext uri="{BB962C8B-B14F-4D97-AF65-F5344CB8AC3E}">
        <p14:creationId xmlns:p14="http://schemas.microsoft.com/office/powerpoint/2010/main" val="34526638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max-width/min-width property</a:t>
            </a:r>
          </a:p>
        </p:txBody>
      </p:sp>
      <p:sp>
        <p:nvSpPr>
          <p:cNvPr id="3" name="Content Placeholder 2"/>
          <p:cNvSpPr>
            <a:spLocks noGrp="1"/>
          </p:cNvSpPr>
          <p:nvPr>
            <p:ph idx="1"/>
          </p:nvPr>
        </p:nvSpPr>
        <p:spPr/>
        <p:txBody>
          <a:bodyPr/>
          <a:lstStyle/>
          <a:p>
            <a:pPr algn="just"/>
            <a:r>
              <a:rPr lang="en-US" dirty="0"/>
              <a:t>In CSS, the max-width property is used to set the maximum width that an element can have. It limits the width of an element to a specified value, preventing it from exceeding that value.</a:t>
            </a:r>
          </a:p>
          <a:p>
            <a:pPr algn="just"/>
            <a:endParaRPr lang="en-US" dirty="0"/>
          </a:p>
          <a:p>
            <a:pPr algn="just"/>
            <a:r>
              <a:rPr lang="en-US" dirty="0"/>
              <a:t>It is commonly used to make sure that elements do not become too wide on larger screens or when the browser window is resized. Using max-width, will improve the browser's handling of small windows. This is important when making a site usable on small devices.</a:t>
            </a:r>
          </a:p>
        </p:txBody>
      </p:sp>
    </p:spTree>
    <p:extLst>
      <p:ext uri="{BB962C8B-B14F-4D97-AF65-F5344CB8AC3E}">
        <p14:creationId xmlns:p14="http://schemas.microsoft.com/office/powerpoint/2010/main" val="18885192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930562" y="2030488"/>
            <a:ext cx="5372376" cy="3149762"/>
          </a:xfrm>
          <a:prstGeom prst="rect">
            <a:avLst/>
          </a:prstGeom>
        </p:spPr>
      </p:pic>
      <p:pic>
        <p:nvPicPr>
          <p:cNvPr id="5" name="Picture 4"/>
          <p:cNvPicPr>
            <a:picLocks noChangeAspect="1"/>
          </p:cNvPicPr>
          <p:nvPr/>
        </p:nvPicPr>
        <p:blipFill>
          <a:blip r:embed="rId3"/>
          <a:stretch>
            <a:fillRect/>
          </a:stretch>
        </p:blipFill>
        <p:spPr>
          <a:xfrm>
            <a:off x="7298082" y="1690688"/>
            <a:ext cx="3497692" cy="4109311"/>
          </a:xfrm>
          <a:prstGeom prst="rect">
            <a:avLst/>
          </a:prstGeom>
        </p:spPr>
      </p:pic>
    </p:spTree>
    <p:extLst>
      <p:ext uri="{BB962C8B-B14F-4D97-AF65-F5344CB8AC3E}">
        <p14:creationId xmlns:p14="http://schemas.microsoft.com/office/powerpoint/2010/main" val="37187959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auto Value</a:t>
            </a:r>
          </a:p>
        </p:txBody>
      </p:sp>
      <p:sp>
        <p:nvSpPr>
          <p:cNvPr id="3" name="Content Placeholder 2"/>
          <p:cNvSpPr>
            <a:spLocks noGrp="1"/>
          </p:cNvSpPr>
          <p:nvPr>
            <p:ph idx="1"/>
          </p:nvPr>
        </p:nvSpPr>
        <p:spPr/>
        <p:txBody>
          <a:bodyPr/>
          <a:lstStyle/>
          <a:p>
            <a:r>
              <a:rPr lang="en-US" dirty="0"/>
              <a:t>You can set the margin property to auto to horizontally center the element within its container.</a:t>
            </a:r>
          </a:p>
          <a:p>
            <a:r>
              <a:rPr lang="en-US" dirty="0"/>
              <a:t>The element will then take up the specified width, and the remaining space will be split equally between the left and right margins.</a:t>
            </a:r>
          </a:p>
          <a:p>
            <a:endParaRPr lang="en-US" dirty="0"/>
          </a:p>
        </p:txBody>
      </p:sp>
      <p:pic>
        <p:nvPicPr>
          <p:cNvPr id="4" name="Picture 3"/>
          <p:cNvPicPr>
            <a:picLocks noChangeAspect="1"/>
          </p:cNvPicPr>
          <p:nvPr/>
        </p:nvPicPr>
        <p:blipFill>
          <a:blip r:embed="rId2"/>
          <a:stretch>
            <a:fillRect/>
          </a:stretch>
        </p:blipFill>
        <p:spPr>
          <a:xfrm>
            <a:off x="1477525" y="3917631"/>
            <a:ext cx="3804241" cy="1502781"/>
          </a:xfrm>
          <a:prstGeom prst="rect">
            <a:avLst/>
          </a:prstGeom>
        </p:spPr>
      </p:pic>
    </p:spTree>
    <p:extLst>
      <p:ext uri="{BB962C8B-B14F-4D97-AF65-F5344CB8AC3E}">
        <p14:creationId xmlns:p14="http://schemas.microsoft.com/office/powerpoint/2010/main" val="28726610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inherit Value</a:t>
            </a:r>
          </a:p>
        </p:txBody>
      </p:sp>
      <p:sp>
        <p:nvSpPr>
          <p:cNvPr id="3" name="Content Placeholder 2"/>
          <p:cNvSpPr>
            <a:spLocks noGrp="1"/>
          </p:cNvSpPr>
          <p:nvPr>
            <p:ph idx="1"/>
          </p:nvPr>
        </p:nvSpPr>
        <p:spPr/>
        <p:txBody>
          <a:bodyPr/>
          <a:lstStyle/>
          <a:p>
            <a:r>
              <a:rPr lang="en-US" dirty="0"/>
              <a:t>This example lets the left margin of the &lt;p class="ex1"&gt; element be inherited from the parent element (&lt;div&gt;):</a:t>
            </a:r>
          </a:p>
        </p:txBody>
      </p:sp>
      <p:pic>
        <p:nvPicPr>
          <p:cNvPr id="4" name="Picture 3"/>
          <p:cNvPicPr>
            <a:picLocks noChangeAspect="1"/>
          </p:cNvPicPr>
          <p:nvPr/>
        </p:nvPicPr>
        <p:blipFill>
          <a:blip r:embed="rId2"/>
          <a:stretch>
            <a:fillRect/>
          </a:stretch>
        </p:blipFill>
        <p:spPr>
          <a:xfrm>
            <a:off x="838200" y="2829946"/>
            <a:ext cx="5600988" cy="3384724"/>
          </a:xfrm>
          <a:prstGeom prst="rect">
            <a:avLst/>
          </a:prstGeom>
        </p:spPr>
      </p:pic>
      <p:pic>
        <p:nvPicPr>
          <p:cNvPr id="5" name="Picture 4"/>
          <p:cNvPicPr>
            <a:picLocks noChangeAspect="1"/>
          </p:cNvPicPr>
          <p:nvPr/>
        </p:nvPicPr>
        <p:blipFill>
          <a:blip r:embed="rId3"/>
          <a:stretch>
            <a:fillRect/>
          </a:stretch>
        </p:blipFill>
        <p:spPr>
          <a:xfrm>
            <a:off x="6839105" y="3615442"/>
            <a:ext cx="4909428" cy="1738317"/>
          </a:xfrm>
          <a:prstGeom prst="rect">
            <a:avLst/>
          </a:prstGeom>
        </p:spPr>
      </p:pic>
    </p:spTree>
    <p:extLst>
      <p:ext uri="{BB962C8B-B14F-4D97-AF65-F5344CB8AC3E}">
        <p14:creationId xmlns:p14="http://schemas.microsoft.com/office/powerpoint/2010/main" val="15179642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Box Model</a:t>
            </a:r>
          </a:p>
        </p:txBody>
      </p:sp>
      <p:sp>
        <p:nvSpPr>
          <p:cNvPr id="4" name="Content Placeholder 3"/>
          <p:cNvSpPr>
            <a:spLocks noGrp="1"/>
          </p:cNvSpPr>
          <p:nvPr>
            <p:ph idx="1"/>
          </p:nvPr>
        </p:nvSpPr>
        <p:spPr>
          <a:xfrm>
            <a:off x="838200" y="1825625"/>
            <a:ext cx="10515600" cy="2011084"/>
          </a:xfrm>
        </p:spPr>
        <p:txBody>
          <a:bodyPr>
            <a:normAutofit/>
          </a:bodyPr>
          <a:lstStyle/>
          <a:p>
            <a:r>
              <a:rPr lang="en-US" dirty="0"/>
              <a:t>The CSS box model is a fundamental concept that describes the layout and spacing of elements on a webpage. It consists of four components: content, padding, border, and margin. Understanding the box model is crucial for controlling the dimensions and spacing of elements.</a:t>
            </a:r>
          </a:p>
          <a:p>
            <a:endParaRPr lang="en-US" dirty="0"/>
          </a:p>
        </p:txBody>
      </p:sp>
      <p:pic>
        <p:nvPicPr>
          <p:cNvPr id="2058" name="Picture 10" descr="CSS Box Model explain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0537" y="3490879"/>
            <a:ext cx="3590925" cy="3238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74354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Margin</a:t>
            </a:r>
          </a:p>
        </p:txBody>
      </p:sp>
      <p:sp>
        <p:nvSpPr>
          <p:cNvPr id="3" name="Content Placeholder 2"/>
          <p:cNvSpPr>
            <a:spLocks noGrp="1"/>
          </p:cNvSpPr>
          <p:nvPr>
            <p:ph idx="1"/>
          </p:nvPr>
        </p:nvSpPr>
        <p:spPr/>
        <p:txBody>
          <a:bodyPr/>
          <a:lstStyle/>
          <a:p>
            <a:pPr algn="just"/>
            <a:r>
              <a:rPr lang="en-US" dirty="0"/>
              <a:t>In CSS (Cascading Style Sheets), the margin property is used to control the space outside an element's border. It defines the gap or distance between an element and its neighboring elements.</a:t>
            </a:r>
          </a:p>
          <a:p>
            <a:pPr algn="just"/>
            <a:r>
              <a:rPr lang="en-US" dirty="0"/>
              <a:t>The margin property allows you to set the margin on all four sides of an element at once or specify different values for each side.</a:t>
            </a:r>
          </a:p>
          <a:p>
            <a:pPr algn="just"/>
            <a:r>
              <a:rPr lang="en-US" dirty="0"/>
              <a:t>Here's the basic syntax for the margin property:</a:t>
            </a:r>
          </a:p>
          <a:p>
            <a:pPr marL="0" indent="0" algn="just">
              <a:buNone/>
            </a:pPr>
            <a:r>
              <a:rPr lang="en-US" b="1" dirty="0"/>
              <a:t>selector {</a:t>
            </a:r>
          </a:p>
          <a:p>
            <a:pPr marL="0" indent="0" algn="just">
              <a:buNone/>
            </a:pPr>
            <a:r>
              <a:rPr lang="en-US" b="1" dirty="0"/>
              <a:t>  margin: value;</a:t>
            </a:r>
          </a:p>
          <a:p>
            <a:pPr marL="0" indent="0" algn="just">
              <a:buNone/>
            </a:pPr>
            <a:r>
              <a:rPr lang="en-US" b="1" dirty="0"/>
              <a:t>}</a:t>
            </a:r>
          </a:p>
          <a:p>
            <a:pPr algn="just"/>
            <a:endParaRPr lang="en-US" dirty="0"/>
          </a:p>
        </p:txBody>
      </p:sp>
    </p:spTree>
    <p:extLst>
      <p:ext uri="{BB962C8B-B14F-4D97-AF65-F5344CB8AC3E}">
        <p14:creationId xmlns:p14="http://schemas.microsoft.com/office/powerpoint/2010/main" val="21195695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Margin</a:t>
            </a:r>
            <a:endParaRPr lang="en-US" dirty="0"/>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a:t>Value can be specified in various formats:</a:t>
            </a:r>
          </a:p>
          <a:p>
            <a:pPr algn="just"/>
            <a:r>
              <a:rPr lang="en-US" b="1" dirty="0"/>
              <a:t>A single value: </a:t>
            </a:r>
            <a:r>
              <a:rPr lang="en-US" dirty="0"/>
              <a:t>This value will be applied to all four sides of the element's margin. For example, margin: 10px; sets a margin of 10 pixels on all sides.</a:t>
            </a:r>
          </a:p>
          <a:p>
            <a:pPr algn="just"/>
            <a:r>
              <a:rPr lang="en-US" b="1" dirty="0"/>
              <a:t>Two values: </a:t>
            </a:r>
            <a:r>
              <a:rPr lang="en-US" dirty="0"/>
              <a:t>The first value applies to the top and bottom margins, while the second value applies to the left and right margins. For example, margin: 10px 20px; sets a margin of 10 pixels for the top and bottom, and 20 pixels for the left and right.</a:t>
            </a:r>
          </a:p>
          <a:p>
            <a:pPr algn="just"/>
            <a:r>
              <a:rPr lang="en-US" b="1" dirty="0"/>
              <a:t>Three values: </a:t>
            </a:r>
            <a:r>
              <a:rPr lang="en-US" dirty="0"/>
              <a:t>The first value applies to the top margin, the second value applies to the left and right margins, and the third value applies to the bottom margin. For example, margin: 10px 20px 15px; sets a margin of 10 pixels for the top, 20 pixels for the left and right, and 15 pixels for the bottom.</a:t>
            </a:r>
          </a:p>
          <a:p>
            <a:pPr algn="just"/>
            <a:r>
              <a:rPr lang="en-US" b="1" dirty="0"/>
              <a:t>Four values: </a:t>
            </a:r>
            <a:r>
              <a:rPr lang="en-US" dirty="0"/>
              <a:t>Each value applies to the top, right, bottom, and left margins, respectively, in clockwise order. For example, margin: 10px 20px 15px 5px; sets a margin of 10 pixels for the top, 20 pixels for the right, 15 pixels for the bottom, and 5 pixels for the left.</a:t>
            </a:r>
          </a:p>
        </p:txBody>
      </p:sp>
    </p:spTree>
    <p:extLst>
      <p:ext uri="{BB962C8B-B14F-4D97-AF65-F5344CB8AC3E}">
        <p14:creationId xmlns:p14="http://schemas.microsoft.com/office/powerpoint/2010/main" val="4143711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All CSS Margin Properties</a:t>
            </a:r>
          </a:p>
        </p:txBody>
      </p:sp>
      <p:pic>
        <p:nvPicPr>
          <p:cNvPr id="4" name="Content Placeholder 3"/>
          <p:cNvPicPr>
            <a:picLocks noGrp="1" noChangeAspect="1"/>
          </p:cNvPicPr>
          <p:nvPr>
            <p:ph idx="1"/>
          </p:nvPr>
        </p:nvPicPr>
        <p:blipFill>
          <a:blip r:embed="rId2"/>
          <a:stretch>
            <a:fillRect/>
          </a:stretch>
        </p:blipFill>
        <p:spPr>
          <a:xfrm>
            <a:off x="1295101" y="2153807"/>
            <a:ext cx="9833926" cy="3021508"/>
          </a:xfrm>
          <a:prstGeom prst="rect">
            <a:avLst/>
          </a:prstGeom>
        </p:spPr>
      </p:pic>
    </p:spTree>
    <p:extLst>
      <p:ext uri="{BB962C8B-B14F-4D97-AF65-F5344CB8AC3E}">
        <p14:creationId xmlns:p14="http://schemas.microsoft.com/office/powerpoint/2010/main" val="17717102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Padding</a:t>
            </a:r>
          </a:p>
        </p:txBody>
      </p:sp>
      <p:sp>
        <p:nvSpPr>
          <p:cNvPr id="3" name="Content Placeholder 2"/>
          <p:cNvSpPr>
            <a:spLocks noGrp="1"/>
          </p:cNvSpPr>
          <p:nvPr>
            <p:ph idx="1"/>
          </p:nvPr>
        </p:nvSpPr>
        <p:spPr/>
        <p:txBody>
          <a:bodyPr>
            <a:normAutofit/>
          </a:bodyPr>
          <a:lstStyle/>
          <a:p>
            <a:pPr algn="just"/>
            <a:r>
              <a:rPr lang="en-US" dirty="0"/>
              <a:t>CSS padding is a property that allows you to specify the space between the content of an element and its borders. It adds space inside an element, pushing the content away from the edges. The padding is applied to all four sides of the element, but you can also specify individual values for each side if desired.</a:t>
            </a:r>
          </a:p>
          <a:p>
            <a:pPr algn="just"/>
            <a:r>
              <a:rPr lang="en-US" dirty="0"/>
              <a:t>The padding property can be set using different units such as pixels (</a:t>
            </a:r>
            <a:r>
              <a:rPr lang="en-US" dirty="0" err="1"/>
              <a:t>px</a:t>
            </a:r>
            <a:r>
              <a:rPr lang="en-US" dirty="0"/>
              <a:t>), percentages (%), </a:t>
            </a:r>
            <a:r>
              <a:rPr lang="en-US" dirty="0" err="1"/>
              <a:t>em</a:t>
            </a:r>
            <a:r>
              <a:rPr lang="en-US" dirty="0"/>
              <a:t> units (</a:t>
            </a:r>
            <a:r>
              <a:rPr lang="en-US" dirty="0" err="1"/>
              <a:t>em</a:t>
            </a:r>
            <a:r>
              <a:rPr lang="en-US" dirty="0"/>
              <a:t>), or other relative units. Here's the basic syntax for using the padding property:</a:t>
            </a:r>
          </a:p>
          <a:p>
            <a:pPr marL="0" indent="0" algn="just">
              <a:buNone/>
            </a:pPr>
            <a:r>
              <a:rPr lang="en-US" b="1" dirty="0"/>
              <a:t>selector {</a:t>
            </a:r>
          </a:p>
          <a:p>
            <a:pPr marL="0" indent="0" algn="just">
              <a:buNone/>
            </a:pPr>
            <a:r>
              <a:rPr lang="en-US" b="1" dirty="0"/>
              <a:t>  padding: value;</a:t>
            </a:r>
          </a:p>
          <a:p>
            <a:pPr marL="0" indent="0" algn="just">
              <a:buNone/>
            </a:pPr>
            <a:r>
              <a:rPr lang="en-US" b="1" dirty="0"/>
              <a:t>}</a:t>
            </a:r>
          </a:p>
          <a:p>
            <a:pPr algn="just"/>
            <a:endParaRPr lang="en-US" dirty="0"/>
          </a:p>
        </p:txBody>
      </p:sp>
    </p:spTree>
    <p:extLst>
      <p:ext uri="{BB962C8B-B14F-4D97-AF65-F5344CB8AC3E}">
        <p14:creationId xmlns:p14="http://schemas.microsoft.com/office/powerpoint/2010/main" val="11345822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Padding</a:t>
            </a:r>
          </a:p>
        </p:txBody>
      </p:sp>
      <p:sp>
        <p:nvSpPr>
          <p:cNvPr id="3" name="Content Placeholder 2"/>
          <p:cNvSpPr>
            <a:spLocks noGrp="1"/>
          </p:cNvSpPr>
          <p:nvPr>
            <p:ph idx="1"/>
          </p:nvPr>
        </p:nvSpPr>
        <p:spPr/>
        <p:txBody>
          <a:bodyPr>
            <a:normAutofit fontScale="85000" lnSpcReduction="20000"/>
          </a:bodyPr>
          <a:lstStyle/>
          <a:p>
            <a:r>
              <a:rPr lang="en-US" dirty="0"/>
              <a:t>You can also specify different padding values for each side using the following syntax:</a:t>
            </a:r>
          </a:p>
          <a:p>
            <a:pPr marL="0" indent="0">
              <a:buNone/>
            </a:pPr>
            <a:r>
              <a:rPr lang="en-US" dirty="0"/>
              <a:t>selector {</a:t>
            </a:r>
          </a:p>
          <a:p>
            <a:pPr marL="0" indent="0">
              <a:buNone/>
            </a:pPr>
            <a:r>
              <a:rPr lang="en-US" dirty="0"/>
              <a:t>  padding-top: value;</a:t>
            </a:r>
          </a:p>
          <a:p>
            <a:pPr marL="0" indent="0">
              <a:buNone/>
            </a:pPr>
            <a:r>
              <a:rPr lang="en-US" dirty="0"/>
              <a:t>  padding-right: value;</a:t>
            </a:r>
          </a:p>
          <a:p>
            <a:pPr marL="0" indent="0">
              <a:buNone/>
            </a:pPr>
            <a:r>
              <a:rPr lang="en-US" dirty="0"/>
              <a:t>  padding-bottom: value;</a:t>
            </a:r>
          </a:p>
          <a:p>
            <a:pPr marL="0" indent="0">
              <a:buNone/>
            </a:pPr>
            <a:r>
              <a:rPr lang="en-US" dirty="0"/>
              <a:t>  padding-left: value;</a:t>
            </a:r>
          </a:p>
          <a:p>
            <a:pPr marL="0" indent="0">
              <a:buNone/>
            </a:pPr>
            <a:r>
              <a:rPr lang="en-US" dirty="0"/>
              <a:t>}</a:t>
            </a:r>
          </a:p>
          <a:p>
            <a:pPr marL="0" indent="0">
              <a:buNone/>
            </a:pPr>
            <a:r>
              <a:rPr lang="en-US" dirty="0"/>
              <a:t>You can also use shorthand notations to set different padding values at once. For example:</a:t>
            </a:r>
          </a:p>
          <a:p>
            <a:pPr marL="0" indent="0">
              <a:buNone/>
            </a:pPr>
            <a:r>
              <a:rPr lang="en-US" dirty="0"/>
              <a:t>div {</a:t>
            </a:r>
          </a:p>
          <a:p>
            <a:pPr marL="0" indent="0">
              <a:buNone/>
            </a:pPr>
            <a:r>
              <a:rPr lang="en-US" dirty="0"/>
              <a:t>  padding: 10px 20px 30px 40px;</a:t>
            </a:r>
          </a:p>
          <a:p>
            <a:pPr marL="0" indent="0">
              <a:buNone/>
            </a:pPr>
            <a:r>
              <a:rPr lang="en-US" dirty="0"/>
              <a:t>}</a:t>
            </a:r>
          </a:p>
          <a:p>
            <a:pPr marL="0" indent="0">
              <a:buNone/>
            </a:pPr>
            <a:r>
              <a:rPr lang="en-US" dirty="0"/>
              <a:t>This shorthand notation sets the padding values in the order top, right, bottom, and left.</a:t>
            </a:r>
          </a:p>
          <a:p>
            <a:endParaRPr lang="en-US" dirty="0"/>
          </a:p>
        </p:txBody>
      </p:sp>
    </p:spTree>
    <p:extLst>
      <p:ext uri="{BB962C8B-B14F-4D97-AF65-F5344CB8AC3E}">
        <p14:creationId xmlns:p14="http://schemas.microsoft.com/office/powerpoint/2010/main" val="6036132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Outline</a:t>
            </a:r>
          </a:p>
        </p:txBody>
      </p:sp>
      <p:sp>
        <p:nvSpPr>
          <p:cNvPr id="3" name="Content Placeholder 2"/>
          <p:cNvSpPr>
            <a:spLocks noGrp="1"/>
          </p:cNvSpPr>
          <p:nvPr>
            <p:ph idx="1"/>
          </p:nvPr>
        </p:nvSpPr>
        <p:spPr/>
        <p:txBody>
          <a:bodyPr/>
          <a:lstStyle/>
          <a:p>
            <a:r>
              <a:rPr lang="en-US" dirty="0"/>
              <a:t>In CSS, the outline property is used to create a visible border around an element, typically used to highlight or emphasize the element. Unlike the border property, the outline does not take up space in the layout and is drawn outside the element's dimensions.</a:t>
            </a:r>
          </a:p>
          <a:p>
            <a:r>
              <a:rPr lang="en-US" dirty="0"/>
              <a:t>The outline property can be set with the following syntax:</a:t>
            </a:r>
          </a:p>
          <a:p>
            <a:pPr marL="0" indent="0">
              <a:buNone/>
            </a:pPr>
            <a:r>
              <a:rPr lang="en-US" dirty="0"/>
              <a:t>selector {</a:t>
            </a:r>
          </a:p>
          <a:p>
            <a:pPr marL="0" indent="0">
              <a:buNone/>
            </a:pPr>
            <a:r>
              <a:rPr lang="en-US" dirty="0"/>
              <a:t>  </a:t>
            </a:r>
            <a:r>
              <a:rPr lang="en-US" b="1" dirty="0"/>
              <a:t>outline: [outline-width] [outline-style] [outline-color];</a:t>
            </a:r>
          </a:p>
          <a:p>
            <a:pPr marL="0" indent="0">
              <a:buNone/>
            </a:pPr>
            <a:r>
              <a:rPr lang="en-US" dirty="0"/>
              <a:t>}</a:t>
            </a:r>
          </a:p>
          <a:p>
            <a:endParaRPr lang="en-US" dirty="0"/>
          </a:p>
        </p:txBody>
      </p:sp>
    </p:spTree>
    <p:extLst>
      <p:ext uri="{BB962C8B-B14F-4D97-AF65-F5344CB8AC3E}">
        <p14:creationId xmlns:p14="http://schemas.microsoft.com/office/powerpoint/2010/main" val="223591083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3254229" y="1396325"/>
            <a:ext cx="5683542" cy="3645087"/>
          </a:xfrm>
          <a:prstGeom prst="rect">
            <a:avLst/>
          </a:prstGeom>
        </p:spPr>
      </p:pic>
      <p:pic>
        <p:nvPicPr>
          <p:cNvPr id="6" name="Picture 5"/>
          <p:cNvPicPr>
            <a:picLocks noChangeAspect="1"/>
          </p:cNvPicPr>
          <p:nvPr/>
        </p:nvPicPr>
        <p:blipFill>
          <a:blip r:embed="rId3"/>
          <a:stretch>
            <a:fillRect/>
          </a:stretch>
        </p:blipFill>
        <p:spPr>
          <a:xfrm>
            <a:off x="3347313" y="5282743"/>
            <a:ext cx="5912154" cy="1251014"/>
          </a:xfrm>
          <a:prstGeom prst="rect">
            <a:avLst/>
          </a:prstGeom>
        </p:spPr>
      </p:pic>
    </p:spTree>
    <p:extLst>
      <p:ext uri="{BB962C8B-B14F-4D97-AF65-F5344CB8AC3E}">
        <p14:creationId xmlns:p14="http://schemas.microsoft.com/office/powerpoint/2010/main" val="10417649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Overflow</a:t>
            </a:r>
          </a:p>
        </p:txBody>
      </p:sp>
      <p:sp>
        <p:nvSpPr>
          <p:cNvPr id="3" name="Content Placeholder 2"/>
          <p:cNvSpPr>
            <a:spLocks noGrp="1"/>
          </p:cNvSpPr>
          <p:nvPr>
            <p:ph idx="1"/>
          </p:nvPr>
        </p:nvSpPr>
        <p:spPr>
          <a:xfrm>
            <a:off x="838200" y="1423447"/>
            <a:ext cx="10926452" cy="5171585"/>
          </a:xfrm>
        </p:spPr>
        <p:txBody>
          <a:bodyPr>
            <a:normAutofit lnSpcReduction="10000"/>
          </a:bodyPr>
          <a:lstStyle/>
          <a:p>
            <a:pPr algn="just"/>
            <a:endParaRPr lang="en-US" dirty="0"/>
          </a:p>
          <a:p>
            <a:pPr marL="0" indent="0" algn="just">
              <a:buNone/>
            </a:pPr>
            <a:r>
              <a:rPr lang="en-US" dirty="0"/>
              <a:t>In CSS, the overflow property is used to control how content that exceeds the size of an element is handled. It specifies whether to display scrollbars, clip the content, or automatically expand the element to accommodate the overflowing content.</a:t>
            </a:r>
          </a:p>
          <a:p>
            <a:pPr marL="0" indent="0" algn="just">
              <a:buNone/>
            </a:pPr>
            <a:r>
              <a:rPr lang="en-US" dirty="0"/>
              <a:t>The overflow property can be applied to block-level elements, including &lt;div&gt;, &lt;p&gt;, and others. Here are some common values for the overflow property:</a:t>
            </a:r>
          </a:p>
          <a:p>
            <a:pPr algn="just"/>
            <a:r>
              <a:rPr lang="en-US" b="1" dirty="0"/>
              <a:t>visible: </a:t>
            </a:r>
            <a:r>
              <a:rPr lang="en-US" dirty="0"/>
              <a:t>This is the default value. Content that exceeds the element's boundaries will be displayed outside the element without any clipping. This can cause the content to overlap with surrounding elements.</a:t>
            </a:r>
          </a:p>
          <a:p>
            <a:pPr algn="just"/>
            <a:r>
              <a:rPr lang="en-US" b="1" dirty="0"/>
              <a:t>hidden: </a:t>
            </a:r>
            <a:r>
              <a:rPr lang="en-US" dirty="0"/>
              <a:t>Content that exceeds the element's boundaries will be clipped and hidden. It won't be visible to the user. This is often used to hide overflowing content.</a:t>
            </a:r>
          </a:p>
          <a:p>
            <a:pPr algn="just"/>
            <a:r>
              <a:rPr lang="en-US" b="1" dirty="0"/>
              <a:t>scroll: </a:t>
            </a:r>
            <a:r>
              <a:rPr lang="en-US" dirty="0"/>
              <a:t>Scrollbars will be added to the element, allowing the user to scroll and view the overflowing content. The scrollbars will always be visible, regardless of whether there is overflowing content or not.</a:t>
            </a:r>
          </a:p>
          <a:p>
            <a:pPr algn="just"/>
            <a:r>
              <a:rPr lang="en-US" b="1" dirty="0"/>
              <a:t>auto: </a:t>
            </a:r>
            <a:r>
              <a:rPr lang="en-US" dirty="0"/>
              <a:t>Scrollbars will be added to the element if the content exceeds its boundaries. If the content fits within the element, no scrollbars will be displayed.</a:t>
            </a:r>
          </a:p>
        </p:txBody>
      </p:sp>
    </p:spTree>
    <p:extLst>
      <p:ext uri="{BB962C8B-B14F-4D97-AF65-F5344CB8AC3E}">
        <p14:creationId xmlns:p14="http://schemas.microsoft.com/office/powerpoint/2010/main" val="29513717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987171" y="2171180"/>
            <a:ext cx="4527510" cy="3424031"/>
          </a:xfrm>
          <a:prstGeom prst="rect">
            <a:avLst/>
          </a:prstGeom>
        </p:spPr>
      </p:pic>
      <p:pic>
        <p:nvPicPr>
          <p:cNvPr id="5" name="Picture 4"/>
          <p:cNvPicPr>
            <a:picLocks noChangeAspect="1"/>
          </p:cNvPicPr>
          <p:nvPr/>
        </p:nvPicPr>
        <p:blipFill>
          <a:blip r:embed="rId3"/>
          <a:stretch>
            <a:fillRect/>
          </a:stretch>
        </p:blipFill>
        <p:spPr>
          <a:xfrm>
            <a:off x="5514681" y="2383994"/>
            <a:ext cx="6502734" cy="2768742"/>
          </a:xfrm>
          <a:prstGeom prst="rect">
            <a:avLst/>
          </a:prstGeom>
        </p:spPr>
      </p:pic>
    </p:spTree>
    <p:extLst>
      <p:ext uri="{BB962C8B-B14F-4D97-AF65-F5344CB8AC3E}">
        <p14:creationId xmlns:p14="http://schemas.microsoft.com/office/powerpoint/2010/main" val="3138341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Display</a:t>
            </a:r>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a:t>In CSS, the display property is used to control how an element is rendered on a web page. It specifies the type of box used for an HTML element and determines how it interacts with other elements.</a:t>
            </a:r>
          </a:p>
          <a:p>
            <a:pPr algn="just"/>
            <a:endParaRPr lang="en-US" dirty="0"/>
          </a:p>
          <a:p>
            <a:pPr marL="0" indent="0" algn="just">
              <a:buNone/>
            </a:pPr>
            <a:r>
              <a:rPr lang="en-US" dirty="0"/>
              <a:t>Here are some commonly used values for the display property:</a:t>
            </a:r>
          </a:p>
          <a:p>
            <a:pPr algn="just"/>
            <a:endParaRPr lang="en-US" dirty="0"/>
          </a:p>
          <a:p>
            <a:pPr algn="just"/>
            <a:r>
              <a:rPr lang="en-US" b="1" dirty="0"/>
              <a:t>block: </a:t>
            </a:r>
            <a:r>
              <a:rPr lang="en-US" dirty="0"/>
              <a:t>This value makes the element generate a block-level box. It takes up the full width of its parent container and starts on a new line. Block-level elements include &lt;div&gt;, &lt;p&gt;, &lt;h1&gt; to &lt;h6&gt;, and &lt;li&gt;.</a:t>
            </a:r>
          </a:p>
          <a:p>
            <a:pPr algn="just"/>
            <a:endParaRPr lang="en-US" dirty="0"/>
          </a:p>
          <a:p>
            <a:pPr algn="just"/>
            <a:r>
              <a:rPr lang="en-US" b="1" dirty="0"/>
              <a:t>inline: </a:t>
            </a:r>
            <a:r>
              <a:rPr lang="en-US" dirty="0"/>
              <a:t>This value makes the element generate an inline-level box. It does not start on a new line and only occupies the space it needs. Inline elements include &lt;span&gt;, &lt;a&gt;, &lt;strong&gt;, and &lt;</a:t>
            </a:r>
            <a:r>
              <a:rPr lang="en-US" dirty="0" err="1"/>
              <a:t>em</a:t>
            </a:r>
            <a:r>
              <a:rPr lang="en-US" dirty="0"/>
              <a:t>&gt;.</a:t>
            </a:r>
          </a:p>
        </p:txBody>
      </p:sp>
    </p:spTree>
    <p:extLst>
      <p:ext uri="{BB962C8B-B14F-4D97-AF65-F5344CB8AC3E}">
        <p14:creationId xmlns:p14="http://schemas.microsoft.com/office/powerpoint/2010/main" val="418426153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838200" y="1995308"/>
            <a:ext cx="5867121" cy="3566507"/>
          </a:xfrm>
          <a:prstGeom prst="rect">
            <a:avLst/>
          </a:prstGeom>
        </p:spPr>
      </p:pic>
      <p:pic>
        <p:nvPicPr>
          <p:cNvPr id="5" name="Picture 4"/>
          <p:cNvPicPr>
            <a:picLocks noChangeAspect="1"/>
          </p:cNvPicPr>
          <p:nvPr/>
        </p:nvPicPr>
        <p:blipFill>
          <a:blip r:embed="rId3"/>
          <a:stretch>
            <a:fillRect/>
          </a:stretch>
        </p:blipFill>
        <p:spPr>
          <a:xfrm>
            <a:off x="7722958" y="3275997"/>
            <a:ext cx="3175163" cy="1174810"/>
          </a:xfrm>
          <a:prstGeom prst="rect">
            <a:avLst/>
          </a:prstGeom>
        </p:spPr>
      </p:pic>
    </p:spTree>
    <p:extLst>
      <p:ext uri="{BB962C8B-B14F-4D97-AF65-F5344CB8AC3E}">
        <p14:creationId xmlns:p14="http://schemas.microsoft.com/office/powerpoint/2010/main" val="363413342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Float</a:t>
            </a:r>
          </a:p>
        </p:txBody>
      </p:sp>
      <p:sp>
        <p:nvSpPr>
          <p:cNvPr id="3" name="Content Placeholder 2"/>
          <p:cNvSpPr>
            <a:spLocks noGrp="1"/>
          </p:cNvSpPr>
          <p:nvPr>
            <p:ph idx="1"/>
          </p:nvPr>
        </p:nvSpPr>
        <p:spPr/>
        <p:txBody>
          <a:bodyPr>
            <a:normAutofit/>
          </a:bodyPr>
          <a:lstStyle/>
          <a:p>
            <a:pPr marL="0" indent="0" algn="just">
              <a:buNone/>
            </a:pPr>
            <a:r>
              <a:rPr lang="en-US" dirty="0"/>
              <a:t>In CSS, the float property is used to position an element along the left or right side of its containing element, allowing other elements to flow around it. When an element is floated, it is taken out of the normal flow of the document.</a:t>
            </a:r>
          </a:p>
          <a:p>
            <a:pPr marL="0" indent="0" algn="just">
              <a:buNone/>
            </a:pPr>
            <a:r>
              <a:rPr lang="en-US" dirty="0"/>
              <a:t>The float property can be applied to block-level elements. Here are the common values for the float property:</a:t>
            </a:r>
          </a:p>
          <a:p>
            <a:pPr algn="just"/>
            <a:r>
              <a:rPr lang="en-US" b="1" dirty="0"/>
              <a:t>left: </a:t>
            </a:r>
            <a:r>
              <a:rPr lang="en-US" dirty="0"/>
              <a:t>The element is floated to the left side of its containing element. Other elements will flow around it on the right side.</a:t>
            </a:r>
          </a:p>
          <a:p>
            <a:pPr algn="just"/>
            <a:r>
              <a:rPr lang="en-US" b="1" dirty="0"/>
              <a:t>right: </a:t>
            </a:r>
            <a:r>
              <a:rPr lang="en-US" dirty="0"/>
              <a:t>The element is floated to the right side of its containing element. Other elements will flow around it on the left side.</a:t>
            </a:r>
          </a:p>
          <a:p>
            <a:pPr algn="just"/>
            <a:r>
              <a:rPr lang="en-US" b="1" dirty="0"/>
              <a:t>none: </a:t>
            </a:r>
            <a:r>
              <a:rPr lang="en-US" dirty="0"/>
              <a:t>This is the default value. The element is not floated, and it remains in the normal flow of the document. Other elements will not wrap around it.</a:t>
            </a:r>
          </a:p>
        </p:txBody>
      </p:sp>
    </p:spTree>
    <p:extLst>
      <p:ext uri="{BB962C8B-B14F-4D97-AF65-F5344CB8AC3E}">
        <p14:creationId xmlns:p14="http://schemas.microsoft.com/office/powerpoint/2010/main" val="31738884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959203" y="2135744"/>
            <a:ext cx="5218522" cy="2860463"/>
          </a:xfrm>
          <a:prstGeom prst="rect">
            <a:avLst/>
          </a:prstGeom>
        </p:spPr>
      </p:pic>
      <p:pic>
        <p:nvPicPr>
          <p:cNvPr id="5" name="Picture 4"/>
          <p:cNvPicPr>
            <a:picLocks noChangeAspect="1"/>
          </p:cNvPicPr>
          <p:nvPr/>
        </p:nvPicPr>
        <p:blipFill>
          <a:blip r:embed="rId3"/>
          <a:stretch>
            <a:fillRect/>
          </a:stretch>
        </p:blipFill>
        <p:spPr>
          <a:xfrm>
            <a:off x="6685992" y="2725739"/>
            <a:ext cx="4051137" cy="1680472"/>
          </a:xfrm>
          <a:prstGeom prst="rect">
            <a:avLst/>
          </a:prstGeom>
        </p:spPr>
      </p:pic>
    </p:spTree>
    <p:extLst>
      <p:ext uri="{BB962C8B-B14F-4D97-AF65-F5344CB8AC3E}">
        <p14:creationId xmlns:p14="http://schemas.microsoft.com/office/powerpoint/2010/main" val="293642100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Icon</a:t>
            </a:r>
          </a:p>
        </p:txBody>
      </p:sp>
      <p:sp>
        <p:nvSpPr>
          <p:cNvPr id="3" name="Content Placeholder 2"/>
          <p:cNvSpPr>
            <a:spLocks noGrp="1"/>
          </p:cNvSpPr>
          <p:nvPr>
            <p:ph idx="1"/>
          </p:nvPr>
        </p:nvSpPr>
        <p:spPr/>
        <p:txBody>
          <a:bodyPr/>
          <a:lstStyle/>
          <a:p>
            <a:pPr algn="just"/>
            <a:r>
              <a:rPr lang="en-US" dirty="0"/>
              <a:t>The simplest way to add an icon to your HTML page, is with an icon library, such as Font Awesome.</a:t>
            </a:r>
          </a:p>
          <a:p>
            <a:pPr algn="just"/>
            <a:r>
              <a:rPr lang="en-US" dirty="0"/>
              <a:t>Add the name of the specified icon class to any inline HTML element (like &lt;</a:t>
            </a:r>
            <a:r>
              <a:rPr lang="en-US" dirty="0" err="1"/>
              <a:t>i</a:t>
            </a:r>
            <a:r>
              <a:rPr lang="en-US" dirty="0"/>
              <a:t>&gt; or &lt;span&gt;).</a:t>
            </a:r>
          </a:p>
          <a:p>
            <a:pPr algn="just"/>
            <a:r>
              <a:rPr lang="en-US" dirty="0"/>
              <a:t>To use the Font Awesome icons, go to fontawesome.com, sign in, and get a code to add in the &lt;head&gt; section of your HTML page:</a:t>
            </a:r>
          </a:p>
          <a:p>
            <a:r>
              <a:rPr lang="en-US" dirty="0"/>
              <a:t>&lt;script </a:t>
            </a:r>
            <a:r>
              <a:rPr lang="en-US" dirty="0" err="1"/>
              <a:t>src</a:t>
            </a:r>
            <a:r>
              <a:rPr lang="en-US" dirty="0"/>
              <a:t>="https://kit.fontawesome.com/yourcode.js" </a:t>
            </a:r>
            <a:r>
              <a:rPr lang="en-US" dirty="0" err="1"/>
              <a:t>crossorigin</a:t>
            </a:r>
            <a:r>
              <a:rPr lang="en-US" dirty="0"/>
              <a:t>="anonymous"&gt;&lt;/script&gt;</a:t>
            </a:r>
          </a:p>
        </p:txBody>
      </p:sp>
    </p:spTree>
    <p:extLst>
      <p:ext uri="{BB962C8B-B14F-4D97-AF65-F5344CB8AC3E}">
        <p14:creationId xmlns:p14="http://schemas.microsoft.com/office/powerpoint/2010/main" val="415004623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5" name="Content Placeholder 4"/>
          <p:cNvPicPr>
            <a:picLocks noGrp="1" noChangeAspect="1"/>
          </p:cNvPicPr>
          <p:nvPr>
            <p:ph idx="1"/>
          </p:nvPr>
        </p:nvPicPr>
        <p:blipFill>
          <a:blip r:embed="rId2"/>
          <a:stretch>
            <a:fillRect/>
          </a:stretch>
        </p:blipFill>
        <p:spPr>
          <a:xfrm>
            <a:off x="1016326" y="1971755"/>
            <a:ext cx="6407479" cy="3568883"/>
          </a:xfrm>
          <a:prstGeom prst="rect">
            <a:avLst/>
          </a:prstGeom>
        </p:spPr>
      </p:pic>
      <p:pic>
        <p:nvPicPr>
          <p:cNvPr id="6" name="Picture 5"/>
          <p:cNvPicPr>
            <a:picLocks noChangeAspect="1"/>
          </p:cNvPicPr>
          <p:nvPr/>
        </p:nvPicPr>
        <p:blipFill>
          <a:blip r:embed="rId3"/>
          <a:stretch>
            <a:fillRect/>
          </a:stretch>
        </p:blipFill>
        <p:spPr>
          <a:xfrm>
            <a:off x="8195628" y="3246437"/>
            <a:ext cx="2545429" cy="1544914"/>
          </a:xfrm>
          <a:prstGeom prst="rect">
            <a:avLst/>
          </a:prstGeom>
        </p:spPr>
      </p:pic>
    </p:spTree>
    <p:extLst>
      <p:ext uri="{BB962C8B-B14F-4D97-AF65-F5344CB8AC3E}">
        <p14:creationId xmlns:p14="http://schemas.microsoft.com/office/powerpoint/2010/main" val="159133164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Box Sizing</a:t>
            </a:r>
          </a:p>
        </p:txBody>
      </p:sp>
      <p:sp>
        <p:nvSpPr>
          <p:cNvPr id="3" name="Content Placeholder 2"/>
          <p:cNvSpPr>
            <a:spLocks noGrp="1"/>
          </p:cNvSpPr>
          <p:nvPr>
            <p:ph idx="1"/>
          </p:nvPr>
        </p:nvSpPr>
        <p:spPr/>
        <p:txBody>
          <a:bodyPr>
            <a:normAutofit fontScale="85000" lnSpcReduction="20000"/>
          </a:bodyPr>
          <a:lstStyle/>
          <a:p>
            <a:pPr marL="0" indent="0" algn="just">
              <a:buNone/>
            </a:pPr>
            <a:r>
              <a:rPr lang="en-US" dirty="0"/>
              <a:t>The box-sizing property in CSS is used to control how the total size of an element is calculated. It affects how the width and height properties are interpreted.</a:t>
            </a:r>
          </a:p>
          <a:p>
            <a:pPr algn="just"/>
            <a:endParaRPr lang="en-US" dirty="0"/>
          </a:p>
          <a:p>
            <a:pPr marL="0" indent="0" algn="just">
              <a:buNone/>
            </a:pPr>
            <a:r>
              <a:rPr lang="en-US" dirty="0"/>
              <a:t>The box-sizing property can have two possible values:</a:t>
            </a:r>
          </a:p>
          <a:p>
            <a:pPr algn="just"/>
            <a:endParaRPr lang="en-US" dirty="0"/>
          </a:p>
          <a:p>
            <a:pPr algn="just"/>
            <a:r>
              <a:rPr lang="en-US" b="1" dirty="0"/>
              <a:t>content-box (default): </a:t>
            </a:r>
            <a:r>
              <a:rPr lang="en-US" dirty="0"/>
              <a:t>This is the default behavior of the box model. When box-sizing is set to content-box, the specified width and height values only apply to the content area of the element. The padding, border, and margin are added to the specified width and height, resulting in a larger total size.</a:t>
            </a:r>
          </a:p>
          <a:p>
            <a:pPr algn="just"/>
            <a:endParaRPr lang="en-US" dirty="0"/>
          </a:p>
          <a:p>
            <a:pPr algn="just"/>
            <a:r>
              <a:rPr lang="en-US" b="1" dirty="0"/>
              <a:t>border-box: </a:t>
            </a:r>
            <a:r>
              <a:rPr lang="en-US" dirty="0"/>
              <a:t>When box-sizing is set to border-box, the specified width and height values include the content, padding, and border areas of the element. In other words, the dimensions you set will be applied to the entire box, including the content, padding, and border. This ensures that the total size of the element remains consistent, even if you add padding or border to it.</a:t>
            </a:r>
          </a:p>
        </p:txBody>
      </p:sp>
    </p:spTree>
    <p:extLst>
      <p:ext uri="{BB962C8B-B14F-4D97-AF65-F5344CB8AC3E}">
        <p14:creationId xmlns:p14="http://schemas.microsoft.com/office/powerpoint/2010/main" val="363880967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838200" y="1882186"/>
            <a:ext cx="5126008" cy="4351338"/>
          </a:xfrm>
          <a:prstGeom prst="rect">
            <a:avLst/>
          </a:prstGeom>
        </p:spPr>
      </p:pic>
      <p:pic>
        <p:nvPicPr>
          <p:cNvPr id="5" name="Picture 4"/>
          <p:cNvPicPr>
            <a:picLocks noChangeAspect="1"/>
          </p:cNvPicPr>
          <p:nvPr/>
        </p:nvPicPr>
        <p:blipFill>
          <a:blip r:embed="rId3"/>
          <a:stretch>
            <a:fillRect/>
          </a:stretch>
        </p:blipFill>
        <p:spPr>
          <a:xfrm>
            <a:off x="6325466" y="2029431"/>
            <a:ext cx="5528294" cy="3890602"/>
          </a:xfrm>
          <a:prstGeom prst="rect">
            <a:avLst/>
          </a:prstGeom>
        </p:spPr>
      </p:pic>
    </p:spTree>
    <p:extLst>
      <p:ext uri="{BB962C8B-B14F-4D97-AF65-F5344CB8AC3E}">
        <p14:creationId xmlns:p14="http://schemas.microsoft.com/office/powerpoint/2010/main" val="271179630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Position Property</a:t>
            </a:r>
          </a:p>
        </p:txBody>
      </p:sp>
      <p:sp>
        <p:nvSpPr>
          <p:cNvPr id="3" name="Content Placeholder 2"/>
          <p:cNvSpPr>
            <a:spLocks noGrp="1"/>
          </p:cNvSpPr>
          <p:nvPr>
            <p:ph idx="1"/>
          </p:nvPr>
        </p:nvSpPr>
        <p:spPr/>
        <p:txBody>
          <a:bodyPr>
            <a:normAutofit fontScale="92500" lnSpcReduction="20000"/>
          </a:bodyPr>
          <a:lstStyle/>
          <a:p>
            <a:pPr algn="just"/>
            <a:r>
              <a:rPr lang="en-US" dirty="0"/>
              <a:t>The position property specifies the type of positioning method used for an element.</a:t>
            </a:r>
          </a:p>
          <a:p>
            <a:pPr algn="just"/>
            <a:endParaRPr lang="en-US" dirty="0"/>
          </a:p>
          <a:p>
            <a:pPr algn="just"/>
            <a:r>
              <a:rPr lang="en-US" dirty="0"/>
              <a:t>There are five different position values:</a:t>
            </a:r>
          </a:p>
          <a:p>
            <a:pPr algn="just"/>
            <a:endParaRPr lang="en-US" dirty="0"/>
          </a:p>
          <a:p>
            <a:pPr lvl="1" algn="just"/>
            <a:r>
              <a:rPr lang="en-US" dirty="0"/>
              <a:t>static</a:t>
            </a:r>
          </a:p>
          <a:p>
            <a:pPr lvl="1" algn="just"/>
            <a:r>
              <a:rPr lang="en-US" dirty="0"/>
              <a:t>relative</a:t>
            </a:r>
          </a:p>
          <a:p>
            <a:pPr lvl="1" algn="just"/>
            <a:r>
              <a:rPr lang="en-US" dirty="0"/>
              <a:t>fixed</a:t>
            </a:r>
          </a:p>
          <a:p>
            <a:pPr lvl="1" algn="just"/>
            <a:r>
              <a:rPr lang="en-US" dirty="0"/>
              <a:t>absolute</a:t>
            </a:r>
          </a:p>
          <a:p>
            <a:pPr lvl="1" algn="just"/>
            <a:r>
              <a:rPr lang="en-US" dirty="0"/>
              <a:t>sticky</a:t>
            </a:r>
          </a:p>
          <a:p>
            <a:pPr algn="just"/>
            <a:r>
              <a:rPr lang="en-US" dirty="0"/>
              <a:t>Elements are then positioned using the top, bottom, left, and right properties. However, these properties will not work unless the position property is set first. They also work differently depending on the position value.</a:t>
            </a:r>
          </a:p>
        </p:txBody>
      </p:sp>
    </p:spTree>
    <p:extLst>
      <p:ext uri="{BB962C8B-B14F-4D97-AF65-F5344CB8AC3E}">
        <p14:creationId xmlns:p14="http://schemas.microsoft.com/office/powerpoint/2010/main" val="391287388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position: static;</a:t>
            </a:r>
          </a:p>
        </p:txBody>
      </p:sp>
      <p:sp>
        <p:nvSpPr>
          <p:cNvPr id="3" name="Content Placeholder 2"/>
          <p:cNvSpPr>
            <a:spLocks noGrp="1"/>
          </p:cNvSpPr>
          <p:nvPr>
            <p:ph idx="1"/>
          </p:nvPr>
        </p:nvSpPr>
        <p:spPr/>
        <p:txBody>
          <a:bodyPr>
            <a:normAutofit lnSpcReduction="10000"/>
          </a:bodyPr>
          <a:lstStyle/>
          <a:p>
            <a:pPr algn="just"/>
            <a:r>
              <a:rPr lang="en-US" dirty="0"/>
              <a:t>In CSS, the position: static; property/value is the default positioning behavior for an element. When an element has position: static;, it is positioned according to the normal document flow, meaning it will be displayed in its default position without any additional positioning applied to it.</a:t>
            </a:r>
          </a:p>
          <a:p>
            <a:pPr algn="just"/>
            <a:r>
              <a:rPr lang="en-US" dirty="0"/>
              <a:t>Here are some key points about position: static;:</a:t>
            </a:r>
          </a:p>
          <a:p>
            <a:pPr algn="just"/>
            <a:r>
              <a:rPr lang="en-US" b="1" dirty="0"/>
              <a:t>Default behavior: </a:t>
            </a:r>
            <a:r>
              <a:rPr lang="en-US" dirty="0"/>
              <a:t>Elements are set to position: static; by default if no other positioning property is specified.</a:t>
            </a:r>
          </a:p>
          <a:p>
            <a:pPr algn="just"/>
            <a:r>
              <a:rPr lang="en-US" b="1" dirty="0"/>
              <a:t>Ignored offset properties: </a:t>
            </a:r>
            <a:r>
              <a:rPr lang="en-US" dirty="0"/>
              <a:t>The offset properties such as top, bottom, left, and right have no effect on elements with position: static;. The element will remain in its default position as determined by the document flow.</a:t>
            </a:r>
          </a:p>
          <a:p>
            <a:pPr algn="just"/>
            <a:r>
              <a:rPr lang="en-US" b="1" dirty="0"/>
              <a:t>Not affected by z-index: </a:t>
            </a:r>
            <a:r>
              <a:rPr lang="en-US" dirty="0"/>
              <a:t>Elements with position: static; are not affected by the z-index property. They will be layered based on their order in the document flow.</a:t>
            </a:r>
          </a:p>
        </p:txBody>
      </p:sp>
    </p:spTree>
    <p:extLst>
      <p:ext uri="{BB962C8B-B14F-4D97-AF65-F5344CB8AC3E}">
        <p14:creationId xmlns:p14="http://schemas.microsoft.com/office/powerpoint/2010/main" val="342142737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position: fixed;</a:t>
            </a:r>
          </a:p>
        </p:txBody>
      </p:sp>
      <p:sp>
        <p:nvSpPr>
          <p:cNvPr id="3" name="Content Placeholder 2"/>
          <p:cNvSpPr>
            <a:spLocks noGrp="1"/>
          </p:cNvSpPr>
          <p:nvPr>
            <p:ph idx="1"/>
          </p:nvPr>
        </p:nvSpPr>
        <p:spPr>
          <a:xfrm>
            <a:off x="722329" y="1599381"/>
            <a:ext cx="10747342" cy="5348174"/>
          </a:xfrm>
        </p:spPr>
        <p:txBody>
          <a:bodyPr>
            <a:normAutofit fontScale="92500" lnSpcReduction="10000"/>
          </a:bodyPr>
          <a:lstStyle/>
          <a:p>
            <a:pPr algn="just"/>
            <a:r>
              <a:rPr lang="en-US" dirty="0"/>
              <a:t>The position: fixed; property in CSS is used to position an element relative to the browser window or the viewport, regardless of scrolling. Unlike elements with position: absolute;, which are positioned relative to their closest positioned ancestor, elements with position: fixed; are positioned relative to the viewport itself.</a:t>
            </a:r>
          </a:p>
          <a:p>
            <a:pPr algn="just"/>
            <a:r>
              <a:rPr lang="en-US" dirty="0"/>
              <a:t>Here are some key points about position: fixed;:</a:t>
            </a:r>
          </a:p>
          <a:p>
            <a:pPr algn="just"/>
            <a:r>
              <a:rPr lang="en-US" b="1" dirty="0"/>
              <a:t>Fixed positioning: </a:t>
            </a:r>
            <a:r>
              <a:rPr lang="en-US" dirty="0"/>
              <a:t>An element with position: fixed; is removed from the normal document flow and is positioned relative to the viewport. It will stay in the same position even if the page is scrolled.</a:t>
            </a:r>
          </a:p>
          <a:p>
            <a:pPr algn="just"/>
            <a:r>
              <a:rPr lang="en-US" b="1" dirty="0"/>
              <a:t>Ignored by document flow: </a:t>
            </a:r>
            <a:r>
              <a:rPr lang="en-US" dirty="0"/>
              <a:t>Elements with position: fixed; do not affect the positioning of other elements. They are essentially "taken out" of the document flow, and other elements will act as if the fixed element doesn't exist.</a:t>
            </a:r>
          </a:p>
          <a:p>
            <a:pPr algn="just"/>
            <a:r>
              <a:rPr lang="en-US" b="1" dirty="0"/>
              <a:t>Relative to the viewport: </a:t>
            </a:r>
            <a:r>
              <a:rPr lang="en-US" dirty="0"/>
              <a:t>The position of a fixed element is determined by its offset properties (top, bottom, left, right) in relation to the viewport. For example, top: 0; left: 0; would position the element at the top-left corner of the viewport.</a:t>
            </a:r>
          </a:p>
          <a:p>
            <a:pPr algn="just"/>
            <a:r>
              <a:rPr lang="en-US" b="1" dirty="0"/>
              <a:t>Stays visible during scrolling: </a:t>
            </a:r>
            <a:r>
              <a:rPr lang="en-US" dirty="0"/>
              <a:t>Fixed elements remain visible on the screen even when the user scrolls the page. This behavior is commonly used for creating sticky headers, sidebars, or persistent navigation menus.</a:t>
            </a:r>
          </a:p>
          <a:p>
            <a:pPr algn="just"/>
            <a:r>
              <a:rPr lang="en-US" b="1" dirty="0"/>
              <a:t>Overlapping content: </a:t>
            </a:r>
            <a:r>
              <a:rPr lang="en-US" dirty="0"/>
              <a:t>Fixed elements can overlap other elements on the page. If multiple fixed elements have conflicting positions or z-index values, the element with the highest z-index will be displayed on top.</a:t>
            </a:r>
          </a:p>
        </p:txBody>
      </p:sp>
    </p:spTree>
    <p:extLst>
      <p:ext uri="{BB962C8B-B14F-4D97-AF65-F5344CB8AC3E}">
        <p14:creationId xmlns:p14="http://schemas.microsoft.com/office/powerpoint/2010/main" val="257886896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1576563" y="1891613"/>
            <a:ext cx="3665596" cy="4351338"/>
          </a:xfrm>
          <a:prstGeom prst="rect">
            <a:avLst/>
          </a:prstGeom>
        </p:spPr>
      </p:pic>
      <p:pic>
        <p:nvPicPr>
          <p:cNvPr id="5" name="Picture 4"/>
          <p:cNvPicPr>
            <a:picLocks noChangeAspect="1"/>
          </p:cNvPicPr>
          <p:nvPr/>
        </p:nvPicPr>
        <p:blipFill>
          <a:blip r:embed="rId3"/>
          <a:stretch>
            <a:fillRect/>
          </a:stretch>
        </p:blipFill>
        <p:spPr>
          <a:xfrm>
            <a:off x="5786752" y="2557165"/>
            <a:ext cx="5211803" cy="2787833"/>
          </a:xfrm>
          <a:prstGeom prst="rect">
            <a:avLst/>
          </a:prstGeom>
        </p:spPr>
      </p:pic>
      <p:cxnSp>
        <p:nvCxnSpPr>
          <p:cNvPr id="7" name="Elbow Connector 6"/>
          <p:cNvCxnSpPr/>
          <p:nvPr/>
        </p:nvCxnSpPr>
        <p:spPr>
          <a:xfrm rot="5400000" flipH="1" flipV="1">
            <a:off x="7324627" y="1649692"/>
            <a:ext cx="2187019" cy="148943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412090" y="566241"/>
            <a:ext cx="3941710" cy="923330"/>
          </a:xfrm>
          <a:prstGeom prst="rect">
            <a:avLst/>
          </a:prstGeom>
          <a:noFill/>
        </p:spPr>
        <p:txBody>
          <a:bodyPr wrap="square" rtlCol="0">
            <a:spAutoFit/>
          </a:bodyPr>
          <a:lstStyle/>
          <a:p>
            <a:pPr algn="just"/>
            <a:r>
              <a:rPr lang="en-US" dirty="0"/>
              <a:t>This content is Fixed. It will stay in the same position even if the page is scrolled.</a:t>
            </a:r>
          </a:p>
        </p:txBody>
      </p:sp>
    </p:spTree>
    <p:extLst>
      <p:ext uri="{BB962C8B-B14F-4D97-AF65-F5344CB8AC3E}">
        <p14:creationId xmlns:p14="http://schemas.microsoft.com/office/powerpoint/2010/main" val="289171991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position: sticky;</a:t>
            </a:r>
          </a:p>
        </p:txBody>
      </p:sp>
      <p:sp>
        <p:nvSpPr>
          <p:cNvPr id="3" name="Content Placeholder 2"/>
          <p:cNvSpPr>
            <a:spLocks noGrp="1"/>
          </p:cNvSpPr>
          <p:nvPr>
            <p:ph idx="1"/>
          </p:nvPr>
        </p:nvSpPr>
        <p:spPr/>
        <p:txBody>
          <a:bodyPr/>
          <a:lstStyle/>
          <a:p>
            <a:pPr algn="just"/>
            <a:r>
              <a:rPr lang="en-US" dirty="0"/>
              <a:t>The position: sticky; property in CSS is used to create an element that behaves as position: relative; within its parent container until a specified threshold is reached. </a:t>
            </a:r>
          </a:p>
          <a:p>
            <a:pPr algn="just"/>
            <a:endParaRPr lang="en-US" dirty="0"/>
          </a:p>
          <a:p>
            <a:pPr algn="just"/>
            <a:r>
              <a:rPr lang="en-US" dirty="0"/>
              <a:t>Once the threshold is reached by scrolling, the element becomes position: fixed; and remains fixed in its position within the viewport until the scrolling reaches another specified point.</a:t>
            </a:r>
          </a:p>
        </p:txBody>
      </p:sp>
    </p:spTree>
    <p:extLst>
      <p:ext uri="{BB962C8B-B14F-4D97-AF65-F5344CB8AC3E}">
        <p14:creationId xmlns:p14="http://schemas.microsoft.com/office/powerpoint/2010/main" val="30895764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3590233" y="1781594"/>
            <a:ext cx="4054904" cy="2677767"/>
          </a:xfrm>
          <a:prstGeom prst="rect">
            <a:avLst/>
          </a:prstGeom>
        </p:spPr>
      </p:pic>
      <p:pic>
        <p:nvPicPr>
          <p:cNvPr id="5" name="Picture 4"/>
          <p:cNvPicPr>
            <a:picLocks noChangeAspect="1"/>
          </p:cNvPicPr>
          <p:nvPr/>
        </p:nvPicPr>
        <p:blipFill>
          <a:blip r:embed="rId3"/>
          <a:stretch>
            <a:fillRect/>
          </a:stretch>
        </p:blipFill>
        <p:spPr>
          <a:xfrm>
            <a:off x="1169597" y="4550267"/>
            <a:ext cx="9803203" cy="2064378"/>
          </a:xfrm>
          <a:prstGeom prst="rect">
            <a:avLst/>
          </a:prstGeom>
        </p:spPr>
      </p:pic>
    </p:spTree>
    <p:extLst>
      <p:ext uri="{BB962C8B-B14F-4D97-AF65-F5344CB8AC3E}">
        <p14:creationId xmlns:p14="http://schemas.microsoft.com/office/powerpoint/2010/main" val="422295155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Position: relative;</a:t>
            </a:r>
          </a:p>
        </p:txBody>
      </p:sp>
      <p:sp>
        <p:nvSpPr>
          <p:cNvPr id="3" name="Content Placeholder 2"/>
          <p:cNvSpPr>
            <a:spLocks noGrp="1"/>
          </p:cNvSpPr>
          <p:nvPr>
            <p:ph idx="1"/>
          </p:nvPr>
        </p:nvSpPr>
        <p:spPr/>
        <p:txBody>
          <a:bodyPr>
            <a:normAutofit fontScale="92500" lnSpcReduction="20000"/>
          </a:bodyPr>
          <a:lstStyle/>
          <a:p>
            <a:pPr algn="just"/>
            <a:r>
              <a:rPr lang="en-US" dirty="0"/>
              <a:t>An element with position: relative; is positioned relative to its normal position.</a:t>
            </a:r>
          </a:p>
          <a:p>
            <a:pPr algn="just"/>
            <a:endParaRPr lang="en-US" dirty="0"/>
          </a:p>
          <a:p>
            <a:pPr algn="just"/>
            <a:r>
              <a:rPr lang="en-US" dirty="0"/>
              <a:t>Setting the top, right, bottom, and left properties of a relatively-positioned element will cause it to be adjusted away from its normal position. Other content will not be adjusted to fit into any gap left by the element.</a:t>
            </a:r>
          </a:p>
          <a:p>
            <a:pPr algn="just"/>
            <a:endParaRPr lang="en-US" dirty="0"/>
          </a:p>
          <a:p>
            <a:pPr algn="just"/>
            <a:r>
              <a:rPr lang="en-US" dirty="0"/>
              <a:t>Z-index stacking: Elements with position: relative; can be layered using the z-index property. The z-index value determines the stacking order, with higher values appearing on top of elements with lower values.</a:t>
            </a:r>
          </a:p>
          <a:p>
            <a:pPr algn="just"/>
            <a:endParaRPr lang="en-US" dirty="0"/>
          </a:p>
          <a:p>
            <a:pPr algn="just"/>
            <a:r>
              <a:rPr lang="en-US" dirty="0"/>
              <a:t>Child positioning: When a child element of a parent with position: relative; is set to position: absolute;, it is positioned relative to the parent element rather than the viewport. This is useful for creating relative positioning hierarchies.</a:t>
            </a:r>
          </a:p>
        </p:txBody>
      </p:sp>
    </p:spTree>
    <p:extLst>
      <p:ext uri="{BB962C8B-B14F-4D97-AF65-F5344CB8AC3E}">
        <p14:creationId xmlns:p14="http://schemas.microsoft.com/office/powerpoint/2010/main" val="170969777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7417"/>
            <a:ext cx="10515600" cy="1325563"/>
          </a:xfrm>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5953080" y="2823385"/>
            <a:ext cx="4878318" cy="2341353"/>
          </a:xfrm>
          <a:prstGeom prst="rect">
            <a:avLst/>
          </a:prstGeom>
        </p:spPr>
      </p:pic>
      <p:pic>
        <p:nvPicPr>
          <p:cNvPr id="5" name="Picture 4"/>
          <p:cNvPicPr>
            <a:picLocks noChangeAspect="1"/>
          </p:cNvPicPr>
          <p:nvPr/>
        </p:nvPicPr>
        <p:blipFill>
          <a:blip r:embed="rId3"/>
          <a:stretch>
            <a:fillRect/>
          </a:stretch>
        </p:blipFill>
        <p:spPr>
          <a:xfrm>
            <a:off x="1563650" y="2164874"/>
            <a:ext cx="2857521" cy="3582960"/>
          </a:xfrm>
          <a:prstGeom prst="rect">
            <a:avLst/>
          </a:prstGeom>
        </p:spPr>
      </p:pic>
      <p:cxnSp>
        <p:nvCxnSpPr>
          <p:cNvPr id="6" name="Straight Arrow Connector 5"/>
          <p:cNvCxnSpPr/>
          <p:nvPr/>
        </p:nvCxnSpPr>
        <p:spPr>
          <a:xfrm flipV="1">
            <a:off x="8644379" y="1690688"/>
            <a:ext cx="9427" cy="1778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flipV="1">
            <a:off x="8776355" y="1690688"/>
            <a:ext cx="1498861" cy="23251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994689" y="250548"/>
            <a:ext cx="3836709" cy="1754326"/>
          </a:xfrm>
          <a:prstGeom prst="rect">
            <a:avLst/>
          </a:prstGeom>
          <a:noFill/>
        </p:spPr>
        <p:txBody>
          <a:bodyPr wrap="square" rtlCol="0">
            <a:spAutoFit/>
          </a:bodyPr>
          <a:lstStyle/>
          <a:p>
            <a:r>
              <a:rPr lang="en-US" dirty="0"/>
              <a:t>Box 1 and Box 3 are the child of red color box. Box 1 and Box 3 have same spacing top:100px and left:500px. Box 1 sets its position relative to viewport where as Box 3 sets its position relative to its parent.</a:t>
            </a:r>
          </a:p>
        </p:txBody>
      </p:sp>
    </p:spTree>
    <p:extLst>
      <p:ext uri="{BB962C8B-B14F-4D97-AF65-F5344CB8AC3E}">
        <p14:creationId xmlns:p14="http://schemas.microsoft.com/office/powerpoint/2010/main" val="106770846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Position: absolute;</a:t>
            </a:r>
          </a:p>
        </p:txBody>
      </p:sp>
      <p:sp>
        <p:nvSpPr>
          <p:cNvPr id="3" name="Content Placeholder 2"/>
          <p:cNvSpPr>
            <a:spLocks noGrp="1"/>
          </p:cNvSpPr>
          <p:nvPr>
            <p:ph idx="1"/>
          </p:nvPr>
        </p:nvSpPr>
        <p:spPr/>
        <p:txBody>
          <a:bodyPr>
            <a:normAutofit/>
          </a:bodyPr>
          <a:lstStyle/>
          <a:p>
            <a:pPr algn="just"/>
            <a:r>
              <a:rPr lang="en-US" dirty="0"/>
              <a:t>An element with position: absolute; is positioned relative to the nearest positioned ancestor (instead of positioned relative to the viewport, like fixed). When a child element of a parent with position: relative; is set to position: absolute;, it is positioned relative to the parent element rather than the viewport. This is useful for creating relative positioning hierarchies.</a:t>
            </a:r>
          </a:p>
          <a:p>
            <a:pPr marL="0" indent="0" algn="just">
              <a:buNone/>
            </a:pPr>
            <a:endParaRPr lang="en-US" dirty="0"/>
          </a:p>
          <a:p>
            <a:pPr algn="just"/>
            <a:r>
              <a:rPr lang="en-US" dirty="0"/>
              <a:t>However; if an absolute positioned element has no positioned ancestors, it uses the document body, and moves along with page scrolling.</a:t>
            </a:r>
          </a:p>
          <a:p>
            <a:pPr algn="just"/>
            <a:endParaRPr lang="en-US" dirty="0"/>
          </a:p>
          <a:p>
            <a:pPr algn="just"/>
            <a:r>
              <a:rPr lang="en-US" dirty="0"/>
              <a:t>Note: Absolute positioned elements are removed from the normal flow, and can overlap elements.</a:t>
            </a:r>
          </a:p>
        </p:txBody>
      </p:sp>
    </p:spTree>
    <p:extLst>
      <p:ext uri="{BB962C8B-B14F-4D97-AF65-F5344CB8AC3E}">
        <p14:creationId xmlns:p14="http://schemas.microsoft.com/office/powerpoint/2010/main" val="315466684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3813428" y="1298628"/>
            <a:ext cx="4565143" cy="2962287"/>
          </a:xfrm>
          <a:prstGeom prst="rect">
            <a:avLst/>
          </a:prstGeom>
        </p:spPr>
      </p:pic>
      <p:pic>
        <p:nvPicPr>
          <p:cNvPr id="5" name="Picture 4"/>
          <p:cNvPicPr>
            <a:picLocks noChangeAspect="1"/>
          </p:cNvPicPr>
          <p:nvPr/>
        </p:nvPicPr>
        <p:blipFill>
          <a:blip r:embed="rId3"/>
          <a:stretch>
            <a:fillRect/>
          </a:stretch>
        </p:blipFill>
        <p:spPr>
          <a:xfrm>
            <a:off x="2419265" y="4362339"/>
            <a:ext cx="7353470" cy="2408895"/>
          </a:xfrm>
          <a:prstGeom prst="rect">
            <a:avLst/>
          </a:prstGeom>
        </p:spPr>
      </p:pic>
    </p:spTree>
    <p:extLst>
      <p:ext uri="{BB962C8B-B14F-4D97-AF65-F5344CB8AC3E}">
        <p14:creationId xmlns:p14="http://schemas.microsoft.com/office/powerpoint/2010/main" val="289819201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Z-index property</a:t>
            </a:r>
          </a:p>
        </p:txBody>
      </p:sp>
      <p:sp>
        <p:nvSpPr>
          <p:cNvPr id="3" name="Content Placeholder 2"/>
          <p:cNvSpPr>
            <a:spLocks noGrp="1"/>
          </p:cNvSpPr>
          <p:nvPr>
            <p:ph idx="1"/>
          </p:nvPr>
        </p:nvSpPr>
        <p:spPr/>
        <p:txBody>
          <a:bodyPr/>
          <a:lstStyle/>
          <a:p>
            <a:pPr algn="just"/>
            <a:r>
              <a:rPr lang="en-US" dirty="0"/>
              <a:t>When elements are positioned, they can overlap other elements.</a:t>
            </a:r>
          </a:p>
          <a:p>
            <a:pPr algn="just"/>
            <a:endParaRPr lang="en-US" dirty="0"/>
          </a:p>
          <a:p>
            <a:pPr algn="just"/>
            <a:r>
              <a:rPr lang="en-US" dirty="0"/>
              <a:t>The z-index property specifies the stack order of an element (which element should be placed in front of, or behind, the others).</a:t>
            </a:r>
          </a:p>
          <a:p>
            <a:pPr algn="just"/>
            <a:endParaRPr lang="en-US" dirty="0"/>
          </a:p>
          <a:p>
            <a:pPr algn="just"/>
            <a:r>
              <a:rPr lang="en-US" dirty="0"/>
              <a:t>An element can have a positive or negative stack order:</a:t>
            </a:r>
          </a:p>
          <a:p>
            <a:pPr algn="just"/>
            <a:r>
              <a:rPr lang="en-US" dirty="0" err="1"/>
              <a:t>Eg</a:t>
            </a:r>
            <a:r>
              <a:rPr lang="en-US" dirty="0"/>
              <a:t>:</a:t>
            </a:r>
          </a:p>
          <a:p>
            <a:pPr algn="just"/>
            <a:r>
              <a:rPr lang="en-US" dirty="0"/>
              <a:t>z-index:-1;</a:t>
            </a:r>
          </a:p>
          <a:p>
            <a:pPr algn="just"/>
            <a:endParaRPr lang="en-US" dirty="0"/>
          </a:p>
        </p:txBody>
      </p:sp>
    </p:spTree>
    <p:extLst>
      <p:ext uri="{BB962C8B-B14F-4D97-AF65-F5344CB8AC3E}">
        <p14:creationId xmlns:p14="http://schemas.microsoft.com/office/powerpoint/2010/main" val="114114608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DC7F3-722E-49FF-9D3A-0445A58B37EF}"/>
              </a:ext>
            </a:extLst>
          </p:cNvPr>
          <p:cNvSpPr>
            <a:spLocks noGrp="1"/>
          </p:cNvSpPr>
          <p:nvPr>
            <p:ph type="title"/>
          </p:nvPr>
        </p:nvSpPr>
        <p:spPr/>
        <p:txBody>
          <a:bodyPr/>
          <a:lstStyle/>
          <a:p>
            <a:r>
              <a:rPr lang="en-US" b="1" dirty="0"/>
              <a:t>Box Shadow effect</a:t>
            </a:r>
          </a:p>
        </p:txBody>
      </p:sp>
      <p:sp>
        <p:nvSpPr>
          <p:cNvPr id="3" name="Content Placeholder 2">
            <a:extLst>
              <a:ext uri="{FF2B5EF4-FFF2-40B4-BE49-F238E27FC236}">
                <a16:creationId xmlns:a16="http://schemas.microsoft.com/office/drawing/2014/main" id="{F8784582-AC12-4E9E-9CD3-4892DAB9BA93}"/>
              </a:ext>
            </a:extLst>
          </p:cNvPr>
          <p:cNvSpPr>
            <a:spLocks noGrp="1"/>
          </p:cNvSpPr>
          <p:nvPr>
            <p:ph idx="1"/>
          </p:nvPr>
        </p:nvSpPr>
        <p:spPr>
          <a:xfrm>
            <a:off x="545359" y="1454602"/>
            <a:ext cx="8596668" cy="2778033"/>
          </a:xfrm>
        </p:spPr>
        <p:txBody>
          <a:bodyPr>
            <a:normAutofit lnSpcReduction="10000"/>
          </a:bodyPr>
          <a:lstStyle/>
          <a:p>
            <a:pPr marL="0" indent="0" algn="l" fontAlgn="base">
              <a:buNone/>
            </a:pPr>
            <a:endParaRPr lang="en-US" b="1" i="0" dirty="0">
              <a:solidFill>
                <a:srgbClr val="273239"/>
              </a:solidFill>
              <a:effectLst/>
              <a:latin typeface="Nunito" pitchFamily="2" charset="0"/>
            </a:endParaRPr>
          </a:p>
          <a:p>
            <a:pPr algn="l" rtl="0" fontAlgn="base"/>
            <a:r>
              <a:rPr lang="en-US" b="0" i="0" dirty="0">
                <a:solidFill>
                  <a:srgbClr val="273239"/>
                </a:solidFill>
                <a:effectLst/>
                <a:latin typeface="Nunito" pitchFamily="2" charset="0"/>
              </a:rPr>
              <a:t>The </a:t>
            </a:r>
            <a:r>
              <a:rPr lang="en-US" b="0" i="0" dirty="0">
                <a:solidFill>
                  <a:schemeClr val="tx1"/>
                </a:solidFill>
                <a:effectLst/>
                <a:latin typeface="+mj-lt"/>
                <a:hlinkClick r:id="rId2">
                  <a:extLst>
                    <a:ext uri="{A12FA001-AC4F-418D-AE19-62706E023703}">
                      <ahyp:hlinkClr xmlns:ahyp="http://schemas.microsoft.com/office/drawing/2018/hyperlinkcolor" val="tx"/>
                    </a:ext>
                  </a:extLst>
                </a:hlinkClick>
              </a:rPr>
              <a:t>box-shadow property</a:t>
            </a:r>
            <a:r>
              <a:rPr lang="en-US" b="0" i="0" dirty="0">
                <a:solidFill>
                  <a:srgbClr val="273239"/>
                </a:solidFill>
                <a:effectLst/>
                <a:latin typeface="Nunito" pitchFamily="2" charset="0"/>
              </a:rPr>
              <a:t> is used to add shadow effects around an element's frame. You can specify the horizontal and vertical offsets, blur radius, spread radius, and color of the shadow.</a:t>
            </a:r>
          </a:p>
          <a:p>
            <a:r>
              <a:rPr lang="en-US" dirty="0"/>
              <a:t>Syntax:</a:t>
            </a:r>
          </a:p>
          <a:p>
            <a:pPr lvl="1"/>
            <a:r>
              <a:rPr lang="en-US" dirty="0"/>
              <a:t>Box-shadow: x-offset  y-offset shadow-color;</a:t>
            </a:r>
          </a:p>
          <a:p>
            <a:pPr lvl="1"/>
            <a:r>
              <a:rPr lang="en-US" dirty="0" err="1"/>
              <a:t>Eg.</a:t>
            </a:r>
            <a:r>
              <a:rPr lang="en-US" dirty="0"/>
              <a:t> Box-shadow:10px 10px red;</a:t>
            </a:r>
          </a:p>
          <a:p>
            <a:pPr lvl="1"/>
            <a:r>
              <a:rPr lang="en-US" dirty="0"/>
              <a:t>Box-shadow:-10px -10px red;</a:t>
            </a:r>
          </a:p>
          <a:p>
            <a:pPr lvl="1"/>
            <a:endParaRPr lang="en-US" dirty="0"/>
          </a:p>
        </p:txBody>
      </p:sp>
      <p:pic>
        <p:nvPicPr>
          <p:cNvPr id="5" name="Picture 4">
            <a:extLst>
              <a:ext uri="{FF2B5EF4-FFF2-40B4-BE49-F238E27FC236}">
                <a16:creationId xmlns:a16="http://schemas.microsoft.com/office/drawing/2014/main" id="{5CCC920C-0250-40A6-90B3-15A445CB667B}"/>
              </a:ext>
            </a:extLst>
          </p:cNvPr>
          <p:cNvPicPr>
            <a:picLocks noChangeAspect="1"/>
          </p:cNvPicPr>
          <p:nvPr/>
        </p:nvPicPr>
        <p:blipFill rotWithShape="1">
          <a:blip r:embed="rId3"/>
          <a:srcRect r="6921" b="11583"/>
          <a:stretch/>
        </p:blipFill>
        <p:spPr>
          <a:xfrm>
            <a:off x="6042981" y="3040078"/>
            <a:ext cx="2865349" cy="465273"/>
          </a:xfrm>
          <a:prstGeom prst="rect">
            <a:avLst/>
          </a:prstGeom>
        </p:spPr>
      </p:pic>
      <p:pic>
        <p:nvPicPr>
          <p:cNvPr id="7" name="Picture 6">
            <a:extLst>
              <a:ext uri="{FF2B5EF4-FFF2-40B4-BE49-F238E27FC236}">
                <a16:creationId xmlns:a16="http://schemas.microsoft.com/office/drawing/2014/main" id="{E5D7A6F7-F3CF-490B-BF3A-17B424B7274D}"/>
              </a:ext>
            </a:extLst>
          </p:cNvPr>
          <p:cNvPicPr>
            <a:picLocks noChangeAspect="1"/>
          </p:cNvPicPr>
          <p:nvPr/>
        </p:nvPicPr>
        <p:blipFill>
          <a:blip r:embed="rId4"/>
          <a:stretch>
            <a:fillRect/>
          </a:stretch>
        </p:blipFill>
        <p:spPr>
          <a:xfrm>
            <a:off x="6042981" y="3565377"/>
            <a:ext cx="2865349" cy="458455"/>
          </a:xfrm>
          <a:prstGeom prst="rect">
            <a:avLst/>
          </a:prstGeom>
        </p:spPr>
      </p:pic>
      <p:sp>
        <p:nvSpPr>
          <p:cNvPr id="10" name="Content Placeholder 2">
            <a:extLst>
              <a:ext uri="{FF2B5EF4-FFF2-40B4-BE49-F238E27FC236}">
                <a16:creationId xmlns:a16="http://schemas.microsoft.com/office/drawing/2014/main" id="{D8D859CB-A351-40C4-BDA8-350B5E806890}"/>
              </a:ext>
            </a:extLst>
          </p:cNvPr>
          <p:cNvSpPr txBox="1">
            <a:spLocks/>
          </p:cNvSpPr>
          <p:nvPr/>
        </p:nvSpPr>
        <p:spPr>
          <a:xfrm>
            <a:off x="611347" y="3953296"/>
            <a:ext cx="8596668" cy="277803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fontAlgn="base">
              <a:buFont typeface="Wingdings 3" charset="2"/>
              <a:buNone/>
            </a:pPr>
            <a:endParaRPr lang="en-US" b="1" dirty="0">
              <a:solidFill>
                <a:srgbClr val="273239"/>
              </a:solidFill>
              <a:latin typeface="Nunito" pitchFamily="2" charset="0"/>
            </a:endParaRPr>
          </a:p>
          <a:p>
            <a:pPr fontAlgn="base"/>
            <a:r>
              <a:rPr lang="en-US" b="1" u="sng" dirty="0">
                <a:solidFill>
                  <a:srgbClr val="273239"/>
                </a:solidFill>
                <a:latin typeface="Nunito" pitchFamily="2" charset="0"/>
              </a:rPr>
              <a:t>Blur effect: </a:t>
            </a:r>
            <a:r>
              <a:rPr lang="en-US" dirty="0">
                <a:solidFill>
                  <a:srgbClr val="273239"/>
                </a:solidFill>
                <a:latin typeface="Nunito" pitchFamily="2" charset="0"/>
              </a:rPr>
              <a:t>blur parameter defines the blur radius. The higher the number the more blurred the shadow will be</a:t>
            </a:r>
          </a:p>
          <a:p>
            <a:r>
              <a:rPr lang="en-US" dirty="0"/>
              <a:t>Syntax:</a:t>
            </a:r>
          </a:p>
          <a:p>
            <a:pPr lvl="1"/>
            <a:r>
              <a:rPr lang="en-US" dirty="0"/>
              <a:t>Box-shadow: x-offset  y-offset blur-amount shadow-color;</a:t>
            </a:r>
          </a:p>
          <a:p>
            <a:pPr lvl="1"/>
            <a:r>
              <a:rPr lang="en-US" dirty="0" err="1"/>
              <a:t>Eg.</a:t>
            </a:r>
            <a:r>
              <a:rPr lang="en-US" dirty="0"/>
              <a:t> Box-shadow:10px 10px </a:t>
            </a:r>
            <a:r>
              <a:rPr lang="en-US" dirty="0">
                <a:solidFill>
                  <a:schemeClr val="accent2">
                    <a:lumMod val="50000"/>
                  </a:schemeClr>
                </a:solidFill>
                <a:highlight>
                  <a:srgbClr val="00FFFF"/>
                </a:highlight>
              </a:rPr>
              <a:t>20px</a:t>
            </a:r>
            <a:r>
              <a:rPr lang="en-US" dirty="0"/>
              <a:t> red;</a:t>
            </a:r>
          </a:p>
          <a:p>
            <a:pPr lvl="1"/>
            <a:endParaRPr lang="en-US" dirty="0"/>
          </a:p>
        </p:txBody>
      </p:sp>
      <p:pic>
        <p:nvPicPr>
          <p:cNvPr id="12" name="Picture 11">
            <a:extLst>
              <a:ext uri="{FF2B5EF4-FFF2-40B4-BE49-F238E27FC236}">
                <a16:creationId xmlns:a16="http://schemas.microsoft.com/office/drawing/2014/main" id="{681E80F1-16D4-4548-88B0-15A8D1033E7C}"/>
              </a:ext>
            </a:extLst>
          </p:cNvPr>
          <p:cNvPicPr>
            <a:picLocks noChangeAspect="1"/>
          </p:cNvPicPr>
          <p:nvPr/>
        </p:nvPicPr>
        <p:blipFill>
          <a:blip r:embed="rId5"/>
          <a:stretch>
            <a:fillRect/>
          </a:stretch>
        </p:blipFill>
        <p:spPr>
          <a:xfrm>
            <a:off x="5763201" y="5863808"/>
            <a:ext cx="3444814" cy="573012"/>
          </a:xfrm>
          <a:prstGeom prst="rect">
            <a:avLst/>
          </a:prstGeom>
        </p:spPr>
      </p:pic>
    </p:spTree>
    <p:extLst>
      <p:ext uri="{BB962C8B-B14F-4D97-AF65-F5344CB8AC3E}">
        <p14:creationId xmlns:p14="http://schemas.microsoft.com/office/powerpoint/2010/main" val="10066576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DC7F3-722E-49FF-9D3A-0445A58B37EF}"/>
              </a:ext>
            </a:extLst>
          </p:cNvPr>
          <p:cNvSpPr>
            <a:spLocks noGrp="1"/>
          </p:cNvSpPr>
          <p:nvPr>
            <p:ph type="title"/>
          </p:nvPr>
        </p:nvSpPr>
        <p:spPr/>
        <p:txBody>
          <a:bodyPr/>
          <a:lstStyle/>
          <a:p>
            <a:r>
              <a:rPr lang="en-US" b="1" dirty="0"/>
              <a:t>Box Shadow effect</a:t>
            </a:r>
          </a:p>
        </p:txBody>
      </p:sp>
      <p:sp>
        <p:nvSpPr>
          <p:cNvPr id="6" name="Content Placeholder 2">
            <a:extLst>
              <a:ext uri="{FF2B5EF4-FFF2-40B4-BE49-F238E27FC236}">
                <a16:creationId xmlns:a16="http://schemas.microsoft.com/office/drawing/2014/main" id="{07BAFCE0-7A2E-4981-849A-75D4F32AFF37}"/>
              </a:ext>
            </a:extLst>
          </p:cNvPr>
          <p:cNvSpPr txBox="1">
            <a:spLocks/>
          </p:cNvSpPr>
          <p:nvPr/>
        </p:nvSpPr>
        <p:spPr>
          <a:xfrm>
            <a:off x="410860" y="1185003"/>
            <a:ext cx="8596668" cy="277803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fontAlgn="base">
              <a:buFont typeface="Wingdings 3" charset="2"/>
              <a:buNone/>
            </a:pPr>
            <a:endParaRPr lang="en-US" b="1" dirty="0">
              <a:solidFill>
                <a:srgbClr val="273239"/>
              </a:solidFill>
              <a:latin typeface="Nunito" pitchFamily="2" charset="0"/>
            </a:endParaRPr>
          </a:p>
          <a:p>
            <a:pPr fontAlgn="base"/>
            <a:r>
              <a:rPr lang="en-US" b="1" u="sng" dirty="0">
                <a:solidFill>
                  <a:srgbClr val="273239"/>
                </a:solidFill>
                <a:latin typeface="Nunito" pitchFamily="2" charset="0"/>
              </a:rPr>
              <a:t>Spread radius: </a:t>
            </a:r>
            <a:r>
              <a:rPr lang="en-US" dirty="0">
                <a:solidFill>
                  <a:srgbClr val="273239"/>
                </a:solidFill>
                <a:latin typeface="Nunito" pitchFamily="2" charset="0"/>
              </a:rPr>
              <a:t>Spread parameter defines the spread radius. A positive </a:t>
            </a:r>
            <a:r>
              <a:rPr lang="en-US" dirty="0" err="1">
                <a:solidFill>
                  <a:srgbClr val="273239"/>
                </a:solidFill>
                <a:latin typeface="Nunito" pitchFamily="2" charset="0"/>
              </a:rPr>
              <a:t>calue</a:t>
            </a:r>
            <a:r>
              <a:rPr lang="en-US" dirty="0">
                <a:solidFill>
                  <a:srgbClr val="273239"/>
                </a:solidFill>
                <a:latin typeface="Nunito" pitchFamily="2" charset="0"/>
              </a:rPr>
              <a:t> increases the size of size of the shadow, a negative value decreases the size of the shadow</a:t>
            </a:r>
          </a:p>
          <a:p>
            <a:r>
              <a:rPr lang="en-US" dirty="0"/>
              <a:t>Syntax:</a:t>
            </a:r>
          </a:p>
          <a:p>
            <a:pPr lvl="1"/>
            <a:r>
              <a:rPr lang="en-US" dirty="0"/>
              <a:t>Box-shadow: x-offset  y-offset blur-amount  spread-radius shadow-color;</a:t>
            </a:r>
          </a:p>
          <a:p>
            <a:pPr lvl="1"/>
            <a:r>
              <a:rPr lang="en-US" dirty="0" err="1"/>
              <a:t>Eg.</a:t>
            </a:r>
            <a:r>
              <a:rPr lang="en-US" dirty="0"/>
              <a:t> Box-shadow:10px 10px </a:t>
            </a:r>
            <a:r>
              <a:rPr lang="en-US" dirty="0">
                <a:solidFill>
                  <a:schemeClr val="accent2">
                    <a:lumMod val="50000"/>
                  </a:schemeClr>
                </a:solidFill>
              </a:rPr>
              <a:t>20px </a:t>
            </a:r>
            <a:r>
              <a:rPr lang="en-US" dirty="0">
                <a:solidFill>
                  <a:schemeClr val="accent2">
                    <a:lumMod val="50000"/>
                  </a:schemeClr>
                </a:solidFill>
                <a:highlight>
                  <a:srgbClr val="00FFFF"/>
                </a:highlight>
              </a:rPr>
              <a:t>30px</a:t>
            </a:r>
            <a:r>
              <a:rPr lang="en-US" dirty="0"/>
              <a:t> blue;</a:t>
            </a:r>
          </a:p>
          <a:p>
            <a:pPr lvl="1"/>
            <a:endParaRPr lang="en-US" dirty="0"/>
          </a:p>
        </p:txBody>
      </p:sp>
      <p:pic>
        <p:nvPicPr>
          <p:cNvPr id="8" name="Picture 7">
            <a:extLst>
              <a:ext uri="{FF2B5EF4-FFF2-40B4-BE49-F238E27FC236}">
                <a16:creationId xmlns:a16="http://schemas.microsoft.com/office/drawing/2014/main" id="{52A47911-9DD4-47E5-9C79-D64D05B68FF9}"/>
              </a:ext>
            </a:extLst>
          </p:cNvPr>
          <p:cNvPicPr>
            <a:picLocks noChangeAspect="1"/>
          </p:cNvPicPr>
          <p:nvPr/>
        </p:nvPicPr>
        <p:blipFill>
          <a:blip r:embed="rId2"/>
          <a:stretch>
            <a:fillRect/>
          </a:stretch>
        </p:blipFill>
        <p:spPr>
          <a:xfrm>
            <a:off x="8380926" y="1826392"/>
            <a:ext cx="3607221" cy="747628"/>
          </a:xfrm>
          <a:prstGeom prst="rect">
            <a:avLst/>
          </a:prstGeom>
        </p:spPr>
      </p:pic>
      <p:sp>
        <p:nvSpPr>
          <p:cNvPr id="9" name="Content Placeholder 2">
            <a:extLst>
              <a:ext uri="{FF2B5EF4-FFF2-40B4-BE49-F238E27FC236}">
                <a16:creationId xmlns:a16="http://schemas.microsoft.com/office/drawing/2014/main" id="{B6FB7FCB-D90D-4952-B88D-CBEF0548B7AD}"/>
              </a:ext>
            </a:extLst>
          </p:cNvPr>
          <p:cNvSpPr txBox="1">
            <a:spLocks/>
          </p:cNvSpPr>
          <p:nvPr/>
        </p:nvSpPr>
        <p:spPr>
          <a:xfrm>
            <a:off x="410860" y="3706797"/>
            <a:ext cx="8596668" cy="277803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fontAlgn="base">
              <a:buFont typeface="Wingdings 3" charset="2"/>
              <a:buNone/>
            </a:pPr>
            <a:endParaRPr lang="en-US" b="1" dirty="0">
              <a:solidFill>
                <a:srgbClr val="273239"/>
              </a:solidFill>
              <a:latin typeface="Nunito" pitchFamily="2" charset="0"/>
            </a:endParaRPr>
          </a:p>
          <a:p>
            <a:pPr marL="0" indent="0" fontAlgn="base">
              <a:buNone/>
            </a:pPr>
            <a:r>
              <a:rPr lang="en-US" b="1" u="sng" dirty="0">
                <a:solidFill>
                  <a:srgbClr val="273239"/>
                </a:solidFill>
                <a:latin typeface="Nunito" pitchFamily="2" charset="0"/>
              </a:rPr>
              <a:t>Inset parameter:  </a:t>
            </a:r>
            <a:r>
              <a:rPr lang="en-US" dirty="0">
                <a:solidFill>
                  <a:srgbClr val="273239"/>
                </a:solidFill>
                <a:latin typeface="Nunito" pitchFamily="2" charset="0"/>
              </a:rPr>
              <a:t>Inset parameter changes the shadow from an outer shadow to </a:t>
            </a:r>
            <a:r>
              <a:rPr lang="en-US" dirty="0" err="1">
                <a:solidFill>
                  <a:srgbClr val="273239"/>
                </a:solidFill>
                <a:latin typeface="Nunito" pitchFamily="2" charset="0"/>
              </a:rPr>
              <a:t>andindershadow</a:t>
            </a:r>
            <a:endParaRPr lang="en-US" dirty="0">
              <a:solidFill>
                <a:srgbClr val="273239"/>
              </a:solidFill>
              <a:latin typeface="Nunito" pitchFamily="2" charset="0"/>
            </a:endParaRPr>
          </a:p>
          <a:p>
            <a:r>
              <a:rPr lang="en-US" dirty="0"/>
              <a:t>Syntax:</a:t>
            </a:r>
          </a:p>
          <a:p>
            <a:pPr lvl="1"/>
            <a:r>
              <a:rPr lang="en-US" dirty="0" err="1"/>
              <a:t>Eg.</a:t>
            </a:r>
            <a:r>
              <a:rPr lang="en-US" dirty="0"/>
              <a:t> Box-shadow:10px 10px </a:t>
            </a:r>
            <a:r>
              <a:rPr lang="en-US" dirty="0">
                <a:solidFill>
                  <a:schemeClr val="accent2">
                    <a:lumMod val="50000"/>
                  </a:schemeClr>
                </a:solidFill>
              </a:rPr>
              <a:t> 30px</a:t>
            </a:r>
            <a:r>
              <a:rPr lang="en-US" dirty="0"/>
              <a:t> blue </a:t>
            </a:r>
            <a:r>
              <a:rPr lang="en-US" dirty="0">
                <a:highlight>
                  <a:srgbClr val="00FFFF"/>
                </a:highlight>
              </a:rPr>
              <a:t>inset</a:t>
            </a:r>
            <a:r>
              <a:rPr lang="en-US" dirty="0"/>
              <a:t>;</a:t>
            </a:r>
          </a:p>
          <a:p>
            <a:pPr lvl="1"/>
            <a:endParaRPr lang="en-US" dirty="0"/>
          </a:p>
        </p:txBody>
      </p:sp>
      <p:pic>
        <p:nvPicPr>
          <p:cNvPr id="11" name="Picture 10">
            <a:extLst>
              <a:ext uri="{FF2B5EF4-FFF2-40B4-BE49-F238E27FC236}">
                <a16:creationId xmlns:a16="http://schemas.microsoft.com/office/drawing/2014/main" id="{3500DBB2-B5AD-4270-A374-3B5FE69186B7}"/>
              </a:ext>
            </a:extLst>
          </p:cNvPr>
          <p:cNvPicPr>
            <a:picLocks noChangeAspect="1"/>
          </p:cNvPicPr>
          <p:nvPr/>
        </p:nvPicPr>
        <p:blipFill>
          <a:blip r:embed="rId3"/>
          <a:stretch>
            <a:fillRect/>
          </a:stretch>
        </p:blipFill>
        <p:spPr>
          <a:xfrm>
            <a:off x="9007528" y="4814760"/>
            <a:ext cx="1670996" cy="890974"/>
          </a:xfrm>
          <a:prstGeom prst="rect">
            <a:avLst/>
          </a:prstGeom>
        </p:spPr>
      </p:pic>
    </p:spTree>
    <p:extLst>
      <p:ext uri="{BB962C8B-B14F-4D97-AF65-F5344CB8AC3E}">
        <p14:creationId xmlns:p14="http://schemas.microsoft.com/office/powerpoint/2010/main" val="311685639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DC7F3-722E-49FF-9D3A-0445A58B37EF}"/>
              </a:ext>
            </a:extLst>
          </p:cNvPr>
          <p:cNvSpPr>
            <a:spLocks noGrp="1"/>
          </p:cNvSpPr>
          <p:nvPr>
            <p:ph type="title"/>
          </p:nvPr>
        </p:nvSpPr>
        <p:spPr/>
        <p:txBody>
          <a:bodyPr/>
          <a:lstStyle/>
          <a:p>
            <a:r>
              <a:rPr lang="en-US" b="1" dirty="0"/>
              <a:t>Box Shadow effect</a:t>
            </a:r>
          </a:p>
        </p:txBody>
      </p:sp>
      <p:sp>
        <p:nvSpPr>
          <p:cNvPr id="7" name="Content Placeholder 2">
            <a:extLst>
              <a:ext uri="{FF2B5EF4-FFF2-40B4-BE49-F238E27FC236}">
                <a16:creationId xmlns:a16="http://schemas.microsoft.com/office/drawing/2014/main" id="{EC18CBBC-E3E0-4DAB-9471-40BF4DA0FCB5}"/>
              </a:ext>
            </a:extLst>
          </p:cNvPr>
          <p:cNvSpPr>
            <a:spLocks noGrp="1"/>
          </p:cNvSpPr>
          <p:nvPr>
            <p:ph idx="1"/>
          </p:nvPr>
        </p:nvSpPr>
        <p:spPr>
          <a:xfrm>
            <a:off x="899045" y="1738923"/>
            <a:ext cx="8596668" cy="1216852"/>
          </a:xfrm>
        </p:spPr>
        <p:txBody>
          <a:bodyPr/>
          <a:lstStyle/>
          <a:p>
            <a:pPr marL="0" indent="0" algn="l" rtl="0" fontAlgn="base">
              <a:buNone/>
            </a:pPr>
            <a:r>
              <a:rPr lang="en-US" b="1" i="0" dirty="0">
                <a:solidFill>
                  <a:srgbClr val="07590F"/>
                </a:solidFill>
                <a:effectLst/>
                <a:latin typeface="Nunito" pitchFamily="2" charset="0"/>
              </a:rPr>
              <a:t>Multiple Shadow effect</a:t>
            </a:r>
          </a:p>
          <a:p>
            <a:r>
              <a:rPr lang="en-US" dirty="0"/>
              <a:t>Syntax:</a:t>
            </a:r>
          </a:p>
          <a:p>
            <a:pPr lvl="1"/>
            <a:r>
              <a:rPr lang="en-US" dirty="0" err="1"/>
              <a:t>Eg.</a:t>
            </a:r>
            <a:r>
              <a:rPr lang="en-US" dirty="0"/>
              <a:t> Box-shadow:10px 10px </a:t>
            </a:r>
            <a:r>
              <a:rPr lang="en-US" dirty="0" err="1"/>
              <a:t>10px</a:t>
            </a:r>
            <a:r>
              <a:rPr lang="en-US" dirty="0"/>
              <a:t> 20px red, 10px </a:t>
            </a:r>
            <a:r>
              <a:rPr lang="en-US" dirty="0" err="1"/>
              <a:t>10px</a:t>
            </a:r>
            <a:r>
              <a:rPr lang="en-US" dirty="0"/>
              <a:t> </a:t>
            </a:r>
            <a:r>
              <a:rPr lang="en-US" dirty="0" err="1"/>
              <a:t>10px</a:t>
            </a:r>
            <a:r>
              <a:rPr lang="en-US" dirty="0"/>
              <a:t> 20px blue;</a:t>
            </a:r>
          </a:p>
          <a:p>
            <a:pPr marL="457200" lvl="1" indent="0">
              <a:buNone/>
            </a:pPr>
            <a:endParaRPr lang="en-US" dirty="0"/>
          </a:p>
          <a:p>
            <a:pPr lvl="1"/>
            <a:endParaRPr lang="en-US" dirty="0"/>
          </a:p>
        </p:txBody>
      </p:sp>
      <p:pic>
        <p:nvPicPr>
          <p:cNvPr id="10" name="Picture 9">
            <a:extLst>
              <a:ext uri="{FF2B5EF4-FFF2-40B4-BE49-F238E27FC236}">
                <a16:creationId xmlns:a16="http://schemas.microsoft.com/office/drawing/2014/main" id="{F8FB2F07-AF80-46CE-9052-7757346A5FEE}"/>
              </a:ext>
            </a:extLst>
          </p:cNvPr>
          <p:cNvPicPr>
            <a:picLocks noChangeAspect="1"/>
          </p:cNvPicPr>
          <p:nvPr/>
        </p:nvPicPr>
        <p:blipFill>
          <a:blip r:embed="rId2"/>
          <a:stretch>
            <a:fillRect/>
          </a:stretch>
        </p:blipFill>
        <p:spPr>
          <a:xfrm>
            <a:off x="2941770" y="3371968"/>
            <a:ext cx="5033341" cy="1216852"/>
          </a:xfrm>
          <a:prstGeom prst="rect">
            <a:avLst/>
          </a:prstGeom>
        </p:spPr>
      </p:pic>
    </p:spTree>
    <p:extLst>
      <p:ext uri="{BB962C8B-B14F-4D97-AF65-F5344CB8AC3E}">
        <p14:creationId xmlns:p14="http://schemas.microsoft.com/office/powerpoint/2010/main" val="236749472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DC7F3-722E-49FF-9D3A-0445A58B37EF}"/>
              </a:ext>
            </a:extLst>
          </p:cNvPr>
          <p:cNvSpPr>
            <a:spLocks noGrp="1"/>
          </p:cNvSpPr>
          <p:nvPr>
            <p:ph type="title"/>
          </p:nvPr>
        </p:nvSpPr>
        <p:spPr/>
        <p:txBody>
          <a:bodyPr/>
          <a:lstStyle/>
          <a:p>
            <a:r>
              <a:rPr lang="en-US" b="1"/>
              <a:t>Text Shadow effect</a:t>
            </a:r>
            <a:endParaRPr lang="en-US" b="1" dirty="0"/>
          </a:p>
        </p:txBody>
      </p:sp>
      <p:sp>
        <p:nvSpPr>
          <p:cNvPr id="3" name="Content Placeholder 2">
            <a:extLst>
              <a:ext uri="{FF2B5EF4-FFF2-40B4-BE49-F238E27FC236}">
                <a16:creationId xmlns:a16="http://schemas.microsoft.com/office/drawing/2014/main" id="{F8784582-AC12-4E9E-9CD3-4892DAB9BA93}"/>
              </a:ext>
            </a:extLst>
          </p:cNvPr>
          <p:cNvSpPr>
            <a:spLocks noGrp="1"/>
          </p:cNvSpPr>
          <p:nvPr>
            <p:ph idx="1"/>
          </p:nvPr>
        </p:nvSpPr>
        <p:spPr>
          <a:xfrm>
            <a:off x="545359" y="1454602"/>
            <a:ext cx="8596668" cy="2778033"/>
          </a:xfrm>
        </p:spPr>
        <p:txBody>
          <a:bodyPr>
            <a:normAutofit/>
          </a:bodyPr>
          <a:lstStyle/>
          <a:p>
            <a:pPr marL="0" indent="0" algn="l" fontAlgn="base">
              <a:buNone/>
            </a:pPr>
            <a:endParaRPr lang="en-US" b="1" i="0">
              <a:solidFill>
                <a:srgbClr val="273239"/>
              </a:solidFill>
              <a:effectLst/>
              <a:latin typeface="Nunito" pitchFamily="2" charset="0"/>
            </a:endParaRPr>
          </a:p>
          <a:p>
            <a:pPr algn="l" rtl="0" fontAlgn="base"/>
            <a:r>
              <a:rPr lang="en-US" b="0" i="0">
                <a:solidFill>
                  <a:srgbClr val="273239"/>
                </a:solidFill>
                <a:effectLst/>
                <a:latin typeface="Nunito" pitchFamily="2" charset="0"/>
              </a:rPr>
              <a:t>The </a:t>
            </a:r>
            <a:r>
              <a:rPr lang="en-US">
                <a:solidFill>
                  <a:schemeClr val="tx1"/>
                </a:solidFill>
                <a:latin typeface="+mj-lt"/>
              </a:rPr>
              <a:t>text shadow</a:t>
            </a:r>
            <a:r>
              <a:rPr lang="en-US" b="0" i="0">
                <a:solidFill>
                  <a:schemeClr val="tx1"/>
                </a:solidFill>
                <a:effectLst/>
                <a:latin typeface="+mj-lt"/>
                <a:hlinkClick r:id="rId2">
                  <a:extLst>
                    <a:ext uri="{A12FA001-AC4F-418D-AE19-62706E023703}">
                      <ahyp:hlinkClr xmlns:ahyp="http://schemas.microsoft.com/office/drawing/2018/hyperlinkcolor" val="tx"/>
                    </a:ext>
                  </a:extLst>
                </a:hlinkClick>
              </a:rPr>
              <a:t> property</a:t>
            </a:r>
            <a:r>
              <a:rPr lang="en-US" b="0" i="0">
                <a:solidFill>
                  <a:srgbClr val="273239"/>
                </a:solidFill>
                <a:effectLst/>
                <a:latin typeface="Nunito" pitchFamily="2" charset="0"/>
              </a:rPr>
              <a:t> is used to add shadow effects around an </a:t>
            </a:r>
            <a:r>
              <a:rPr lang="en-US">
                <a:solidFill>
                  <a:srgbClr val="273239"/>
                </a:solidFill>
                <a:latin typeface="Nunito" pitchFamily="2" charset="0"/>
              </a:rPr>
              <a:t>text</a:t>
            </a:r>
            <a:r>
              <a:rPr lang="en-US" b="0" i="0">
                <a:solidFill>
                  <a:srgbClr val="273239"/>
                </a:solidFill>
                <a:effectLst/>
                <a:latin typeface="Nunito" pitchFamily="2" charset="0"/>
              </a:rPr>
              <a:t>. You can specify the horizontal and vertical offsets, blur radius, spread radius, and color of the shadow same as box shadow effect.</a:t>
            </a:r>
          </a:p>
          <a:p>
            <a:r>
              <a:rPr lang="en-US"/>
              <a:t>Syntax:</a:t>
            </a:r>
          </a:p>
          <a:p>
            <a:pPr lvl="1"/>
            <a:r>
              <a:rPr lang="en-US"/>
              <a:t>text-shadow: x-offset  y-offset shadow-color;</a:t>
            </a:r>
          </a:p>
          <a:p>
            <a:pPr lvl="1"/>
            <a:r>
              <a:rPr lang="en-US"/>
              <a:t>Eg. text-shadow:10px 10px blue;</a:t>
            </a:r>
          </a:p>
          <a:p>
            <a:pPr lvl="1"/>
            <a:endParaRPr lang="en-US" dirty="0"/>
          </a:p>
        </p:txBody>
      </p:sp>
      <p:pic>
        <p:nvPicPr>
          <p:cNvPr id="6" name="Picture 5">
            <a:extLst>
              <a:ext uri="{FF2B5EF4-FFF2-40B4-BE49-F238E27FC236}">
                <a16:creationId xmlns:a16="http://schemas.microsoft.com/office/drawing/2014/main" id="{66DBB722-48AA-4CDA-8338-040216F6300B}"/>
              </a:ext>
            </a:extLst>
          </p:cNvPr>
          <p:cNvPicPr>
            <a:picLocks noChangeAspect="1"/>
          </p:cNvPicPr>
          <p:nvPr/>
        </p:nvPicPr>
        <p:blipFill>
          <a:blip r:embed="rId3"/>
          <a:stretch>
            <a:fillRect/>
          </a:stretch>
        </p:blipFill>
        <p:spPr>
          <a:xfrm>
            <a:off x="545359" y="4359368"/>
            <a:ext cx="10188823" cy="1044030"/>
          </a:xfrm>
          <a:prstGeom prst="rect">
            <a:avLst/>
          </a:prstGeom>
        </p:spPr>
      </p:pic>
    </p:spTree>
    <p:extLst>
      <p:ext uri="{BB962C8B-B14F-4D97-AF65-F5344CB8AC3E}">
        <p14:creationId xmlns:p14="http://schemas.microsoft.com/office/powerpoint/2010/main" val="284228453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4AAD2-9253-4124-A60A-9108719C89A1}"/>
              </a:ext>
            </a:extLst>
          </p:cNvPr>
          <p:cNvSpPr>
            <a:spLocks noGrp="1"/>
          </p:cNvSpPr>
          <p:nvPr>
            <p:ph type="title"/>
          </p:nvPr>
        </p:nvSpPr>
        <p:spPr/>
        <p:txBody>
          <a:bodyPr/>
          <a:lstStyle/>
          <a:p>
            <a:r>
              <a:rPr lang="en-US" b="1" dirty="0"/>
              <a:t>Text Effects</a:t>
            </a:r>
          </a:p>
        </p:txBody>
      </p:sp>
      <p:sp>
        <p:nvSpPr>
          <p:cNvPr id="3" name="Content Placeholder 2">
            <a:extLst>
              <a:ext uri="{FF2B5EF4-FFF2-40B4-BE49-F238E27FC236}">
                <a16:creationId xmlns:a16="http://schemas.microsoft.com/office/drawing/2014/main" id="{E2C5D266-535C-4EAD-A02F-F20A68BFE0BA}"/>
              </a:ext>
            </a:extLst>
          </p:cNvPr>
          <p:cNvSpPr>
            <a:spLocks noGrp="1"/>
          </p:cNvSpPr>
          <p:nvPr>
            <p:ph idx="1"/>
          </p:nvPr>
        </p:nvSpPr>
        <p:spPr>
          <a:xfrm>
            <a:off x="677334" y="1736383"/>
            <a:ext cx="8596668" cy="3880773"/>
          </a:xfrm>
        </p:spPr>
        <p:txBody>
          <a:bodyPr>
            <a:normAutofit fontScale="92500" lnSpcReduction="10000"/>
          </a:bodyPr>
          <a:lstStyle/>
          <a:p>
            <a:r>
              <a:rPr lang="en-US" b="1" dirty="0">
                <a:solidFill>
                  <a:schemeClr val="tx1"/>
                </a:solidFill>
              </a:rPr>
              <a:t>text-overflow</a:t>
            </a:r>
            <a:r>
              <a:rPr lang="en-US" dirty="0"/>
              <a:t>: property to handle overflow of text content inside the specific element</a:t>
            </a:r>
          </a:p>
          <a:p>
            <a:pPr lvl="1"/>
            <a:r>
              <a:rPr lang="en-US" dirty="0"/>
              <a:t>snip value: it will crop the content that are only fit inside the element and hide the extra content </a:t>
            </a:r>
          </a:p>
          <a:p>
            <a:pPr lvl="1"/>
            <a:r>
              <a:rPr lang="en-US" dirty="0"/>
              <a:t>ellipsis value: it will add few dots at end of element if there are extra contents hidden due to overflow</a:t>
            </a:r>
          </a:p>
          <a:p>
            <a:pPr lvl="2"/>
            <a:r>
              <a:rPr lang="en-US" dirty="0"/>
              <a:t>P{</a:t>
            </a:r>
            <a:r>
              <a:rPr lang="en-US" dirty="0" err="1"/>
              <a:t>text-overflow:ellipsis</a:t>
            </a:r>
            <a:r>
              <a:rPr lang="en-US" dirty="0"/>
              <a:t>;}</a:t>
            </a:r>
          </a:p>
          <a:p>
            <a:r>
              <a:rPr lang="en-US" b="1" dirty="0"/>
              <a:t>word-wrap: </a:t>
            </a:r>
            <a:r>
              <a:rPr lang="en-US" dirty="0"/>
              <a:t>word wrap property allows long words to be able be broken and wrap into the next line. If a word is too long to fit within an area, it expands outside.</a:t>
            </a:r>
          </a:p>
          <a:p>
            <a:pPr lvl="1"/>
            <a:endParaRPr lang="en-US" dirty="0"/>
          </a:p>
          <a:p>
            <a:pPr lvl="1"/>
            <a:r>
              <a:rPr lang="en-US" dirty="0"/>
              <a:t>The word wrap property allows us to force the text to wrap</a:t>
            </a:r>
          </a:p>
          <a:p>
            <a:pPr lvl="2"/>
            <a:endParaRPr lang="en-US" dirty="0"/>
          </a:p>
          <a:p>
            <a:pPr lvl="2"/>
            <a:r>
              <a:rPr lang="en-US" dirty="0" err="1"/>
              <a:t>Eg</a:t>
            </a:r>
            <a:r>
              <a:rPr lang="en-US" dirty="0"/>
              <a:t>: p{</a:t>
            </a:r>
            <a:r>
              <a:rPr lang="en-US" dirty="0" err="1"/>
              <a:t>word-wrap:break-word</a:t>
            </a:r>
            <a:r>
              <a:rPr lang="en-US" dirty="0"/>
              <a:t>;}</a:t>
            </a:r>
          </a:p>
        </p:txBody>
      </p:sp>
      <p:pic>
        <p:nvPicPr>
          <p:cNvPr id="5" name="Picture 4">
            <a:extLst>
              <a:ext uri="{FF2B5EF4-FFF2-40B4-BE49-F238E27FC236}">
                <a16:creationId xmlns:a16="http://schemas.microsoft.com/office/drawing/2014/main" id="{A1033C7F-CA90-4B85-82E8-22D55DAB9ECD}"/>
              </a:ext>
            </a:extLst>
          </p:cNvPr>
          <p:cNvPicPr>
            <a:picLocks noChangeAspect="1"/>
          </p:cNvPicPr>
          <p:nvPr/>
        </p:nvPicPr>
        <p:blipFill>
          <a:blip r:embed="rId2"/>
          <a:stretch>
            <a:fillRect/>
          </a:stretch>
        </p:blipFill>
        <p:spPr>
          <a:xfrm>
            <a:off x="9308816" y="2175268"/>
            <a:ext cx="2220344" cy="407153"/>
          </a:xfrm>
          <a:prstGeom prst="rect">
            <a:avLst/>
          </a:prstGeom>
        </p:spPr>
      </p:pic>
      <p:pic>
        <p:nvPicPr>
          <p:cNvPr id="7" name="Picture 6">
            <a:extLst>
              <a:ext uri="{FF2B5EF4-FFF2-40B4-BE49-F238E27FC236}">
                <a16:creationId xmlns:a16="http://schemas.microsoft.com/office/drawing/2014/main" id="{19A1F52A-B6BF-4A5F-9432-B52438BB4D47}"/>
              </a:ext>
            </a:extLst>
          </p:cNvPr>
          <p:cNvPicPr>
            <a:picLocks noChangeAspect="1"/>
          </p:cNvPicPr>
          <p:nvPr/>
        </p:nvPicPr>
        <p:blipFill>
          <a:blip r:embed="rId3"/>
          <a:stretch>
            <a:fillRect/>
          </a:stretch>
        </p:blipFill>
        <p:spPr>
          <a:xfrm>
            <a:off x="9323360" y="2931153"/>
            <a:ext cx="2191254" cy="376014"/>
          </a:xfrm>
          <a:prstGeom prst="rect">
            <a:avLst/>
          </a:prstGeom>
        </p:spPr>
      </p:pic>
      <p:pic>
        <p:nvPicPr>
          <p:cNvPr id="9" name="Picture 8">
            <a:extLst>
              <a:ext uri="{FF2B5EF4-FFF2-40B4-BE49-F238E27FC236}">
                <a16:creationId xmlns:a16="http://schemas.microsoft.com/office/drawing/2014/main" id="{F81572F2-3B06-447D-91D3-5B57613EA209}"/>
              </a:ext>
            </a:extLst>
          </p:cNvPr>
          <p:cNvPicPr>
            <a:picLocks noChangeAspect="1"/>
          </p:cNvPicPr>
          <p:nvPr/>
        </p:nvPicPr>
        <p:blipFill>
          <a:blip r:embed="rId4"/>
          <a:stretch>
            <a:fillRect/>
          </a:stretch>
        </p:blipFill>
        <p:spPr>
          <a:xfrm>
            <a:off x="8341332" y="4261559"/>
            <a:ext cx="3218591" cy="688098"/>
          </a:xfrm>
          <a:prstGeom prst="rect">
            <a:avLst/>
          </a:prstGeom>
        </p:spPr>
      </p:pic>
      <p:pic>
        <p:nvPicPr>
          <p:cNvPr id="11" name="Picture 10">
            <a:extLst>
              <a:ext uri="{FF2B5EF4-FFF2-40B4-BE49-F238E27FC236}">
                <a16:creationId xmlns:a16="http://schemas.microsoft.com/office/drawing/2014/main" id="{BDF71CDA-8317-40D4-9A95-E4108928C9FE}"/>
              </a:ext>
            </a:extLst>
          </p:cNvPr>
          <p:cNvPicPr>
            <a:picLocks noChangeAspect="1"/>
          </p:cNvPicPr>
          <p:nvPr/>
        </p:nvPicPr>
        <p:blipFill>
          <a:blip r:embed="rId5"/>
          <a:stretch>
            <a:fillRect/>
          </a:stretch>
        </p:blipFill>
        <p:spPr>
          <a:xfrm>
            <a:off x="9274002" y="5209454"/>
            <a:ext cx="1672020" cy="1483447"/>
          </a:xfrm>
          <a:prstGeom prst="rect">
            <a:avLst/>
          </a:prstGeom>
        </p:spPr>
      </p:pic>
    </p:spTree>
    <p:extLst>
      <p:ext uri="{BB962C8B-B14F-4D97-AF65-F5344CB8AC3E}">
        <p14:creationId xmlns:p14="http://schemas.microsoft.com/office/powerpoint/2010/main" val="364082495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4AAD2-9253-4124-A60A-9108719C89A1}"/>
              </a:ext>
            </a:extLst>
          </p:cNvPr>
          <p:cNvSpPr>
            <a:spLocks noGrp="1"/>
          </p:cNvSpPr>
          <p:nvPr>
            <p:ph type="title"/>
          </p:nvPr>
        </p:nvSpPr>
        <p:spPr/>
        <p:txBody>
          <a:bodyPr/>
          <a:lstStyle/>
          <a:p>
            <a:r>
              <a:rPr lang="en-US" b="1" dirty="0"/>
              <a:t>Text Effects</a:t>
            </a:r>
          </a:p>
        </p:txBody>
      </p:sp>
      <p:sp>
        <p:nvSpPr>
          <p:cNvPr id="3" name="Content Placeholder 2">
            <a:extLst>
              <a:ext uri="{FF2B5EF4-FFF2-40B4-BE49-F238E27FC236}">
                <a16:creationId xmlns:a16="http://schemas.microsoft.com/office/drawing/2014/main" id="{E2C5D266-535C-4EAD-A02F-F20A68BFE0BA}"/>
              </a:ext>
            </a:extLst>
          </p:cNvPr>
          <p:cNvSpPr>
            <a:spLocks noGrp="1"/>
          </p:cNvSpPr>
          <p:nvPr>
            <p:ph idx="1"/>
          </p:nvPr>
        </p:nvSpPr>
        <p:spPr>
          <a:xfrm>
            <a:off x="677334" y="1858929"/>
            <a:ext cx="8596668" cy="3880773"/>
          </a:xfrm>
        </p:spPr>
        <p:txBody>
          <a:bodyPr>
            <a:normAutofit/>
          </a:bodyPr>
          <a:lstStyle/>
          <a:p>
            <a:r>
              <a:rPr lang="en-US" b="1" dirty="0"/>
              <a:t>word-break:</a:t>
            </a:r>
            <a:r>
              <a:rPr lang="en-US" dirty="0"/>
              <a:t> word break property specifies line breaking rules</a:t>
            </a:r>
          </a:p>
          <a:p>
            <a:pPr lvl="1"/>
            <a:r>
              <a:rPr lang="en-US" dirty="0"/>
              <a:t>P{</a:t>
            </a:r>
            <a:r>
              <a:rPr lang="en-US" dirty="0" err="1"/>
              <a:t>word-break:break-all</a:t>
            </a:r>
            <a:r>
              <a:rPr lang="en-US" dirty="0"/>
              <a:t>;}</a:t>
            </a:r>
          </a:p>
          <a:p>
            <a:pPr lvl="1"/>
            <a:endParaRPr lang="en-US" dirty="0"/>
          </a:p>
          <a:p>
            <a:pPr lvl="1"/>
            <a:endParaRPr lang="en-US" dirty="0"/>
          </a:p>
          <a:p>
            <a:r>
              <a:rPr lang="en-US" b="1" dirty="0"/>
              <a:t>writing-mode</a:t>
            </a:r>
            <a:r>
              <a:rPr lang="en-US" dirty="0"/>
              <a:t>: writing mode property specifies whether lines of text are laid out horizontally or vertically. It can have values: horizontal-</a:t>
            </a:r>
            <a:r>
              <a:rPr lang="en-US" dirty="0" err="1"/>
              <a:t>tb,vertical</a:t>
            </a:r>
            <a:r>
              <a:rPr lang="en-US" dirty="0"/>
              <a:t>-</a:t>
            </a:r>
            <a:r>
              <a:rPr lang="en-US" dirty="0" err="1"/>
              <a:t>rl</a:t>
            </a:r>
            <a:r>
              <a:rPr lang="en-US" dirty="0"/>
              <a:t>.</a:t>
            </a:r>
          </a:p>
          <a:p>
            <a:pPr lvl="1"/>
            <a:r>
              <a:rPr lang="en-US" dirty="0" err="1"/>
              <a:t>Eg.</a:t>
            </a:r>
            <a:r>
              <a:rPr lang="en-US" dirty="0"/>
              <a:t> P{</a:t>
            </a:r>
            <a:r>
              <a:rPr lang="en-US" dirty="0" err="1"/>
              <a:t>writing-mode:vertical-rl</a:t>
            </a:r>
            <a:r>
              <a:rPr lang="en-US" dirty="0"/>
              <a:t>}</a:t>
            </a:r>
          </a:p>
          <a:p>
            <a:endParaRPr lang="en-US" dirty="0"/>
          </a:p>
        </p:txBody>
      </p:sp>
      <p:pic>
        <p:nvPicPr>
          <p:cNvPr id="5" name="Picture 4">
            <a:extLst>
              <a:ext uri="{FF2B5EF4-FFF2-40B4-BE49-F238E27FC236}">
                <a16:creationId xmlns:a16="http://schemas.microsoft.com/office/drawing/2014/main" id="{1D94EFE6-B674-4B5F-BE20-6C727BBDBF18}"/>
              </a:ext>
            </a:extLst>
          </p:cNvPr>
          <p:cNvPicPr>
            <a:picLocks noChangeAspect="1"/>
          </p:cNvPicPr>
          <p:nvPr/>
        </p:nvPicPr>
        <p:blipFill>
          <a:blip r:embed="rId2"/>
          <a:stretch>
            <a:fillRect/>
          </a:stretch>
        </p:blipFill>
        <p:spPr>
          <a:xfrm>
            <a:off x="7939908" y="1583264"/>
            <a:ext cx="2193908" cy="1845736"/>
          </a:xfrm>
          <a:prstGeom prst="rect">
            <a:avLst/>
          </a:prstGeom>
        </p:spPr>
      </p:pic>
      <p:pic>
        <p:nvPicPr>
          <p:cNvPr id="7" name="Picture 6">
            <a:extLst>
              <a:ext uri="{FF2B5EF4-FFF2-40B4-BE49-F238E27FC236}">
                <a16:creationId xmlns:a16="http://schemas.microsoft.com/office/drawing/2014/main" id="{3D40352D-E3B8-4272-858A-0B24D2A35066}"/>
              </a:ext>
            </a:extLst>
          </p:cNvPr>
          <p:cNvPicPr>
            <a:picLocks noChangeAspect="1"/>
          </p:cNvPicPr>
          <p:nvPr/>
        </p:nvPicPr>
        <p:blipFill>
          <a:blip r:embed="rId3"/>
          <a:stretch>
            <a:fillRect/>
          </a:stretch>
        </p:blipFill>
        <p:spPr>
          <a:xfrm>
            <a:off x="4810588" y="4307617"/>
            <a:ext cx="647756" cy="1806097"/>
          </a:xfrm>
          <a:prstGeom prst="rect">
            <a:avLst/>
          </a:prstGeom>
          <a:ln w="228600" cap="sq" cmpd="thickThin">
            <a:noFill/>
            <a:prstDash val="solid"/>
            <a:miter lim="800000"/>
          </a:ln>
          <a:effectLst>
            <a:innerShdw blurRad="76200">
              <a:srgbClr val="000000"/>
            </a:innerShdw>
          </a:effectLst>
        </p:spPr>
      </p:pic>
    </p:spTree>
    <p:extLst>
      <p:ext uri="{BB962C8B-B14F-4D97-AF65-F5344CB8AC3E}">
        <p14:creationId xmlns:p14="http://schemas.microsoft.com/office/powerpoint/2010/main" val="191200081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85CB9-3800-4DE3-92F7-B78C1070E16F}"/>
              </a:ext>
            </a:extLst>
          </p:cNvPr>
          <p:cNvSpPr>
            <a:spLocks noGrp="1"/>
          </p:cNvSpPr>
          <p:nvPr>
            <p:ph type="title"/>
          </p:nvPr>
        </p:nvSpPr>
        <p:spPr/>
        <p:txBody>
          <a:bodyPr/>
          <a:lstStyle/>
          <a:p>
            <a:r>
              <a:rPr lang="en-US" b="1" dirty="0"/>
              <a:t>Basics of Responsive Web Designs</a:t>
            </a:r>
          </a:p>
        </p:txBody>
      </p:sp>
      <p:sp>
        <p:nvSpPr>
          <p:cNvPr id="3" name="Content Placeholder 2">
            <a:extLst>
              <a:ext uri="{FF2B5EF4-FFF2-40B4-BE49-F238E27FC236}">
                <a16:creationId xmlns:a16="http://schemas.microsoft.com/office/drawing/2014/main" id="{B1B6F2ED-F6B3-4B12-8B86-481DE95795CE}"/>
              </a:ext>
            </a:extLst>
          </p:cNvPr>
          <p:cNvSpPr>
            <a:spLocks noGrp="1"/>
          </p:cNvSpPr>
          <p:nvPr>
            <p:ph idx="1"/>
          </p:nvPr>
        </p:nvSpPr>
        <p:spPr/>
        <p:txBody>
          <a:bodyPr>
            <a:normAutofit/>
          </a:bodyPr>
          <a:lstStyle/>
          <a:p>
            <a:r>
              <a:rPr lang="en-US" dirty="0"/>
              <a:t>Web pages can be viewed using many different devices: desktops, tablets, and phones. Web page should look good and easy to use regardless of the device. Responsive web design makes our web page look good on all devices. Web pages should not leave out information to fit smaller devices, but rather adopt its content to fit any device. It is called responsive web design when we use </a:t>
            </a:r>
            <a:r>
              <a:rPr lang="en-US" dirty="0" err="1"/>
              <a:t>css</a:t>
            </a:r>
            <a:r>
              <a:rPr lang="en-US" dirty="0"/>
              <a:t> and html to resize, hide, shrink, enlarge or move the content to make it look good on any screen.</a:t>
            </a:r>
          </a:p>
        </p:txBody>
      </p:sp>
    </p:spTree>
    <p:extLst>
      <p:ext uri="{BB962C8B-B14F-4D97-AF65-F5344CB8AC3E}">
        <p14:creationId xmlns:p14="http://schemas.microsoft.com/office/powerpoint/2010/main" val="40482947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Media Queries</a:t>
            </a:r>
          </a:p>
        </p:txBody>
      </p:sp>
      <p:sp>
        <p:nvSpPr>
          <p:cNvPr id="3" name="Content Placeholder 2"/>
          <p:cNvSpPr>
            <a:spLocks noGrp="1"/>
          </p:cNvSpPr>
          <p:nvPr>
            <p:ph idx="1"/>
          </p:nvPr>
        </p:nvSpPr>
        <p:spPr/>
        <p:txBody>
          <a:bodyPr>
            <a:normAutofit lnSpcReduction="10000"/>
          </a:bodyPr>
          <a:lstStyle/>
          <a:p>
            <a:pPr algn="just"/>
            <a:r>
              <a:rPr lang="en-US" dirty="0"/>
              <a:t>Media queries in CSS3 extended the CSS2 media types idea: Instead of looking for a type of device, they look at the capability of the device.</a:t>
            </a:r>
          </a:p>
          <a:p>
            <a:pPr algn="just"/>
            <a:endParaRPr lang="en-US" dirty="0"/>
          </a:p>
          <a:p>
            <a:pPr algn="just"/>
            <a:r>
              <a:rPr lang="en-US" dirty="0"/>
              <a:t>Media queries can be used to check many things, such as:</a:t>
            </a:r>
          </a:p>
          <a:p>
            <a:pPr algn="just"/>
            <a:endParaRPr lang="en-US" dirty="0"/>
          </a:p>
          <a:p>
            <a:pPr lvl="1" algn="just"/>
            <a:r>
              <a:rPr lang="en-US" dirty="0"/>
              <a:t>width and height of the viewport</a:t>
            </a:r>
          </a:p>
          <a:p>
            <a:pPr lvl="1" algn="just"/>
            <a:r>
              <a:rPr lang="en-US" dirty="0"/>
              <a:t>width and height of the device</a:t>
            </a:r>
          </a:p>
          <a:p>
            <a:pPr lvl="1" algn="just"/>
            <a:r>
              <a:rPr lang="en-US" dirty="0"/>
              <a:t>orientation (is the tablet/phone in landscape or portrait mode?)</a:t>
            </a:r>
          </a:p>
          <a:p>
            <a:pPr lvl="1" algn="just"/>
            <a:r>
              <a:rPr lang="en-US" dirty="0"/>
              <a:t>resolution</a:t>
            </a:r>
          </a:p>
          <a:p>
            <a:pPr lvl="1" algn="just"/>
            <a:r>
              <a:rPr lang="en-US" dirty="0"/>
              <a:t>Using media queries are a popular technique for delivering a tailored style sheet to desktops, laptops, tablets, and mobile phones (such as iPhone and Android phones).</a:t>
            </a:r>
          </a:p>
        </p:txBody>
      </p:sp>
    </p:spTree>
    <p:extLst>
      <p:ext uri="{BB962C8B-B14F-4D97-AF65-F5344CB8AC3E}">
        <p14:creationId xmlns:p14="http://schemas.microsoft.com/office/powerpoint/2010/main" val="398036617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Media Query Syntax</a:t>
            </a:r>
          </a:p>
        </p:txBody>
      </p:sp>
      <p:sp>
        <p:nvSpPr>
          <p:cNvPr id="3" name="Content Placeholder 2"/>
          <p:cNvSpPr>
            <a:spLocks noGrp="1"/>
          </p:cNvSpPr>
          <p:nvPr>
            <p:ph idx="1"/>
          </p:nvPr>
        </p:nvSpPr>
        <p:spPr>
          <a:xfrm>
            <a:off x="677334" y="1518321"/>
            <a:ext cx="9767928" cy="5165309"/>
          </a:xfrm>
        </p:spPr>
        <p:txBody>
          <a:bodyPr>
            <a:normAutofit fontScale="92500" lnSpcReduction="20000"/>
          </a:bodyPr>
          <a:lstStyle/>
          <a:p>
            <a:pPr algn="just"/>
            <a:r>
              <a:rPr lang="en-US" dirty="0"/>
              <a:t>A media query consists of a media type and can contain one or more expressions, which resolve to either true or false.</a:t>
            </a:r>
          </a:p>
          <a:p>
            <a:pPr algn="just"/>
            <a:endParaRPr lang="en-US" dirty="0"/>
          </a:p>
          <a:p>
            <a:pPr marL="0" indent="0" algn="just">
              <a:buNone/>
            </a:pPr>
            <a:r>
              <a:rPr lang="en-US" dirty="0"/>
              <a:t>@media </a:t>
            </a:r>
            <a:r>
              <a:rPr lang="en-US" dirty="0" err="1"/>
              <a:t>not|only</a:t>
            </a:r>
            <a:r>
              <a:rPr lang="en-US" dirty="0"/>
              <a:t> </a:t>
            </a:r>
            <a:r>
              <a:rPr lang="en-US" dirty="0" err="1"/>
              <a:t>mediatype</a:t>
            </a:r>
            <a:r>
              <a:rPr lang="en-US" dirty="0"/>
              <a:t> and (expressions) {</a:t>
            </a:r>
          </a:p>
          <a:p>
            <a:pPr marL="0" indent="0" algn="just">
              <a:buNone/>
            </a:pPr>
            <a:r>
              <a:rPr lang="en-US" dirty="0"/>
              <a:t>  CSS-Code;</a:t>
            </a:r>
          </a:p>
          <a:p>
            <a:pPr marL="0" indent="0" algn="just">
              <a:buNone/>
            </a:pPr>
            <a:r>
              <a:rPr lang="en-US" dirty="0"/>
              <a:t>}</a:t>
            </a:r>
          </a:p>
          <a:p>
            <a:pPr marL="0" indent="0" algn="just">
              <a:buNone/>
            </a:pPr>
            <a:r>
              <a:rPr lang="en-US" dirty="0"/>
              <a:t>	</a:t>
            </a:r>
            <a:r>
              <a:rPr lang="en-US" dirty="0" err="1"/>
              <a:t>eg.</a:t>
            </a:r>
            <a:r>
              <a:rPr lang="en-US" dirty="0"/>
              <a:t> @media only screen and (max-width:600px)</a:t>
            </a:r>
          </a:p>
          <a:p>
            <a:pPr marL="0" indent="0" algn="just">
              <a:buNone/>
            </a:pPr>
            <a:r>
              <a:rPr lang="en-US" dirty="0"/>
              <a:t>		{</a:t>
            </a:r>
          </a:p>
          <a:p>
            <a:pPr marL="0" indent="0" algn="just">
              <a:buNone/>
            </a:pPr>
            <a:r>
              <a:rPr lang="en-US" dirty="0"/>
              <a:t>			div{</a:t>
            </a:r>
          </a:p>
          <a:p>
            <a:pPr marL="0" indent="0" algn="just">
              <a:buNone/>
            </a:pPr>
            <a:r>
              <a:rPr lang="en-US" dirty="0"/>
              <a:t>				width:360px;</a:t>
            </a:r>
          </a:p>
          <a:p>
            <a:pPr marL="0" indent="0" algn="just">
              <a:buNone/>
            </a:pPr>
            <a:r>
              <a:rPr lang="en-US" dirty="0"/>
              <a:t>			}</a:t>
            </a:r>
          </a:p>
          <a:p>
            <a:pPr marL="0" indent="0" algn="just">
              <a:buNone/>
            </a:pPr>
            <a:r>
              <a:rPr lang="en-US" dirty="0"/>
              <a:t>		}</a:t>
            </a:r>
          </a:p>
          <a:p>
            <a:pPr marL="0" indent="0" algn="just">
              <a:buNone/>
            </a:pPr>
            <a:r>
              <a:rPr lang="en-US" dirty="0"/>
              <a:t>	</a:t>
            </a:r>
            <a:r>
              <a:rPr lang="en-US" dirty="0" err="1"/>
              <a:t>eg.</a:t>
            </a:r>
            <a:r>
              <a:rPr lang="en-US" dirty="0"/>
              <a:t> </a:t>
            </a:r>
            <a:r>
              <a:rPr lang="en-US"/>
              <a:t>media </a:t>
            </a:r>
            <a:r>
              <a:rPr lang="en-US" dirty="0"/>
              <a:t>only screen and (</a:t>
            </a:r>
            <a:r>
              <a:rPr lang="en-US" dirty="0" err="1"/>
              <a:t>orientation:landscape</a:t>
            </a:r>
            <a:r>
              <a:rPr lang="en-US" dirty="0"/>
              <a:t>)</a:t>
            </a:r>
          </a:p>
          <a:p>
            <a:pPr algn="just"/>
            <a:r>
              <a:rPr lang="en-US" dirty="0"/>
              <a:t>The result of the query is true if the specified media type matches the type of device the document is being displayed on and all expressions in the media query are true. When a media query is true, the corresponding style sheet or style rules are applied, following the normal cascading rules.</a:t>
            </a:r>
          </a:p>
        </p:txBody>
      </p:sp>
    </p:spTree>
    <p:extLst>
      <p:ext uri="{BB962C8B-B14F-4D97-AF65-F5344CB8AC3E}">
        <p14:creationId xmlns:p14="http://schemas.microsoft.com/office/powerpoint/2010/main" val="292163525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Responsive framework</a:t>
            </a:r>
          </a:p>
        </p:txBody>
      </p:sp>
      <p:sp>
        <p:nvSpPr>
          <p:cNvPr id="3" name="Content Placeholder 2"/>
          <p:cNvSpPr>
            <a:spLocks noGrp="1"/>
          </p:cNvSpPr>
          <p:nvPr>
            <p:ph idx="1"/>
          </p:nvPr>
        </p:nvSpPr>
        <p:spPr/>
        <p:txBody>
          <a:bodyPr>
            <a:normAutofit fontScale="92500" lnSpcReduction="20000"/>
          </a:bodyPr>
          <a:lstStyle/>
          <a:p>
            <a:pPr algn="just"/>
            <a:r>
              <a:rPr lang="en-US" dirty="0"/>
              <a:t>A responsive framework, also known as a responsive web design framework, is a collection of pre-built CSS and JavaScript components that help developers create responsive and mobile-friendly websites more easily. These frameworks provide a set of reusable UI elements, grid systems, typography styles, and other components that are designed to adapt and adjust based on different screen sizes and devices.</a:t>
            </a:r>
          </a:p>
          <a:p>
            <a:pPr algn="just"/>
            <a:r>
              <a:rPr lang="en-US" dirty="0"/>
              <a:t>Here are some popular responsive frameworks:</a:t>
            </a:r>
          </a:p>
          <a:p>
            <a:pPr algn="just"/>
            <a:r>
              <a:rPr lang="en-US" b="1" dirty="0"/>
              <a:t>Bootstrap: </a:t>
            </a:r>
            <a:r>
              <a:rPr lang="en-US" dirty="0"/>
              <a:t>Bootstrap is one of the most widely used responsive frameworks. It provides a comprehensive set of CSS and JavaScript components, including a responsive grid system, navigation bars, buttons, forms, and more. Bootstrap is known for its simplicity, flexibility, and extensive documentation.</a:t>
            </a:r>
          </a:p>
          <a:p>
            <a:pPr algn="just"/>
            <a:r>
              <a:rPr lang="en-US" b="1" dirty="0"/>
              <a:t>Foundation: </a:t>
            </a:r>
            <a:r>
              <a:rPr lang="en-US" dirty="0"/>
              <a:t>Foundation is another popular responsive framework. It offers a robust grid system, a wide range of UI components, responsive navigation menus, and various layout options. Foundation emphasizes customization and provides a flexible framework that can be tailored to specific project needs.</a:t>
            </a:r>
          </a:p>
          <a:p>
            <a:pPr algn="just"/>
            <a:endParaRPr lang="en-US" dirty="0"/>
          </a:p>
        </p:txBody>
      </p:sp>
    </p:spTree>
    <p:extLst>
      <p:ext uri="{BB962C8B-B14F-4D97-AF65-F5344CB8AC3E}">
        <p14:creationId xmlns:p14="http://schemas.microsoft.com/office/powerpoint/2010/main" val="363969598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Responsive framework</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b="1" dirty="0" err="1"/>
              <a:t>Bulma</a:t>
            </a:r>
            <a:r>
              <a:rPr lang="en-US" b="1" dirty="0"/>
              <a:t>: </a:t>
            </a:r>
            <a:r>
              <a:rPr lang="en-US" dirty="0" err="1"/>
              <a:t>Bulma</a:t>
            </a:r>
            <a:r>
              <a:rPr lang="en-US" dirty="0"/>
              <a:t> is a lightweight and modern responsive framework. It utilizes a flexible grid system and provides a rich set of CSS classes to create responsive layouts. </a:t>
            </a:r>
            <a:r>
              <a:rPr lang="en-US" dirty="0" err="1"/>
              <a:t>Bulma</a:t>
            </a:r>
            <a:r>
              <a:rPr lang="en-US" dirty="0"/>
              <a:t> also includes components such as forms, buttons, cards, and navigation menus. It is known for its simplicity and ease of customization.</a:t>
            </a:r>
          </a:p>
          <a:p>
            <a:pPr algn="just"/>
            <a:r>
              <a:rPr lang="en-US" b="1" dirty="0"/>
              <a:t>Material-UI: </a:t>
            </a:r>
            <a:r>
              <a:rPr lang="en-US" dirty="0"/>
              <a:t>Material-UI is a responsive framework that implements the Material Design guidelines developed by Google. It offers a rich collection of React components for building responsive web applications. Material-UI provides ready-to-use components such as buttons, cards, form elements, and navigation components, all following the Material Design principles.</a:t>
            </a:r>
          </a:p>
          <a:p>
            <a:pPr algn="just"/>
            <a:r>
              <a:rPr lang="en-US" b="1" dirty="0"/>
              <a:t>Tailwind CSS: </a:t>
            </a:r>
            <a:r>
              <a:rPr lang="en-US" dirty="0"/>
              <a:t>Tailwind CSS is a utility-first CSS framework that enables rapid development and customization. It provides a large number of CSS utility classes that can be composed to create responsive designs. Tailwind CSS offers flexibility and allows developers to build unique layouts without being tied to predefined styles or components.</a:t>
            </a:r>
          </a:p>
          <a:p>
            <a:pPr marL="0" indent="0" algn="just">
              <a:buNone/>
            </a:pPr>
            <a:r>
              <a:rPr lang="en-US" dirty="0"/>
              <a:t>These frameworks provide a foundation for building responsive websites by offering a set of pre-designed and tested components. They help streamline development, improve consistency, and ensure a seamless user experience across different devices. However, it's important to consider the specific requirements and goals of your project before choosing a responsive framework.</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p:txBody>
      </p:sp>
    </p:spTree>
    <p:extLst>
      <p:ext uri="{BB962C8B-B14F-4D97-AF65-F5344CB8AC3E}">
        <p14:creationId xmlns:p14="http://schemas.microsoft.com/office/powerpoint/2010/main" val="371856491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0E54E-E359-4009-9671-6CFD00A8D514}"/>
              </a:ext>
            </a:extLst>
          </p:cNvPr>
          <p:cNvSpPr>
            <a:spLocks noGrp="1"/>
          </p:cNvSpPr>
          <p:nvPr>
            <p:ph type="title"/>
          </p:nvPr>
        </p:nvSpPr>
        <p:spPr/>
        <p:txBody>
          <a:bodyPr/>
          <a:lstStyle/>
          <a:p>
            <a:r>
              <a:rPr lang="en-US" b="1" dirty="0"/>
              <a:t>Introduction to Bootstrap</a:t>
            </a:r>
          </a:p>
        </p:txBody>
      </p:sp>
      <p:sp>
        <p:nvSpPr>
          <p:cNvPr id="3" name="Content Placeholder 2">
            <a:extLst>
              <a:ext uri="{FF2B5EF4-FFF2-40B4-BE49-F238E27FC236}">
                <a16:creationId xmlns:a16="http://schemas.microsoft.com/office/drawing/2014/main" id="{FE1FD5A9-99D5-4CF1-A992-E6A2E617DE8C}"/>
              </a:ext>
            </a:extLst>
          </p:cNvPr>
          <p:cNvSpPr>
            <a:spLocks noGrp="1"/>
          </p:cNvSpPr>
          <p:nvPr>
            <p:ph idx="1"/>
          </p:nvPr>
        </p:nvSpPr>
        <p:spPr/>
        <p:txBody>
          <a:bodyPr/>
          <a:lstStyle/>
          <a:p>
            <a:r>
              <a:rPr lang="en-US" dirty="0"/>
              <a:t>Bootstrap is a free and open source most popular CSS framework for developing responsive and mobile first websites. Bootstrap 5 is the newer version boot strap. Bootstrap makes things a whole lot easier. Bootstrap can help speed up development times, while maintaining quality and consistency across the site. There are so many boot strap components likes header, navigation, cards slider </a:t>
            </a:r>
            <a:r>
              <a:rPr lang="en-US" dirty="0" err="1"/>
              <a:t>etc</a:t>
            </a:r>
            <a:r>
              <a:rPr lang="en-US" dirty="0"/>
              <a:t> while we can use easily and save our time. With the help of these we don’t need to spend hours to design any element.</a:t>
            </a:r>
          </a:p>
          <a:p>
            <a:r>
              <a:rPr lang="en-US" dirty="0"/>
              <a:t>You can wither download and install </a:t>
            </a:r>
            <a:r>
              <a:rPr lang="en-US"/>
              <a:t>the bootstrap </a:t>
            </a:r>
            <a:r>
              <a:rPr lang="en-US" dirty="0"/>
              <a:t>library or copy the specific bootstrap code from live server.</a:t>
            </a:r>
          </a:p>
        </p:txBody>
      </p:sp>
    </p:spTree>
    <p:extLst>
      <p:ext uri="{BB962C8B-B14F-4D97-AF65-F5344CB8AC3E}">
        <p14:creationId xmlns:p14="http://schemas.microsoft.com/office/powerpoint/2010/main" val="184301794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3679</TotalTime>
  <Words>8297</Words>
  <Application>Microsoft Office PowerPoint</Application>
  <PresentationFormat>Widescreen</PresentationFormat>
  <Paragraphs>601</Paragraphs>
  <Slides>103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103</vt:i4>
      </vt:variant>
    </vt:vector>
  </HeadingPairs>
  <TitlesOfParts>
    <vt:vector size="109" baseType="lpstr">
      <vt:lpstr>Arial</vt:lpstr>
      <vt:lpstr>Nunito</vt:lpstr>
      <vt:lpstr>Trebuchet MS</vt:lpstr>
      <vt:lpstr>Verdana</vt:lpstr>
      <vt:lpstr>Wingdings 3</vt:lpstr>
      <vt:lpstr>Facet</vt:lpstr>
      <vt:lpstr>Unit 3 Cascading Style Sheet</vt:lpstr>
      <vt:lpstr>CSS (Cascading Style Sheets)</vt:lpstr>
      <vt:lpstr>CSS Syntax</vt:lpstr>
      <vt:lpstr>How To Add CSS</vt:lpstr>
      <vt:lpstr>Inline CSS</vt:lpstr>
      <vt:lpstr>Inline CSS</vt:lpstr>
      <vt:lpstr>Internal CSS</vt:lpstr>
      <vt:lpstr>Internal CSS</vt:lpstr>
      <vt:lpstr>External CSS</vt:lpstr>
      <vt:lpstr>External CSS</vt:lpstr>
      <vt:lpstr>Question</vt:lpstr>
      <vt:lpstr>Writing comments in CSS</vt:lpstr>
      <vt:lpstr>Writing comments in HTML</vt:lpstr>
      <vt:lpstr>Types of selector</vt:lpstr>
      <vt:lpstr>1. Simple selector</vt:lpstr>
      <vt:lpstr>2. Universal selector</vt:lpstr>
      <vt:lpstr>3. Grouping selector</vt:lpstr>
      <vt:lpstr>3. Grouping selector</vt:lpstr>
      <vt:lpstr>4. Attribute Selector</vt:lpstr>
      <vt:lpstr>4.2 CSS [attribute="value"] Selector</vt:lpstr>
      <vt:lpstr>4.3 CSS [attribute~="value"] Selector</vt:lpstr>
      <vt:lpstr>4.4 CSS [attribute|="value"] Selector</vt:lpstr>
      <vt:lpstr>4.5 CSS [attribute^="value"] Selector</vt:lpstr>
      <vt:lpstr>4.6 CSS [attribute$="value"] Selector</vt:lpstr>
      <vt:lpstr>4.7 CSS [attribute*="value"] Selector</vt:lpstr>
      <vt:lpstr>5. Pseudo-class selector</vt:lpstr>
      <vt:lpstr>5. Pseudo-class selector</vt:lpstr>
      <vt:lpstr>6. Pseudo-element selector</vt:lpstr>
      <vt:lpstr>6. Pseudo-element selector</vt:lpstr>
      <vt:lpstr>7. Combinators selector</vt:lpstr>
      <vt:lpstr>7.1 Descendant Selector</vt:lpstr>
      <vt:lpstr>7.2 Child Selector (&gt;)</vt:lpstr>
      <vt:lpstr>7.3 Adjacent Sibling Selector (+)</vt:lpstr>
      <vt:lpstr>7.4 General Sibling Selector (~)</vt:lpstr>
      <vt:lpstr>Background-color</vt:lpstr>
      <vt:lpstr>Background-color</vt:lpstr>
      <vt:lpstr>Example</vt:lpstr>
      <vt:lpstr>Background Image</vt:lpstr>
      <vt:lpstr>Background Image</vt:lpstr>
      <vt:lpstr>Background Image</vt:lpstr>
      <vt:lpstr>CSS Border</vt:lpstr>
      <vt:lpstr>CSS Border</vt:lpstr>
      <vt:lpstr>CSS Border Style</vt:lpstr>
      <vt:lpstr>CSS border individual side</vt:lpstr>
      <vt:lpstr>CSS Border Width</vt:lpstr>
      <vt:lpstr>CSS Border Color</vt:lpstr>
      <vt:lpstr>CSS Rounded Borders</vt:lpstr>
      <vt:lpstr>CSS Height/Width</vt:lpstr>
      <vt:lpstr>CSS Text</vt:lpstr>
      <vt:lpstr>CSS Text</vt:lpstr>
      <vt:lpstr>Example</vt:lpstr>
      <vt:lpstr>CSS Font</vt:lpstr>
      <vt:lpstr>CSS Font property</vt:lpstr>
      <vt:lpstr>Example</vt:lpstr>
      <vt:lpstr>CSS List Styling</vt:lpstr>
      <vt:lpstr>Example:</vt:lpstr>
      <vt:lpstr>Example</vt:lpstr>
      <vt:lpstr>CSS table</vt:lpstr>
      <vt:lpstr>CSS max-width/min-width property</vt:lpstr>
      <vt:lpstr>Example</vt:lpstr>
      <vt:lpstr>The auto Value</vt:lpstr>
      <vt:lpstr>The inherit Value</vt:lpstr>
      <vt:lpstr>CSS Box Model</vt:lpstr>
      <vt:lpstr>CSS Margin</vt:lpstr>
      <vt:lpstr>CSS Margin</vt:lpstr>
      <vt:lpstr>All CSS Margin Properties</vt:lpstr>
      <vt:lpstr>CSS Padding</vt:lpstr>
      <vt:lpstr>CSS Padding</vt:lpstr>
      <vt:lpstr>CSS Outline</vt:lpstr>
      <vt:lpstr>Example:</vt:lpstr>
      <vt:lpstr>CSS Overflow</vt:lpstr>
      <vt:lpstr>Example</vt:lpstr>
      <vt:lpstr>CSS Display</vt:lpstr>
      <vt:lpstr>Example</vt:lpstr>
      <vt:lpstr>CSS Float</vt:lpstr>
      <vt:lpstr>Example</vt:lpstr>
      <vt:lpstr>CSS Icon</vt:lpstr>
      <vt:lpstr>Example</vt:lpstr>
      <vt:lpstr>CSS Box Sizing</vt:lpstr>
      <vt:lpstr>Example</vt:lpstr>
      <vt:lpstr>CSS Position Property</vt:lpstr>
      <vt:lpstr>position: static;</vt:lpstr>
      <vt:lpstr>position: fixed;</vt:lpstr>
      <vt:lpstr>Example</vt:lpstr>
      <vt:lpstr>position: sticky;</vt:lpstr>
      <vt:lpstr>Example</vt:lpstr>
      <vt:lpstr>Position: relative;</vt:lpstr>
      <vt:lpstr>Example</vt:lpstr>
      <vt:lpstr>Position: absolute;</vt:lpstr>
      <vt:lpstr>Example</vt:lpstr>
      <vt:lpstr>Z-index property</vt:lpstr>
      <vt:lpstr>Box Shadow effect</vt:lpstr>
      <vt:lpstr>Box Shadow effect</vt:lpstr>
      <vt:lpstr>Box Shadow effect</vt:lpstr>
      <vt:lpstr>Text Shadow effect</vt:lpstr>
      <vt:lpstr>Text Effects</vt:lpstr>
      <vt:lpstr>Text Effects</vt:lpstr>
      <vt:lpstr>Basics of Responsive Web Designs</vt:lpstr>
      <vt:lpstr>Media Queries</vt:lpstr>
      <vt:lpstr>Media Query Syntax</vt:lpstr>
      <vt:lpstr>Responsive framework</vt:lpstr>
      <vt:lpstr>Responsive framework</vt:lpstr>
      <vt:lpstr>Introduction to Bootstrap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Cascading Style Sheet</dc:title>
  <dc:creator>Hp</dc:creator>
  <cp:lastModifiedBy>Yachu</cp:lastModifiedBy>
  <cp:revision>152</cp:revision>
  <dcterms:created xsi:type="dcterms:W3CDTF">2023-05-23T02:13:30Z</dcterms:created>
  <dcterms:modified xsi:type="dcterms:W3CDTF">2025-01-22T05:42:22Z</dcterms:modified>
</cp:coreProperties>
</file>