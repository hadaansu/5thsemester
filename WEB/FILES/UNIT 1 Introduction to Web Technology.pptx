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 id="2147483718" r:id="rId2"/>
  </p:sldMasterIdLst>
  <p:sldIdLst>
    <p:sldId id="256" r:id="rId3"/>
    <p:sldId id="257" r:id="rId4"/>
    <p:sldId id="258" r:id="rId5"/>
    <p:sldId id="259" r:id="rId6"/>
    <p:sldId id="260" r:id="rId7"/>
    <p:sldId id="315" r:id="rId8"/>
    <p:sldId id="316" r:id="rId9"/>
    <p:sldId id="317" r:id="rId10"/>
    <p:sldId id="292" r:id="rId11"/>
    <p:sldId id="294" r:id="rId12"/>
    <p:sldId id="295" r:id="rId13"/>
    <p:sldId id="296" r:id="rId14"/>
    <p:sldId id="318" r:id="rId15"/>
    <p:sldId id="293" r:id="rId16"/>
    <p:sldId id="297" r:id="rId17"/>
    <p:sldId id="298" r:id="rId18"/>
    <p:sldId id="300" r:id="rId19"/>
    <p:sldId id="299" r:id="rId20"/>
    <p:sldId id="319" r:id="rId21"/>
    <p:sldId id="320" r:id="rId22"/>
    <p:sldId id="321" r:id="rId23"/>
    <p:sldId id="282" r:id="rId24"/>
    <p:sldId id="283" r:id="rId25"/>
    <p:sldId id="284" r:id="rId26"/>
    <p:sldId id="285" r:id="rId27"/>
    <p:sldId id="286" r:id="rId28"/>
    <p:sldId id="287" r:id="rId29"/>
    <p:sldId id="288" r:id="rId30"/>
    <p:sldId id="289" r:id="rId31"/>
    <p:sldId id="290" r:id="rId32"/>
    <p:sldId id="29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F816D-7F49-40F4-90A6-6F886763B1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F796A5-9354-4445-8809-95A4BFC44D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B0955F-A0AB-4B74-AC71-0B188899E10F}"/>
              </a:ext>
            </a:extLst>
          </p:cNvPr>
          <p:cNvSpPr>
            <a:spLocks noGrp="1"/>
          </p:cNvSpPr>
          <p:nvPr>
            <p:ph type="dt" sz="half" idx="10"/>
          </p:nvPr>
        </p:nvSpPr>
        <p:spPr/>
        <p:txBody>
          <a:bodyPr/>
          <a:lstStyle/>
          <a:p>
            <a:fld id="{D6395C4F-B36B-415F-A7AD-9DB6B1418C37}" type="datetimeFigureOut">
              <a:rPr lang="en-US" smtClean="0"/>
              <a:t>12/17/2024</a:t>
            </a:fld>
            <a:endParaRPr lang="en-US"/>
          </a:p>
        </p:txBody>
      </p:sp>
      <p:sp>
        <p:nvSpPr>
          <p:cNvPr id="5" name="Footer Placeholder 4">
            <a:extLst>
              <a:ext uri="{FF2B5EF4-FFF2-40B4-BE49-F238E27FC236}">
                <a16:creationId xmlns:a16="http://schemas.microsoft.com/office/drawing/2014/main" id="{A6CB118C-CDFD-490F-AB15-76B185FD05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7DAB9-37FE-4716-B479-CC732D26BA82}"/>
              </a:ext>
            </a:extLst>
          </p:cNvPr>
          <p:cNvSpPr>
            <a:spLocks noGrp="1"/>
          </p:cNvSpPr>
          <p:nvPr>
            <p:ph type="sldNum" sz="quarter" idx="12"/>
          </p:nvPr>
        </p:nvSpPr>
        <p:spPr/>
        <p:txBody>
          <a:bodyPr/>
          <a:lstStyle/>
          <a:p>
            <a:fld id="{A7493733-E57F-4745-B77F-E5AE26E27473}" type="slidenum">
              <a:rPr lang="en-US" smtClean="0"/>
              <a:t>‹#›</a:t>
            </a:fld>
            <a:endParaRPr lang="en-US"/>
          </a:p>
        </p:txBody>
      </p:sp>
    </p:spTree>
    <p:extLst>
      <p:ext uri="{BB962C8B-B14F-4D97-AF65-F5344CB8AC3E}">
        <p14:creationId xmlns:p14="http://schemas.microsoft.com/office/powerpoint/2010/main" val="3656623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250BF-D037-4165-A409-042D771717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E0EF54-DFB5-420E-AA5A-349E141B28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4F903B-DF57-47D5-8CF6-410137936D2F}"/>
              </a:ext>
            </a:extLst>
          </p:cNvPr>
          <p:cNvSpPr>
            <a:spLocks noGrp="1"/>
          </p:cNvSpPr>
          <p:nvPr>
            <p:ph type="dt" sz="half" idx="10"/>
          </p:nvPr>
        </p:nvSpPr>
        <p:spPr/>
        <p:txBody>
          <a:bodyPr/>
          <a:lstStyle/>
          <a:p>
            <a:fld id="{D6395C4F-B36B-415F-A7AD-9DB6B1418C37}" type="datetimeFigureOut">
              <a:rPr lang="en-US" smtClean="0"/>
              <a:t>12/17/2024</a:t>
            </a:fld>
            <a:endParaRPr lang="en-US"/>
          </a:p>
        </p:txBody>
      </p:sp>
      <p:sp>
        <p:nvSpPr>
          <p:cNvPr id="5" name="Footer Placeholder 4">
            <a:extLst>
              <a:ext uri="{FF2B5EF4-FFF2-40B4-BE49-F238E27FC236}">
                <a16:creationId xmlns:a16="http://schemas.microsoft.com/office/drawing/2014/main" id="{94387DA4-231D-4E9A-AC3A-8B21998A4C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4694D2-D6C8-4369-818E-4341D3097C19}"/>
              </a:ext>
            </a:extLst>
          </p:cNvPr>
          <p:cNvSpPr>
            <a:spLocks noGrp="1"/>
          </p:cNvSpPr>
          <p:nvPr>
            <p:ph type="sldNum" sz="quarter" idx="12"/>
          </p:nvPr>
        </p:nvSpPr>
        <p:spPr/>
        <p:txBody>
          <a:bodyPr/>
          <a:lstStyle/>
          <a:p>
            <a:fld id="{A7493733-E57F-4745-B77F-E5AE26E27473}" type="slidenum">
              <a:rPr lang="en-US" smtClean="0"/>
              <a:t>‹#›</a:t>
            </a:fld>
            <a:endParaRPr lang="en-US"/>
          </a:p>
        </p:txBody>
      </p:sp>
    </p:spTree>
    <p:extLst>
      <p:ext uri="{BB962C8B-B14F-4D97-AF65-F5344CB8AC3E}">
        <p14:creationId xmlns:p14="http://schemas.microsoft.com/office/powerpoint/2010/main" val="3287072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74A8-2B25-403D-B353-872458A804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F1F0A2-BA66-46B0-9051-ED639788F1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0EA7A0-1DBF-4761-A790-0D6212FDD30E}"/>
              </a:ext>
            </a:extLst>
          </p:cNvPr>
          <p:cNvSpPr>
            <a:spLocks noGrp="1"/>
          </p:cNvSpPr>
          <p:nvPr>
            <p:ph type="dt" sz="half" idx="10"/>
          </p:nvPr>
        </p:nvSpPr>
        <p:spPr/>
        <p:txBody>
          <a:bodyPr/>
          <a:lstStyle/>
          <a:p>
            <a:fld id="{D6395C4F-B36B-415F-A7AD-9DB6B1418C37}" type="datetimeFigureOut">
              <a:rPr lang="en-US" smtClean="0"/>
              <a:t>12/17/2024</a:t>
            </a:fld>
            <a:endParaRPr lang="en-US"/>
          </a:p>
        </p:txBody>
      </p:sp>
      <p:sp>
        <p:nvSpPr>
          <p:cNvPr id="5" name="Footer Placeholder 4">
            <a:extLst>
              <a:ext uri="{FF2B5EF4-FFF2-40B4-BE49-F238E27FC236}">
                <a16:creationId xmlns:a16="http://schemas.microsoft.com/office/drawing/2014/main" id="{8942D61B-96E3-4000-A001-DC796F156A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686DF5-F135-437C-A096-1CEC39BC4ADF}"/>
              </a:ext>
            </a:extLst>
          </p:cNvPr>
          <p:cNvSpPr>
            <a:spLocks noGrp="1"/>
          </p:cNvSpPr>
          <p:nvPr>
            <p:ph type="sldNum" sz="quarter" idx="12"/>
          </p:nvPr>
        </p:nvSpPr>
        <p:spPr/>
        <p:txBody>
          <a:bodyPr/>
          <a:lstStyle/>
          <a:p>
            <a:fld id="{A7493733-E57F-4745-B77F-E5AE26E27473}" type="slidenum">
              <a:rPr lang="en-US" smtClean="0"/>
              <a:t>‹#›</a:t>
            </a:fld>
            <a:endParaRPr lang="en-US"/>
          </a:p>
        </p:txBody>
      </p:sp>
    </p:spTree>
    <p:extLst>
      <p:ext uri="{BB962C8B-B14F-4D97-AF65-F5344CB8AC3E}">
        <p14:creationId xmlns:p14="http://schemas.microsoft.com/office/powerpoint/2010/main" val="1028279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F0F23-179D-4D12-B6B6-1EF42C5E83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79BED0-1121-4D65-8B8E-6FEA0C329E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FC22A9-0F1D-472F-A33E-6C3FDF0653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6CDD1C-8C9A-47C0-9B04-34716942CDF2}"/>
              </a:ext>
            </a:extLst>
          </p:cNvPr>
          <p:cNvSpPr>
            <a:spLocks noGrp="1"/>
          </p:cNvSpPr>
          <p:nvPr>
            <p:ph type="dt" sz="half" idx="10"/>
          </p:nvPr>
        </p:nvSpPr>
        <p:spPr/>
        <p:txBody>
          <a:bodyPr/>
          <a:lstStyle/>
          <a:p>
            <a:fld id="{D6395C4F-B36B-415F-A7AD-9DB6B1418C37}" type="datetimeFigureOut">
              <a:rPr lang="en-US" smtClean="0"/>
              <a:t>12/17/2024</a:t>
            </a:fld>
            <a:endParaRPr lang="en-US"/>
          </a:p>
        </p:txBody>
      </p:sp>
      <p:sp>
        <p:nvSpPr>
          <p:cNvPr id="6" name="Footer Placeholder 5">
            <a:extLst>
              <a:ext uri="{FF2B5EF4-FFF2-40B4-BE49-F238E27FC236}">
                <a16:creationId xmlns:a16="http://schemas.microsoft.com/office/drawing/2014/main" id="{5E533A2E-09E8-4CB8-9BEC-6EC8CD5D33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3D2DB5-6C1B-4EA0-A5E9-69422FE59009}"/>
              </a:ext>
            </a:extLst>
          </p:cNvPr>
          <p:cNvSpPr>
            <a:spLocks noGrp="1"/>
          </p:cNvSpPr>
          <p:nvPr>
            <p:ph type="sldNum" sz="quarter" idx="12"/>
          </p:nvPr>
        </p:nvSpPr>
        <p:spPr/>
        <p:txBody>
          <a:bodyPr/>
          <a:lstStyle/>
          <a:p>
            <a:fld id="{A7493733-E57F-4745-B77F-E5AE26E27473}" type="slidenum">
              <a:rPr lang="en-US" smtClean="0"/>
              <a:t>‹#›</a:t>
            </a:fld>
            <a:endParaRPr lang="en-US"/>
          </a:p>
        </p:txBody>
      </p:sp>
    </p:spTree>
    <p:extLst>
      <p:ext uri="{BB962C8B-B14F-4D97-AF65-F5344CB8AC3E}">
        <p14:creationId xmlns:p14="http://schemas.microsoft.com/office/powerpoint/2010/main" val="1926209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5BEA2-439F-4B3D-AE88-6E08D572ED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14D3CD-BD69-408E-B23A-4F46D259A3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E0155F-974E-4C2B-B8BF-E270E71912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18BAFE-0829-451F-82F0-9481EA0023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B6AABD-BEC4-4F4D-A86E-3BCF7DD59C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10067D-0AA8-48DB-8068-B3087C76EBC1}"/>
              </a:ext>
            </a:extLst>
          </p:cNvPr>
          <p:cNvSpPr>
            <a:spLocks noGrp="1"/>
          </p:cNvSpPr>
          <p:nvPr>
            <p:ph type="dt" sz="half" idx="10"/>
          </p:nvPr>
        </p:nvSpPr>
        <p:spPr/>
        <p:txBody>
          <a:bodyPr/>
          <a:lstStyle/>
          <a:p>
            <a:fld id="{D6395C4F-B36B-415F-A7AD-9DB6B1418C37}" type="datetimeFigureOut">
              <a:rPr lang="en-US" smtClean="0"/>
              <a:t>12/17/2024</a:t>
            </a:fld>
            <a:endParaRPr lang="en-US"/>
          </a:p>
        </p:txBody>
      </p:sp>
      <p:sp>
        <p:nvSpPr>
          <p:cNvPr id="8" name="Footer Placeholder 7">
            <a:extLst>
              <a:ext uri="{FF2B5EF4-FFF2-40B4-BE49-F238E27FC236}">
                <a16:creationId xmlns:a16="http://schemas.microsoft.com/office/drawing/2014/main" id="{39E06F36-A191-4049-805D-E0F61832F8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6B2A46-A7DD-4617-B15B-70C6E53ED0B2}"/>
              </a:ext>
            </a:extLst>
          </p:cNvPr>
          <p:cNvSpPr>
            <a:spLocks noGrp="1"/>
          </p:cNvSpPr>
          <p:nvPr>
            <p:ph type="sldNum" sz="quarter" idx="12"/>
          </p:nvPr>
        </p:nvSpPr>
        <p:spPr/>
        <p:txBody>
          <a:bodyPr/>
          <a:lstStyle/>
          <a:p>
            <a:fld id="{A7493733-E57F-4745-B77F-E5AE26E27473}" type="slidenum">
              <a:rPr lang="en-US" smtClean="0"/>
              <a:t>‹#›</a:t>
            </a:fld>
            <a:endParaRPr lang="en-US"/>
          </a:p>
        </p:txBody>
      </p:sp>
    </p:spTree>
    <p:extLst>
      <p:ext uri="{BB962C8B-B14F-4D97-AF65-F5344CB8AC3E}">
        <p14:creationId xmlns:p14="http://schemas.microsoft.com/office/powerpoint/2010/main" val="1942011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A69F8-D8EF-4FA9-B4C2-1CA597BED08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AD803B-7454-4E06-AEDD-AAE7609EE5C3}"/>
              </a:ext>
            </a:extLst>
          </p:cNvPr>
          <p:cNvSpPr>
            <a:spLocks noGrp="1"/>
          </p:cNvSpPr>
          <p:nvPr>
            <p:ph type="dt" sz="half" idx="10"/>
          </p:nvPr>
        </p:nvSpPr>
        <p:spPr/>
        <p:txBody>
          <a:bodyPr/>
          <a:lstStyle/>
          <a:p>
            <a:fld id="{D6395C4F-B36B-415F-A7AD-9DB6B1418C37}" type="datetimeFigureOut">
              <a:rPr lang="en-US" smtClean="0"/>
              <a:t>12/17/2024</a:t>
            </a:fld>
            <a:endParaRPr lang="en-US"/>
          </a:p>
        </p:txBody>
      </p:sp>
      <p:sp>
        <p:nvSpPr>
          <p:cNvPr id="4" name="Footer Placeholder 3">
            <a:extLst>
              <a:ext uri="{FF2B5EF4-FFF2-40B4-BE49-F238E27FC236}">
                <a16:creationId xmlns:a16="http://schemas.microsoft.com/office/drawing/2014/main" id="{9D8DBB3E-A17E-46D1-A806-B424B5B34B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8AD25C-9F25-4517-9C59-0A730FFBF6E8}"/>
              </a:ext>
            </a:extLst>
          </p:cNvPr>
          <p:cNvSpPr>
            <a:spLocks noGrp="1"/>
          </p:cNvSpPr>
          <p:nvPr>
            <p:ph type="sldNum" sz="quarter" idx="12"/>
          </p:nvPr>
        </p:nvSpPr>
        <p:spPr/>
        <p:txBody>
          <a:bodyPr/>
          <a:lstStyle/>
          <a:p>
            <a:fld id="{A7493733-E57F-4745-B77F-E5AE26E27473}" type="slidenum">
              <a:rPr lang="en-US" smtClean="0"/>
              <a:t>‹#›</a:t>
            </a:fld>
            <a:endParaRPr lang="en-US"/>
          </a:p>
        </p:txBody>
      </p:sp>
    </p:spTree>
    <p:extLst>
      <p:ext uri="{BB962C8B-B14F-4D97-AF65-F5344CB8AC3E}">
        <p14:creationId xmlns:p14="http://schemas.microsoft.com/office/powerpoint/2010/main" val="4025590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C33681-E78C-4300-A4B5-14D58C4DDF86}"/>
              </a:ext>
            </a:extLst>
          </p:cNvPr>
          <p:cNvSpPr>
            <a:spLocks noGrp="1"/>
          </p:cNvSpPr>
          <p:nvPr>
            <p:ph type="dt" sz="half" idx="10"/>
          </p:nvPr>
        </p:nvSpPr>
        <p:spPr/>
        <p:txBody>
          <a:bodyPr/>
          <a:lstStyle/>
          <a:p>
            <a:fld id="{D6395C4F-B36B-415F-A7AD-9DB6B1418C37}" type="datetimeFigureOut">
              <a:rPr lang="en-US" smtClean="0"/>
              <a:t>12/17/2024</a:t>
            </a:fld>
            <a:endParaRPr lang="en-US"/>
          </a:p>
        </p:txBody>
      </p:sp>
      <p:sp>
        <p:nvSpPr>
          <p:cNvPr id="3" name="Footer Placeholder 2">
            <a:extLst>
              <a:ext uri="{FF2B5EF4-FFF2-40B4-BE49-F238E27FC236}">
                <a16:creationId xmlns:a16="http://schemas.microsoft.com/office/drawing/2014/main" id="{35C31EF7-ABF2-4995-86CA-0740C46A32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E81DCD-ED54-4839-84AC-D8191BFE6E98}"/>
              </a:ext>
            </a:extLst>
          </p:cNvPr>
          <p:cNvSpPr>
            <a:spLocks noGrp="1"/>
          </p:cNvSpPr>
          <p:nvPr>
            <p:ph type="sldNum" sz="quarter" idx="12"/>
          </p:nvPr>
        </p:nvSpPr>
        <p:spPr/>
        <p:txBody>
          <a:bodyPr/>
          <a:lstStyle/>
          <a:p>
            <a:fld id="{A7493733-E57F-4745-B77F-E5AE26E27473}" type="slidenum">
              <a:rPr lang="en-US" smtClean="0"/>
              <a:t>‹#›</a:t>
            </a:fld>
            <a:endParaRPr lang="en-US"/>
          </a:p>
        </p:txBody>
      </p:sp>
    </p:spTree>
    <p:extLst>
      <p:ext uri="{BB962C8B-B14F-4D97-AF65-F5344CB8AC3E}">
        <p14:creationId xmlns:p14="http://schemas.microsoft.com/office/powerpoint/2010/main" val="4205258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EF59B-52F0-481C-B4B6-604B4A8697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C85992-F93D-4827-A51A-543DF02D92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32C6FC-0B52-4390-B12D-9212E987A8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D557C8-C270-492E-B266-0C44E204EC60}"/>
              </a:ext>
            </a:extLst>
          </p:cNvPr>
          <p:cNvSpPr>
            <a:spLocks noGrp="1"/>
          </p:cNvSpPr>
          <p:nvPr>
            <p:ph type="dt" sz="half" idx="10"/>
          </p:nvPr>
        </p:nvSpPr>
        <p:spPr/>
        <p:txBody>
          <a:bodyPr/>
          <a:lstStyle/>
          <a:p>
            <a:fld id="{D6395C4F-B36B-415F-A7AD-9DB6B1418C37}" type="datetimeFigureOut">
              <a:rPr lang="en-US" smtClean="0"/>
              <a:t>12/17/2024</a:t>
            </a:fld>
            <a:endParaRPr lang="en-US"/>
          </a:p>
        </p:txBody>
      </p:sp>
      <p:sp>
        <p:nvSpPr>
          <p:cNvPr id="6" name="Footer Placeholder 5">
            <a:extLst>
              <a:ext uri="{FF2B5EF4-FFF2-40B4-BE49-F238E27FC236}">
                <a16:creationId xmlns:a16="http://schemas.microsoft.com/office/drawing/2014/main" id="{C1A66832-F113-4B9A-801D-9697F810E3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26D9C3-4687-46EA-84C6-96198D2952CE}"/>
              </a:ext>
            </a:extLst>
          </p:cNvPr>
          <p:cNvSpPr>
            <a:spLocks noGrp="1"/>
          </p:cNvSpPr>
          <p:nvPr>
            <p:ph type="sldNum" sz="quarter" idx="12"/>
          </p:nvPr>
        </p:nvSpPr>
        <p:spPr/>
        <p:txBody>
          <a:bodyPr/>
          <a:lstStyle/>
          <a:p>
            <a:fld id="{A7493733-E57F-4745-B77F-E5AE26E27473}" type="slidenum">
              <a:rPr lang="en-US" smtClean="0"/>
              <a:t>‹#›</a:t>
            </a:fld>
            <a:endParaRPr lang="en-US"/>
          </a:p>
        </p:txBody>
      </p:sp>
    </p:spTree>
    <p:extLst>
      <p:ext uri="{BB962C8B-B14F-4D97-AF65-F5344CB8AC3E}">
        <p14:creationId xmlns:p14="http://schemas.microsoft.com/office/powerpoint/2010/main" val="3385195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B8A7B-0805-4C08-AB68-FCB09D6A20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E3341C-5DDB-4EE4-9517-51369BC370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D48FC8-01E5-482C-8A24-A6D25ADC45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A85A0C-5AFA-4074-A9A2-88506AAEBAF4}"/>
              </a:ext>
            </a:extLst>
          </p:cNvPr>
          <p:cNvSpPr>
            <a:spLocks noGrp="1"/>
          </p:cNvSpPr>
          <p:nvPr>
            <p:ph type="dt" sz="half" idx="10"/>
          </p:nvPr>
        </p:nvSpPr>
        <p:spPr/>
        <p:txBody>
          <a:bodyPr/>
          <a:lstStyle/>
          <a:p>
            <a:fld id="{D6395C4F-B36B-415F-A7AD-9DB6B1418C37}" type="datetimeFigureOut">
              <a:rPr lang="en-US" smtClean="0"/>
              <a:t>12/17/2024</a:t>
            </a:fld>
            <a:endParaRPr lang="en-US"/>
          </a:p>
        </p:txBody>
      </p:sp>
      <p:sp>
        <p:nvSpPr>
          <p:cNvPr id="6" name="Footer Placeholder 5">
            <a:extLst>
              <a:ext uri="{FF2B5EF4-FFF2-40B4-BE49-F238E27FC236}">
                <a16:creationId xmlns:a16="http://schemas.microsoft.com/office/drawing/2014/main" id="{345DF4A0-6A02-4EAB-992F-E269F99826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D6CC1-31C7-4BEB-ABB1-F59E9961B7AC}"/>
              </a:ext>
            </a:extLst>
          </p:cNvPr>
          <p:cNvSpPr>
            <a:spLocks noGrp="1"/>
          </p:cNvSpPr>
          <p:nvPr>
            <p:ph type="sldNum" sz="quarter" idx="12"/>
          </p:nvPr>
        </p:nvSpPr>
        <p:spPr/>
        <p:txBody>
          <a:bodyPr/>
          <a:lstStyle/>
          <a:p>
            <a:fld id="{A7493733-E57F-4745-B77F-E5AE26E27473}" type="slidenum">
              <a:rPr lang="en-US" smtClean="0"/>
              <a:t>‹#›</a:t>
            </a:fld>
            <a:endParaRPr lang="en-US"/>
          </a:p>
        </p:txBody>
      </p:sp>
    </p:spTree>
    <p:extLst>
      <p:ext uri="{BB962C8B-B14F-4D97-AF65-F5344CB8AC3E}">
        <p14:creationId xmlns:p14="http://schemas.microsoft.com/office/powerpoint/2010/main" val="940845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4C01E-8A39-4A0B-8661-33766CF1A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DDD994-CB20-44FF-B0FC-68F6EB7EAC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C79D09-7881-429A-8136-4288E6704670}"/>
              </a:ext>
            </a:extLst>
          </p:cNvPr>
          <p:cNvSpPr>
            <a:spLocks noGrp="1"/>
          </p:cNvSpPr>
          <p:nvPr>
            <p:ph type="dt" sz="half" idx="10"/>
          </p:nvPr>
        </p:nvSpPr>
        <p:spPr/>
        <p:txBody>
          <a:bodyPr/>
          <a:lstStyle/>
          <a:p>
            <a:fld id="{D6395C4F-B36B-415F-A7AD-9DB6B1418C37}" type="datetimeFigureOut">
              <a:rPr lang="en-US" smtClean="0"/>
              <a:t>12/17/2024</a:t>
            </a:fld>
            <a:endParaRPr lang="en-US"/>
          </a:p>
        </p:txBody>
      </p:sp>
      <p:sp>
        <p:nvSpPr>
          <p:cNvPr id="5" name="Footer Placeholder 4">
            <a:extLst>
              <a:ext uri="{FF2B5EF4-FFF2-40B4-BE49-F238E27FC236}">
                <a16:creationId xmlns:a16="http://schemas.microsoft.com/office/drawing/2014/main" id="{7693D1F8-3AAB-4E4B-BD63-0574075CC2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CC92CA-0B1A-4556-A42F-E5D6006D9186}"/>
              </a:ext>
            </a:extLst>
          </p:cNvPr>
          <p:cNvSpPr>
            <a:spLocks noGrp="1"/>
          </p:cNvSpPr>
          <p:nvPr>
            <p:ph type="sldNum" sz="quarter" idx="12"/>
          </p:nvPr>
        </p:nvSpPr>
        <p:spPr/>
        <p:txBody>
          <a:bodyPr/>
          <a:lstStyle/>
          <a:p>
            <a:fld id="{A7493733-E57F-4745-B77F-E5AE26E27473}" type="slidenum">
              <a:rPr lang="en-US" smtClean="0"/>
              <a:t>‹#›</a:t>
            </a:fld>
            <a:endParaRPr lang="en-US"/>
          </a:p>
        </p:txBody>
      </p:sp>
    </p:spTree>
    <p:extLst>
      <p:ext uri="{BB962C8B-B14F-4D97-AF65-F5344CB8AC3E}">
        <p14:creationId xmlns:p14="http://schemas.microsoft.com/office/powerpoint/2010/main" val="1150749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D77A38-0FA0-46F0-ADA3-BB21402185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31A2F5-0A7B-430E-AC6F-2F8BB3ACC2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AF7B9A-9396-4565-BEA6-D53AAFA8F9F2}"/>
              </a:ext>
            </a:extLst>
          </p:cNvPr>
          <p:cNvSpPr>
            <a:spLocks noGrp="1"/>
          </p:cNvSpPr>
          <p:nvPr>
            <p:ph type="dt" sz="half" idx="10"/>
          </p:nvPr>
        </p:nvSpPr>
        <p:spPr/>
        <p:txBody>
          <a:bodyPr/>
          <a:lstStyle/>
          <a:p>
            <a:fld id="{D6395C4F-B36B-415F-A7AD-9DB6B1418C37}" type="datetimeFigureOut">
              <a:rPr lang="en-US" smtClean="0"/>
              <a:t>12/17/2024</a:t>
            </a:fld>
            <a:endParaRPr lang="en-US"/>
          </a:p>
        </p:txBody>
      </p:sp>
      <p:sp>
        <p:nvSpPr>
          <p:cNvPr id="5" name="Footer Placeholder 4">
            <a:extLst>
              <a:ext uri="{FF2B5EF4-FFF2-40B4-BE49-F238E27FC236}">
                <a16:creationId xmlns:a16="http://schemas.microsoft.com/office/drawing/2014/main" id="{26299934-B099-4339-B5F5-CFBBF8A3E8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66DB4F-EA0F-45B6-9361-D58BC1E33677}"/>
              </a:ext>
            </a:extLst>
          </p:cNvPr>
          <p:cNvSpPr>
            <a:spLocks noGrp="1"/>
          </p:cNvSpPr>
          <p:nvPr>
            <p:ph type="sldNum" sz="quarter" idx="12"/>
          </p:nvPr>
        </p:nvSpPr>
        <p:spPr/>
        <p:txBody>
          <a:bodyPr/>
          <a:lstStyle/>
          <a:p>
            <a:fld id="{A7493733-E57F-4745-B77F-E5AE26E27473}" type="slidenum">
              <a:rPr lang="en-US" smtClean="0"/>
              <a:t>‹#›</a:t>
            </a:fld>
            <a:endParaRPr lang="en-US"/>
          </a:p>
        </p:txBody>
      </p:sp>
    </p:spTree>
    <p:extLst>
      <p:ext uri="{BB962C8B-B14F-4D97-AF65-F5344CB8AC3E}">
        <p14:creationId xmlns:p14="http://schemas.microsoft.com/office/powerpoint/2010/main" val="1870884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71B56BE-624A-4B64-9C3B-940A974A31BF}" type="datetimeFigureOut">
              <a:rPr lang="en-US" smtClean="0"/>
              <a:t>12/17/2024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373509240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1B56BE-624A-4B64-9C3B-940A974A31BF}" type="datetimeFigureOut">
              <a:rPr lang="en-US" smtClean="0"/>
              <a:t>12/17/2024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4177263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71B56BE-624A-4B64-9C3B-940A974A31BF}" type="datetimeFigureOut">
              <a:rPr lang="en-US" smtClean="0"/>
              <a:t>12/17/2024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977813244"/>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71B56BE-624A-4B64-9C3B-940A974A31BF}" type="datetimeFigureOut">
              <a:rPr lang="en-US" smtClean="0"/>
              <a:t>12/17/2024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2599514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E71B56BE-624A-4B64-9C3B-940A974A31BF}" type="datetimeFigureOut">
              <a:rPr lang="en-US" smtClean="0"/>
              <a:t>12/17/2024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8278464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1B56BE-624A-4B64-9C3B-940A974A31BF}" type="datetimeFigureOut">
              <a:rPr lang="en-US" smtClean="0"/>
              <a:t>12/17/2024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3367923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1B56BE-624A-4B64-9C3B-940A974A31BF}" type="datetimeFigureOut">
              <a:rPr lang="en-US" smtClean="0"/>
              <a:t>12/17/2024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8279506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71B56BE-624A-4B64-9C3B-940A974A31BF}" type="datetimeFigureOut">
              <a:rPr lang="en-US" smtClean="0"/>
              <a:t>12/17/2024</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4219861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71B56BE-624A-4B64-9C3B-940A974A31BF}" type="datetimeFigureOut">
              <a:rPr lang="en-US" smtClean="0"/>
              <a:t>12/17/2024</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6114718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1B56BE-624A-4B64-9C3B-940A974A31BF}" type="datetimeFigureOut">
              <a:rPr lang="en-US" smtClean="0"/>
              <a:t>12/17/2024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16916260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1B56BE-624A-4B64-9C3B-940A974A31BF}" type="datetimeFigureOut">
              <a:rPr lang="en-US" smtClean="0"/>
              <a:t>12/17/2024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2912709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43CDFC-375A-4C4B-9A0D-AD52468502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5B98F3-FC5F-4A34-B0A6-CD5F48E9E5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9DED29-46A9-4FFE-B109-47663AC9A4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395C4F-B36B-415F-A7AD-9DB6B1418C37}" type="datetimeFigureOut">
              <a:rPr lang="en-US" smtClean="0"/>
              <a:t>12/17/2024</a:t>
            </a:fld>
            <a:endParaRPr lang="en-US"/>
          </a:p>
        </p:txBody>
      </p:sp>
      <p:sp>
        <p:nvSpPr>
          <p:cNvPr id="5" name="Footer Placeholder 4">
            <a:extLst>
              <a:ext uri="{FF2B5EF4-FFF2-40B4-BE49-F238E27FC236}">
                <a16:creationId xmlns:a16="http://schemas.microsoft.com/office/drawing/2014/main" id="{C1FEA204-24C0-4036-A205-0A5762E925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C27C55-B0A3-447F-A624-56C476CA42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493733-E57F-4745-B77F-E5AE26E27473}" type="slidenum">
              <a:rPr lang="en-US" smtClean="0"/>
              <a:t>‹#›</a:t>
            </a:fld>
            <a:endParaRPr lang="en-US"/>
          </a:p>
        </p:txBody>
      </p:sp>
    </p:spTree>
    <p:extLst>
      <p:ext uri="{BB962C8B-B14F-4D97-AF65-F5344CB8AC3E}">
        <p14:creationId xmlns:p14="http://schemas.microsoft.com/office/powerpoint/2010/main" val="2768585075"/>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71B56BE-624A-4B64-9C3B-940A974A31BF}" type="datetimeFigureOut">
              <a:rPr lang="en-US" smtClean="0"/>
              <a:t>12/17/2024</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36CD995C-22B0-4CDA-991E-B9ED335A84B6}" type="slidenum">
              <a:rPr lang="en-US" smtClean="0"/>
              <a:t>‹#›</a:t>
            </a:fld>
            <a:endParaRPr lang="en-US"/>
          </a:p>
        </p:txBody>
      </p:sp>
    </p:spTree>
    <p:extLst>
      <p:ext uri="{BB962C8B-B14F-4D97-AF65-F5344CB8AC3E}">
        <p14:creationId xmlns:p14="http://schemas.microsoft.com/office/powerpoint/2010/main" val="1608115832"/>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freestock.com/free-videos/suburban-neighborhood-3938993"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freestock.com/free-videos/suburban-neighborhood-3938993"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hyperlink" Target="https://ruloedlp.blogspot.com/" TargetMode="Externa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ixabay.com/en/question-mark-why-question-1829459/"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freepngimg.com/png/25333-world-wide-web-image"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hyperlink" Target="http://www.ntc.org.np/" TargetMode="Externa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hyperlink" Target="http://tuservicescommision.edu.np/notice.html" TargetMode="Externa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google.com/search?q=pizza" TargetMode="External"/><Relationship Id="rId2" Type="http://schemas.openxmlformats.org/officeDocument/2006/relationships/hyperlink" Target="https://www.google.com/" TargetMode="External"/><Relationship Id="rId1" Type="http://schemas.openxmlformats.org/officeDocument/2006/relationships/slideLayout" Target="../slideLayouts/slideLayout2.xml"/><Relationship Id="rId4" Type="http://schemas.openxmlformats.org/officeDocument/2006/relationships/hyperlink" Target="http://www.google.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fontScale="90000"/>
          </a:bodyPr>
          <a:lstStyle/>
          <a:p>
            <a:r>
              <a:rPr lang="en-US" b="1" dirty="0"/>
              <a:t>UNIT 1</a:t>
            </a:r>
            <a:br>
              <a:rPr lang="en-US" b="1" dirty="0"/>
            </a:br>
            <a:r>
              <a:rPr lang="en-US" b="1" dirty="0"/>
              <a:t>Introduction to Web Technology</a:t>
            </a:r>
          </a:p>
        </p:txBody>
      </p:sp>
      <p:sp>
        <p:nvSpPr>
          <p:cNvPr id="3" name="Subtitle 2"/>
          <p:cNvSpPr>
            <a:spLocks noGrp="1"/>
          </p:cNvSpPr>
          <p:nvPr>
            <p:ph type="subTitle" idx="1"/>
          </p:nvPr>
        </p:nvSpPr>
        <p:spPr>
          <a:xfrm>
            <a:off x="2387600" y="5024438"/>
            <a:ext cx="9144000" cy="1655762"/>
          </a:xfrm>
        </p:spPr>
        <p:txBody>
          <a:bodyPr/>
          <a:lstStyle/>
          <a:p>
            <a:pPr algn="r"/>
            <a:r>
              <a:rPr lang="en-US" b="1" dirty="0"/>
              <a:t>Prepared by:</a:t>
            </a:r>
          </a:p>
          <a:p>
            <a:pPr algn="r"/>
            <a:r>
              <a:rPr lang="en-US" b="1" dirty="0">
                <a:solidFill>
                  <a:schemeClr val="tx1">
                    <a:lumMod val="75000"/>
                    <a:lumOff val="25000"/>
                  </a:schemeClr>
                </a:solidFill>
              </a:rPr>
              <a:t>Yachu Shakya</a:t>
            </a:r>
          </a:p>
        </p:txBody>
      </p:sp>
    </p:spTree>
    <p:extLst>
      <p:ext uri="{BB962C8B-B14F-4D97-AF65-F5344CB8AC3E}">
        <p14:creationId xmlns:p14="http://schemas.microsoft.com/office/powerpoint/2010/main" val="3625018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 to Web Technology</a:t>
            </a:r>
          </a:p>
        </p:txBody>
      </p:sp>
      <p:sp>
        <p:nvSpPr>
          <p:cNvPr id="3" name="Content Placeholder 2"/>
          <p:cNvSpPr>
            <a:spLocks noGrp="1"/>
          </p:cNvSpPr>
          <p:nvPr>
            <p:ph idx="1"/>
          </p:nvPr>
        </p:nvSpPr>
        <p:spPr>
          <a:blipFill>
            <a:blip r:embed="rId4">
              <a:alphaModFix amt="20000"/>
            </a:blip>
            <a:tile tx="0" ty="0" sx="100000" sy="100000" flip="none" algn="tl"/>
          </a:blipFill>
        </p:spPr>
        <p:txBody>
          <a:bodyPr/>
          <a:lstStyle/>
          <a:p>
            <a:pPr algn="just"/>
            <a:r>
              <a:rPr lang="en-US" dirty="0"/>
              <a:t>Web technology refers to the collection of tools, technologies, protocols, and software that are used to create, publish, and maintain websites and web-based applications.</a:t>
            </a:r>
          </a:p>
          <a:p>
            <a:pPr algn="just"/>
            <a:r>
              <a:rPr lang="en-US" dirty="0"/>
              <a:t>Web technologies related to the interface between web servers and their clients. This information includes markup languages, programming interfaces and languages, and standards for document identification and display. In general web technology incorporates tools and techniques for web development. </a:t>
            </a:r>
          </a:p>
          <a:p>
            <a:pPr algn="just"/>
            <a:endParaRPr lang="en-US" dirty="0"/>
          </a:p>
        </p:txBody>
      </p:sp>
    </p:spTree>
    <p:extLst>
      <p:ext uri="{BB962C8B-B14F-4D97-AF65-F5344CB8AC3E}">
        <p14:creationId xmlns:p14="http://schemas.microsoft.com/office/powerpoint/2010/main" val="1355435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extLst>
              <a:ext uri="{837473B0-CC2E-450A-ABE3-18F120FF3D39}">
                <a1611:picAttrSrcUrl xmlns:a1611="http://schemas.microsoft.com/office/drawing/2016/11/main" r:id="rId3"/>
              </a:ext>
            </a:extLst>
          </a:blip>
          <a:srcRect/>
          <a:stretch>
            <a:fillRect l="-4000" r="-4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Internet</a:t>
            </a:r>
          </a:p>
        </p:txBody>
      </p:sp>
      <p:sp>
        <p:nvSpPr>
          <p:cNvPr id="3" name="Content Placeholder 2"/>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pPr algn="just"/>
            <a:r>
              <a:rPr lang="en-US" dirty="0"/>
              <a:t>Network of network, technology where the computing devices globally located are interconnected to each other through some medium in order to communicate, share and control.</a:t>
            </a:r>
          </a:p>
          <a:p>
            <a:pPr algn="just"/>
            <a:r>
              <a:rPr lang="en-US" dirty="0"/>
              <a:t>It uses TCP/IP protocol</a:t>
            </a:r>
          </a:p>
          <a:p>
            <a:pPr algn="just"/>
            <a:r>
              <a:rPr lang="en-US" dirty="0"/>
              <a:t>TCP: Transmission control protocol, is connection oriented protocol that guarantees delivery of data packets in accurate form.</a:t>
            </a:r>
          </a:p>
          <a:p>
            <a:pPr algn="just"/>
            <a:r>
              <a:rPr lang="en-US" dirty="0"/>
              <a:t>IP: Internet Protocol, is set of standards addressing and routing data on internet.</a:t>
            </a:r>
          </a:p>
        </p:txBody>
      </p:sp>
    </p:spTree>
    <p:extLst>
      <p:ext uri="{BB962C8B-B14F-4D97-AF65-F5344CB8AC3E}">
        <p14:creationId xmlns:p14="http://schemas.microsoft.com/office/powerpoint/2010/main" val="2218051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Intranet</a:t>
            </a:r>
            <a:endParaRPr lang="en-US" dirty="0"/>
          </a:p>
        </p:txBody>
      </p:sp>
      <p:sp>
        <p:nvSpPr>
          <p:cNvPr id="3" name="Content Placeholder 2"/>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pPr algn="just"/>
            <a:r>
              <a:rPr lang="en-US" b="0" i="0" dirty="0">
                <a:solidFill>
                  <a:srgbClr val="090B0E"/>
                </a:solidFill>
                <a:effectLst/>
              </a:rPr>
              <a:t>An intranet is an internal communications and collaboration platform used by companies of all sizes and industries. It's a secure network for a company's employees and trusted partners to share information, communicate well, and work together effectively.</a:t>
            </a:r>
          </a:p>
          <a:p>
            <a:pPr algn="just"/>
            <a:endParaRPr lang="en-US" dirty="0"/>
          </a:p>
        </p:txBody>
      </p:sp>
      <p:pic>
        <p:nvPicPr>
          <p:cNvPr id="1030" name="Picture 6" descr="Intranet - Wikipedia">
            <a:extLst>
              <a:ext uri="{FF2B5EF4-FFF2-40B4-BE49-F238E27FC236}">
                <a16:creationId xmlns:a16="http://schemas.microsoft.com/office/drawing/2014/main" id="{E1FB2BCE-CF26-423A-AC3D-745AB26D58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3353" y="3659547"/>
            <a:ext cx="4086372" cy="2652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739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extLst>
              <a:ext uri="{837473B0-CC2E-450A-ABE3-18F120FF3D39}">
                <a1611:picAttrSrcUrl xmlns:a1611="http://schemas.microsoft.com/office/drawing/2016/11/main" r:id="rId3"/>
              </a:ext>
            </a:extLst>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Questions?</a:t>
            </a:r>
          </a:p>
        </p:txBody>
      </p:sp>
      <p:sp>
        <p:nvSpPr>
          <p:cNvPr id="3" name="Content Placeholder 2"/>
          <p:cNvSpPr>
            <a:spLocks noGrp="1"/>
          </p:cNvSpPr>
          <p:nvPr>
            <p:ph idx="1"/>
          </p:nvPr>
        </p:nvSpPr>
        <p:spPr/>
        <p:txBody>
          <a:bodyPr>
            <a:normAutofit/>
          </a:bodyPr>
          <a:lstStyle/>
          <a:p>
            <a:pPr algn="just"/>
            <a:r>
              <a:rPr lang="en-US" sz="2800" dirty="0">
                <a:latin typeface="Calibri" panose="020F0502020204030204" pitchFamily="34" charset="0"/>
                <a:ea typeface="Calibri" panose="020F0502020204030204" pitchFamily="34" charset="0"/>
                <a:cs typeface="Calibri" panose="020F0502020204030204" pitchFamily="34" charset="0"/>
              </a:rPr>
              <a:t>Differentiate between Internet Vs Intranet.</a:t>
            </a:r>
          </a:p>
        </p:txBody>
      </p:sp>
    </p:spTree>
    <p:extLst>
      <p:ext uri="{BB962C8B-B14F-4D97-AF65-F5344CB8AC3E}">
        <p14:creationId xmlns:p14="http://schemas.microsoft.com/office/powerpoint/2010/main" val="3237329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extLst>
              <a:ext uri="{837473B0-CC2E-450A-ABE3-18F120FF3D39}">
                <a1611:picAttrSrcUrl xmlns:a1611="http://schemas.microsoft.com/office/drawing/2016/11/main" r:id="rId3"/>
              </a:ext>
            </a:extLst>
          </a:blip>
          <a:srcRect/>
          <a:stretch>
            <a:fillRect l="5000" t="-32000" b="-3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90AD-F0E9-55D2-32DA-5BC2EA06916C}"/>
              </a:ext>
            </a:extLst>
          </p:cNvPr>
          <p:cNvSpPr>
            <a:spLocks noGrp="1"/>
          </p:cNvSpPr>
          <p:nvPr>
            <p:ph type="title"/>
          </p:nvPr>
        </p:nvSpPr>
        <p:spPr/>
        <p:txBody>
          <a:bodyPr/>
          <a:lstStyle/>
          <a:p>
            <a:pPr algn="ctr"/>
            <a:r>
              <a:rPr lang="en-US" b="1" dirty="0"/>
              <a:t>World wide web</a:t>
            </a:r>
          </a:p>
        </p:txBody>
      </p:sp>
      <p:sp>
        <p:nvSpPr>
          <p:cNvPr id="3" name="Content Placeholder 2">
            <a:extLst>
              <a:ext uri="{FF2B5EF4-FFF2-40B4-BE49-F238E27FC236}">
                <a16:creationId xmlns:a16="http://schemas.microsoft.com/office/drawing/2014/main" id="{6B913D56-7D46-1758-C9AC-2127077DA0A9}"/>
              </a:ext>
            </a:extLst>
          </p:cNvPr>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fontScale="85000" lnSpcReduction="10000"/>
          </a:bodyPr>
          <a:lstStyle/>
          <a:p>
            <a:r>
              <a:rPr lang="en-US" dirty="0"/>
              <a:t>It is a system of interlinked hypertext documents(called webpages) contained on the Internet.</a:t>
            </a:r>
          </a:p>
          <a:p>
            <a:r>
              <a:rPr lang="en-US" dirty="0"/>
              <a:t>A web page can contain text, graphics, animations, sound and video. All of the web pages maintained by an organization or individual are called a </a:t>
            </a:r>
            <a:r>
              <a:rPr lang="en-US" b="1" dirty="0"/>
              <a:t>web site</a:t>
            </a:r>
            <a:r>
              <a:rPr lang="en-US" dirty="0"/>
              <a:t>.</a:t>
            </a:r>
          </a:p>
          <a:p>
            <a:r>
              <a:rPr lang="en-US" dirty="0"/>
              <a:t>WWW uses Hypertext Transfer Protocol(HTTP) for fetching files (web pages) from internet.</a:t>
            </a:r>
          </a:p>
          <a:p>
            <a:r>
              <a:rPr lang="en-US" b="1" dirty="0"/>
              <a:t>HTTP</a:t>
            </a:r>
            <a:r>
              <a:rPr lang="en-US" dirty="0"/>
              <a:t> is set of rules and standards that transmit requests and information between web browsers and web servers.</a:t>
            </a:r>
          </a:p>
          <a:p>
            <a:r>
              <a:rPr lang="en-US" b="1" dirty="0"/>
              <a:t>Web browser</a:t>
            </a:r>
            <a:r>
              <a:rPr lang="en-US" dirty="0"/>
              <a:t> is a software application used to locate and display web pages. </a:t>
            </a:r>
          </a:p>
          <a:p>
            <a:r>
              <a:rPr lang="en-US" b="1" dirty="0"/>
              <a:t>Web server</a:t>
            </a:r>
            <a:r>
              <a:rPr lang="en-US" dirty="0"/>
              <a:t> is a software application that hosts and delivers web pages according to request of </a:t>
            </a:r>
            <a:r>
              <a:rPr lang="en-US"/>
              <a:t>web client. </a:t>
            </a:r>
            <a:r>
              <a:rPr lang="en-US" dirty="0"/>
              <a:t>Some popular web servers are Apache, IIS( Internet Information Service)</a:t>
            </a:r>
          </a:p>
        </p:txBody>
      </p:sp>
    </p:spTree>
    <p:extLst>
      <p:ext uri="{BB962C8B-B14F-4D97-AF65-F5344CB8AC3E}">
        <p14:creationId xmlns:p14="http://schemas.microsoft.com/office/powerpoint/2010/main" val="3819653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6A8E-0C9C-0226-53AC-FFBA392F1BA5}"/>
              </a:ext>
            </a:extLst>
          </p:cNvPr>
          <p:cNvSpPr>
            <a:spLocks noGrp="1"/>
          </p:cNvSpPr>
          <p:nvPr>
            <p:ph type="title"/>
          </p:nvPr>
        </p:nvSpPr>
        <p:spPr/>
        <p:txBody>
          <a:bodyPr/>
          <a:lstStyle/>
          <a:p>
            <a:r>
              <a:rPr lang="en-US" b="1" dirty="0"/>
              <a:t>How www works?</a:t>
            </a:r>
          </a:p>
        </p:txBody>
      </p:sp>
      <p:pic>
        <p:nvPicPr>
          <p:cNvPr id="5" name="Picture 4">
            <a:extLst>
              <a:ext uri="{FF2B5EF4-FFF2-40B4-BE49-F238E27FC236}">
                <a16:creationId xmlns:a16="http://schemas.microsoft.com/office/drawing/2014/main" id="{AFCDAD26-0062-348B-DA07-D21336615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2211" y="2641830"/>
            <a:ext cx="9789396" cy="3251478"/>
          </a:xfrm>
          <a:prstGeom prst="rect">
            <a:avLst/>
          </a:prstGeom>
        </p:spPr>
      </p:pic>
    </p:spTree>
    <p:extLst>
      <p:ext uri="{BB962C8B-B14F-4D97-AF65-F5344CB8AC3E}">
        <p14:creationId xmlns:p14="http://schemas.microsoft.com/office/powerpoint/2010/main" val="359338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6A8E-0C9C-0226-53AC-FFBA392F1BA5}"/>
              </a:ext>
            </a:extLst>
          </p:cNvPr>
          <p:cNvSpPr>
            <a:spLocks noGrp="1"/>
          </p:cNvSpPr>
          <p:nvPr>
            <p:ph type="title"/>
          </p:nvPr>
        </p:nvSpPr>
        <p:spPr/>
        <p:txBody>
          <a:bodyPr/>
          <a:lstStyle/>
          <a:p>
            <a:r>
              <a:rPr lang="en-US" b="1" dirty="0"/>
              <a:t>How www works?</a:t>
            </a:r>
          </a:p>
        </p:txBody>
      </p:sp>
      <p:sp>
        <p:nvSpPr>
          <p:cNvPr id="3" name="Content Placeholder 2">
            <a:extLst>
              <a:ext uri="{FF2B5EF4-FFF2-40B4-BE49-F238E27FC236}">
                <a16:creationId xmlns:a16="http://schemas.microsoft.com/office/drawing/2014/main" id="{DAF9FBA4-4E7F-1EAF-C24F-AEF5FCD60BBB}"/>
              </a:ext>
            </a:extLst>
          </p:cNvPr>
          <p:cNvSpPr>
            <a:spLocks noGrp="1"/>
          </p:cNvSpPr>
          <p:nvPr>
            <p:ph idx="1"/>
          </p:nvPr>
        </p:nvSpPr>
        <p:spPr>
          <a:xfrm>
            <a:off x="2231136" y="2594611"/>
            <a:ext cx="9528245" cy="4219956"/>
          </a:xfrm>
        </p:spPr>
        <p:txBody>
          <a:bodyPr>
            <a:noAutofit/>
          </a:bodyPr>
          <a:lstStyle/>
          <a:p>
            <a:pPr marL="457200" indent="-457200">
              <a:buClrTx/>
              <a:buFont typeface="+mj-lt"/>
              <a:buAutoNum type="arabicPeriod"/>
            </a:pPr>
            <a:r>
              <a:rPr lang="en-US" sz="2000" dirty="0"/>
              <a:t>User enters the URL( </a:t>
            </a:r>
            <a:r>
              <a:rPr lang="en-US" sz="2000" dirty="0" err="1"/>
              <a:t>Eg.</a:t>
            </a:r>
            <a:r>
              <a:rPr lang="en-US" sz="2000" dirty="0"/>
              <a:t> </a:t>
            </a:r>
            <a:r>
              <a:rPr lang="en-US" sz="2000" dirty="0">
                <a:hlinkClick r:id="rId2"/>
              </a:rPr>
              <a:t>http://www.ntc.org.np</a:t>
            </a:r>
            <a:r>
              <a:rPr lang="en-US" sz="2000" dirty="0"/>
              <a:t>) of the web page in the address bar of web browser.</a:t>
            </a:r>
          </a:p>
          <a:p>
            <a:pPr marL="457200" indent="-457200">
              <a:buClrTx/>
              <a:buFont typeface="+mj-lt"/>
              <a:buAutoNum type="arabicPeriod"/>
            </a:pPr>
            <a:r>
              <a:rPr lang="en-US" sz="2000" dirty="0"/>
              <a:t>Then browser requests the Domain Name Server for the IP address corresponding to </a:t>
            </a:r>
            <a:r>
              <a:rPr lang="en-US" sz="2000" dirty="0">
                <a:hlinkClick r:id="rId2"/>
              </a:rPr>
              <a:t>www.ntc.org.np</a:t>
            </a:r>
            <a:r>
              <a:rPr lang="en-US" sz="2000" dirty="0"/>
              <a:t>.</a:t>
            </a:r>
          </a:p>
          <a:p>
            <a:pPr marL="457200" indent="-457200">
              <a:buClrTx/>
              <a:buFont typeface="+mj-lt"/>
              <a:buAutoNum type="arabicPeriod"/>
            </a:pPr>
            <a:r>
              <a:rPr lang="en-US" sz="2000" dirty="0"/>
              <a:t>After receiving IP address, browser sends the request for web page to the web server using HTTP protocol which specifies the way the browser and web server communicates</a:t>
            </a:r>
          </a:p>
          <a:p>
            <a:pPr marL="457200" indent="-457200">
              <a:buClrTx/>
              <a:buFont typeface="+mj-lt"/>
              <a:buAutoNum type="arabicPeriod"/>
            </a:pPr>
            <a:r>
              <a:rPr lang="en-US" sz="2000" dirty="0"/>
              <a:t>The web server receives request using HTTP protocol </a:t>
            </a:r>
            <a:r>
              <a:rPr lang="en-US" sz="2000"/>
              <a:t>and checks </a:t>
            </a:r>
            <a:r>
              <a:rPr lang="en-US" sz="2000" dirty="0"/>
              <a:t>its search for the requested web page. If found it returns it back to the web browser and close the HTTP connection.</a:t>
            </a:r>
          </a:p>
          <a:p>
            <a:pPr marL="457200" indent="-457200">
              <a:buClrTx/>
              <a:buFont typeface="+mj-lt"/>
              <a:buAutoNum type="arabicPeriod"/>
            </a:pPr>
            <a:r>
              <a:rPr lang="en-US" sz="2000" dirty="0"/>
              <a:t>Now the web browser receives the web pages, It interprets it and display the contents of web pages in web browser’s window.</a:t>
            </a:r>
          </a:p>
        </p:txBody>
      </p:sp>
    </p:spTree>
    <p:extLst>
      <p:ext uri="{BB962C8B-B14F-4D97-AF65-F5344CB8AC3E}">
        <p14:creationId xmlns:p14="http://schemas.microsoft.com/office/powerpoint/2010/main" val="1712536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page vs Web site</a:t>
            </a:r>
          </a:p>
        </p:txBody>
      </p:sp>
      <p:sp>
        <p:nvSpPr>
          <p:cNvPr id="3" name="Content Placeholder 2"/>
          <p:cNvSpPr>
            <a:spLocks noGrp="1"/>
          </p:cNvSpPr>
          <p:nvPr>
            <p:ph idx="1"/>
          </p:nvPr>
        </p:nvSpPr>
        <p:spPr/>
        <p:txBody>
          <a:bodyPr/>
          <a:lstStyle/>
          <a:p>
            <a:pPr algn="just"/>
            <a:r>
              <a:rPr lang="en-US" dirty="0"/>
              <a:t>A web page is a single page of content that is displayed on the internet, usually accessed through a web browser. It can contain various types of content, such as text, images, videos, and interactive features.</a:t>
            </a:r>
          </a:p>
          <a:p>
            <a:pPr algn="just"/>
            <a:r>
              <a:rPr lang="en-US" dirty="0"/>
              <a:t>A web site, on the other hand, is a collection of related web pages that are interconnected and share a common domain name. A website can contain multiple web pages, each with its own unique content, but they are all part of the same website.</a:t>
            </a:r>
          </a:p>
          <a:p>
            <a:pPr algn="just"/>
            <a:r>
              <a:rPr lang="en-US" dirty="0"/>
              <a:t>In simpler terms, a web page is like a single page in a book, while a website is like the entire book that contains multiple pages.</a:t>
            </a:r>
          </a:p>
        </p:txBody>
      </p:sp>
    </p:spTree>
    <p:extLst>
      <p:ext uri="{BB962C8B-B14F-4D97-AF65-F5344CB8AC3E}">
        <p14:creationId xmlns:p14="http://schemas.microsoft.com/office/powerpoint/2010/main" val="2767859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Static and Dynamic Webpage</a:t>
            </a:r>
          </a:p>
        </p:txBody>
      </p:sp>
      <p:sp>
        <p:nvSpPr>
          <p:cNvPr id="3" name="Content Placeholder 2"/>
          <p:cNvSpPr>
            <a:spLocks noGrp="1"/>
          </p:cNvSpPr>
          <p:nvPr>
            <p:ph idx="1"/>
          </p:nvPr>
        </p:nvSpPr>
        <p:spPr/>
        <p:txBody>
          <a:bodyPr>
            <a:normAutofit fontScale="92500" lnSpcReduction="10000"/>
          </a:bodyPr>
          <a:lstStyle/>
          <a:p>
            <a:pPr algn="just"/>
            <a:r>
              <a:rPr lang="en-US" dirty="0"/>
              <a:t>A static webpage is a webpage that has a fixed content, meaning that the content of the webpage remains the same until it is manually updated. </a:t>
            </a:r>
          </a:p>
          <a:p>
            <a:pPr algn="just"/>
            <a:r>
              <a:rPr lang="en-US" dirty="0"/>
              <a:t>The HTML code for a static webpage is created and saved on a server, and when a user accesses the webpage, they are presented with the same content every time. </a:t>
            </a:r>
          </a:p>
          <a:p>
            <a:pPr algn="just"/>
            <a:r>
              <a:rPr lang="en-US" dirty="0"/>
              <a:t>Examples of static webpages include simple websites that provide information about a company, its products or services, and contact information.</a:t>
            </a:r>
          </a:p>
          <a:p>
            <a:pPr algn="just"/>
            <a:r>
              <a:rPr lang="en-US" dirty="0"/>
              <a:t>A dynamic webpage, on the other hand, is a webpage that changes based on user input or other variables. The content of a dynamic webpage is generated on the server-side in real-time and is often customized for each user.</a:t>
            </a:r>
          </a:p>
        </p:txBody>
      </p:sp>
    </p:spTree>
    <p:extLst>
      <p:ext uri="{BB962C8B-B14F-4D97-AF65-F5344CB8AC3E}">
        <p14:creationId xmlns:p14="http://schemas.microsoft.com/office/powerpoint/2010/main" val="2976515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Static and Dynamic webpage</a:t>
            </a:r>
          </a:p>
        </p:txBody>
      </p:sp>
      <p:sp>
        <p:nvSpPr>
          <p:cNvPr id="3" name="Content Placeholder 2"/>
          <p:cNvSpPr>
            <a:spLocks noGrp="1"/>
          </p:cNvSpPr>
          <p:nvPr>
            <p:ph idx="1"/>
          </p:nvPr>
        </p:nvSpPr>
        <p:spPr/>
        <p:txBody>
          <a:bodyPr>
            <a:normAutofit lnSpcReduction="10000"/>
          </a:bodyPr>
          <a:lstStyle/>
          <a:p>
            <a:pPr algn="just"/>
            <a:r>
              <a:rPr lang="en-US" dirty="0"/>
              <a:t> Dynamic webpages can use a variety of programming languages, such as PHP, Python, or Ruby, to access databases, run scripts, or retrieve information from APIs. </a:t>
            </a:r>
          </a:p>
          <a:p>
            <a:pPr algn="just"/>
            <a:r>
              <a:rPr lang="en-US" dirty="0"/>
              <a:t>Examples of dynamic webpages include social media sites, e-commerce sites, online banking sites, and search engines.</a:t>
            </a:r>
          </a:p>
          <a:p>
            <a:pPr algn="just"/>
            <a:r>
              <a:rPr lang="en-US" dirty="0"/>
              <a:t>Dynamic webpages often have interactive features, such as forms, buttons, and menus, that allow users to input data or make selections that trigger changes in the webpage's content. </a:t>
            </a:r>
          </a:p>
          <a:p>
            <a:pPr algn="just"/>
            <a:r>
              <a:rPr lang="en-US" dirty="0"/>
              <a:t>Additionally, dynamic webpages can be updated more easily than static webpages since the content is generated automatically based on certain criteria, such as user preferences, device type, or location.</a:t>
            </a:r>
          </a:p>
          <a:p>
            <a:pPr algn="just"/>
            <a:endParaRPr lang="en-US" dirty="0"/>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2101905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Static and dynamic webpage</a:t>
            </a:r>
          </a:p>
        </p:txBody>
      </p:sp>
      <p:pic>
        <p:nvPicPr>
          <p:cNvPr id="3074" name="Picture 2" descr="Difference Between Static and Dynamic Website – Complete Guid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0500" y="2013908"/>
            <a:ext cx="8093635" cy="3934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1058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F24C1-69FE-CC5D-E421-319B271E0B67}"/>
              </a:ext>
            </a:extLst>
          </p:cNvPr>
          <p:cNvSpPr>
            <a:spLocks noGrp="1"/>
          </p:cNvSpPr>
          <p:nvPr>
            <p:ph type="title"/>
          </p:nvPr>
        </p:nvSpPr>
        <p:spPr/>
        <p:txBody>
          <a:bodyPr/>
          <a:lstStyle/>
          <a:p>
            <a:r>
              <a:rPr lang="en-US" b="1" dirty="0"/>
              <a:t>WWW </a:t>
            </a:r>
            <a:r>
              <a:rPr lang="en-US" b="1" dirty="0" err="1"/>
              <a:t>Evolultion</a:t>
            </a:r>
            <a:endParaRPr lang="en-US" b="1" dirty="0"/>
          </a:p>
        </p:txBody>
      </p:sp>
      <p:pic>
        <p:nvPicPr>
          <p:cNvPr id="5" name="Content Placeholder 4">
            <a:extLst>
              <a:ext uri="{FF2B5EF4-FFF2-40B4-BE49-F238E27FC236}">
                <a16:creationId xmlns:a16="http://schemas.microsoft.com/office/drawing/2014/main" id="{AFC63E16-679D-1BCD-DC3E-1AC22B6E32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62666" y="2520438"/>
            <a:ext cx="5066668" cy="3990002"/>
          </a:xfrm>
        </p:spPr>
      </p:pic>
    </p:spTree>
    <p:extLst>
      <p:ext uri="{BB962C8B-B14F-4D97-AF65-F5344CB8AC3E}">
        <p14:creationId xmlns:p14="http://schemas.microsoft.com/office/powerpoint/2010/main" val="2117038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1.0</a:t>
            </a:r>
          </a:p>
        </p:txBody>
      </p:sp>
      <p:sp>
        <p:nvSpPr>
          <p:cNvPr id="3" name="Content Placeholder 2"/>
          <p:cNvSpPr>
            <a:spLocks noGrp="1"/>
          </p:cNvSpPr>
          <p:nvPr>
            <p:ph idx="1"/>
          </p:nvPr>
        </p:nvSpPr>
        <p:spPr/>
        <p:txBody>
          <a:bodyPr/>
          <a:lstStyle/>
          <a:p>
            <a:pPr algn="just"/>
            <a:r>
              <a:rPr lang="en-US" dirty="0"/>
              <a:t>Web 1.0 (the static web) refers to the first generation of the web, which was largely a one-way communication model. Web 1.0 was characterized by static HTML pages that provided users with basic information and lacked interactivity. </a:t>
            </a:r>
          </a:p>
          <a:p>
            <a:pPr algn="just"/>
            <a:r>
              <a:rPr lang="en-US" dirty="0"/>
              <a:t>Websites were typically created by businesses and organizations to provide information to their customers or users. There was no social interaction, no user-generated content, and no dynamic web applications. This era of the web lasted from the early 1990s until the mid-2000s.</a:t>
            </a:r>
          </a:p>
        </p:txBody>
      </p:sp>
    </p:spTree>
    <p:extLst>
      <p:ext uri="{BB962C8B-B14F-4D97-AF65-F5344CB8AC3E}">
        <p14:creationId xmlns:p14="http://schemas.microsoft.com/office/powerpoint/2010/main" val="2065250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2.0</a:t>
            </a:r>
          </a:p>
        </p:txBody>
      </p:sp>
      <p:sp>
        <p:nvSpPr>
          <p:cNvPr id="3" name="Content Placeholder 2"/>
          <p:cNvSpPr>
            <a:spLocks noGrp="1"/>
          </p:cNvSpPr>
          <p:nvPr>
            <p:ph idx="1"/>
          </p:nvPr>
        </p:nvSpPr>
        <p:spPr/>
        <p:txBody>
          <a:bodyPr/>
          <a:lstStyle/>
          <a:p>
            <a:pPr algn="just"/>
            <a:r>
              <a:rPr lang="en-US" dirty="0"/>
              <a:t>Web 2.0 (the social web) represents the second generation of the web, which emerged in the mid-2000s. It was marked by the rise of user-generated content, social media, and dynamic web applications. Web 2.0 allowed for two-way communication between website owners and users, enabling users to contribute their own content and interact with others. </a:t>
            </a:r>
          </a:p>
          <a:p>
            <a:pPr algn="just"/>
            <a:r>
              <a:rPr lang="en-US" dirty="0"/>
              <a:t>The focus shifted from static web pages to dynamic web applications, such as blogs, wikis, and social media platforms. Web 2.0 made the web more accessible, interactive, and collaborative. It also gave rise to new business models, such as online advertising and e-commerce.</a:t>
            </a:r>
          </a:p>
        </p:txBody>
      </p:sp>
    </p:spTree>
    <p:extLst>
      <p:ext uri="{BB962C8B-B14F-4D97-AF65-F5344CB8AC3E}">
        <p14:creationId xmlns:p14="http://schemas.microsoft.com/office/powerpoint/2010/main" val="1812015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3.0</a:t>
            </a:r>
          </a:p>
        </p:txBody>
      </p:sp>
      <p:sp>
        <p:nvSpPr>
          <p:cNvPr id="3" name="Content Placeholder 2"/>
          <p:cNvSpPr>
            <a:spLocks noGrp="1"/>
          </p:cNvSpPr>
          <p:nvPr>
            <p:ph idx="1"/>
          </p:nvPr>
        </p:nvSpPr>
        <p:spPr/>
        <p:txBody>
          <a:bodyPr/>
          <a:lstStyle/>
          <a:p>
            <a:pPr algn="just"/>
            <a:r>
              <a:rPr lang="en-US" dirty="0"/>
              <a:t>Web 3.0 (the semantic web) is the third generation of the web, which is still emerging. Web 3.0 is characterized by intelligent and personalized experiences powered by machine learning and artificial intelligence. The focus is on creating a more intelligent and interconnected web that is capable of understanding and processing information like a human being. </a:t>
            </a:r>
          </a:p>
          <a:p>
            <a:pPr algn="just"/>
            <a:r>
              <a:rPr lang="en-US" dirty="0"/>
              <a:t>Web 3.0 aims to provide users with more personalized experiences and to make it easier to access and use information on the web. It also aims to provide a more secure and decentralized web by using technologies such as </a:t>
            </a:r>
            <a:r>
              <a:rPr lang="en-US" dirty="0" err="1"/>
              <a:t>blockchain</a:t>
            </a:r>
            <a:r>
              <a:rPr lang="en-US" dirty="0"/>
              <a:t>.</a:t>
            </a:r>
          </a:p>
        </p:txBody>
      </p:sp>
    </p:spTree>
    <p:extLst>
      <p:ext uri="{BB962C8B-B14F-4D97-AF65-F5344CB8AC3E}">
        <p14:creationId xmlns:p14="http://schemas.microsoft.com/office/powerpoint/2010/main" val="565675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Differentiate between static and dynamic webpage.</a:t>
            </a:r>
          </a:p>
          <a:p>
            <a:r>
              <a:rPr lang="en-US" dirty="0"/>
              <a:t>Define web 1.0. web 2.0, web 3.0 with proper examples.</a:t>
            </a:r>
          </a:p>
        </p:txBody>
      </p:sp>
    </p:spTree>
    <p:extLst>
      <p:ext uri="{BB962C8B-B14F-4D97-AF65-F5344CB8AC3E}">
        <p14:creationId xmlns:p14="http://schemas.microsoft.com/office/powerpoint/2010/main" val="2485968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Iceberg of Web</a:t>
            </a:r>
          </a:p>
        </p:txBody>
      </p:sp>
      <p:pic>
        <p:nvPicPr>
          <p:cNvPr id="1026" name="Picture 2" descr="The deep web, the dark web, and simple things | by Smart Cosmos - powered  by Smartrac | Medium"/>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3544964" y="1825625"/>
            <a:ext cx="5102071"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4974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9249C-62F5-BD2A-2763-E92790C0455B}"/>
              </a:ext>
            </a:extLst>
          </p:cNvPr>
          <p:cNvSpPr>
            <a:spLocks noGrp="1"/>
          </p:cNvSpPr>
          <p:nvPr>
            <p:ph type="title"/>
          </p:nvPr>
        </p:nvSpPr>
        <p:spPr/>
        <p:txBody>
          <a:bodyPr/>
          <a:lstStyle/>
          <a:p>
            <a:r>
              <a:rPr lang="en-US" b="1" dirty="0"/>
              <a:t>Uniform Resource Locater(URL)</a:t>
            </a:r>
          </a:p>
        </p:txBody>
      </p:sp>
      <p:sp>
        <p:nvSpPr>
          <p:cNvPr id="3" name="Content Placeholder 2">
            <a:extLst>
              <a:ext uri="{FF2B5EF4-FFF2-40B4-BE49-F238E27FC236}">
                <a16:creationId xmlns:a16="http://schemas.microsoft.com/office/drawing/2014/main" id="{07791E89-C7F0-925D-1090-DDBF7BEE1F8D}"/>
              </a:ext>
            </a:extLst>
          </p:cNvPr>
          <p:cNvSpPr>
            <a:spLocks noGrp="1"/>
          </p:cNvSpPr>
          <p:nvPr>
            <p:ph idx="1"/>
          </p:nvPr>
        </p:nvSpPr>
        <p:spPr/>
        <p:txBody>
          <a:bodyPr/>
          <a:lstStyle/>
          <a:p>
            <a:r>
              <a:rPr lang="en-US" dirty="0"/>
              <a:t>URL is an addressing scheme used by web browsers to locate documents(web pages) and other resources on the World Wide Web.</a:t>
            </a:r>
          </a:p>
          <a:p>
            <a:r>
              <a:rPr lang="en-US" dirty="0"/>
              <a:t>For example: </a:t>
            </a:r>
            <a:r>
              <a:rPr lang="en-US" dirty="0">
                <a:hlinkClick r:id="rId2"/>
              </a:rPr>
              <a:t>http://tuservicescommision.edu.np/notice.html</a:t>
            </a:r>
            <a:endParaRPr lang="en-US" dirty="0"/>
          </a:p>
          <a:p>
            <a:r>
              <a:rPr lang="en-US" dirty="0"/>
              <a:t>http is protocol</a:t>
            </a:r>
          </a:p>
          <a:p>
            <a:r>
              <a:rPr lang="en-US" dirty="0"/>
              <a:t>Second part is host name (tuservicescommision.edu.np)</a:t>
            </a:r>
          </a:p>
          <a:p>
            <a:r>
              <a:rPr lang="en-US" dirty="0"/>
              <a:t>Notice.html resource name.</a:t>
            </a:r>
          </a:p>
        </p:txBody>
      </p:sp>
      <p:pic>
        <p:nvPicPr>
          <p:cNvPr id="5" name="Picture 4">
            <a:extLst>
              <a:ext uri="{FF2B5EF4-FFF2-40B4-BE49-F238E27FC236}">
                <a16:creationId xmlns:a16="http://schemas.microsoft.com/office/drawing/2014/main" id="{2698B808-21DE-B95C-119A-697FCD213A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7468" y="5057221"/>
            <a:ext cx="5425358" cy="1085072"/>
          </a:xfrm>
          <a:prstGeom prst="rect">
            <a:avLst/>
          </a:prstGeom>
        </p:spPr>
      </p:pic>
    </p:spTree>
    <p:extLst>
      <p:ext uri="{BB962C8B-B14F-4D97-AF65-F5344CB8AC3E}">
        <p14:creationId xmlns:p14="http://schemas.microsoft.com/office/powerpoint/2010/main" val="3496570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a:t>
            </a:r>
          </a:p>
        </p:txBody>
      </p:sp>
      <p:sp>
        <p:nvSpPr>
          <p:cNvPr id="3" name="Content Placeholder 2"/>
          <p:cNvSpPr>
            <a:spLocks noGrp="1"/>
          </p:cNvSpPr>
          <p:nvPr>
            <p:ph idx="1"/>
          </p:nvPr>
        </p:nvSpPr>
        <p:spPr>
          <a:xfrm>
            <a:off x="698091" y="2441399"/>
            <a:ext cx="11021961" cy="4038059"/>
          </a:xfrm>
        </p:spPr>
        <p:txBody>
          <a:bodyPr>
            <a:noAutofit/>
          </a:bodyPr>
          <a:lstStyle/>
          <a:p>
            <a:pPr marL="457200" indent="-457200" algn="just">
              <a:buClrTx/>
              <a:buFont typeface="+mj-lt"/>
              <a:buAutoNum type="arabicPeriod"/>
            </a:pPr>
            <a:r>
              <a:rPr lang="en-US" sz="2000" dirty="0"/>
              <a:t>Client-server architecture is a type of computing architecture that divides computing tasks between two distinct types of software: client software and server software. This architecture is widely used in modern computing systems, including web applications, email servers, and file-sharing systems.</a:t>
            </a:r>
          </a:p>
          <a:p>
            <a:pPr marL="457200" indent="-457200" algn="just">
              <a:buClrTx/>
              <a:buFont typeface="+mj-lt"/>
              <a:buAutoNum type="arabicPeriod"/>
            </a:pPr>
            <a:r>
              <a:rPr lang="en-US" sz="2000" dirty="0"/>
              <a:t>In a client-server architecture, the client software runs on the user's device and is responsible for user interaction and presentation. The client software communicates with the server software, which runs on a remote computer or server, to perform specific tasks or access resources.</a:t>
            </a:r>
          </a:p>
          <a:p>
            <a:pPr marL="457200" indent="-457200" algn="just">
              <a:buClrTx/>
              <a:buFont typeface="+mj-lt"/>
              <a:buAutoNum type="arabicPeriod"/>
            </a:pPr>
            <a:r>
              <a:rPr lang="en-US" sz="2000" dirty="0"/>
              <a:t>The server software provides services to multiple client software instances simultaneously, enabling multiple users to access the same resources simultaneously. The server software is responsible for managing resources and performing tasks that require high processing power, storage, or specialized knowledge.</a:t>
            </a:r>
          </a:p>
        </p:txBody>
      </p:sp>
    </p:spTree>
    <p:extLst>
      <p:ext uri="{BB962C8B-B14F-4D97-AF65-F5344CB8AC3E}">
        <p14:creationId xmlns:p14="http://schemas.microsoft.com/office/powerpoint/2010/main" val="1666661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a:t>
            </a:r>
          </a:p>
        </p:txBody>
      </p:sp>
      <p:pic>
        <p:nvPicPr>
          <p:cNvPr id="2050" name="Picture 2" descr="Client–server model - Wikipedia"/>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511021" y="2638425"/>
            <a:ext cx="5169958" cy="310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0284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Uniform Resource Locator</a:t>
            </a:r>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a:t>URL stands for Uniform Resource Locator, which is a web address that is used to identify a particular resource on the internet. A URL consists of several components, including the protocol, domain name, path, and optional parameters. For example, the URL for the Google homepage is </a:t>
            </a:r>
            <a:r>
              <a:rPr lang="en-US" u="sng" dirty="0">
                <a:hlinkClick r:id="rId2"/>
              </a:rPr>
              <a:t>https://www.google.com/</a:t>
            </a:r>
            <a:r>
              <a:rPr lang="en-US" dirty="0"/>
              <a:t> or "</a:t>
            </a:r>
            <a:r>
              <a:rPr lang="en-US" u="sng" dirty="0">
                <a:hlinkClick r:id="rId3"/>
              </a:rPr>
              <a:t>https://www.google.com/</a:t>
            </a:r>
            <a:r>
              <a:rPr lang="en-US" u="sng" dirty="0" err="1">
                <a:hlinkClick r:id="rId3"/>
              </a:rPr>
              <a:t>search?q</a:t>
            </a:r>
            <a:r>
              <a:rPr lang="en-US" u="sng" dirty="0">
                <a:hlinkClick r:id="rId3"/>
              </a:rPr>
              <a:t>=pizza</a:t>
            </a:r>
            <a:r>
              <a:rPr lang="en-US" dirty="0"/>
              <a:t>"..</a:t>
            </a:r>
          </a:p>
          <a:p>
            <a:pPr marL="0" indent="0" algn="just">
              <a:buNone/>
            </a:pPr>
            <a:r>
              <a:rPr lang="en-US" dirty="0"/>
              <a:t>Here's a breakdown of the different parts of this URL:</a:t>
            </a:r>
          </a:p>
          <a:p>
            <a:pPr algn="just"/>
            <a:r>
              <a:rPr lang="en-US" dirty="0"/>
              <a:t>Protocol: "https://" - This specifies the protocol that is used to access the resource. In this case, it is HTTPS (Hypertext Transfer Protocol Secure), which is a secure version of HTTP.</a:t>
            </a:r>
          </a:p>
          <a:p>
            <a:pPr algn="just"/>
            <a:r>
              <a:rPr lang="en-US" dirty="0"/>
              <a:t>Domain name: "</a:t>
            </a:r>
            <a:r>
              <a:rPr lang="en-US" u="sng" dirty="0">
                <a:hlinkClick r:id="rId4"/>
              </a:rPr>
              <a:t>www.google.com</a:t>
            </a:r>
            <a:r>
              <a:rPr lang="en-US" dirty="0"/>
              <a:t>" - This is the name of the web server that is hosting the resource. In this case, it is the domain name for Google's website. </a:t>
            </a:r>
          </a:p>
          <a:p>
            <a:pPr algn="just"/>
            <a:r>
              <a:rPr lang="en-US" dirty="0"/>
              <a:t>Path: "/search" - This specifies the path to the search function on the web server.</a:t>
            </a:r>
          </a:p>
          <a:p>
            <a:pPr algn="just"/>
            <a:r>
              <a:rPr lang="en-US" dirty="0"/>
              <a:t>Optional parameter: "?q=pizza" - This is the query string that contains the optional parameter. In this case, the key is "q" and the value is "pizza".</a:t>
            </a:r>
          </a:p>
          <a:p>
            <a:pPr algn="just"/>
            <a:endParaRPr lang="en-US" dirty="0"/>
          </a:p>
        </p:txBody>
      </p:sp>
    </p:spTree>
    <p:extLst>
      <p:ext uri="{BB962C8B-B14F-4D97-AF65-F5344CB8AC3E}">
        <p14:creationId xmlns:p14="http://schemas.microsoft.com/office/powerpoint/2010/main" val="3355941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a:t>
            </a:r>
          </a:p>
        </p:txBody>
      </p:sp>
      <p:sp>
        <p:nvSpPr>
          <p:cNvPr id="3" name="Content Placeholder 2"/>
          <p:cNvSpPr>
            <a:spLocks noGrp="1"/>
          </p:cNvSpPr>
          <p:nvPr>
            <p:ph idx="1"/>
          </p:nvPr>
        </p:nvSpPr>
        <p:spPr/>
        <p:txBody>
          <a:bodyPr>
            <a:normAutofit fontScale="92500" lnSpcReduction="20000"/>
          </a:bodyPr>
          <a:lstStyle/>
          <a:p>
            <a:pPr algn="just"/>
            <a:r>
              <a:rPr lang="en-US" dirty="0"/>
              <a:t>Client-server architecture is a type of computing architecture that divides computing tasks between two distinct types of software: client software and server software. This architecture is widely used in modern computing systems, including web applications, email servers, and file-sharing systems.</a:t>
            </a:r>
          </a:p>
          <a:p>
            <a:pPr algn="just"/>
            <a:r>
              <a:rPr lang="en-US" dirty="0"/>
              <a:t>In a client-server architecture, the client software runs on the user's device and is responsible for user interaction and presentation. The client software communicates with the server software, which runs on a remote computer or server, to perform specific tasks or access resources.</a:t>
            </a:r>
          </a:p>
          <a:p>
            <a:pPr algn="just"/>
            <a:r>
              <a:rPr lang="en-US" dirty="0"/>
              <a:t>The server software provides services to multiple client software instances simultaneously, enabling multiple users to access the same resources simultaneously. The server software is responsible for managing resources and performing tasks that require high processing power, storage, or specialized knowledge.</a:t>
            </a:r>
          </a:p>
        </p:txBody>
      </p:sp>
    </p:spTree>
    <p:extLst>
      <p:ext uri="{BB962C8B-B14F-4D97-AF65-F5344CB8AC3E}">
        <p14:creationId xmlns:p14="http://schemas.microsoft.com/office/powerpoint/2010/main" val="14360907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a:t>
            </a:r>
          </a:p>
        </p:txBody>
      </p:sp>
      <p:pic>
        <p:nvPicPr>
          <p:cNvPr id="2050" name="Picture 2" descr="Client–server model - Wikipedia"/>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469885" y="1825625"/>
            <a:ext cx="725223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561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1-Tier Architecture</a:t>
            </a:r>
          </a:p>
        </p:txBody>
      </p:sp>
      <p:sp>
        <p:nvSpPr>
          <p:cNvPr id="3" name="Content Placeholder 2"/>
          <p:cNvSpPr>
            <a:spLocks noGrp="1"/>
          </p:cNvSpPr>
          <p:nvPr>
            <p:ph idx="1"/>
          </p:nvPr>
        </p:nvSpPr>
        <p:spPr/>
        <p:txBody>
          <a:bodyPr/>
          <a:lstStyle/>
          <a:p>
            <a:pPr algn="just"/>
            <a:r>
              <a:rPr lang="en-US" dirty="0"/>
              <a:t>In this architecture, the database is directly available to the user. It means the user can directly sit on the DBMS and uses it.</a:t>
            </a:r>
          </a:p>
          <a:p>
            <a:pPr algn="just"/>
            <a:r>
              <a:rPr lang="en-US" dirty="0"/>
              <a:t>Any changes done here will directly be done on the database itself. It doesn't provide a handy tool for end users.</a:t>
            </a:r>
          </a:p>
          <a:p>
            <a:pPr algn="just"/>
            <a:r>
              <a:rPr lang="en-US" dirty="0"/>
              <a:t>The 1-Tier architecture is used for development of the local application, where programmers can directly communicate with the database for the quick response.</a:t>
            </a:r>
          </a:p>
        </p:txBody>
      </p:sp>
      <p:sp>
        <p:nvSpPr>
          <p:cNvPr id="4" name="Slide Number Placeholder 3"/>
          <p:cNvSpPr>
            <a:spLocks noGrp="1"/>
          </p:cNvSpPr>
          <p:nvPr>
            <p:ph type="sldNum" sz="quarter" idx="12"/>
          </p:nvPr>
        </p:nvSpPr>
        <p:spPr/>
        <p:txBody>
          <a:bodyPr/>
          <a:lstStyle/>
          <a:p>
            <a:fld id="{A5C21B5B-BB78-48E7-8B29-3758DD6F29A1}" type="slidenum">
              <a:rPr lang="en-US" smtClean="0"/>
              <a:t>25</a:t>
            </a:fld>
            <a:endParaRPr lang="en-US"/>
          </a:p>
        </p:txBody>
      </p:sp>
    </p:spTree>
    <p:extLst>
      <p:ext uri="{BB962C8B-B14F-4D97-AF65-F5344CB8AC3E}">
        <p14:creationId xmlns:p14="http://schemas.microsoft.com/office/powerpoint/2010/main" val="967826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oncepts of Database Architecture | by Faysal Ahmed | Oceanize Geeks |  Mediu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33850" y="1266479"/>
            <a:ext cx="4476750" cy="426783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A5C21B5B-BB78-48E7-8B29-3758DD6F29A1}" type="slidenum">
              <a:rPr lang="en-US" smtClean="0"/>
              <a:t>26</a:t>
            </a:fld>
            <a:endParaRPr lang="en-US"/>
          </a:p>
        </p:txBody>
      </p:sp>
    </p:spTree>
    <p:extLst>
      <p:ext uri="{BB962C8B-B14F-4D97-AF65-F5344CB8AC3E}">
        <p14:creationId xmlns:p14="http://schemas.microsoft.com/office/powerpoint/2010/main" val="3326071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2-Tier Architecture</a:t>
            </a:r>
          </a:p>
        </p:txBody>
      </p:sp>
      <p:sp>
        <p:nvSpPr>
          <p:cNvPr id="3" name="Content Placeholder 2"/>
          <p:cNvSpPr>
            <a:spLocks noGrp="1"/>
          </p:cNvSpPr>
          <p:nvPr>
            <p:ph idx="1"/>
          </p:nvPr>
        </p:nvSpPr>
        <p:spPr/>
        <p:txBody>
          <a:bodyPr>
            <a:normAutofit/>
          </a:bodyPr>
          <a:lstStyle/>
          <a:p>
            <a:pPr algn="just"/>
            <a:r>
              <a:rPr lang="en-US" dirty="0"/>
              <a:t>The 2-Tier architecture is same as basic client-server. In the two-tier architecture, applications on the client end can directly communicate with the database at the server side. </a:t>
            </a:r>
          </a:p>
          <a:p>
            <a:pPr algn="just"/>
            <a:r>
              <a:rPr lang="en-US" dirty="0"/>
              <a:t>The user interfaces and application programs are run on the client-side.</a:t>
            </a:r>
          </a:p>
          <a:p>
            <a:pPr algn="just"/>
            <a:r>
              <a:rPr lang="en-US" dirty="0"/>
              <a:t>The server side is responsible to provide the functionalities like: query processing and transaction management.</a:t>
            </a:r>
          </a:p>
          <a:p>
            <a:pPr algn="just"/>
            <a:r>
              <a:rPr lang="en-US" dirty="0"/>
              <a:t>To communicate with the DBMS, client-side application establishes a connection with the server side.</a:t>
            </a:r>
          </a:p>
        </p:txBody>
      </p:sp>
      <p:sp>
        <p:nvSpPr>
          <p:cNvPr id="4" name="Slide Number Placeholder 3"/>
          <p:cNvSpPr>
            <a:spLocks noGrp="1"/>
          </p:cNvSpPr>
          <p:nvPr>
            <p:ph type="sldNum" sz="quarter" idx="12"/>
          </p:nvPr>
        </p:nvSpPr>
        <p:spPr/>
        <p:txBody>
          <a:bodyPr/>
          <a:lstStyle/>
          <a:p>
            <a:fld id="{A5C21B5B-BB78-48E7-8B29-3758DD6F29A1}" type="slidenum">
              <a:rPr lang="en-US" smtClean="0"/>
              <a:t>27</a:t>
            </a:fld>
            <a:endParaRPr lang="en-US"/>
          </a:p>
        </p:txBody>
      </p:sp>
    </p:spTree>
    <p:extLst>
      <p:ext uri="{BB962C8B-B14F-4D97-AF65-F5344CB8AC3E}">
        <p14:creationId xmlns:p14="http://schemas.microsoft.com/office/powerpoint/2010/main" val="1367148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95581" y="5400097"/>
            <a:ext cx="10911586" cy="4894285"/>
          </a:xfrm>
        </p:spPr>
        <p:txBody>
          <a:bodyPr/>
          <a:lstStyle/>
          <a:p>
            <a:endParaRPr lang="en-US" dirty="0"/>
          </a:p>
          <a:p>
            <a:endParaRPr lang="en-US" dirty="0"/>
          </a:p>
        </p:txBody>
      </p:sp>
      <p:sp>
        <p:nvSpPr>
          <p:cNvPr id="4" name="Slide Number Placeholder 3"/>
          <p:cNvSpPr>
            <a:spLocks noGrp="1"/>
          </p:cNvSpPr>
          <p:nvPr>
            <p:ph type="sldNum" sz="quarter" idx="12"/>
          </p:nvPr>
        </p:nvSpPr>
        <p:spPr/>
        <p:txBody>
          <a:bodyPr/>
          <a:lstStyle/>
          <a:p>
            <a:fld id="{A5C21B5B-BB78-48E7-8B29-3758DD6F29A1}" type="slidenum">
              <a:rPr lang="en-US" smtClean="0"/>
              <a:t>28</a:t>
            </a:fld>
            <a:endParaRPr lang="en-US"/>
          </a:p>
        </p:txBody>
      </p:sp>
      <p:pic>
        <p:nvPicPr>
          <p:cNvPr id="5122" name="Picture 2" descr="DBMS Architecture - javat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1026" y="1348510"/>
            <a:ext cx="4883006" cy="43688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What is Difference Between Two-Tier and Three-Tier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956" y="2104448"/>
            <a:ext cx="4392536" cy="346046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hat is Difference Between Two-Tier and Three-Tier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491" y="1348510"/>
            <a:ext cx="4774401" cy="436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1739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3-Tier Architecture</a:t>
            </a:r>
          </a:p>
        </p:txBody>
      </p:sp>
      <p:sp>
        <p:nvSpPr>
          <p:cNvPr id="3" name="Content Placeholder 2"/>
          <p:cNvSpPr>
            <a:spLocks noGrp="1"/>
          </p:cNvSpPr>
          <p:nvPr>
            <p:ph idx="1"/>
          </p:nvPr>
        </p:nvSpPr>
        <p:spPr/>
        <p:txBody>
          <a:bodyPr>
            <a:normAutofit/>
          </a:bodyPr>
          <a:lstStyle/>
          <a:p>
            <a:pPr algn="just"/>
            <a:r>
              <a:rPr lang="en-US" dirty="0"/>
              <a:t>The 3-Tier architecture contains another layer between the client and server. In this architecture, client can't directly communicate with the server.</a:t>
            </a:r>
          </a:p>
          <a:p>
            <a:pPr algn="just"/>
            <a:r>
              <a:rPr lang="en-US" dirty="0"/>
              <a:t>The application on the client-end interacts with an application server which further communicates with the database system.</a:t>
            </a:r>
          </a:p>
          <a:p>
            <a:pPr algn="just"/>
            <a:r>
              <a:rPr lang="en-US" dirty="0"/>
              <a:t>End user has no idea about the existence of the database beyond the application server. The database also has no idea about any other user beyond the application.</a:t>
            </a:r>
          </a:p>
          <a:p>
            <a:pPr algn="just"/>
            <a:r>
              <a:rPr lang="en-US" dirty="0"/>
              <a:t>The 3-Tier architecture is used in case of large web application</a:t>
            </a:r>
          </a:p>
        </p:txBody>
      </p:sp>
      <p:sp>
        <p:nvSpPr>
          <p:cNvPr id="4" name="Slide Number Placeholder 3"/>
          <p:cNvSpPr>
            <a:spLocks noGrp="1"/>
          </p:cNvSpPr>
          <p:nvPr>
            <p:ph type="sldNum" sz="quarter" idx="12"/>
          </p:nvPr>
        </p:nvSpPr>
        <p:spPr/>
        <p:txBody>
          <a:bodyPr/>
          <a:lstStyle/>
          <a:p>
            <a:fld id="{A5C21B5B-BB78-48E7-8B29-3758DD6F29A1}" type="slidenum">
              <a:rPr lang="en-US" smtClean="0"/>
              <a:t>29</a:t>
            </a:fld>
            <a:endParaRPr lang="en-US"/>
          </a:p>
        </p:txBody>
      </p:sp>
    </p:spTree>
    <p:extLst>
      <p:ext uri="{BB962C8B-B14F-4D97-AF65-F5344CB8AC3E}">
        <p14:creationId xmlns:p14="http://schemas.microsoft.com/office/powerpoint/2010/main" val="1649469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DBMS Architecture - javatpoi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74691" y="923253"/>
            <a:ext cx="4879109" cy="471934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A5C21B5B-BB78-48E7-8B29-3758DD6F29A1}" type="slidenum">
              <a:rPr lang="en-US" smtClean="0"/>
              <a:t>30</a:t>
            </a:fld>
            <a:endParaRPr lang="en-US"/>
          </a:p>
        </p:txBody>
      </p:sp>
      <p:pic>
        <p:nvPicPr>
          <p:cNvPr id="3076" name="Picture 4" descr="What is Difference Between Two-Tier and Three-Tier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938" y="923253"/>
            <a:ext cx="5312353" cy="4719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687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Client server Architecture? Also explain 1 tier, 2 tier and 3 tier architecture with proper figure.</a:t>
            </a:r>
          </a:p>
        </p:txBody>
      </p:sp>
    </p:spTree>
    <p:extLst>
      <p:ext uri="{BB962C8B-B14F-4D97-AF65-F5344CB8AC3E}">
        <p14:creationId xmlns:p14="http://schemas.microsoft.com/office/powerpoint/2010/main" val="897621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
  <TotalTime>2710</TotalTime>
  <Words>2066</Words>
  <Application>Microsoft Office PowerPoint</Application>
  <PresentationFormat>Widescreen</PresentationFormat>
  <Paragraphs>105</Paragraphs>
  <Slides>31</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31</vt:i4>
      </vt:variant>
    </vt:vector>
  </HeadingPairs>
  <TitlesOfParts>
    <vt:vector size="37" baseType="lpstr">
      <vt:lpstr>Arial</vt:lpstr>
      <vt:lpstr>Calibri</vt:lpstr>
      <vt:lpstr>Calibri Light</vt:lpstr>
      <vt:lpstr>Gill Sans MT</vt:lpstr>
      <vt:lpstr>Office Theme</vt:lpstr>
      <vt:lpstr>Parcel</vt:lpstr>
      <vt:lpstr>UNIT 1 Introduction to Web Technology</vt:lpstr>
      <vt:lpstr>Introduction to Web Technology</vt:lpstr>
      <vt:lpstr>Internet</vt:lpstr>
      <vt:lpstr>Intranet</vt:lpstr>
      <vt:lpstr>Questions?</vt:lpstr>
      <vt:lpstr>World wide web</vt:lpstr>
      <vt:lpstr>How www works?</vt:lpstr>
      <vt:lpstr>How www works?</vt:lpstr>
      <vt:lpstr>Web page vs Web site</vt:lpstr>
      <vt:lpstr>Static and Dynamic Webpage</vt:lpstr>
      <vt:lpstr>Static and Dynamic webpage</vt:lpstr>
      <vt:lpstr>Static and dynamic webpage</vt:lpstr>
      <vt:lpstr>WWW Evolultion</vt:lpstr>
      <vt:lpstr>Web 1.0</vt:lpstr>
      <vt:lpstr>Web 2.0</vt:lpstr>
      <vt:lpstr>Web 3.0</vt:lpstr>
      <vt:lpstr>Question</vt:lpstr>
      <vt:lpstr>Iceberg of Web</vt:lpstr>
      <vt:lpstr>Uniform Resource Locater(URL)</vt:lpstr>
      <vt:lpstr>Client Server architecture</vt:lpstr>
      <vt:lpstr>Client Server Architecture</vt:lpstr>
      <vt:lpstr>Uniform Resource Locator</vt:lpstr>
      <vt:lpstr>Client Server architecture</vt:lpstr>
      <vt:lpstr>Client Server Architecture</vt:lpstr>
      <vt:lpstr>1-Tier Architecture</vt:lpstr>
      <vt:lpstr>PowerPoint Presentation</vt:lpstr>
      <vt:lpstr>2-Tier Architecture</vt:lpstr>
      <vt:lpstr>PowerPoint Presentation</vt:lpstr>
      <vt:lpstr>3-Tier Architecture</vt:lpstr>
      <vt:lpstr>PowerPoint Presentation</vt:lpstr>
      <vt:lpstr>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WEB Essentials</dc:title>
  <dc:creator>Hp</dc:creator>
  <cp:lastModifiedBy>Yachu</cp:lastModifiedBy>
  <cp:revision>19</cp:revision>
  <dcterms:created xsi:type="dcterms:W3CDTF">2023-04-19T01:29:33Z</dcterms:created>
  <dcterms:modified xsi:type="dcterms:W3CDTF">2024-12-17T09:18:05Z</dcterms:modified>
</cp:coreProperties>
</file>