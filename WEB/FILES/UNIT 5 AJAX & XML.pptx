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1"/>
  </p:sldMasterIdLst>
  <p:sldIdLst>
    <p:sldId id="256" r:id="rId2"/>
    <p:sldId id="289" r:id="rId3"/>
    <p:sldId id="290" r:id="rId4"/>
    <p:sldId id="291" r:id="rId5"/>
    <p:sldId id="292" r:id="rId6"/>
    <p:sldId id="293" r:id="rId7"/>
    <p:sldId id="294" r:id="rId8"/>
    <p:sldId id="257" r:id="rId9"/>
    <p:sldId id="282" r:id="rId10"/>
    <p:sldId id="283" r:id="rId11"/>
    <p:sldId id="259" r:id="rId12"/>
    <p:sldId id="284" r:id="rId13"/>
    <p:sldId id="285" r:id="rId14"/>
    <p:sldId id="286" r:id="rId15"/>
    <p:sldId id="287" r:id="rId16"/>
    <p:sldId id="288" r:id="rId17"/>
    <p:sldId id="260" r:id="rId18"/>
    <p:sldId id="261" r:id="rId19"/>
    <p:sldId id="295" r:id="rId20"/>
    <p:sldId id="296" r:id="rId21"/>
    <p:sldId id="310" r:id="rId22"/>
    <p:sldId id="262" r:id="rId23"/>
    <p:sldId id="263" r:id="rId24"/>
    <p:sldId id="297" r:id="rId25"/>
    <p:sldId id="298" r:id="rId26"/>
    <p:sldId id="264" r:id="rId27"/>
    <p:sldId id="313" r:id="rId28"/>
    <p:sldId id="265" r:id="rId29"/>
    <p:sldId id="299" r:id="rId30"/>
    <p:sldId id="301" r:id="rId31"/>
    <p:sldId id="266" r:id="rId32"/>
    <p:sldId id="267" r:id="rId33"/>
    <p:sldId id="302" r:id="rId34"/>
    <p:sldId id="300" r:id="rId35"/>
    <p:sldId id="303" r:id="rId36"/>
    <p:sldId id="304" r:id="rId37"/>
    <p:sldId id="306" r:id="rId38"/>
    <p:sldId id="307" r:id="rId39"/>
    <p:sldId id="305" r:id="rId40"/>
    <p:sldId id="308" r:id="rId41"/>
    <p:sldId id="309" r:id="rId42"/>
    <p:sldId id="326" r:id="rId43"/>
    <p:sldId id="311" r:id="rId44"/>
    <p:sldId id="327" r:id="rId45"/>
    <p:sldId id="312" r:id="rId46"/>
    <p:sldId id="268" r:id="rId47"/>
    <p:sldId id="315" r:id="rId48"/>
    <p:sldId id="314" r:id="rId49"/>
    <p:sldId id="316" r:id="rId50"/>
    <p:sldId id="317" r:id="rId51"/>
    <p:sldId id="269" r:id="rId52"/>
    <p:sldId id="318" r:id="rId53"/>
    <p:sldId id="319" r:id="rId54"/>
    <p:sldId id="320" r:id="rId55"/>
    <p:sldId id="321" r:id="rId56"/>
    <p:sldId id="322" r:id="rId57"/>
    <p:sldId id="323" r:id="rId58"/>
    <p:sldId id="324" r:id="rId59"/>
    <p:sldId id="325" r:id="rId60"/>
    <p:sldId id="270" r:id="rId61"/>
    <p:sldId id="271" r:id="rId62"/>
    <p:sldId id="272" r:id="rId63"/>
    <p:sldId id="273" r:id="rId64"/>
    <p:sldId id="274" r:id="rId65"/>
    <p:sldId id="328" r:id="rId66"/>
    <p:sldId id="276" r:id="rId67"/>
    <p:sldId id="275" r:id="rId68"/>
    <p:sldId id="277" r:id="rId69"/>
    <p:sldId id="278" r:id="rId70"/>
    <p:sldId id="279" r:id="rId71"/>
    <p:sldId id="280" r:id="rId72"/>
    <p:sldId id="281"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9D35190-06D1-4327-89E0-61019A6CBD78}">
          <p14:sldIdLst>
            <p14:sldId id="256"/>
            <p14:sldId id="289"/>
            <p14:sldId id="290"/>
            <p14:sldId id="291"/>
            <p14:sldId id="292"/>
            <p14:sldId id="293"/>
            <p14:sldId id="294"/>
          </p14:sldIdLst>
        </p14:section>
        <p14:section name="xml" id="{AF8FDB0F-3B2B-4C20-B9CA-FA864A8EABF4}">
          <p14:sldIdLst>
            <p14:sldId id="257"/>
            <p14:sldId id="282"/>
            <p14:sldId id="283"/>
            <p14:sldId id="259"/>
            <p14:sldId id="284"/>
            <p14:sldId id="285"/>
            <p14:sldId id="286"/>
            <p14:sldId id="287"/>
            <p14:sldId id="288"/>
            <p14:sldId id="260"/>
            <p14:sldId id="261"/>
            <p14:sldId id="295"/>
            <p14:sldId id="296"/>
            <p14:sldId id="310"/>
            <p14:sldId id="262"/>
            <p14:sldId id="263"/>
            <p14:sldId id="297"/>
            <p14:sldId id="298"/>
            <p14:sldId id="264"/>
            <p14:sldId id="313"/>
            <p14:sldId id="265"/>
            <p14:sldId id="299"/>
            <p14:sldId id="301"/>
            <p14:sldId id="266"/>
            <p14:sldId id="267"/>
            <p14:sldId id="302"/>
            <p14:sldId id="300"/>
            <p14:sldId id="303"/>
            <p14:sldId id="304"/>
            <p14:sldId id="306"/>
            <p14:sldId id="307"/>
            <p14:sldId id="305"/>
            <p14:sldId id="308"/>
            <p14:sldId id="309"/>
            <p14:sldId id="326"/>
            <p14:sldId id="311"/>
            <p14:sldId id="327"/>
            <p14:sldId id="312"/>
            <p14:sldId id="268"/>
            <p14:sldId id="315"/>
            <p14:sldId id="314"/>
            <p14:sldId id="316"/>
            <p14:sldId id="317"/>
            <p14:sldId id="269"/>
            <p14:sldId id="318"/>
            <p14:sldId id="319"/>
            <p14:sldId id="320"/>
            <p14:sldId id="321"/>
            <p14:sldId id="322"/>
            <p14:sldId id="323"/>
            <p14:sldId id="324"/>
            <p14:sldId id="325"/>
            <p14:sldId id="270"/>
            <p14:sldId id="271"/>
            <p14:sldId id="272"/>
            <p14:sldId id="273"/>
            <p14:sldId id="274"/>
            <p14:sldId id="328"/>
            <p14:sldId id="276"/>
            <p14:sldId id="275"/>
            <p14:sldId id="277"/>
            <p14:sldId id="278"/>
            <p14:sldId id="279"/>
            <p14:sldId id="280"/>
            <p14:sldId id="281"/>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chu" initials="Y" lastIdx="1" clrIdx="0">
    <p:extLst>
      <p:ext uri="{19B8F6BF-5375-455C-9EA6-DF929625EA0E}">
        <p15:presenceInfo xmlns:p15="http://schemas.microsoft.com/office/powerpoint/2012/main" userId="Yach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81" d="100"/>
          <a:sy n="81" d="100"/>
        </p:scale>
        <p:origin x="83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2B879-31B5-44A2-AFF1-078AE56A33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3E3431-9E7B-4D80-A75D-1586527257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AB4CF9-F7B3-490D-A46A-1FD9C3E9959A}"/>
              </a:ext>
            </a:extLst>
          </p:cNvPr>
          <p:cNvSpPr>
            <a:spLocks noGrp="1"/>
          </p:cNvSpPr>
          <p:nvPr>
            <p:ph type="dt" sz="half" idx="10"/>
          </p:nvPr>
        </p:nvSpPr>
        <p:spPr/>
        <p:txBody>
          <a:bodyPr/>
          <a:lstStyle/>
          <a:p>
            <a:fld id="{644BF7E9-ED0F-4335-9F26-1C91A715F974}" type="datetimeFigureOut">
              <a:rPr lang="en-US" smtClean="0"/>
              <a:t>3/17/2026</a:t>
            </a:fld>
            <a:endParaRPr lang="en-US" dirty="0"/>
          </a:p>
        </p:txBody>
      </p:sp>
      <p:sp>
        <p:nvSpPr>
          <p:cNvPr id="5" name="Footer Placeholder 4">
            <a:extLst>
              <a:ext uri="{FF2B5EF4-FFF2-40B4-BE49-F238E27FC236}">
                <a16:creationId xmlns:a16="http://schemas.microsoft.com/office/drawing/2014/main" id="{39115EA1-65A8-46D1-9308-7C320EB3F3E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C252B7A-EEF4-4DE7-9E47-BD465C4128B6}"/>
              </a:ext>
            </a:extLst>
          </p:cNvPr>
          <p:cNvSpPr>
            <a:spLocks noGrp="1"/>
          </p:cNvSpPr>
          <p:nvPr>
            <p:ph type="sldNum" sz="quarter" idx="12"/>
          </p:nvPr>
        </p:nvSpPr>
        <p:spPr/>
        <p:txBody>
          <a:bodyPr/>
          <a:lstStyle/>
          <a:p>
            <a:fld id="{5BA8F130-BA50-40A3-9E37-FA067D12492E}" type="slidenum">
              <a:rPr lang="en-US" smtClean="0"/>
              <a:t>‹#›</a:t>
            </a:fld>
            <a:endParaRPr lang="en-US" dirty="0"/>
          </a:p>
        </p:txBody>
      </p:sp>
    </p:spTree>
    <p:extLst>
      <p:ext uri="{BB962C8B-B14F-4D97-AF65-F5344CB8AC3E}">
        <p14:creationId xmlns:p14="http://schemas.microsoft.com/office/powerpoint/2010/main" val="2611733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01D9F-B3F7-4DAE-A933-A2DC03DD30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01FFB0-2B42-4979-A94D-28B67F762E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F8814C-ACB6-4167-B416-B6293242585D}"/>
              </a:ext>
            </a:extLst>
          </p:cNvPr>
          <p:cNvSpPr>
            <a:spLocks noGrp="1"/>
          </p:cNvSpPr>
          <p:nvPr>
            <p:ph type="dt" sz="half" idx="10"/>
          </p:nvPr>
        </p:nvSpPr>
        <p:spPr/>
        <p:txBody>
          <a:bodyPr/>
          <a:lstStyle/>
          <a:p>
            <a:fld id="{644BF7E9-ED0F-4335-9F26-1C91A715F974}" type="datetimeFigureOut">
              <a:rPr lang="en-US" smtClean="0"/>
              <a:t>3/17/2026</a:t>
            </a:fld>
            <a:endParaRPr lang="en-US" dirty="0"/>
          </a:p>
        </p:txBody>
      </p:sp>
      <p:sp>
        <p:nvSpPr>
          <p:cNvPr id="5" name="Footer Placeholder 4">
            <a:extLst>
              <a:ext uri="{FF2B5EF4-FFF2-40B4-BE49-F238E27FC236}">
                <a16:creationId xmlns:a16="http://schemas.microsoft.com/office/drawing/2014/main" id="{68BF3696-9CDE-4B1E-9074-68BFBDC5562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D5F74F6-BD91-4750-84F3-A07E7F0C0224}"/>
              </a:ext>
            </a:extLst>
          </p:cNvPr>
          <p:cNvSpPr>
            <a:spLocks noGrp="1"/>
          </p:cNvSpPr>
          <p:nvPr>
            <p:ph type="sldNum" sz="quarter" idx="12"/>
          </p:nvPr>
        </p:nvSpPr>
        <p:spPr/>
        <p:txBody>
          <a:bodyPr/>
          <a:lstStyle/>
          <a:p>
            <a:fld id="{5BA8F130-BA50-40A3-9E37-FA067D12492E}" type="slidenum">
              <a:rPr lang="en-US" smtClean="0"/>
              <a:t>‹#›</a:t>
            </a:fld>
            <a:endParaRPr lang="en-US" dirty="0"/>
          </a:p>
        </p:txBody>
      </p:sp>
    </p:spTree>
    <p:extLst>
      <p:ext uri="{BB962C8B-B14F-4D97-AF65-F5344CB8AC3E}">
        <p14:creationId xmlns:p14="http://schemas.microsoft.com/office/powerpoint/2010/main" val="1244550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3F82F-9DB7-440E-8B17-B31CB14482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6C9583-6A33-4F19-96EC-2DFA8291A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95B2A8-994E-4972-8014-C9F5C72F652A}"/>
              </a:ext>
            </a:extLst>
          </p:cNvPr>
          <p:cNvSpPr>
            <a:spLocks noGrp="1"/>
          </p:cNvSpPr>
          <p:nvPr>
            <p:ph type="dt" sz="half" idx="10"/>
          </p:nvPr>
        </p:nvSpPr>
        <p:spPr/>
        <p:txBody>
          <a:bodyPr/>
          <a:lstStyle/>
          <a:p>
            <a:fld id="{644BF7E9-ED0F-4335-9F26-1C91A715F974}" type="datetimeFigureOut">
              <a:rPr lang="en-US" smtClean="0"/>
              <a:t>3/17/2026</a:t>
            </a:fld>
            <a:endParaRPr lang="en-US" dirty="0"/>
          </a:p>
        </p:txBody>
      </p:sp>
      <p:sp>
        <p:nvSpPr>
          <p:cNvPr id="5" name="Footer Placeholder 4">
            <a:extLst>
              <a:ext uri="{FF2B5EF4-FFF2-40B4-BE49-F238E27FC236}">
                <a16:creationId xmlns:a16="http://schemas.microsoft.com/office/drawing/2014/main" id="{9BFCD1F8-3765-439A-961E-D3C0617CA52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F86DBCB-47A4-4AA1-970C-8F9083EC9C00}"/>
              </a:ext>
            </a:extLst>
          </p:cNvPr>
          <p:cNvSpPr>
            <a:spLocks noGrp="1"/>
          </p:cNvSpPr>
          <p:nvPr>
            <p:ph type="sldNum" sz="quarter" idx="12"/>
          </p:nvPr>
        </p:nvSpPr>
        <p:spPr/>
        <p:txBody>
          <a:bodyPr/>
          <a:lstStyle/>
          <a:p>
            <a:fld id="{5BA8F130-BA50-40A3-9E37-FA067D12492E}" type="slidenum">
              <a:rPr lang="en-US" smtClean="0"/>
              <a:t>‹#›</a:t>
            </a:fld>
            <a:endParaRPr lang="en-US" dirty="0"/>
          </a:p>
        </p:txBody>
      </p:sp>
    </p:spTree>
    <p:extLst>
      <p:ext uri="{BB962C8B-B14F-4D97-AF65-F5344CB8AC3E}">
        <p14:creationId xmlns:p14="http://schemas.microsoft.com/office/powerpoint/2010/main" val="927931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1ACE4-0847-4562-8BD2-FCAE079B6C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56D2EA-DBCF-4FD0-8F81-A330830325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3CFB5B-9E8E-456F-BAF3-CCF2BB6A65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999117-3DDE-4496-85BC-F0C5CFF2FE8C}"/>
              </a:ext>
            </a:extLst>
          </p:cNvPr>
          <p:cNvSpPr>
            <a:spLocks noGrp="1"/>
          </p:cNvSpPr>
          <p:nvPr>
            <p:ph type="dt" sz="half" idx="10"/>
          </p:nvPr>
        </p:nvSpPr>
        <p:spPr/>
        <p:txBody>
          <a:bodyPr/>
          <a:lstStyle/>
          <a:p>
            <a:fld id="{644BF7E9-ED0F-4335-9F26-1C91A715F974}" type="datetimeFigureOut">
              <a:rPr lang="en-US" smtClean="0"/>
              <a:t>3/17/2026</a:t>
            </a:fld>
            <a:endParaRPr lang="en-US" dirty="0"/>
          </a:p>
        </p:txBody>
      </p:sp>
      <p:sp>
        <p:nvSpPr>
          <p:cNvPr id="6" name="Footer Placeholder 5">
            <a:extLst>
              <a:ext uri="{FF2B5EF4-FFF2-40B4-BE49-F238E27FC236}">
                <a16:creationId xmlns:a16="http://schemas.microsoft.com/office/drawing/2014/main" id="{792A8FC0-3A79-4C98-8D7C-4C0337E5E8F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F7819DC-CB25-43AF-A4A0-58928E7AA3D3}"/>
              </a:ext>
            </a:extLst>
          </p:cNvPr>
          <p:cNvSpPr>
            <a:spLocks noGrp="1"/>
          </p:cNvSpPr>
          <p:nvPr>
            <p:ph type="sldNum" sz="quarter" idx="12"/>
          </p:nvPr>
        </p:nvSpPr>
        <p:spPr/>
        <p:txBody>
          <a:bodyPr/>
          <a:lstStyle/>
          <a:p>
            <a:fld id="{5BA8F130-BA50-40A3-9E37-FA067D12492E}" type="slidenum">
              <a:rPr lang="en-US" smtClean="0"/>
              <a:t>‹#›</a:t>
            </a:fld>
            <a:endParaRPr lang="en-US" dirty="0"/>
          </a:p>
        </p:txBody>
      </p:sp>
    </p:spTree>
    <p:extLst>
      <p:ext uri="{BB962C8B-B14F-4D97-AF65-F5344CB8AC3E}">
        <p14:creationId xmlns:p14="http://schemas.microsoft.com/office/powerpoint/2010/main" val="2792467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20118-A410-4E02-963D-63AD2BDE93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483A5F-B178-498C-B8EE-87A7E172E1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3E3A0D-ED1F-4BD8-8A81-02A6441F13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09F8C6-978C-42C7-989B-08A0CE5047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029CEE-1F6D-460B-884A-4D21A9D47C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DAE481-5D39-46D0-AD05-A4AFE040F38F}"/>
              </a:ext>
            </a:extLst>
          </p:cNvPr>
          <p:cNvSpPr>
            <a:spLocks noGrp="1"/>
          </p:cNvSpPr>
          <p:nvPr>
            <p:ph type="dt" sz="half" idx="10"/>
          </p:nvPr>
        </p:nvSpPr>
        <p:spPr/>
        <p:txBody>
          <a:bodyPr/>
          <a:lstStyle/>
          <a:p>
            <a:fld id="{644BF7E9-ED0F-4335-9F26-1C91A715F974}" type="datetimeFigureOut">
              <a:rPr lang="en-US" smtClean="0"/>
              <a:t>3/17/2026</a:t>
            </a:fld>
            <a:endParaRPr lang="en-US" dirty="0"/>
          </a:p>
        </p:txBody>
      </p:sp>
      <p:sp>
        <p:nvSpPr>
          <p:cNvPr id="8" name="Footer Placeholder 7">
            <a:extLst>
              <a:ext uri="{FF2B5EF4-FFF2-40B4-BE49-F238E27FC236}">
                <a16:creationId xmlns:a16="http://schemas.microsoft.com/office/drawing/2014/main" id="{FEDE3721-5E24-46FB-819D-229C4E6B6DC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6A10082-CE0C-42E4-B870-5830E68C212E}"/>
              </a:ext>
            </a:extLst>
          </p:cNvPr>
          <p:cNvSpPr>
            <a:spLocks noGrp="1"/>
          </p:cNvSpPr>
          <p:nvPr>
            <p:ph type="sldNum" sz="quarter" idx="12"/>
          </p:nvPr>
        </p:nvSpPr>
        <p:spPr/>
        <p:txBody>
          <a:bodyPr/>
          <a:lstStyle/>
          <a:p>
            <a:fld id="{5BA8F130-BA50-40A3-9E37-FA067D12492E}" type="slidenum">
              <a:rPr lang="en-US" smtClean="0"/>
              <a:t>‹#›</a:t>
            </a:fld>
            <a:endParaRPr lang="en-US" dirty="0"/>
          </a:p>
        </p:txBody>
      </p:sp>
    </p:spTree>
    <p:extLst>
      <p:ext uri="{BB962C8B-B14F-4D97-AF65-F5344CB8AC3E}">
        <p14:creationId xmlns:p14="http://schemas.microsoft.com/office/powerpoint/2010/main" val="298679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9C5B-CB9D-4C50-9E9A-60BD19C9D9A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C802CE5-FAB6-484E-BA3F-F9B6B6C156CC}"/>
              </a:ext>
            </a:extLst>
          </p:cNvPr>
          <p:cNvSpPr>
            <a:spLocks noGrp="1"/>
          </p:cNvSpPr>
          <p:nvPr>
            <p:ph type="dt" sz="half" idx="10"/>
          </p:nvPr>
        </p:nvSpPr>
        <p:spPr/>
        <p:txBody>
          <a:bodyPr/>
          <a:lstStyle/>
          <a:p>
            <a:fld id="{644BF7E9-ED0F-4335-9F26-1C91A715F974}" type="datetimeFigureOut">
              <a:rPr lang="en-US" smtClean="0"/>
              <a:t>3/17/2026</a:t>
            </a:fld>
            <a:endParaRPr lang="en-US" dirty="0"/>
          </a:p>
        </p:txBody>
      </p:sp>
      <p:sp>
        <p:nvSpPr>
          <p:cNvPr id="4" name="Footer Placeholder 3">
            <a:extLst>
              <a:ext uri="{FF2B5EF4-FFF2-40B4-BE49-F238E27FC236}">
                <a16:creationId xmlns:a16="http://schemas.microsoft.com/office/drawing/2014/main" id="{362F43B3-5D1A-418D-935F-26FE1A8A405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DCDE102-C960-4C95-899A-DEFB24AB2970}"/>
              </a:ext>
            </a:extLst>
          </p:cNvPr>
          <p:cNvSpPr>
            <a:spLocks noGrp="1"/>
          </p:cNvSpPr>
          <p:nvPr>
            <p:ph type="sldNum" sz="quarter" idx="12"/>
          </p:nvPr>
        </p:nvSpPr>
        <p:spPr/>
        <p:txBody>
          <a:bodyPr/>
          <a:lstStyle/>
          <a:p>
            <a:fld id="{5BA8F130-BA50-40A3-9E37-FA067D12492E}" type="slidenum">
              <a:rPr lang="en-US" smtClean="0"/>
              <a:t>‹#›</a:t>
            </a:fld>
            <a:endParaRPr lang="en-US" dirty="0"/>
          </a:p>
        </p:txBody>
      </p:sp>
    </p:spTree>
    <p:extLst>
      <p:ext uri="{BB962C8B-B14F-4D97-AF65-F5344CB8AC3E}">
        <p14:creationId xmlns:p14="http://schemas.microsoft.com/office/powerpoint/2010/main" val="1687264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2BF452-F32C-41BD-B01B-732C76DA3819}"/>
              </a:ext>
            </a:extLst>
          </p:cNvPr>
          <p:cNvSpPr>
            <a:spLocks noGrp="1"/>
          </p:cNvSpPr>
          <p:nvPr>
            <p:ph type="dt" sz="half" idx="10"/>
          </p:nvPr>
        </p:nvSpPr>
        <p:spPr/>
        <p:txBody>
          <a:bodyPr/>
          <a:lstStyle/>
          <a:p>
            <a:fld id="{644BF7E9-ED0F-4335-9F26-1C91A715F974}" type="datetimeFigureOut">
              <a:rPr lang="en-US" smtClean="0"/>
              <a:t>3/17/2026</a:t>
            </a:fld>
            <a:endParaRPr lang="en-US" dirty="0"/>
          </a:p>
        </p:txBody>
      </p:sp>
      <p:sp>
        <p:nvSpPr>
          <p:cNvPr id="3" name="Footer Placeholder 2">
            <a:extLst>
              <a:ext uri="{FF2B5EF4-FFF2-40B4-BE49-F238E27FC236}">
                <a16:creationId xmlns:a16="http://schemas.microsoft.com/office/drawing/2014/main" id="{CB4E56AD-447F-4D90-AC7B-A43A7E503F0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C95A3EA-89EB-4544-813E-EB72F04A4C24}"/>
              </a:ext>
            </a:extLst>
          </p:cNvPr>
          <p:cNvSpPr>
            <a:spLocks noGrp="1"/>
          </p:cNvSpPr>
          <p:nvPr>
            <p:ph type="sldNum" sz="quarter" idx="12"/>
          </p:nvPr>
        </p:nvSpPr>
        <p:spPr/>
        <p:txBody>
          <a:bodyPr/>
          <a:lstStyle/>
          <a:p>
            <a:fld id="{5BA8F130-BA50-40A3-9E37-FA067D12492E}" type="slidenum">
              <a:rPr lang="en-US" smtClean="0"/>
              <a:t>‹#›</a:t>
            </a:fld>
            <a:endParaRPr lang="en-US" dirty="0"/>
          </a:p>
        </p:txBody>
      </p:sp>
    </p:spTree>
    <p:extLst>
      <p:ext uri="{BB962C8B-B14F-4D97-AF65-F5344CB8AC3E}">
        <p14:creationId xmlns:p14="http://schemas.microsoft.com/office/powerpoint/2010/main" val="1617336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90706-A8DF-426A-888D-8CBA1DC5AF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5173EF-9E7A-4966-AFEB-0439654D2E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0C71CE-58E2-4F13-9E62-DE5914EC34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CDF039-6AC9-4FBF-A72B-DADC875F31C7}"/>
              </a:ext>
            </a:extLst>
          </p:cNvPr>
          <p:cNvSpPr>
            <a:spLocks noGrp="1"/>
          </p:cNvSpPr>
          <p:nvPr>
            <p:ph type="dt" sz="half" idx="10"/>
          </p:nvPr>
        </p:nvSpPr>
        <p:spPr/>
        <p:txBody>
          <a:bodyPr/>
          <a:lstStyle/>
          <a:p>
            <a:fld id="{644BF7E9-ED0F-4335-9F26-1C91A715F974}" type="datetimeFigureOut">
              <a:rPr lang="en-US" smtClean="0"/>
              <a:t>3/17/2026</a:t>
            </a:fld>
            <a:endParaRPr lang="en-US" dirty="0"/>
          </a:p>
        </p:txBody>
      </p:sp>
      <p:sp>
        <p:nvSpPr>
          <p:cNvPr id="6" name="Footer Placeholder 5">
            <a:extLst>
              <a:ext uri="{FF2B5EF4-FFF2-40B4-BE49-F238E27FC236}">
                <a16:creationId xmlns:a16="http://schemas.microsoft.com/office/drawing/2014/main" id="{66AC3F26-9AB3-4B0E-BF81-02613FBB29F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45D7545-817F-4A0E-81F5-9A6D9F529D20}"/>
              </a:ext>
            </a:extLst>
          </p:cNvPr>
          <p:cNvSpPr>
            <a:spLocks noGrp="1"/>
          </p:cNvSpPr>
          <p:nvPr>
            <p:ph type="sldNum" sz="quarter" idx="12"/>
          </p:nvPr>
        </p:nvSpPr>
        <p:spPr/>
        <p:txBody>
          <a:bodyPr/>
          <a:lstStyle/>
          <a:p>
            <a:fld id="{5BA8F130-BA50-40A3-9E37-FA067D12492E}" type="slidenum">
              <a:rPr lang="en-US" smtClean="0"/>
              <a:t>‹#›</a:t>
            </a:fld>
            <a:endParaRPr lang="en-US" dirty="0"/>
          </a:p>
        </p:txBody>
      </p:sp>
    </p:spTree>
    <p:extLst>
      <p:ext uri="{BB962C8B-B14F-4D97-AF65-F5344CB8AC3E}">
        <p14:creationId xmlns:p14="http://schemas.microsoft.com/office/powerpoint/2010/main" val="3866627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FE635-9CB8-4ACE-AA13-EA621D94D0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F057B3-B546-43DF-A95E-1A222B5AD3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15584AC-7941-41E1-81C8-E7BF14A2BA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12F917-5EB6-471C-8142-63AE6F7E7C9A}"/>
              </a:ext>
            </a:extLst>
          </p:cNvPr>
          <p:cNvSpPr>
            <a:spLocks noGrp="1"/>
          </p:cNvSpPr>
          <p:nvPr>
            <p:ph type="dt" sz="half" idx="10"/>
          </p:nvPr>
        </p:nvSpPr>
        <p:spPr/>
        <p:txBody>
          <a:bodyPr/>
          <a:lstStyle/>
          <a:p>
            <a:fld id="{644BF7E9-ED0F-4335-9F26-1C91A715F974}" type="datetimeFigureOut">
              <a:rPr lang="en-US" smtClean="0"/>
              <a:t>3/17/2026</a:t>
            </a:fld>
            <a:endParaRPr lang="en-US" dirty="0"/>
          </a:p>
        </p:txBody>
      </p:sp>
      <p:sp>
        <p:nvSpPr>
          <p:cNvPr id="6" name="Footer Placeholder 5">
            <a:extLst>
              <a:ext uri="{FF2B5EF4-FFF2-40B4-BE49-F238E27FC236}">
                <a16:creationId xmlns:a16="http://schemas.microsoft.com/office/drawing/2014/main" id="{F5D1978D-1479-447D-B6BB-9356C5B6BD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42CE271-5454-456D-8FCC-21286F30DA6E}"/>
              </a:ext>
            </a:extLst>
          </p:cNvPr>
          <p:cNvSpPr>
            <a:spLocks noGrp="1"/>
          </p:cNvSpPr>
          <p:nvPr>
            <p:ph type="sldNum" sz="quarter" idx="12"/>
          </p:nvPr>
        </p:nvSpPr>
        <p:spPr/>
        <p:txBody>
          <a:bodyPr/>
          <a:lstStyle/>
          <a:p>
            <a:fld id="{5BA8F130-BA50-40A3-9E37-FA067D12492E}" type="slidenum">
              <a:rPr lang="en-US" smtClean="0"/>
              <a:t>‹#›</a:t>
            </a:fld>
            <a:endParaRPr lang="en-US" dirty="0"/>
          </a:p>
        </p:txBody>
      </p:sp>
    </p:spTree>
    <p:extLst>
      <p:ext uri="{BB962C8B-B14F-4D97-AF65-F5344CB8AC3E}">
        <p14:creationId xmlns:p14="http://schemas.microsoft.com/office/powerpoint/2010/main" val="4225010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350AA-8443-4E19-870F-74EEEF0D6E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22C6BA-083E-418F-898E-B28CE7CE79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B1280C-D350-482B-9B4F-2B8A472B84FE}"/>
              </a:ext>
            </a:extLst>
          </p:cNvPr>
          <p:cNvSpPr>
            <a:spLocks noGrp="1"/>
          </p:cNvSpPr>
          <p:nvPr>
            <p:ph type="dt" sz="half" idx="10"/>
          </p:nvPr>
        </p:nvSpPr>
        <p:spPr/>
        <p:txBody>
          <a:bodyPr/>
          <a:lstStyle/>
          <a:p>
            <a:fld id="{644BF7E9-ED0F-4335-9F26-1C91A715F974}" type="datetimeFigureOut">
              <a:rPr lang="en-US" smtClean="0"/>
              <a:t>3/17/2026</a:t>
            </a:fld>
            <a:endParaRPr lang="en-US" dirty="0"/>
          </a:p>
        </p:txBody>
      </p:sp>
      <p:sp>
        <p:nvSpPr>
          <p:cNvPr id="5" name="Footer Placeholder 4">
            <a:extLst>
              <a:ext uri="{FF2B5EF4-FFF2-40B4-BE49-F238E27FC236}">
                <a16:creationId xmlns:a16="http://schemas.microsoft.com/office/drawing/2014/main" id="{79A8D803-5225-40A5-A8D3-1BA53E4533A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0DDF5DA-A186-4305-9D3C-875F4EA2C934}"/>
              </a:ext>
            </a:extLst>
          </p:cNvPr>
          <p:cNvSpPr>
            <a:spLocks noGrp="1"/>
          </p:cNvSpPr>
          <p:nvPr>
            <p:ph type="sldNum" sz="quarter" idx="12"/>
          </p:nvPr>
        </p:nvSpPr>
        <p:spPr/>
        <p:txBody>
          <a:bodyPr/>
          <a:lstStyle/>
          <a:p>
            <a:fld id="{5BA8F130-BA50-40A3-9E37-FA067D12492E}" type="slidenum">
              <a:rPr lang="en-US" smtClean="0"/>
              <a:t>‹#›</a:t>
            </a:fld>
            <a:endParaRPr lang="en-US" dirty="0"/>
          </a:p>
        </p:txBody>
      </p:sp>
    </p:spTree>
    <p:extLst>
      <p:ext uri="{BB962C8B-B14F-4D97-AF65-F5344CB8AC3E}">
        <p14:creationId xmlns:p14="http://schemas.microsoft.com/office/powerpoint/2010/main" val="1208792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8BE6AE-95F5-457F-B74F-A78A9182A9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7BA814-251E-4D4D-905E-3F82090865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F2BBB1-A0D8-411C-8146-C077B9EC51BA}"/>
              </a:ext>
            </a:extLst>
          </p:cNvPr>
          <p:cNvSpPr>
            <a:spLocks noGrp="1"/>
          </p:cNvSpPr>
          <p:nvPr>
            <p:ph type="dt" sz="half" idx="10"/>
          </p:nvPr>
        </p:nvSpPr>
        <p:spPr/>
        <p:txBody>
          <a:bodyPr/>
          <a:lstStyle/>
          <a:p>
            <a:fld id="{644BF7E9-ED0F-4335-9F26-1C91A715F974}" type="datetimeFigureOut">
              <a:rPr lang="en-US" smtClean="0"/>
              <a:t>3/17/2026</a:t>
            </a:fld>
            <a:endParaRPr lang="en-US" dirty="0"/>
          </a:p>
        </p:txBody>
      </p:sp>
      <p:sp>
        <p:nvSpPr>
          <p:cNvPr id="5" name="Footer Placeholder 4">
            <a:extLst>
              <a:ext uri="{FF2B5EF4-FFF2-40B4-BE49-F238E27FC236}">
                <a16:creationId xmlns:a16="http://schemas.microsoft.com/office/drawing/2014/main" id="{DC7F879F-AC7D-4F1A-9560-95DFE45AA5C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7B4316E-9C77-4347-84EE-CCC149639A98}"/>
              </a:ext>
            </a:extLst>
          </p:cNvPr>
          <p:cNvSpPr>
            <a:spLocks noGrp="1"/>
          </p:cNvSpPr>
          <p:nvPr>
            <p:ph type="sldNum" sz="quarter" idx="12"/>
          </p:nvPr>
        </p:nvSpPr>
        <p:spPr/>
        <p:txBody>
          <a:bodyPr/>
          <a:lstStyle/>
          <a:p>
            <a:fld id="{5BA8F130-BA50-40A3-9E37-FA067D12492E}" type="slidenum">
              <a:rPr lang="en-US" smtClean="0"/>
              <a:t>‹#›</a:t>
            </a:fld>
            <a:endParaRPr lang="en-US" dirty="0"/>
          </a:p>
        </p:txBody>
      </p:sp>
    </p:spTree>
    <p:extLst>
      <p:ext uri="{BB962C8B-B14F-4D97-AF65-F5344CB8AC3E}">
        <p14:creationId xmlns:p14="http://schemas.microsoft.com/office/powerpoint/2010/main" val="1217720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AA2FDC-B1CF-4195-8F52-7673A3FC5D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951080-A26C-4778-9D18-F88A817F7C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B4553A-7256-49E7-851A-5D45BD374B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4BF7E9-ED0F-4335-9F26-1C91A715F974}" type="datetimeFigureOut">
              <a:rPr lang="en-US" smtClean="0"/>
              <a:t>3/17/2026</a:t>
            </a:fld>
            <a:endParaRPr lang="en-US" dirty="0"/>
          </a:p>
        </p:txBody>
      </p:sp>
      <p:sp>
        <p:nvSpPr>
          <p:cNvPr id="5" name="Footer Placeholder 4">
            <a:extLst>
              <a:ext uri="{FF2B5EF4-FFF2-40B4-BE49-F238E27FC236}">
                <a16:creationId xmlns:a16="http://schemas.microsoft.com/office/drawing/2014/main" id="{0AE540F5-DC32-48DF-B040-B2CA88267F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9D10298F-F12A-47CB-B005-9DF19963CB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A8F130-BA50-40A3-9E37-FA067D12492E}" type="slidenum">
              <a:rPr lang="en-US" smtClean="0"/>
              <a:t>‹#›</a:t>
            </a:fld>
            <a:endParaRPr lang="en-US" dirty="0"/>
          </a:p>
        </p:txBody>
      </p:sp>
      <p:pic>
        <p:nvPicPr>
          <p:cNvPr id="7170" name="Picture 2" descr="Free Xml File Icon - Free Download Files &amp; Folders Icons | IconScout">
            <a:extLst>
              <a:ext uri="{FF2B5EF4-FFF2-40B4-BE49-F238E27FC236}">
                <a16:creationId xmlns:a16="http://schemas.microsoft.com/office/drawing/2014/main" id="{D86E99D4-0FF3-4F04-8E1B-C4DCF508B107}"/>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530840" y="90012"/>
            <a:ext cx="1645920" cy="1645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1680319"/>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3schools.com/"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www.w3.org/2001/XMLSchema"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easycodeforall.com/generate-xpath.html" TargetMode="Externa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8165" y="3567851"/>
            <a:ext cx="6815669" cy="1515533"/>
          </a:xfrm>
        </p:spPr>
        <p:txBody>
          <a:bodyPr>
            <a:normAutofit fontScale="90000"/>
          </a:bodyPr>
          <a:lstStyle/>
          <a:p>
            <a:r>
              <a:rPr lang="en-US" b="1" dirty="0"/>
              <a:t>Unit 5</a:t>
            </a:r>
            <a:br>
              <a:rPr lang="en-US" b="1" dirty="0"/>
            </a:br>
            <a:br>
              <a:rPr lang="en-US" b="1" dirty="0"/>
            </a:br>
            <a:r>
              <a:rPr lang="en-US" b="1" dirty="0"/>
              <a:t>AJAX &amp; Extensible Markup Language</a:t>
            </a:r>
          </a:p>
        </p:txBody>
      </p:sp>
      <p:pic>
        <p:nvPicPr>
          <p:cNvPr id="4098" name="Picture 2" descr="AJAX (Asynchronous JavaScript And XML) - Garbage Value">
            <a:extLst>
              <a:ext uri="{FF2B5EF4-FFF2-40B4-BE49-F238E27FC236}">
                <a16:creationId xmlns:a16="http://schemas.microsoft.com/office/drawing/2014/main" id="{BBA9D705-DD0E-4E41-8FF4-25E1158BA4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9605" y="1748365"/>
            <a:ext cx="1680635" cy="1680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88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0748-7D84-407C-A878-B7153A17A92C}"/>
              </a:ext>
            </a:extLst>
          </p:cNvPr>
          <p:cNvSpPr>
            <a:spLocks noGrp="1"/>
          </p:cNvSpPr>
          <p:nvPr>
            <p:ph type="title"/>
          </p:nvPr>
        </p:nvSpPr>
        <p:spPr/>
        <p:txBody>
          <a:bodyPr/>
          <a:lstStyle/>
          <a:p>
            <a:r>
              <a:rPr lang="en-US" b="1" dirty="0"/>
              <a:t>AJAX</a:t>
            </a:r>
          </a:p>
        </p:txBody>
      </p:sp>
      <p:sp>
        <p:nvSpPr>
          <p:cNvPr id="3" name="Content Placeholder 2">
            <a:extLst>
              <a:ext uri="{FF2B5EF4-FFF2-40B4-BE49-F238E27FC236}">
                <a16:creationId xmlns:a16="http://schemas.microsoft.com/office/drawing/2014/main" id="{88175112-76C6-49DE-88BB-FE808C1DBCC0}"/>
              </a:ext>
            </a:extLst>
          </p:cNvPr>
          <p:cNvSpPr>
            <a:spLocks noGrp="1"/>
          </p:cNvSpPr>
          <p:nvPr>
            <p:ph idx="1"/>
          </p:nvPr>
        </p:nvSpPr>
        <p:spPr/>
        <p:txBody>
          <a:bodyPr>
            <a:normAutofit/>
          </a:bodyPr>
          <a:lstStyle/>
          <a:p>
            <a:r>
              <a:rPr lang="en-US" dirty="0"/>
              <a:t>AJAX stands for Asynchronous JavaScript and XML, and it describes a set of development techniques used for building websites and web applications. With the help of AJAX user’s web browser doesn’t need to reload an entire webpage when only a small portion of content on the page needs to change. With the help of AJAX we can:</a:t>
            </a:r>
          </a:p>
          <a:p>
            <a:r>
              <a:rPr lang="en-US" dirty="0"/>
              <a:t>Update a web page without reloading the page</a:t>
            </a:r>
          </a:p>
          <a:p>
            <a:r>
              <a:rPr lang="en-US" dirty="0"/>
              <a:t>Request data from a server after the page has loaded</a:t>
            </a:r>
          </a:p>
          <a:p>
            <a:r>
              <a:rPr lang="en-US" dirty="0"/>
              <a:t>Receive data from a server after the page has loaded</a:t>
            </a:r>
          </a:p>
          <a:p>
            <a:r>
              <a:rPr lang="en-US" dirty="0"/>
              <a:t>Send data to a server in the background.</a:t>
            </a:r>
          </a:p>
        </p:txBody>
      </p:sp>
    </p:spTree>
    <p:extLst>
      <p:ext uri="{BB962C8B-B14F-4D97-AF65-F5344CB8AC3E}">
        <p14:creationId xmlns:p14="http://schemas.microsoft.com/office/powerpoint/2010/main" val="2730480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0748-7D84-407C-A878-B7153A17A92C}"/>
              </a:ext>
            </a:extLst>
          </p:cNvPr>
          <p:cNvSpPr>
            <a:spLocks noGrp="1"/>
          </p:cNvSpPr>
          <p:nvPr>
            <p:ph type="title"/>
          </p:nvPr>
        </p:nvSpPr>
        <p:spPr/>
        <p:txBody>
          <a:bodyPr/>
          <a:lstStyle/>
          <a:p>
            <a:r>
              <a:rPr lang="en-US" b="1" dirty="0"/>
              <a:t>Working of AJAX</a:t>
            </a:r>
          </a:p>
        </p:txBody>
      </p:sp>
      <p:sp>
        <p:nvSpPr>
          <p:cNvPr id="3" name="Content Placeholder 2">
            <a:extLst>
              <a:ext uri="{FF2B5EF4-FFF2-40B4-BE49-F238E27FC236}">
                <a16:creationId xmlns:a16="http://schemas.microsoft.com/office/drawing/2014/main" id="{88175112-76C6-49DE-88BB-FE808C1DBCC0}"/>
              </a:ext>
            </a:extLst>
          </p:cNvPr>
          <p:cNvSpPr>
            <a:spLocks noGrp="1"/>
          </p:cNvSpPr>
          <p:nvPr>
            <p:ph idx="1"/>
          </p:nvPr>
        </p:nvSpPr>
        <p:spPr/>
        <p:txBody>
          <a:bodyPr>
            <a:normAutofit/>
          </a:bodyPr>
          <a:lstStyle/>
          <a:p>
            <a:r>
              <a:rPr lang="en-US" dirty="0"/>
              <a:t>An event occurs in a webpage(for e.g. a button is clicked)</a:t>
            </a:r>
          </a:p>
          <a:p>
            <a:r>
              <a:rPr lang="en-US" dirty="0"/>
              <a:t>An XMLHttpRequest object is created by JavaScript</a:t>
            </a:r>
          </a:p>
          <a:p>
            <a:r>
              <a:rPr lang="en-US" dirty="0"/>
              <a:t>The XMLHttpRequest object sends a request to web server.</a:t>
            </a:r>
          </a:p>
          <a:p>
            <a:r>
              <a:rPr lang="en-US" dirty="0"/>
              <a:t>The server processes the request and sends response back to the web page</a:t>
            </a:r>
          </a:p>
          <a:p>
            <a:r>
              <a:rPr lang="en-US" dirty="0"/>
              <a:t>The response is read by JavaScript and proper action is performed by JavaScript(like page update).</a:t>
            </a:r>
          </a:p>
        </p:txBody>
      </p:sp>
    </p:spTree>
    <p:extLst>
      <p:ext uri="{BB962C8B-B14F-4D97-AF65-F5344CB8AC3E}">
        <p14:creationId xmlns:p14="http://schemas.microsoft.com/office/powerpoint/2010/main" val="2198660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0748-7D84-407C-A878-B7153A17A92C}"/>
              </a:ext>
            </a:extLst>
          </p:cNvPr>
          <p:cNvSpPr>
            <a:spLocks noGrp="1"/>
          </p:cNvSpPr>
          <p:nvPr>
            <p:ph type="title"/>
          </p:nvPr>
        </p:nvSpPr>
        <p:spPr/>
        <p:txBody>
          <a:bodyPr/>
          <a:lstStyle/>
          <a:p>
            <a:r>
              <a:rPr lang="en-US" b="1" dirty="0"/>
              <a:t>Advantage of AJAX</a:t>
            </a:r>
          </a:p>
        </p:txBody>
      </p:sp>
      <p:sp>
        <p:nvSpPr>
          <p:cNvPr id="3" name="Content Placeholder 2">
            <a:extLst>
              <a:ext uri="{FF2B5EF4-FFF2-40B4-BE49-F238E27FC236}">
                <a16:creationId xmlns:a16="http://schemas.microsoft.com/office/drawing/2014/main" id="{88175112-76C6-49DE-88BB-FE808C1DBCC0}"/>
              </a:ext>
            </a:extLst>
          </p:cNvPr>
          <p:cNvSpPr>
            <a:spLocks noGrp="1"/>
          </p:cNvSpPr>
          <p:nvPr>
            <p:ph idx="1"/>
          </p:nvPr>
        </p:nvSpPr>
        <p:spPr/>
        <p:txBody>
          <a:bodyPr>
            <a:normAutofit/>
          </a:bodyPr>
          <a:lstStyle/>
          <a:p>
            <a:r>
              <a:rPr lang="en-US" dirty="0"/>
              <a:t>Speed: It reduces server traffic in both side request as well as time consuming on both side response</a:t>
            </a:r>
          </a:p>
          <a:p>
            <a:r>
              <a:rPr lang="en-US" dirty="0"/>
              <a:t>Interactive</a:t>
            </a:r>
          </a:p>
          <a:p>
            <a:r>
              <a:rPr lang="en-US" dirty="0"/>
              <a:t>Asynchronous calls</a:t>
            </a:r>
          </a:p>
          <a:p>
            <a:r>
              <a:rPr lang="en-US" dirty="0"/>
              <a:t>Form Validation</a:t>
            </a:r>
          </a:p>
          <a:p>
            <a:r>
              <a:rPr lang="en-US" dirty="0"/>
              <a:t>Bandwidth Usage</a:t>
            </a:r>
          </a:p>
        </p:txBody>
      </p:sp>
    </p:spTree>
    <p:extLst>
      <p:ext uri="{BB962C8B-B14F-4D97-AF65-F5344CB8AC3E}">
        <p14:creationId xmlns:p14="http://schemas.microsoft.com/office/powerpoint/2010/main" val="1807836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0748-7D84-407C-A878-B7153A17A92C}"/>
              </a:ext>
            </a:extLst>
          </p:cNvPr>
          <p:cNvSpPr>
            <a:spLocks noGrp="1"/>
          </p:cNvSpPr>
          <p:nvPr>
            <p:ph type="title"/>
          </p:nvPr>
        </p:nvSpPr>
        <p:spPr/>
        <p:txBody>
          <a:bodyPr/>
          <a:lstStyle/>
          <a:p>
            <a:r>
              <a:rPr lang="en-US" b="1" dirty="0"/>
              <a:t>Disadvantage of AJAX</a:t>
            </a:r>
          </a:p>
        </p:txBody>
      </p:sp>
      <p:sp>
        <p:nvSpPr>
          <p:cNvPr id="3" name="Content Placeholder 2">
            <a:extLst>
              <a:ext uri="{FF2B5EF4-FFF2-40B4-BE49-F238E27FC236}">
                <a16:creationId xmlns:a16="http://schemas.microsoft.com/office/drawing/2014/main" id="{88175112-76C6-49DE-88BB-FE808C1DBCC0}"/>
              </a:ext>
            </a:extLst>
          </p:cNvPr>
          <p:cNvSpPr>
            <a:spLocks noGrp="1"/>
          </p:cNvSpPr>
          <p:nvPr>
            <p:ph idx="1"/>
          </p:nvPr>
        </p:nvSpPr>
        <p:spPr/>
        <p:txBody>
          <a:bodyPr>
            <a:normAutofit/>
          </a:bodyPr>
          <a:lstStyle/>
          <a:p>
            <a:r>
              <a:rPr lang="en-US" dirty="0"/>
              <a:t>Search engines would not be able to index an AJAX application</a:t>
            </a:r>
          </a:p>
          <a:p>
            <a:r>
              <a:rPr lang="en-US" dirty="0"/>
              <a:t>The server information can not be accessed within AJAX</a:t>
            </a:r>
          </a:p>
          <a:p>
            <a:r>
              <a:rPr lang="en-US" dirty="0"/>
              <a:t>AJAX is not well integrated with any bowser</a:t>
            </a:r>
          </a:p>
          <a:p>
            <a:r>
              <a:rPr lang="en-US" dirty="0"/>
              <a:t>ActiveX requests are enabled only in IE5 and IE6.</a:t>
            </a:r>
          </a:p>
          <a:p>
            <a:r>
              <a:rPr lang="en-US" dirty="0"/>
              <a:t>Data of all requests is URL encoded which increases size of the request.</a:t>
            </a:r>
          </a:p>
        </p:txBody>
      </p:sp>
    </p:spTree>
    <p:extLst>
      <p:ext uri="{BB962C8B-B14F-4D97-AF65-F5344CB8AC3E}">
        <p14:creationId xmlns:p14="http://schemas.microsoft.com/office/powerpoint/2010/main" val="391428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0748-7D84-407C-A878-B7153A17A92C}"/>
              </a:ext>
            </a:extLst>
          </p:cNvPr>
          <p:cNvSpPr>
            <a:spLocks noGrp="1"/>
          </p:cNvSpPr>
          <p:nvPr>
            <p:ph type="title"/>
          </p:nvPr>
        </p:nvSpPr>
        <p:spPr/>
        <p:txBody>
          <a:bodyPr/>
          <a:lstStyle/>
          <a:p>
            <a:r>
              <a:rPr lang="en-US" b="1" dirty="0"/>
              <a:t>XMLHttpRequest Object</a:t>
            </a:r>
          </a:p>
        </p:txBody>
      </p:sp>
      <p:sp>
        <p:nvSpPr>
          <p:cNvPr id="3" name="Content Placeholder 2">
            <a:extLst>
              <a:ext uri="{FF2B5EF4-FFF2-40B4-BE49-F238E27FC236}">
                <a16:creationId xmlns:a16="http://schemas.microsoft.com/office/drawing/2014/main" id="{88175112-76C6-49DE-88BB-FE808C1DBCC0}"/>
              </a:ext>
            </a:extLst>
          </p:cNvPr>
          <p:cNvSpPr>
            <a:spLocks noGrp="1"/>
          </p:cNvSpPr>
          <p:nvPr>
            <p:ph idx="1"/>
          </p:nvPr>
        </p:nvSpPr>
        <p:spPr/>
        <p:txBody>
          <a:bodyPr>
            <a:normAutofit/>
          </a:bodyPr>
          <a:lstStyle/>
          <a:p>
            <a:r>
              <a:rPr lang="en-US" dirty="0"/>
              <a:t>All the modern browsers support the XMLHttpRequest object. The XMLHttpRequest object can be used to exchange data with the server.</a:t>
            </a:r>
            <a:br>
              <a:rPr lang="en-US" dirty="0"/>
            </a:br>
            <a:r>
              <a:rPr lang="en-US" dirty="0"/>
              <a:t>E.g</a:t>
            </a:r>
            <a:r>
              <a:rPr lang="en-US" b="1" dirty="0"/>
              <a:t>. var xhr=new XMLHttpRequest();</a:t>
            </a:r>
            <a:r>
              <a:rPr lang="en-US" dirty="0"/>
              <a:t>		//declaring request object</a:t>
            </a:r>
          </a:p>
          <a:p>
            <a:r>
              <a:rPr lang="en-US" b="1" dirty="0"/>
              <a:t>AJAX Request</a:t>
            </a:r>
            <a:r>
              <a:rPr lang="en-US" dirty="0"/>
              <a:t>: To send a request to a server, we use the open() and send() methods of the XMLHttpRequest object.</a:t>
            </a:r>
          </a:p>
          <a:p>
            <a:r>
              <a:rPr lang="en-US" dirty="0"/>
              <a:t>E.g. </a:t>
            </a:r>
            <a:r>
              <a:rPr lang="en-US" b="1" dirty="0"/>
              <a:t>xhr.open(“GET”,”user_info.txt”,true);	</a:t>
            </a:r>
            <a:r>
              <a:rPr lang="en-US" dirty="0"/>
              <a:t>		//(mehod,URL,async)</a:t>
            </a:r>
          </a:p>
          <a:p>
            <a:pPr marL="457200" lvl="1" indent="0">
              <a:buNone/>
            </a:pPr>
            <a:r>
              <a:rPr lang="en-US" dirty="0"/>
              <a:t>	</a:t>
            </a:r>
            <a:r>
              <a:rPr lang="en-US" sz="2400" b="1" dirty="0"/>
              <a:t>xhr.send();</a:t>
            </a:r>
            <a:r>
              <a:rPr lang="en-US" sz="2400" dirty="0"/>
              <a:t>										//send(string) for POST</a:t>
            </a:r>
            <a:endParaRPr lang="en-US" dirty="0"/>
          </a:p>
        </p:txBody>
      </p:sp>
    </p:spTree>
    <p:extLst>
      <p:ext uri="{BB962C8B-B14F-4D97-AF65-F5344CB8AC3E}">
        <p14:creationId xmlns:p14="http://schemas.microsoft.com/office/powerpoint/2010/main" val="1548817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0748-7D84-407C-A878-B7153A17A92C}"/>
              </a:ext>
            </a:extLst>
          </p:cNvPr>
          <p:cNvSpPr>
            <a:spLocks noGrp="1"/>
          </p:cNvSpPr>
          <p:nvPr>
            <p:ph type="title"/>
          </p:nvPr>
        </p:nvSpPr>
        <p:spPr/>
        <p:txBody>
          <a:bodyPr/>
          <a:lstStyle/>
          <a:p>
            <a:r>
              <a:rPr lang="en-US" b="1" dirty="0"/>
              <a:t>XMLHttpRequest Object</a:t>
            </a:r>
          </a:p>
        </p:txBody>
      </p:sp>
      <p:sp>
        <p:nvSpPr>
          <p:cNvPr id="3" name="Content Placeholder 2">
            <a:extLst>
              <a:ext uri="{FF2B5EF4-FFF2-40B4-BE49-F238E27FC236}">
                <a16:creationId xmlns:a16="http://schemas.microsoft.com/office/drawing/2014/main" id="{88175112-76C6-49DE-88BB-FE808C1DBCC0}"/>
              </a:ext>
            </a:extLst>
          </p:cNvPr>
          <p:cNvSpPr>
            <a:spLocks noGrp="1"/>
          </p:cNvSpPr>
          <p:nvPr>
            <p:ph idx="1"/>
          </p:nvPr>
        </p:nvSpPr>
        <p:spPr/>
        <p:txBody>
          <a:bodyPr>
            <a:normAutofit/>
          </a:bodyPr>
          <a:lstStyle/>
          <a:p>
            <a:r>
              <a:rPr lang="en-US" b="1" dirty="0"/>
              <a:t>AJAX Response</a:t>
            </a:r>
            <a:r>
              <a:rPr lang="en-US" dirty="0"/>
              <a:t>: The responseText property returns the server response as JavaScript string, and we can use it accordingly:</a:t>
            </a:r>
          </a:p>
          <a:p>
            <a:r>
              <a:rPr lang="en-US" dirty="0"/>
              <a:t>Example: </a:t>
            </a:r>
            <a:r>
              <a:rPr lang="en-US" b="1" dirty="0"/>
              <a:t>document.getElementById(“demo”).innerHTML=xhr.responseText;</a:t>
            </a:r>
          </a:p>
          <a:p>
            <a:r>
              <a:rPr lang="en-US" dirty="0"/>
              <a:t>The responseXML property returns the server response as an XML DOM object. getResponseHeader() and getAllResponseHeader() are the server response methods.</a:t>
            </a:r>
          </a:p>
        </p:txBody>
      </p:sp>
    </p:spTree>
    <p:extLst>
      <p:ext uri="{BB962C8B-B14F-4D97-AF65-F5344CB8AC3E}">
        <p14:creationId xmlns:p14="http://schemas.microsoft.com/office/powerpoint/2010/main" val="3878252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XML (Extensible Markup Language)</a:t>
            </a:r>
          </a:p>
        </p:txBody>
      </p:sp>
      <p:sp>
        <p:nvSpPr>
          <p:cNvPr id="3" name="Content Placeholder 2"/>
          <p:cNvSpPr>
            <a:spLocks noGrp="1"/>
          </p:cNvSpPr>
          <p:nvPr>
            <p:ph idx="1"/>
          </p:nvPr>
        </p:nvSpPr>
        <p:spPr/>
        <p:txBody>
          <a:bodyPr>
            <a:normAutofit fontScale="92500" lnSpcReduction="20000"/>
          </a:bodyPr>
          <a:lstStyle/>
          <a:p>
            <a:pPr algn="just"/>
            <a:r>
              <a:rPr lang="en-US" dirty="0"/>
              <a:t>XML (Extensible Markup Language) is a markup language that defines a set of rules for encoding documents in a format that is both human-readable and machine-readable. It was designed to store and transport data in a structured manner.</a:t>
            </a:r>
          </a:p>
          <a:p>
            <a:pPr algn="l">
              <a:buFont typeface="Arial" panose="020B0604020202020204" pitchFamily="34" charset="0"/>
              <a:buChar char="•"/>
            </a:pPr>
            <a:r>
              <a:rPr lang="en-US" b="0" i="0" dirty="0">
                <a:solidFill>
                  <a:srgbClr val="000000"/>
                </a:solidFill>
                <a:effectLst/>
                <a:latin typeface="Verdana" panose="020B0604030504040204" pitchFamily="34" charset="0"/>
              </a:rPr>
              <a:t>XML stands for eXtensible Markup Language</a:t>
            </a:r>
          </a:p>
          <a:p>
            <a:pPr algn="l">
              <a:buFont typeface="Arial" panose="020B0604020202020204" pitchFamily="34" charset="0"/>
              <a:buChar char="•"/>
            </a:pPr>
            <a:r>
              <a:rPr lang="en-US" b="0" i="0" dirty="0">
                <a:solidFill>
                  <a:srgbClr val="000000"/>
                </a:solidFill>
                <a:effectLst/>
                <a:latin typeface="Verdana" panose="020B0604030504040204" pitchFamily="34" charset="0"/>
              </a:rPr>
              <a:t>XML is a markup language much like HTML</a:t>
            </a:r>
          </a:p>
          <a:p>
            <a:pPr algn="l">
              <a:buFont typeface="Arial" panose="020B0604020202020204" pitchFamily="34" charset="0"/>
              <a:buChar char="•"/>
            </a:pPr>
            <a:r>
              <a:rPr lang="en-US" b="0" i="0" dirty="0">
                <a:solidFill>
                  <a:srgbClr val="000000"/>
                </a:solidFill>
                <a:effectLst/>
                <a:latin typeface="Verdana" panose="020B0604030504040204" pitchFamily="34" charset="0"/>
              </a:rPr>
              <a:t>XML was designed to store and transport data not display</a:t>
            </a:r>
          </a:p>
          <a:p>
            <a:pPr algn="l">
              <a:buFont typeface="Arial" panose="020B0604020202020204" pitchFamily="34" charset="0"/>
              <a:buChar char="•"/>
            </a:pPr>
            <a:r>
              <a:rPr lang="en-US" b="0" i="0" dirty="0">
                <a:solidFill>
                  <a:srgbClr val="000000"/>
                </a:solidFill>
                <a:effectLst/>
                <a:latin typeface="Verdana" panose="020B0604030504040204" pitchFamily="34" charset="0"/>
              </a:rPr>
              <a:t>XML was designed to be self-descriptive</a:t>
            </a:r>
          </a:p>
          <a:p>
            <a:pPr algn="l">
              <a:buFont typeface="Arial" panose="020B0604020202020204" pitchFamily="34" charset="0"/>
              <a:buChar char="•"/>
            </a:pPr>
            <a:endParaRPr lang="en-US" b="0" i="0" dirty="0">
              <a:solidFill>
                <a:srgbClr val="000000"/>
              </a:solidFill>
              <a:effectLst/>
              <a:latin typeface="Verdana" panose="020B0604030504040204" pitchFamily="34" charset="0"/>
            </a:endParaRPr>
          </a:p>
          <a:p>
            <a:pPr algn="l">
              <a:buFont typeface="Arial" panose="020B0604020202020204" pitchFamily="34" charset="0"/>
              <a:buChar char="•"/>
            </a:pPr>
            <a:r>
              <a:rPr lang="en-US" b="0" i="0">
                <a:solidFill>
                  <a:srgbClr val="000000"/>
                </a:solidFill>
                <a:effectLst/>
                <a:latin typeface="Verdana" panose="020B0604030504040204" pitchFamily="34" charset="0"/>
              </a:rPr>
              <a:t>Platform independent</a:t>
            </a:r>
            <a:endParaRPr lang="en-US" b="0" i="0" dirty="0">
              <a:solidFill>
                <a:srgbClr val="000000"/>
              </a:solidFill>
              <a:effectLst/>
              <a:latin typeface="Verdana" panose="020B0604030504040204" pitchFamily="34" charset="0"/>
            </a:endParaRPr>
          </a:p>
          <a:p>
            <a:pPr algn="l">
              <a:buFont typeface="Arial" panose="020B0604020202020204" pitchFamily="34" charset="0"/>
              <a:buChar char="•"/>
            </a:pPr>
            <a:r>
              <a:rPr lang="en-US" b="0" i="0" dirty="0">
                <a:solidFill>
                  <a:srgbClr val="000000"/>
                </a:solidFill>
                <a:effectLst/>
                <a:latin typeface="Verdana" panose="020B0604030504040204" pitchFamily="34" charset="0"/>
              </a:rPr>
              <a:t>XML is a W3C Recommendation</a:t>
            </a:r>
          </a:p>
          <a:p>
            <a:pPr algn="just"/>
            <a:endParaRPr lang="en-US" dirty="0"/>
          </a:p>
          <a:p>
            <a:pPr marL="0" indent="0" algn="just">
              <a:buNone/>
            </a:pPr>
            <a:endParaRPr lang="en-US" dirty="0"/>
          </a:p>
          <a:p>
            <a:pPr algn="just"/>
            <a:endParaRPr lang="en-US" dirty="0"/>
          </a:p>
        </p:txBody>
      </p:sp>
    </p:spTree>
    <p:extLst>
      <p:ext uri="{BB962C8B-B14F-4D97-AF65-F5344CB8AC3E}">
        <p14:creationId xmlns:p14="http://schemas.microsoft.com/office/powerpoint/2010/main" val="4009920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Applications/Use of XML</a:t>
            </a:r>
          </a:p>
        </p:txBody>
      </p:sp>
      <p:sp>
        <p:nvSpPr>
          <p:cNvPr id="3" name="Content Placeholder 2"/>
          <p:cNvSpPr>
            <a:spLocks noGrp="1"/>
          </p:cNvSpPr>
          <p:nvPr>
            <p:ph idx="1"/>
          </p:nvPr>
        </p:nvSpPr>
        <p:spPr/>
        <p:txBody>
          <a:bodyPr/>
          <a:lstStyle/>
          <a:p>
            <a:pPr marL="0" indent="0" algn="just">
              <a:buNone/>
            </a:pPr>
            <a:r>
              <a:rPr lang="en-US" dirty="0"/>
              <a:t>Vector Markup language(VML) : It is a language based on XML, which allows us to describe and format vectors. It was designed to help the developers address book problems with binary graphic files. The great application of VML is the creation of menus and navigational elements.</a:t>
            </a:r>
          </a:p>
          <a:p>
            <a:pPr marL="0" indent="0" algn="just">
              <a:buNone/>
            </a:pPr>
            <a:r>
              <a:rPr lang="en-US" dirty="0"/>
              <a:t>XML based variant configuration language(XVCL): Variants generally occurs in software reuse. XVCL allows us to configure product variants from common core generic, reusable meta components.</a:t>
            </a:r>
          </a:p>
          <a:p>
            <a:pPr algn="just"/>
            <a:endParaRPr lang="en-US" dirty="0"/>
          </a:p>
        </p:txBody>
      </p:sp>
    </p:spTree>
    <p:extLst>
      <p:ext uri="{BB962C8B-B14F-4D97-AF65-F5344CB8AC3E}">
        <p14:creationId xmlns:p14="http://schemas.microsoft.com/office/powerpoint/2010/main" val="1754648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Applications/Use of XML</a:t>
            </a:r>
          </a:p>
        </p:txBody>
      </p:sp>
      <p:sp>
        <p:nvSpPr>
          <p:cNvPr id="3" name="Content Placeholder 2"/>
          <p:cNvSpPr>
            <a:spLocks noGrp="1"/>
          </p:cNvSpPr>
          <p:nvPr>
            <p:ph idx="1"/>
          </p:nvPr>
        </p:nvSpPr>
        <p:spPr/>
        <p:txBody>
          <a:bodyPr/>
          <a:lstStyle/>
          <a:p>
            <a:pPr algn="just"/>
            <a:r>
              <a:rPr lang="en-US" dirty="0"/>
              <a:t>SMIL 2.0: It allows us to use a text editor to create reusable content such as audio, video that can be delivered through web.</a:t>
            </a:r>
          </a:p>
          <a:p>
            <a:pPr algn="just"/>
            <a:r>
              <a:rPr lang="en-US" dirty="0"/>
              <a:t>XML based directories for MXF/AAF applications: Advanced Authoring Format(AAF) is a binary file format for post production environment. It has a model that can be used for describing video, audio etc.</a:t>
            </a:r>
          </a:p>
        </p:txBody>
      </p:sp>
    </p:spTree>
    <p:extLst>
      <p:ext uri="{BB962C8B-B14F-4D97-AF65-F5344CB8AC3E}">
        <p14:creationId xmlns:p14="http://schemas.microsoft.com/office/powerpoint/2010/main" val="2931258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308988"/>
            <a:ext cx="9601196" cy="1303867"/>
          </a:xfrm>
        </p:spPr>
        <p:txBody>
          <a:bodyPr/>
          <a:lstStyle/>
          <a:p>
            <a:r>
              <a:rPr lang="en-US" b="1" dirty="0"/>
              <a:t>Example</a:t>
            </a:r>
          </a:p>
        </p:txBody>
      </p:sp>
      <p:sp>
        <p:nvSpPr>
          <p:cNvPr id="6" name="TextBox 5"/>
          <p:cNvSpPr txBox="1"/>
          <p:nvPr/>
        </p:nvSpPr>
        <p:spPr>
          <a:xfrm>
            <a:off x="1329180" y="1707195"/>
            <a:ext cx="9949206" cy="646331"/>
          </a:xfrm>
          <a:prstGeom prst="rect">
            <a:avLst/>
          </a:prstGeom>
          <a:noFill/>
        </p:spPr>
        <p:txBody>
          <a:bodyPr wrap="square" rtlCol="0">
            <a:spAutoFit/>
          </a:bodyPr>
          <a:lstStyle/>
          <a:p>
            <a:r>
              <a:rPr lang="en-US" dirty="0"/>
              <a:t>The line &lt;?xml version="1.0" encoding="UTF-8"?&gt; is called the XML declaration. It is used to specify the version of XML being used and the character encoding used in the XML document.</a:t>
            </a:r>
          </a:p>
        </p:txBody>
      </p:sp>
      <p:pic>
        <p:nvPicPr>
          <p:cNvPr id="2050" name="Picture 2" descr="XML | Basics - GeeksforGeeks">
            <a:extLst>
              <a:ext uri="{FF2B5EF4-FFF2-40B4-BE49-F238E27FC236}">
                <a16:creationId xmlns:a16="http://schemas.microsoft.com/office/drawing/2014/main" id="{4243B434-9B8B-4F03-9AB6-B447C75292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9180" y="2556932"/>
            <a:ext cx="5981700" cy="316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2096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AB064-75A4-4C9C-8892-3CE51825655B}"/>
              </a:ext>
            </a:extLst>
          </p:cNvPr>
          <p:cNvSpPr>
            <a:spLocks noGrp="1"/>
          </p:cNvSpPr>
          <p:nvPr>
            <p:ph type="title"/>
          </p:nvPr>
        </p:nvSpPr>
        <p:spPr/>
        <p:txBody>
          <a:bodyPr/>
          <a:lstStyle/>
          <a:p>
            <a:r>
              <a:rPr lang="en-US" dirty="0"/>
              <a:t>Syntax rules for XML documents</a:t>
            </a:r>
          </a:p>
        </p:txBody>
      </p:sp>
      <p:sp>
        <p:nvSpPr>
          <p:cNvPr id="3" name="Content Placeholder 2">
            <a:extLst>
              <a:ext uri="{FF2B5EF4-FFF2-40B4-BE49-F238E27FC236}">
                <a16:creationId xmlns:a16="http://schemas.microsoft.com/office/drawing/2014/main" id="{499EC687-E5D9-40D0-AF0D-60419E3AD931}"/>
              </a:ext>
            </a:extLst>
          </p:cNvPr>
          <p:cNvSpPr>
            <a:spLocks noGrp="1"/>
          </p:cNvSpPr>
          <p:nvPr>
            <p:ph idx="1"/>
          </p:nvPr>
        </p:nvSpPr>
        <p:spPr/>
        <p:txBody>
          <a:bodyPr/>
          <a:lstStyle/>
          <a:p>
            <a:r>
              <a:rPr lang="en-US" b="1" dirty="0"/>
              <a:t>Rule 1: All XML must have a Root Element.</a:t>
            </a:r>
          </a:p>
          <a:p>
            <a:r>
              <a:rPr lang="en-US" dirty="0"/>
              <a:t>A root element is simply a set of tag that contains our XML content. In example below &lt;book&gt; is root element.</a:t>
            </a:r>
          </a:p>
          <a:p>
            <a:r>
              <a:rPr lang="en-US" dirty="0"/>
              <a:t>Example:	&lt;book&gt;</a:t>
            </a:r>
          </a:p>
          <a:p>
            <a:pPr marL="1828800" lvl="4" indent="0">
              <a:buNone/>
            </a:pPr>
            <a:r>
              <a:rPr lang="en-US" sz="1800" dirty="0"/>
              <a:t>&lt;author&gt;Stephan Hawking&lt;/author&gt;</a:t>
            </a:r>
          </a:p>
          <a:p>
            <a:pPr marL="1828800" lvl="4" indent="0">
              <a:buNone/>
            </a:pPr>
            <a:r>
              <a:rPr lang="en-US" sz="1800" dirty="0"/>
              <a:t>&lt;price&gt;1200&lt;/price&gt;</a:t>
            </a:r>
          </a:p>
          <a:p>
            <a:pPr marL="1828800" lvl="4" indent="0">
              <a:buNone/>
            </a:pPr>
            <a:r>
              <a:rPr lang="en-US" sz="1800" dirty="0"/>
              <a:t>&lt;/book&gt;</a:t>
            </a:r>
          </a:p>
        </p:txBody>
      </p:sp>
    </p:spTree>
    <p:extLst>
      <p:ext uri="{BB962C8B-B14F-4D97-AF65-F5344CB8AC3E}">
        <p14:creationId xmlns:p14="http://schemas.microsoft.com/office/powerpoint/2010/main" val="2730191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AB064-75A4-4C9C-8892-3CE51825655B}"/>
              </a:ext>
            </a:extLst>
          </p:cNvPr>
          <p:cNvSpPr>
            <a:spLocks noGrp="1"/>
          </p:cNvSpPr>
          <p:nvPr>
            <p:ph type="title"/>
          </p:nvPr>
        </p:nvSpPr>
        <p:spPr/>
        <p:txBody>
          <a:bodyPr/>
          <a:lstStyle/>
          <a:p>
            <a:r>
              <a:rPr lang="en-US" dirty="0"/>
              <a:t>Syntax rules for XML documents</a:t>
            </a:r>
          </a:p>
        </p:txBody>
      </p:sp>
      <p:sp>
        <p:nvSpPr>
          <p:cNvPr id="3" name="Content Placeholder 2">
            <a:extLst>
              <a:ext uri="{FF2B5EF4-FFF2-40B4-BE49-F238E27FC236}">
                <a16:creationId xmlns:a16="http://schemas.microsoft.com/office/drawing/2014/main" id="{499EC687-E5D9-40D0-AF0D-60419E3AD931}"/>
              </a:ext>
            </a:extLst>
          </p:cNvPr>
          <p:cNvSpPr>
            <a:spLocks noGrp="1"/>
          </p:cNvSpPr>
          <p:nvPr>
            <p:ph idx="1"/>
          </p:nvPr>
        </p:nvSpPr>
        <p:spPr/>
        <p:txBody>
          <a:bodyPr>
            <a:normAutofit/>
          </a:bodyPr>
          <a:lstStyle/>
          <a:p>
            <a:r>
              <a:rPr lang="en-US" b="1" dirty="0"/>
              <a:t>Rule 2: All tags must be closed:</a:t>
            </a:r>
          </a:p>
          <a:p>
            <a:r>
              <a:rPr lang="en-US" dirty="0"/>
              <a:t>If we open any tag in some order then we need to close those tags. In above example opening tags &lt;book&gt;,&lt;author&gt;,&lt;price&gt; are closed with closing tags &lt;/book&gt;,&lt;/author&gt;, &lt;/price&gt;</a:t>
            </a:r>
          </a:p>
          <a:p>
            <a:r>
              <a:rPr lang="en-US" b="1" dirty="0"/>
              <a:t>Rule 3: All tags must be properly nested:</a:t>
            </a:r>
          </a:p>
          <a:p>
            <a:r>
              <a:rPr lang="en-US" dirty="0"/>
              <a:t>When we nest one tag within another, we should pay attention to the order in which we open each tag, and then we close tags in the reverse order.</a:t>
            </a:r>
          </a:p>
          <a:p>
            <a:r>
              <a:rPr lang="en-US" dirty="0"/>
              <a:t>Example : &lt;book&gt;&lt;author&gt;&lt;/author&gt;&lt;/book&gt;</a:t>
            </a:r>
          </a:p>
          <a:p>
            <a:endParaRPr lang="en-US" dirty="0"/>
          </a:p>
        </p:txBody>
      </p:sp>
    </p:spTree>
    <p:extLst>
      <p:ext uri="{BB962C8B-B14F-4D97-AF65-F5344CB8AC3E}">
        <p14:creationId xmlns:p14="http://schemas.microsoft.com/office/powerpoint/2010/main" val="1990679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AB064-75A4-4C9C-8892-3CE51825655B}"/>
              </a:ext>
            </a:extLst>
          </p:cNvPr>
          <p:cNvSpPr>
            <a:spLocks noGrp="1"/>
          </p:cNvSpPr>
          <p:nvPr>
            <p:ph type="title"/>
          </p:nvPr>
        </p:nvSpPr>
        <p:spPr/>
        <p:txBody>
          <a:bodyPr/>
          <a:lstStyle/>
          <a:p>
            <a:r>
              <a:rPr lang="en-US" dirty="0"/>
              <a:t>Syntax rules for XML documents</a:t>
            </a:r>
          </a:p>
        </p:txBody>
      </p:sp>
      <p:sp>
        <p:nvSpPr>
          <p:cNvPr id="3" name="Content Placeholder 2">
            <a:extLst>
              <a:ext uri="{FF2B5EF4-FFF2-40B4-BE49-F238E27FC236}">
                <a16:creationId xmlns:a16="http://schemas.microsoft.com/office/drawing/2014/main" id="{499EC687-E5D9-40D0-AF0D-60419E3AD931}"/>
              </a:ext>
            </a:extLst>
          </p:cNvPr>
          <p:cNvSpPr>
            <a:spLocks noGrp="1"/>
          </p:cNvSpPr>
          <p:nvPr>
            <p:ph idx="1"/>
          </p:nvPr>
        </p:nvSpPr>
        <p:spPr/>
        <p:txBody>
          <a:bodyPr>
            <a:normAutofit/>
          </a:bodyPr>
          <a:lstStyle/>
          <a:p>
            <a:r>
              <a:rPr lang="en-US" b="1" dirty="0"/>
              <a:t>Rule 4: Tag names are case sensitive:</a:t>
            </a:r>
          </a:p>
          <a:p>
            <a:r>
              <a:rPr lang="en-US" dirty="0"/>
              <a:t>Uppercase and lowercase matter in XML Opening and closing tags must match exactly. Ex.&lt;BOOK&gt;,&lt;Book&gt;,&lt;book&gt; are all different tags</a:t>
            </a:r>
          </a:p>
          <a:p>
            <a:r>
              <a:rPr lang="en-US" b="1" dirty="0"/>
              <a:t>Rule 5: Tag Names cannot contain spaces</a:t>
            </a:r>
          </a:p>
          <a:p>
            <a:r>
              <a:rPr lang="en-US" b="1" dirty="0"/>
              <a:t>Rule 6: Attribute values must appear within quotas:</a:t>
            </a:r>
          </a:p>
          <a:p>
            <a:r>
              <a:rPr lang="en-US" dirty="0"/>
              <a:t>Example:&lt;artist title=“Leonardo”&gt;</a:t>
            </a:r>
            <a:r>
              <a:rPr lang="en-US" b="1" dirty="0"/>
              <a:t> </a:t>
            </a:r>
            <a:endParaRPr lang="en-US" dirty="0"/>
          </a:p>
          <a:p>
            <a:endParaRPr lang="en-US" dirty="0"/>
          </a:p>
        </p:txBody>
      </p:sp>
    </p:spTree>
    <p:extLst>
      <p:ext uri="{BB962C8B-B14F-4D97-AF65-F5344CB8AC3E}">
        <p14:creationId xmlns:p14="http://schemas.microsoft.com/office/powerpoint/2010/main" val="2250365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AB064-75A4-4C9C-8892-3CE51825655B}"/>
              </a:ext>
            </a:extLst>
          </p:cNvPr>
          <p:cNvSpPr>
            <a:spLocks noGrp="1"/>
          </p:cNvSpPr>
          <p:nvPr>
            <p:ph type="title"/>
          </p:nvPr>
        </p:nvSpPr>
        <p:spPr/>
        <p:txBody>
          <a:bodyPr/>
          <a:lstStyle/>
          <a:p>
            <a:r>
              <a:rPr lang="en-US" dirty="0"/>
              <a:t>Syntax rules for XML documents</a:t>
            </a:r>
          </a:p>
        </p:txBody>
      </p:sp>
      <p:sp>
        <p:nvSpPr>
          <p:cNvPr id="3" name="Content Placeholder 2">
            <a:extLst>
              <a:ext uri="{FF2B5EF4-FFF2-40B4-BE49-F238E27FC236}">
                <a16:creationId xmlns:a16="http://schemas.microsoft.com/office/drawing/2014/main" id="{499EC687-E5D9-40D0-AF0D-60419E3AD931}"/>
              </a:ext>
            </a:extLst>
          </p:cNvPr>
          <p:cNvSpPr>
            <a:spLocks noGrp="1"/>
          </p:cNvSpPr>
          <p:nvPr>
            <p:ph idx="1"/>
          </p:nvPr>
        </p:nvSpPr>
        <p:spPr/>
        <p:txBody>
          <a:bodyPr>
            <a:normAutofit/>
          </a:bodyPr>
          <a:lstStyle/>
          <a:p>
            <a:r>
              <a:rPr lang="en-US" b="1" dirty="0"/>
              <a:t>Rule 7: White Space is Preserved.</a:t>
            </a:r>
          </a:p>
          <a:p>
            <a:r>
              <a:rPr lang="en-US" dirty="0"/>
              <a:t>In HTML tag, incase of more than one white space, extra white spaces are ignored but in XML the spaces are preserved.</a:t>
            </a:r>
          </a:p>
          <a:p>
            <a:r>
              <a:rPr lang="en-US" dirty="0"/>
              <a:t>Ex. &lt;book&gt;The    legend of     Zorro&lt;/book&gt;</a:t>
            </a:r>
          </a:p>
          <a:p>
            <a:r>
              <a:rPr lang="en-US" b="1" dirty="0"/>
              <a:t>Rule 8: Tag names restrictions:</a:t>
            </a:r>
          </a:p>
          <a:p>
            <a:r>
              <a:rPr lang="en-US" dirty="0"/>
              <a:t>Tag names can’t start with the letters </a:t>
            </a:r>
            <a:r>
              <a:rPr lang="en-US" i="1" dirty="0"/>
              <a:t>xml </a:t>
            </a:r>
            <a:r>
              <a:rPr lang="en-US" dirty="0"/>
              <a:t>, a number , or punctuation except for the underscore (_).</a:t>
            </a:r>
            <a:endParaRPr lang="en-US" i="1" dirty="0"/>
          </a:p>
        </p:txBody>
      </p:sp>
    </p:spTree>
    <p:extLst>
      <p:ext uri="{BB962C8B-B14F-4D97-AF65-F5344CB8AC3E}">
        <p14:creationId xmlns:p14="http://schemas.microsoft.com/office/powerpoint/2010/main" val="1097219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AB064-75A4-4C9C-8892-3CE51825655B}"/>
              </a:ext>
            </a:extLst>
          </p:cNvPr>
          <p:cNvSpPr>
            <a:spLocks noGrp="1"/>
          </p:cNvSpPr>
          <p:nvPr>
            <p:ph type="title"/>
          </p:nvPr>
        </p:nvSpPr>
        <p:spPr/>
        <p:txBody>
          <a:bodyPr/>
          <a:lstStyle/>
          <a:p>
            <a:r>
              <a:rPr lang="en-US" dirty="0"/>
              <a:t>Syntax rules for XML documents</a:t>
            </a:r>
          </a:p>
        </p:txBody>
      </p:sp>
      <p:sp>
        <p:nvSpPr>
          <p:cNvPr id="3" name="Content Placeholder 2">
            <a:extLst>
              <a:ext uri="{FF2B5EF4-FFF2-40B4-BE49-F238E27FC236}">
                <a16:creationId xmlns:a16="http://schemas.microsoft.com/office/drawing/2014/main" id="{499EC687-E5D9-40D0-AF0D-60419E3AD931}"/>
              </a:ext>
            </a:extLst>
          </p:cNvPr>
          <p:cNvSpPr>
            <a:spLocks noGrp="1"/>
          </p:cNvSpPr>
          <p:nvPr>
            <p:ph idx="1"/>
          </p:nvPr>
        </p:nvSpPr>
        <p:spPr/>
        <p:txBody>
          <a:bodyPr>
            <a:normAutofit/>
          </a:bodyPr>
          <a:lstStyle/>
          <a:p>
            <a:r>
              <a:rPr lang="en-US" b="1" dirty="0"/>
              <a:t>Rule 9: Avoid HTML tags(Optional)</a:t>
            </a:r>
          </a:p>
          <a:p>
            <a:r>
              <a:rPr lang="en-US" b="1" dirty="0"/>
              <a:t>Ex. &lt;p&gt;&lt;li&gt;&lt;td&gt;</a:t>
            </a:r>
          </a:p>
          <a:p>
            <a:r>
              <a:rPr lang="en-US" b="1" dirty="0"/>
              <a:t>Nested Syntax of XML Element</a:t>
            </a:r>
          </a:p>
          <a:p>
            <a:pPr marL="457200" lvl="1" indent="0">
              <a:buNone/>
            </a:pPr>
            <a:r>
              <a:rPr lang="en-US" b="1" dirty="0"/>
              <a:t>&lt;root&gt;	</a:t>
            </a:r>
          </a:p>
          <a:p>
            <a:pPr marL="457200" lvl="1" indent="0">
              <a:buNone/>
            </a:pPr>
            <a:r>
              <a:rPr lang="en-US" b="1" dirty="0"/>
              <a:t>	&lt;child&gt;</a:t>
            </a:r>
          </a:p>
          <a:p>
            <a:pPr marL="914400" lvl="2" indent="0">
              <a:buNone/>
            </a:pPr>
            <a:r>
              <a:rPr lang="en-US" b="1" dirty="0"/>
              <a:t>	&lt;subchild&gt;…….&lt;/subchild&gt;</a:t>
            </a:r>
          </a:p>
          <a:p>
            <a:pPr marL="914400" lvl="2" indent="0">
              <a:buNone/>
            </a:pPr>
            <a:r>
              <a:rPr lang="en-US" b="1" dirty="0"/>
              <a:t>&lt;/child&gt;</a:t>
            </a:r>
          </a:p>
          <a:p>
            <a:pPr marL="914400" lvl="2" indent="0">
              <a:buNone/>
            </a:pPr>
            <a:r>
              <a:rPr lang="en-US" b="1" dirty="0"/>
              <a:t>&lt;/root&gt;</a:t>
            </a:r>
          </a:p>
        </p:txBody>
      </p:sp>
    </p:spTree>
    <p:extLst>
      <p:ext uri="{BB962C8B-B14F-4D97-AF65-F5344CB8AC3E}">
        <p14:creationId xmlns:p14="http://schemas.microsoft.com/office/powerpoint/2010/main" val="1171946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XML Element and Attribute</a:t>
            </a:r>
          </a:p>
        </p:txBody>
      </p:sp>
      <p:sp>
        <p:nvSpPr>
          <p:cNvPr id="3" name="Content Placeholder 2"/>
          <p:cNvSpPr>
            <a:spLocks noGrp="1"/>
          </p:cNvSpPr>
          <p:nvPr>
            <p:ph idx="1"/>
          </p:nvPr>
        </p:nvSpPr>
        <p:spPr>
          <a:xfrm>
            <a:off x="1295401" y="2556931"/>
            <a:ext cx="9601196" cy="3627737"/>
          </a:xfrm>
        </p:spPr>
        <p:txBody>
          <a:bodyPr>
            <a:normAutofit/>
          </a:bodyPr>
          <a:lstStyle/>
          <a:p>
            <a:pPr algn="just"/>
            <a:r>
              <a:rPr lang="en-US" sz="1400" dirty="0">
                <a:latin typeface="Arial" panose="020B0604020202020204" pitchFamily="34" charset="0"/>
                <a:cs typeface="Arial" panose="020B0604020202020204" pitchFamily="34" charset="0"/>
              </a:rPr>
              <a:t>In XML, elements and attributes are two fundamental components used to structure and represent data. Here's a breakdown of elements and attributes in XML:</a:t>
            </a:r>
          </a:p>
          <a:p>
            <a:pPr marL="0" indent="0" algn="just">
              <a:buNone/>
            </a:pPr>
            <a:r>
              <a:rPr lang="en-US" sz="1400" dirty="0">
                <a:latin typeface="Arial" panose="020B0604020202020204" pitchFamily="34" charset="0"/>
                <a:cs typeface="Arial" panose="020B0604020202020204" pitchFamily="34" charset="0"/>
              </a:rPr>
              <a:t>Elements:</a:t>
            </a:r>
          </a:p>
          <a:p>
            <a:pPr algn="just"/>
            <a:r>
              <a:rPr lang="en-US" sz="1400" dirty="0">
                <a:latin typeface="Arial" panose="020B0604020202020204" pitchFamily="34" charset="0"/>
                <a:cs typeface="Arial" panose="020B0604020202020204" pitchFamily="34" charset="0"/>
              </a:rPr>
              <a:t>Elements are the building blocks of an XML document.</a:t>
            </a:r>
          </a:p>
          <a:p>
            <a:pPr algn="just"/>
            <a:r>
              <a:rPr lang="en-US" sz="1400" dirty="0">
                <a:latin typeface="Arial" panose="020B0604020202020204" pitchFamily="34" charset="0"/>
                <a:cs typeface="Arial" panose="020B0604020202020204" pitchFamily="34" charset="0"/>
              </a:rPr>
              <a:t>They represent the different parts or components of the data being described.</a:t>
            </a:r>
          </a:p>
          <a:p>
            <a:pPr algn="just"/>
            <a:r>
              <a:rPr lang="en-US" sz="1400" dirty="0">
                <a:latin typeface="Arial" panose="020B0604020202020204" pitchFamily="34" charset="0"/>
                <a:cs typeface="Arial" panose="020B0604020202020204" pitchFamily="34" charset="0"/>
              </a:rPr>
              <a:t>Elements are defined by tags enclosed in angle brackets (&lt; and &gt;).</a:t>
            </a:r>
          </a:p>
          <a:p>
            <a:pPr algn="just"/>
            <a:r>
              <a:rPr lang="en-US" sz="1400" dirty="0">
                <a:latin typeface="Arial" panose="020B0604020202020204" pitchFamily="34" charset="0"/>
                <a:cs typeface="Arial" panose="020B0604020202020204" pitchFamily="34" charset="0"/>
              </a:rPr>
              <a:t>They have an opening tag, a closing tag, and content in between.</a:t>
            </a:r>
          </a:p>
          <a:p>
            <a:pPr algn="just"/>
            <a:r>
              <a:rPr lang="en-US" sz="1400" dirty="0">
                <a:latin typeface="Arial" panose="020B0604020202020204" pitchFamily="34" charset="0"/>
                <a:cs typeface="Arial" panose="020B0604020202020204" pitchFamily="34" charset="0"/>
              </a:rPr>
              <a:t>The opening tag marks the beginning of the element, while the closing tag marks the end.</a:t>
            </a:r>
          </a:p>
          <a:p>
            <a:pPr algn="just"/>
            <a:r>
              <a:rPr lang="en-US" sz="1400" dirty="0">
                <a:latin typeface="Arial" panose="020B0604020202020204" pitchFamily="34" charset="0"/>
                <a:cs typeface="Arial" panose="020B0604020202020204" pitchFamily="34" charset="0"/>
              </a:rPr>
              <a:t>Elements can have child elements, nested elements, and text content.</a:t>
            </a:r>
          </a:p>
          <a:p>
            <a:pPr algn="just"/>
            <a:r>
              <a:rPr lang="en-US" sz="1400" dirty="0">
                <a:latin typeface="Arial" panose="020B0604020202020204" pitchFamily="34" charset="0"/>
                <a:cs typeface="Arial" panose="020B0604020202020204" pitchFamily="34" charset="0"/>
              </a:rPr>
              <a:t>Elements can also have attributes associated with them.</a:t>
            </a:r>
          </a:p>
          <a:p>
            <a:pPr algn="just"/>
            <a:r>
              <a:rPr lang="en-US" sz="1400" dirty="0">
                <a:latin typeface="Arial" panose="020B0604020202020204" pitchFamily="34" charset="0"/>
                <a:cs typeface="Arial" panose="020B0604020202020204" pitchFamily="34" charset="0"/>
              </a:rPr>
              <a:t>Example: &lt;book&gt;Harry Potter&lt;/book&gt;</a:t>
            </a:r>
          </a:p>
        </p:txBody>
      </p:sp>
    </p:spTree>
    <p:extLst>
      <p:ext uri="{BB962C8B-B14F-4D97-AF65-F5344CB8AC3E}">
        <p14:creationId xmlns:p14="http://schemas.microsoft.com/office/powerpoint/2010/main" val="4073455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XML Attribute</a:t>
            </a:r>
            <a:endParaRPr lang="en-US" dirty="0"/>
          </a:p>
        </p:txBody>
      </p:sp>
      <p:sp>
        <p:nvSpPr>
          <p:cNvPr id="3" name="Content Placeholder 2"/>
          <p:cNvSpPr>
            <a:spLocks noGrp="1"/>
          </p:cNvSpPr>
          <p:nvPr>
            <p:ph idx="1"/>
          </p:nvPr>
        </p:nvSpPr>
        <p:spPr/>
        <p:txBody>
          <a:bodyPr>
            <a:normAutofit fontScale="92500"/>
          </a:bodyPr>
          <a:lstStyle/>
          <a:p>
            <a:pPr algn="just"/>
            <a:r>
              <a:rPr lang="en-US" dirty="0"/>
              <a:t>Attributes provide additional information or metadata about elements.</a:t>
            </a:r>
          </a:p>
          <a:p>
            <a:pPr algn="just"/>
            <a:r>
              <a:rPr lang="en-US" dirty="0"/>
              <a:t>They are defined within the opening tag of an element.</a:t>
            </a:r>
          </a:p>
          <a:p>
            <a:pPr algn="just"/>
            <a:r>
              <a:rPr lang="en-US" dirty="0"/>
              <a:t>Attributes are written as key-value pairs, separated by an equal sign (=).</a:t>
            </a:r>
          </a:p>
          <a:p>
            <a:pPr algn="just"/>
            <a:r>
              <a:rPr lang="en-US" dirty="0"/>
              <a:t>The attribute value is enclosed in quotes (" or ').</a:t>
            </a:r>
          </a:p>
          <a:p>
            <a:pPr algn="just"/>
            <a:r>
              <a:rPr lang="en-US" dirty="0"/>
              <a:t>Attributes provide characteristics, properties, or descriptive data related to the element.</a:t>
            </a:r>
          </a:p>
          <a:p>
            <a:pPr algn="just"/>
            <a:r>
              <a:rPr lang="en-US" dirty="0"/>
              <a:t>Attributes are used to enhance the understanding and processing of the element.</a:t>
            </a:r>
          </a:p>
          <a:p>
            <a:pPr algn="just"/>
            <a:r>
              <a:rPr lang="en-US" dirty="0"/>
              <a:t>Example: &lt;book id="123" language="en"&gt;</a:t>
            </a:r>
          </a:p>
        </p:txBody>
      </p:sp>
    </p:spTree>
    <p:extLst>
      <p:ext uri="{BB962C8B-B14F-4D97-AF65-F5344CB8AC3E}">
        <p14:creationId xmlns:p14="http://schemas.microsoft.com/office/powerpoint/2010/main" val="36967246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3846-EEE8-4EBA-A8BB-62A2075CC957}"/>
              </a:ext>
            </a:extLst>
          </p:cNvPr>
          <p:cNvSpPr>
            <a:spLocks noGrp="1"/>
          </p:cNvSpPr>
          <p:nvPr>
            <p:ph type="title"/>
          </p:nvPr>
        </p:nvSpPr>
        <p:spPr/>
        <p:txBody>
          <a:bodyPr/>
          <a:lstStyle/>
          <a:p>
            <a:r>
              <a:rPr lang="en-US" b="1" dirty="0"/>
              <a:t>XML Tree</a:t>
            </a:r>
          </a:p>
        </p:txBody>
      </p:sp>
      <p:pic>
        <p:nvPicPr>
          <p:cNvPr id="1026" name="Picture 2" descr="An example XML code snippet with the corresponding tree structure |  Download Scientific Diagram">
            <a:extLst>
              <a:ext uri="{FF2B5EF4-FFF2-40B4-BE49-F238E27FC236}">
                <a16:creationId xmlns:a16="http://schemas.microsoft.com/office/drawing/2014/main" id="{97000C5B-C5C1-4C93-A986-3C4923495F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289" y="2573983"/>
            <a:ext cx="8096250" cy="3362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6185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3846-EEE8-4EBA-A8BB-62A2075CC957}"/>
              </a:ext>
            </a:extLst>
          </p:cNvPr>
          <p:cNvSpPr>
            <a:spLocks noGrp="1"/>
          </p:cNvSpPr>
          <p:nvPr>
            <p:ph type="title"/>
          </p:nvPr>
        </p:nvSpPr>
        <p:spPr/>
        <p:txBody>
          <a:bodyPr/>
          <a:lstStyle/>
          <a:p>
            <a:r>
              <a:rPr lang="en-US" b="1" dirty="0"/>
              <a:t>XML Tree</a:t>
            </a:r>
          </a:p>
        </p:txBody>
      </p:sp>
      <p:sp>
        <p:nvSpPr>
          <p:cNvPr id="3" name="Content Placeholder 2">
            <a:extLst>
              <a:ext uri="{FF2B5EF4-FFF2-40B4-BE49-F238E27FC236}">
                <a16:creationId xmlns:a16="http://schemas.microsoft.com/office/drawing/2014/main" id="{64AA9D58-9543-4170-88BC-0CA277ECFC3D}"/>
              </a:ext>
            </a:extLst>
          </p:cNvPr>
          <p:cNvSpPr>
            <a:spLocks noGrp="1"/>
          </p:cNvSpPr>
          <p:nvPr>
            <p:ph idx="1"/>
          </p:nvPr>
        </p:nvSpPr>
        <p:spPr/>
        <p:txBody>
          <a:bodyPr/>
          <a:lstStyle/>
          <a:p>
            <a:r>
              <a:rPr lang="en-US" dirty="0"/>
              <a:t>XML document has a self descriptive structure. It forms a tree structure which is referred as an XML tree.</a:t>
            </a:r>
          </a:p>
          <a:p>
            <a:r>
              <a:rPr lang="en-US" dirty="0"/>
              <a:t>Tree structure contains root element(as parent), child element and so on. It is very easy to traverse all succeeding branches and sub branches and leaf nodes starting from the root</a:t>
            </a:r>
          </a:p>
        </p:txBody>
      </p:sp>
    </p:spTree>
    <p:extLst>
      <p:ext uri="{BB962C8B-B14F-4D97-AF65-F5344CB8AC3E}">
        <p14:creationId xmlns:p14="http://schemas.microsoft.com/office/powerpoint/2010/main" val="2483693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3846-EEE8-4EBA-A8BB-62A2075CC957}"/>
              </a:ext>
            </a:extLst>
          </p:cNvPr>
          <p:cNvSpPr>
            <a:spLocks noGrp="1"/>
          </p:cNvSpPr>
          <p:nvPr>
            <p:ph type="title"/>
          </p:nvPr>
        </p:nvSpPr>
        <p:spPr/>
        <p:txBody>
          <a:bodyPr/>
          <a:lstStyle/>
          <a:p>
            <a:r>
              <a:rPr lang="en-US" b="1" dirty="0"/>
              <a:t>Assignments</a:t>
            </a:r>
          </a:p>
        </p:txBody>
      </p:sp>
      <p:pic>
        <p:nvPicPr>
          <p:cNvPr id="3074" name="Picture 2" descr="Basic XML concepts">
            <a:extLst>
              <a:ext uri="{FF2B5EF4-FFF2-40B4-BE49-F238E27FC236}">
                <a16:creationId xmlns:a16="http://schemas.microsoft.com/office/drawing/2014/main" id="{BC595E5C-9EE6-47A5-BA76-B4B96FADDD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1785" y="2458720"/>
            <a:ext cx="3097156" cy="371824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DD47BB3-F752-4A5C-95D4-E2209990D48F}"/>
              </a:ext>
            </a:extLst>
          </p:cNvPr>
          <p:cNvSpPr txBox="1"/>
          <p:nvPr/>
        </p:nvSpPr>
        <p:spPr>
          <a:xfrm>
            <a:off x="1198880" y="2794000"/>
            <a:ext cx="6167120" cy="369332"/>
          </a:xfrm>
          <a:prstGeom prst="rect">
            <a:avLst/>
          </a:prstGeom>
          <a:noFill/>
        </p:spPr>
        <p:txBody>
          <a:bodyPr wrap="square" rtlCol="0">
            <a:spAutoFit/>
          </a:bodyPr>
          <a:lstStyle/>
          <a:p>
            <a:r>
              <a:rPr lang="en-US" dirty="0"/>
              <a:t>Write xml code for given xml tree</a:t>
            </a:r>
          </a:p>
        </p:txBody>
      </p:sp>
    </p:spTree>
    <p:extLst>
      <p:ext uri="{BB962C8B-B14F-4D97-AF65-F5344CB8AC3E}">
        <p14:creationId xmlns:p14="http://schemas.microsoft.com/office/powerpoint/2010/main" val="1313338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XML Namespace</a:t>
            </a:r>
          </a:p>
        </p:txBody>
      </p:sp>
      <p:sp>
        <p:nvSpPr>
          <p:cNvPr id="3" name="Content Placeholder 2"/>
          <p:cNvSpPr>
            <a:spLocks noGrp="1"/>
          </p:cNvSpPr>
          <p:nvPr>
            <p:ph idx="1"/>
          </p:nvPr>
        </p:nvSpPr>
        <p:spPr/>
        <p:txBody>
          <a:bodyPr/>
          <a:lstStyle/>
          <a:p>
            <a:pPr algn="just"/>
            <a:r>
              <a:rPr lang="en-US" dirty="0"/>
              <a:t>XML Namespace is a mechanism to avoid name conflicts by differentiating elements of attributes within an XML document that may have identical names but different definitions. XML data has to be exchanged between several application. Same tag name may have different meanings in different applications. So, it creates confusion on exchanging documents. So, XML namespace is used in XML file as: </a:t>
            </a:r>
            <a:r>
              <a:rPr lang="en-US" b="1" dirty="0"/>
              <a:t>Using a prefix </a:t>
            </a:r>
            <a:r>
              <a:rPr lang="en-US" dirty="0"/>
              <a:t>&amp;</a:t>
            </a:r>
            <a:r>
              <a:rPr lang="en-US" b="1" dirty="0"/>
              <a:t> using xmlns attribute</a:t>
            </a:r>
          </a:p>
        </p:txBody>
      </p:sp>
    </p:spTree>
    <p:extLst>
      <p:ext uri="{BB962C8B-B14F-4D97-AF65-F5344CB8AC3E}">
        <p14:creationId xmlns:p14="http://schemas.microsoft.com/office/powerpoint/2010/main" val="1738853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XML Namespaces - The xmlns Attribute</a:t>
            </a:r>
          </a:p>
        </p:txBody>
      </p:sp>
      <p:sp>
        <p:nvSpPr>
          <p:cNvPr id="3" name="Content Placeholder 2"/>
          <p:cNvSpPr>
            <a:spLocks noGrp="1"/>
          </p:cNvSpPr>
          <p:nvPr>
            <p:ph idx="1"/>
          </p:nvPr>
        </p:nvSpPr>
        <p:spPr/>
        <p:txBody>
          <a:bodyPr/>
          <a:lstStyle/>
          <a:p>
            <a:pPr algn="just"/>
            <a:r>
              <a:rPr lang="en-US" dirty="0"/>
              <a:t>When using prefixes in XML, a namespace for the prefix must be defined.</a:t>
            </a:r>
          </a:p>
          <a:p>
            <a:pPr algn="just"/>
            <a:r>
              <a:rPr lang="en-US" dirty="0"/>
              <a:t>The namespace can be defined by an xmlns attribute in the start tag of an element.</a:t>
            </a:r>
          </a:p>
          <a:p>
            <a:pPr algn="just"/>
            <a:r>
              <a:rPr lang="en-US" dirty="0"/>
              <a:t>The namespace declaration has the following syntax. xmlns:prefix="URI".</a:t>
            </a:r>
          </a:p>
        </p:txBody>
      </p:sp>
    </p:spTree>
    <p:extLst>
      <p:ext uri="{BB962C8B-B14F-4D97-AF65-F5344CB8AC3E}">
        <p14:creationId xmlns:p14="http://schemas.microsoft.com/office/powerpoint/2010/main" val="2459592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8282" y="599747"/>
            <a:ext cx="9601196" cy="1303867"/>
          </a:xfrm>
        </p:spPr>
        <p:txBody>
          <a:bodyPr>
            <a:normAutofit/>
          </a:bodyPr>
          <a:lstStyle/>
          <a:p>
            <a:r>
              <a:rPr lang="en-US" b="1" dirty="0"/>
              <a:t>XML Namespaces-Example</a:t>
            </a:r>
          </a:p>
        </p:txBody>
      </p:sp>
      <p:sp>
        <p:nvSpPr>
          <p:cNvPr id="3" name="Content Placeholder 2"/>
          <p:cNvSpPr>
            <a:spLocks noGrp="1"/>
          </p:cNvSpPr>
          <p:nvPr>
            <p:ph idx="1"/>
          </p:nvPr>
        </p:nvSpPr>
        <p:spPr>
          <a:xfrm>
            <a:off x="1328652" y="1644878"/>
            <a:ext cx="3908366" cy="3318936"/>
          </a:xfrm>
        </p:spPr>
        <p:style>
          <a:lnRef idx="2">
            <a:schemeClr val="accent1"/>
          </a:lnRef>
          <a:fillRef idx="1">
            <a:schemeClr val="lt1"/>
          </a:fillRef>
          <a:effectRef idx="0">
            <a:schemeClr val="accent1"/>
          </a:effectRef>
          <a:fontRef idx="minor">
            <a:schemeClr val="dk1"/>
          </a:fontRef>
        </p:style>
        <p:txBody>
          <a:bodyPr>
            <a:normAutofit fontScale="70000" lnSpcReduction="20000"/>
          </a:bodyPr>
          <a:lstStyle/>
          <a:p>
            <a:pPr algn="just"/>
            <a:r>
              <a:rPr lang="en-US" dirty="0"/>
              <a:t>Consider two XML fragment:</a:t>
            </a:r>
          </a:p>
          <a:p>
            <a:pPr algn="just"/>
            <a:r>
              <a:rPr lang="en-US" dirty="0"/>
              <a:t>//1.xml</a:t>
            </a:r>
          </a:p>
          <a:p>
            <a:pPr marL="0" indent="0" algn="just">
              <a:buNone/>
            </a:pPr>
            <a:r>
              <a:rPr lang="en-US" dirty="0"/>
              <a:t>&lt;table&gt;</a:t>
            </a:r>
          </a:p>
          <a:p>
            <a:pPr marL="0" indent="0" algn="just">
              <a:buNone/>
            </a:pPr>
            <a:r>
              <a:rPr lang="en-US" dirty="0"/>
              <a:t>	&lt;tr&gt;</a:t>
            </a:r>
          </a:p>
          <a:p>
            <a:pPr marL="0" indent="0" algn="just">
              <a:buNone/>
            </a:pPr>
            <a:r>
              <a:rPr lang="en-US" dirty="0"/>
              <a:t>		&lt;td&gt;Apples&lt;/td&gt;</a:t>
            </a:r>
          </a:p>
          <a:p>
            <a:pPr marL="0" indent="0" algn="just">
              <a:buNone/>
            </a:pPr>
            <a:r>
              <a:rPr lang="en-US" dirty="0"/>
              <a:t>		&lt;td&gt;Bananas&lt;/td&gt;</a:t>
            </a:r>
          </a:p>
          <a:p>
            <a:pPr marL="0" indent="0" algn="just">
              <a:buNone/>
            </a:pPr>
            <a:r>
              <a:rPr lang="en-US" dirty="0"/>
              <a:t>	&lt;/tr&gt;</a:t>
            </a:r>
          </a:p>
          <a:p>
            <a:pPr marL="0" indent="0" algn="just">
              <a:buNone/>
            </a:pPr>
            <a:r>
              <a:rPr lang="en-US" dirty="0"/>
              <a:t>&lt;/table&gt;</a:t>
            </a:r>
          </a:p>
        </p:txBody>
      </p:sp>
      <p:sp>
        <p:nvSpPr>
          <p:cNvPr id="4" name="Content Placeholder 2">
            <a:extLst>
              <a:ext uri="{FF2B5EF4-FFF2-40B4-BE49-F238E27FC236}">
                <a16:creationId xmlns:a16="http://schemas.microsoft.com/office/drawing/2014/main" id="{91D39466-8A9B-4B8D-9051-92470DE3CD7E}"/>
              </a:ext>
            </a:extLst>
          </p:cNvPr>
          <p:cNvSpPr txBox="1">
            <a:spLocks/>
          </p:cNvSpPr>
          <p:nvPr/>
        </p:nvSpPr>
        <p:spPr>
          <a:xfrm>
            <a:off x="6805352" y="1635451"/>
            <a:ext cx="3908366" cy="3318936"/>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lgn="just"/>
            <a:r>
              <a:rPr lang="en-US" dirty="0"/>
              <a:t>//2.xml</a:t>
            </a:r>
          </a:p>
          <a:p>
            <a:pPr marL="0" indent="0" algn="just">
              <a:buFont typeface="Arial"/>
              <a:buNone/>
            </a:pPr>
            <a:r>
              <a:rPr lang="en-US" dirty="0"/>
              <a:t>&lt;table&gt;</a:t>
            </a:r>
          </a:p>
          <a:p>
            <a:pPr marL="0" indent="0" algn="just">
              <a:buFont typeface="Arial"/>
              <a:buNone/>
            </a:pPr>
            <a:r>
              <a:rPr lang="en-US" dirty="0"/>
              <a:t>	&lt;width&gt;80&lt;/width&gt;</a:t>
            </a:r>
          </a:p>
          <a:p>
            <a:pPr marL="0" indent="0" algn="just">
              <a:buFont typeface="Arial"/>
              <a:buNone/>
            </a:pPr>
            <a:r>
              <a:rPr lang="en-US" dirty="0"/>
              <a:t>	&lt;length&gt;120&lt;/length&gt;</a:t>
            </a:r>
          </a:p>
          <a:p>
            <a:pPr marL="0" indent="0" algn="just">
              <a:buFont typeface="Arial"/>
              <a:buNone/>
            </a:pPr>
            <a:r>
              <a:rPr lang="en-US" dirty="0"/>
              <a:t>&lt;/table&gt;</a:t>
            </a:r>
          </a:p>
        </p:txBody>
      </p:sp>
      <p:sp>
        <p:nvSpPr>
          <p:cNvPr id="5" name="TextBox 4">
            <a:extLst>
              <a:ext uri="{FF2B5EF4-FFF2-40B4-BE49-F238E27FC236}">
                <a16:creationId xmlns:a16="http://schemas.microsoft.com/office/drawing/2014/main" id="{41110C43-5BB5-4575-9DAF-38D555F8E73C}"/>
              </a:ext>
            </a:extLst>
          </p:cNvPr>
          <p:cNvSpPr txBox="1"/>
          <p:nvPr/>
        </p:nvSpPr>
        <p:spPr>
          <a:xfrm>
            <a:off x="1478282" y="5303520"/>
            <a:ext cx="9235436" cy="646331"/>
          </a:xfrm>
          <a:prstGeom prst="rect">
            <a:avLst/>
          </a:prstGeom>
          <a:noFill/>
        </p:spPr>
        <p:txBody>
          <a:bodyPr wrap="square" rtlCol="0">
            <a:spAutoFit/>
          </a:bodyPr>
          <a:lstStyle/>
          <a:p>
            <a:r>
              <a:rPr lang="en-US" dirty="0"/>
              <a:t>If these XML fragments were added together, there would be a name conflict. Both contain a &lt;table&gt; element, but the elements have different content and meaning.</a:t>
            </a:r>
          </a:p>
        </p:txBody>
      </p:sp>
    </p:spTree>
    <p:extLst>
      <p:ext uri="{BB962C8B-B14F-4D97-AF65-F5344CB8AC3E}">
        <p14:creationId xmlns:p14="http://schemas.microsoft.com/office/powerpoint/2010/main" val="1258404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8282" y="599747"/>
            <a:ext cx="9601196" cy="1303867"/>
          </a:xfrm>
        </p:spPr>
        <p:txBody>
          <a:bodyPr>
            <a:normAutofit/>
          </a:bodyPr>
          <a:lstStyle/>
          <a:p>
            <a:r>
              <a:rPr lang="en-US" b="1" dirty="0"/>
              <a:t>XML Namespaces-Example</a:t>
            </a:r>
          </a:p>
        </p:txBody>
      </p:sp>
      <p:sp>
        <p:nvSpPr>
          <p:cNvPr id="3" name="Content Placeholder 2"/>
          <p:cNvSpPr>
            <a:spLocks noGrp="1"/>
          </p:cNvSpPr>
          <p:nvPr>
            <p:ph idx="1"/>
          </p:nvPr>
        </p:nvSpPr>
        <p:spPr>
          <a:xfrm>
            <a:off x="1328652" y="1903613"/>
            <a:ext cx="9750826" cy="3832169"/>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0" indent="0" algn="just">
              <a:buNone/>
            </a:pPr>
            <a:r>
              <a:rPr lang="en-US" dirty="0"/>
              <a:t>Now XML namespace is used in XML file as: Example:</a:t>
            </a:r>
          </a:p>
          <a:p>
            <a:pPr marL="0" indent="0" algn="just">
              <a:buNone/>
            </a:pPr>
            <a:r>
              <a:rPr lang="en-US" sz="1400" dirty="0"/>
              <a:t>&lt;root&gt;</a:t>
            </a:r>
          </a:p>
          <a:p>
            <a:pPr marL="0" indent="0" algn="just">
              <a:buNone/>
            </a:pPr>
            <a:r>
              <a:rPr lang="en-US" sz="1400" dirty="0"/>
              <a:t>	&lt;h:table xmlns:h=“https://w3.org”&gt;</a:t>
            </a:r>
          </a:p>
          <a:p>
            <a:pPr marL="0" indent="0" algn="just">
              <a:buNone/>
            </a:pPr>
            <a:r>
              <a:rPr lang="en-US" sz="1400" dirty="0"/>
              <a:t>		&lt;h:tr&gt;</a:t>
            </a:r>
          </a:p>
          <a:p>
            <a:pPr marL="0" indent="0" algn="just">
              <a:buNone/>
            </a:pPr>
            <a:r>
              <a:rPr lang="en-US" sz="1400" dirty="0"/>
              <a:t>			&lt;h:td&gt;Apples&lt;/h:td&gt;</a:t>
            </a:r>
          </a:p>
          <a:p>
            <a:pPr marL="0" indent="0" algn="just">
              <a:buNone/>
            </a:pPr>
            <a:r>
              <a:rPr lang="en-US" sz="1400" dirty="0"/>
              <a:t>			&lt;h:td&gt;Bananas&lt;/h:td&gt;</a:t>
            </a:r>
          </a:p>
          <a:p>
            <a:pPr marL="0" indent="0" algn="just">
              <a:buNone/>
            </a:pPr>
            <a:r>
              <a:rPr lang="en-US" sz="1400" dirty="0"/>
              <a:t>		&lt;/h:tr&gt;</a:t>
            </a:r>
          </a:p>
          <a:p>
            <a:pPr marL="0" indent="0" algn="just">
              <a:buNone/>
            </a:pPr>
            <a:r>
              <a:rPr lang="en-US" sz="1400" dirty="0"/>
              <a:t>	&lt;/h:table&gt;</a:t>
            </a:r>
          </a:p>
          <a:p>
            <a:pPr marL="0" indent="0" algn="just">
              <a:buNone/>
            </a:pPr>
            <a:r>
              <a:rPr lang="en-US" sz="1400" dirty="0"/>
              <a:t>	&lt;f:table xmlns:f=</a:t>
            </a:r>
            <a:r>
              <a:rPr lang="en-US" sz="1400" dirty="0">
                <a:hlinkClick r:id="rId2"/>
              </a:rPr>
              <a:t>“https://w3schools.com</a:t>
            </a:r>
            <a:r>
              <a:rPr lang="en-US" sz="1400" dirty="0"/>
              <a:t>”&gt;</a:t>
            </a:r>
          </a:p>
          <a:p>
            <a:pPr marL="0" indent="0" algn="just">
              <a:buNone/>
            </a:pPr>
            <a:r>
              <a:rPr lang="en-US" sz="1400" dirty="0"/>
              <a:t>		&lt;f:width&gt;80&lt;/f:width&gt;</a:t>
            </a:r>
          </a:p>
          <a:p>
            <a:pPr marL="0" indent="0" algn="just">
              <a:buNone/>
            </a:pPr>
            <a:r>
              <a:rPr lang="en-US" sz="1400" dirty="0"/>
              <a:t>		&lt;f:length&gt;120&lt;/f:length&gt;</a:t>
            </a:r>
          </a:p>
          <a:p>
            <a:pPr marL="0" indent="0" algn="just">
              <a:buNone/>
            </a:pPr>
            <a:r>
              <a:rPr lang="en-US" sz="1400" dirty="0"/>
              <a:t>		&lt;/f:table&gt;</a:t>
            </a:r>
          </a:p>
          <a:p>
            <a:pPr marL="0" indent="0" algn="just">
              <a:buNone/>
            </a:pPr>
            <a:r>
              <a:rPr lang="en-US" sz="1400" dirty="0"/>
              <a:t>&lt;/root&gt;</a:t>
            </a:r>
          </a:p>
          <a:p>
            <a:pPr marL="0" indent="0" algn="just">
              <a:buNone/>
            </a:pPr>
            <a:endParaRPr lang="en-US" dirty="0"/>
          </a:p>
        </p:txBody>
      </p:sp>
      <p:sp>
        <p:nvSpPr>
          <p:cNvPr id="5" name="TextBox 4">
            <a:extLst>
              <a:ext uri="{FF2B5EF4-FFF2-40B4-BE49-F238E27FC236}">
                <a16:creationId xmlns:a16="http://schemas.microsoft.com/office/drawing/2014/main" id="{41110C43-5BB5-4575-9DAF-38D555F8E73C}"/>
              </a:ext>
            </a:extLst>
          </p:cNvPr>
          <p:cNvSpPr txBox="1"/>
          <p:nvPr/>
        </p:nvSpPr>
        <p:spPr>
          <a:xfrm>
            <a:off x="1328652" y="5735782"/>
            <a:ext cx="9750826" cy="369332"/>
          </a:xfrm>
          <a:prstGeom prst="rect">
            <a:avLst/>
          </a:prstGeom>
          <a:noFill/>
        </p:spPr>
        <p:txBody>
          <a:bodyPr wrap="square" rtlCol="0">
            <a:spAutoFit/>
          </a:bodyPr>
          <a:lstStyle/>
          <a:p>
            <a:r>
              <a:rPr lang="en-US" dirty="0"/>
              <a:t>In this example there will be no conflict because the two  &lt;table&gt; elements have now different names.</a:t>
            </a:r>
          </a:p>
        </p:txBody>
      </p:sp>
    </p:spTree>
    <p:extLst>
      <p:ext uri="{BB962C8B-B14F-4D97-AF65-F5344CB8AC3E}">
        <p14:creationId xmlns:p14="http://schemas.microsoft.com/office/powerpoint/2010/main" val="2004488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246841"/>
            <a:ext cx="9601196" cy="1303867"/>
          </a:xfrm>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5754249" y="1140607"/>
            <a:ext cx="5664491" cy="3460928"/>
          </a:xfrm>
          <a:prstGeom prst="rect">
            <a:avLst/>
          </a:prstGeom>
        </p:spPr>
      </p:pic>
      <p:sp>
        <p:nvSpPr>
          <p:cNvPr id="5" name="Rectangle 4"/>
          <p:cNvSpPr/>
          <p:nvPr/>
        </p:nvSpPr>
        <p:spPr>
          <a:xfrm>
            <a:off x="666987" y="4443060"/>
            <a:ext cx="11694695" cy="1754326"/>
          </a:xfrm>
          <a:prstGeom prst="rect">
            <a:avLst/>
          </a:prstGeom>
        </p:spPr>
        <p:txBody>
          <a:bodyPr wrap="square">
            <a:spAutoFit/>
          </a:bodyPr>
          <a:lstStyle/>
          <a:p>
            <a:pPr algn="just"/>
            <a:r>
              <a:rPr lang="en-US" b="0" i="0" dirty="0">
                <a:solidFill>
                  <a:srgbClr val="000000"/>
                </a:solidFill>
                <a:effectLst/>
                <a:latin typeface="Verdana" panose="020B0604030504040204" pitchFamily="34" charset="0"/>
              </a:rPr>
              <a:t>In the example above:</a:t>
            </a:r>
          </a:p>
          <a:p>
            <a:pPr algn="just"/>
            <a:r>
              <a:rPr lang="en-US" b="0" i="0" dirty="0">
                <a:solidFill>
                  <a:srgbClr val="000000"/>
                </a:solidFill>
                <a:effectLst/>
                <a:latin typeface="Verdana" panose="020B0604030504040204" pitchFamily="34" charset="0"/>
              </a:rPr>
              <a:t>The xmlns attribute in the first &lt;table&gt; element gives the h: prefix a qualified namespace.</a:t>
            </a:r>
          </a:p>
          <a:p>
            <a:pPr algn="just"/>
            <a:r>
              <a:rPr lang="en-US" b="0" i="0" dirty="0">
                <a:solidFill>
                  <a:srgbClr val="000000"/>
                </a:solidFill>
                <a:effectLst/>
                <a:latin typeface="Verdana" panose="020B0604030504040204" pitchFamily="34" charset="0"/>
              </a:rPr>
              <a:t>The xmlns attribute in the second &lt;table&gt; element gives the f: prefix a qualified namespace.</a:t>
            </a:r>
          </a:p>
          <a:p>
            <a:pPr algn="just"/>
            <a:r>
              <a:rPr lang="en-US" b="0" i="0" dirty="0">
                <a:solidFill>
                  <a:srgbClr val="000000"/>
                </a:solidFill>
                <a:effectLst/>
                <a:latin typeface="Verdana" panose="020B0604030504040204" pitchFamily="34" charset="0"/>
              </a:rPr>
              <a:t>When a namespace is defined for an element, all child elements with the same prefix are associated with the same namespace.</a:t>
            </a:r>
          </a:p>
          <a:p>
            <a:pPr algn="just"/>
            <a:r>
              <a:rPr lang="en-US" b="0" i="0" dirty="0">
                <a:solidFill>
                  <a:srgbClr val="000000"/>
                </a:solidFill>
                <a:effectLst/>
                <a:latin typeface="Verdana" panose="020B0604030504040204" pitchFamily="34" charset="0"/>
              </a:rPr>
              <a:t>Namespaces can also be declared in the XML root element:</a:t>
            </a:r>
          </a:p>
        </p:txBody>
      </p:sp>
    </p:spTree>
    <p:extLst>
      <p:ext uri="{BB962C8B-B14F-4D97-AF65-F5344CB8AC3E}">
        <p14:creationId xmlns:p14="http://schemas.microsoft.com/office/powerpoint/2010/main" val="565896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F59D4-1BA6-472F-A08D-BB41CEC178D2}"/>
              </a:ext>
            </a:extLst>
          </p:cNvPr>
          <p:cNvSpPr>
            <a:spLocks noGrp="1"/>
          </p:cNvSpPr>
          <p:nvPr>
            <p:ph type="title"/>
          </p:nvPr>
        </p:nvSpPr>
        <p:spPr/>
        <p:txBody>
          <a:bodyPr/>
          <a:lstStyle/>
          <a:p>
            <a:r>
              <a:rPr lang="en-US" b="1" dirty="0"/>
              <a:t>Assignment</a:t>
            </a:r>
          </a:p>
        </p:txBody>
      </p:sp>
      <p:sp>
        <p:nvSpPr>
          <p:cNvPr id="3" name="Content Placeholder 2">
            <a:extLst>
              <a:ext uri="{FF2B5EF4-FFF2-40B4-BE49-F238E27FC236}">
                <a16:creationId xmlns:a16="http://schemas.microsoft.com/office/drawing/2014/main" id="{425F8F52-F8FE-4A4B-9B81-5DB2477CA885}"/>
              </a:ext>
            </a:extLst>
          </p:cNvPr>
          <p:cNvSpPr>
            <a:spLocks noGrp="1"/>
          </p:cNvSpPr>
          <p:nvPr>
            <p:ph idx="1"/>
          </p:nvPr>
        </p:nvSpPr>
        <p:spPr/>
        <p:txBody>
          <a:bodyPr/>
          <a:lstStyle/>
          <a:p>
            <a:r>
              <a:rPr lang="en-US" dirty="0"/>
              <a:t>Write use of xml namespace to merge following 2 xml files.</a:t>
            </a:r>
          </a:p>
        </p:txBody>
      </p:sp>
      <p:pic>
        <p:nvPicPr>
          <p:cNvPr id="5" name="Picture 4">
            <a:extLst>
              <a:ext uri="{FF2B5EF4-FFF2-40B4-BE49-F238E27FC236}">
                <a16:creationId xmlns:a16="http://schemas.microsoft.com/office/drawing/2014/main" id="{6D6BE00A-F70A-40C9-BACE-4DBD42CFC50C}"/>
              </a:ext>
            </a:extLst>
          </p:cNvPr>
          <p:cNvPicPr>
            <a:picLocks noChangeAspect="1"/>
          </p:cNvPicPr>
          <p:nvPr/>
        </p:nvPicPr>
        <p:blipFill>
          <a:blip r:embed="rId2"/>
          <a:stretch>
            <a:fillRect/>
          </a:stretch>
        </p:blipFill>
        <p:spPr>
          <a:xfrm>
            <a:off x="982436" y="2498789"/>
            <a:ext cx="4420217" cy="2124371"/>
          </a:xfrm>
          <a:prstGeom prst="rect">
            <a:avLst/>
          </a:prstGeom>
          <a:ln>
            <a:solidFill>
              <a:schemeClr val="tx1"/>
            </a:solidFill>
          </a:ln>
        </p:spPr>
      </p:pic>
      <p:pic>
        <p:nvPicPr>
          <p:cNvPr id="7" name="Picture 6">
            <a:extLst>
              <a:ext uri="{FF2B5EF4-FFF2-40B4-BE49-F238E27FC236}">
                <a16:creationId xmlns:a16="http://schemas.microsoft.com/office/drawing/2014/main" id="{194B4C7C-1F6C-4722-AFD7-F2588910C0E3}"/>
              </a:ext>
            </a:extLst>
          </p:cNvPr>
          <p:cNvPicPr>
            <a:picLocks noChangeAspect="1"/>
          </p:cNvPicPr>
          <p:nvPr/>
        </p:nvPicPr>
        <p:blipFill>
          <a:blip r:embed="rId3"/>
          <a:stretch>
            <a:fillRect/>
          </a:stretch>
        </p:blipFill>
        <p:spPr>
          <a:xfrm>
            <a:off x="5553606" y="2598814"/>
            <a:ext cx="5944430" cy="1924319"/>
          </a:xfrm>
          <a:prstGeom prst="rect">
            <a:avLst/>
          </a:prstGeom>
          <a:ln>
            <a:solidFill>
              <a:schemeClr val="tx1"/>
            </a:solidFill>
          </a:ln>
        </p:spPr>
      </p:pic>
    </p:spTree>
    <p:extLst>
      <p:ext uri="{BB962C8B-B14F-4D97-AF65-F5344CB8AC3E}">
        <p14:creationId xmlns:p14="http://schemas.microsoft.com/office/powerpoint/2010/main" val="25538442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DTD</a:t>
            </a:r>
          </a:p>
        </p:txBody>
      </p:sp>
      <p:sp>
        <p:nvSpPr>
          <p:cNvPr id="3" name="Content Placeholder 2"/>
          <p:cNvSpPr>
            <a:spLocks noGrp="1"/>
          </p:cNvSpPr>
          <p:nvPr>
            <p:ph idx="1"/>
          </p:nvPr>
        </p:nvSpPr>
        <p:spPr/>
        <p:txBody>
          <a:bodyPr>
            <a:normAutofit/>
          </a:bodyPr>
          <a:lstStyle/>
          <a:p>
            <a:r>
              <a:rPr lang="en-US" dirty="0"/>
              <a:t>DTD stands for Document Type Definition.</a:t>
            </a:r>
          </a:p>
          <a:p>
            <a:r>
              <a:rPr lang="en-US" dirty="0"/>
              <a:t>A DTD is XML schema language that defines the structure and the legal elements and attributes of an XML document.</a:t>
            </a:r>
          </a:p>
          <a:p>
            <a:r>
              <a:rPr lang="en-US" dirty="0"/>
              <a:t>XML document with correct syntax is called "Well Formed".</a:t>
            </a:r>
          </a:p>
          <a:p>
            <a:r>
              <a:rPr lang="en-US" dirty="0"/>
              <a:t>An XML document validated against a DTD is both "Well Formed" and "Valid".</a:t>
            </a:r>
          </a:p>
          <a:p>
            <a:pPr marL="0" indent="0">
              <a:buNone/>
            </a:pPr>
            <a:br>
              <a:rPr lang="en-US" dirty="0"/>
            </a:br>
            <a:endParaRPr lang="en-US" dirty="0"/>
          </a:p>
        </p:txBody>
      </p:sp>
    </p:spTree>
    <p:extLst>
      <p:ext uri="{BB962C8B-B14F-4D97-AF65-F5344CB8AC3E}">
        <p14:creationId xmlns:p14="http://schemas.microsoft.com/office/powerpoint/2010/main" val="14177526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0BCBF-4A77-4FFF-8807-4399A5F19562}"/>
              </a:ext>
            </a:extLst>
          </p:cNvPr>
          <p:cNvSpPr>
            <a:spLocks noGrp="1"/>
          </p:cNvSpPr>
          <p:nvPr>
            <p:ph type="title"/>
          </p:nvPr>
        </p:nvSpPr>
        <p:spPr/>
        <p:txBody>
          <a:bodyPr/>
          <a:lstStyle/>
          <a:p>
            <a:r>
              <a:rPr lang="en-US" b="1" dirty="0"/>
              <a:t>Document Type Definition</a:t>
            </a:r>
          </a:p>
        </p:txBody>
      </p:sp>
      <p:sp>
        <p:nvSpPr>
          <p:cNvPr id="3" name="Content Placeholder 2">
            <a:extLst>
              <a:ext uri="{FF2B5EF4-FFF2-40B4-BE49-F238E27FC236}">
                <a16:creationId xmlns:a16="http://schemas.microsoft.com/office/drawing/2014/main" id="{2FDC55D3-843E-48FD-8436-D5E600114994}"/>
              </a:ext>
            </a:extLst>
          </p:cNvPr>
          <p:cNvSpPr>
            <a:spLocks noGrp="1"/>
          </p:cNvSpPr>
          <p:nvPr>
            <p:ph idx="1"/>
          </p:nvPr>
        </p:nvSpPr>
        <p:spPr>
          <a:xfrm>
            <a:off x="1295401" y="2556932"/>
            <a:ext cx="4800599" cy="3318936"/>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r>
              <a:rPr lang="en-US" dirty="0"/>
              <a:t>Basic syntax of DTD is as follow:</a:t>
            </a:r>
          </a:p>
          <a:p>
            <a:pPr marL="0" indent="0">
              <a:buNone/>
            </a:pPr>
            <a:r>
              <a:rPr lang="en-US" dirty="0"/>
              <a:t>&lt;?DOCTYPE element DTD identifier</a:t>
            </a:r>
          </a:p>
          <a:p>
            <a:pPr marL="0" indent="0">
              <a:buNone/>
            </a:pPr>
            <a:r>
              <a:rPr lang="en-US" dirty="0"/>
              <a:t>[</a:t>
            </a:r>
          </a:p>
          <a:p>
            <a:pPr marL="0" indent="0">
              <a:buNone/>
            </a:pPr>
            <a:r>
              <a:rPr lang="en-US" dirty="0"/>
              <a:t>	declaration1</a:t>
            </a:r>
          </a:p>
          <a:p>
            <a:pPr marL="0" indent="0">
              <a:buNone/>
            </a:pPr>
            <a:r>
              <a:rPr lang="en-US" dirty="0"/>
              <a:t>	declaration2</a:t>
            </a:r>
          </a:p>
          <a:p>
            <a:pPr marL="0" indent="0">
              <a:buNone/>
            </a:pPr>
            <a:r>
              <a:rPr lang="en-US" dirty="0"/>
              <a:t>	……</a:t>
            </a:r>
          </a:p>
          <a:p>
            <a:pPr marL="0" indent="0">
              <a:buNone/>
            </a:pPr>
            <a:r>
              <a:rPr lang="en-US" dirty="0"/>
              <a:t>]&gt;</a:t>
            </a:r>
          </a:p>
        </p:txBody>
      </p:sp>
      <p:sp>
        <p:nvSpPr>
          <p:cNvPr id="4" name="Content Placeholder 2">
            <a:extLst>
              <a:ext uri="{FF2B5EF4-FFF2-40B4-BE49-F238E27FC236}">
                <a16:creationId xmlns:a16="http://schemas.microsoft.com/office/drawing/2014/main" id="{99D244F0-2123-48CE-A958-BC73BCCDEAB9}"/>
              </a:ext>
            </a:extLst>
          </p:cNvPr>
          <p:cNvSpPr txBox="1">
            <a:spLocks/>
          </p:cNvSpPr>
          <p:nvPr/>
        </p:nvSpPr>
        <p:spPr>
          <a:xfrm>
            <a:off x="6235932" y="2556932"/>
            <a:ext cx="4800599" cy="3318936"/>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chor="t">
            <a:normAutofit fontScale="70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en-US" dirty="0"/>
              <a:t>In given syntax:</a:t>
            </a:r>
          </a:p>
          <a:p>
            <a:r>
              <a:rPr lang="en-US" b="1" dirty="0"/>
              <a:t>DTD </a:t>
            </a:r>
            <a:r>
              <a:rPr lang="en-US" dirty="0"/>
              <a:t>starts with&lt;!DOCTYPE delimiter</a:t>
            </a:r>
          </a:p>
          <a:p>
            <a:r>
              <a:rPr lang="en-US" dirty="0"/>
              <a:t>An </a:t>
            </a:r>
            <a:r>
              <a:rPr lang="en-US" b="1" dirty="0"/>
              <a:t>element </a:t>
            </a:r>
            <a:r>
              <a:rPr lang="en-US" dirty="0"/>
              <a:t>tells the parser to parse document from specified root element.</a:t>
            </a:r>
          </a:p>
          <a:p>
            <a:r>
              <a:rPr lang="en-US" b="1" dirty="0"/>
              <a:t>DTD identifier</a:t>
            </a:r>
            <a:r>
              <a:rPr lang="en-US" dirty="0"/>
              <a:t> is an identifier for the document type definition, which may be the path to a file on the system or URL to a file on the internet. If the DTD is pointing to external path, it is called external subset.</a:t>
            </a:r>
          </a:p>
          <a:p>
            <a:r>
              <a:rPr lang="en-US" dirty="0"/>
              <a:t>The </a:t>
            </a:r>
            <a:r>
              <a:rPr lang="en-US" b="1" dirty="0"/>
              <a:t>square brackets[] </a:t>
            </a:r>
            <a:r>
              <a:rPr lang="en-US" dirty="0"/>
              <a:t>enclose an optional list of entity declaration called internal subset</a:t>
            </a:r>
          </a:p>
        </p:txBody>
      </p:sp>
    </p:spTree>
    <p:extLst>
      <p:ext uri="{BB962C8B-B14F-4D97-AF65-F5344CB8AC3E}">
        <p14:creationId xmlns:p14="http://schemas.microsoft.com/office/powerpoint/2010/main" val="34084214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4DCFB-873F-4215-BC83-C1BF88E97E94}"/>
              </a:ext>
            </a:extLst>
          </p:cNvPr>
          <p:cNvSpPr>
            <a:spLocks noGrp="1"/>
          </p:cNvSpPr>
          <p:nvPr>
            <p:ph type="title"/>
          </p:nvPr>
        </p:nvSpPr>
        <p:spPr/>
        <p:txBody>
          <a:bodyPr>
            <a:normAutofit/>
          </a:bodyPr>
          <a:lstStyle/>
          <a:p>
            <a:r>
              <a:rPr lang="en-US" b="1" dirty="0"/>
              <a:t>Internal DTD</a:t>
            </a:r>
          </a:p>
        </p:txBody>
      </p:sp>
      <p:sp>
        <p:nvSpPr>
          <p:cNvPr id="3" name="Content Placeholder 2">
            <a:extLst>
              <a:ext uri="{FF2B5EF4-FFF2-40B4-BE49-F238E27FC236}">
                <a16:creationId xmlns:a16="http://schemas.microsoft.com/office/drawing/2014/main" id="{90362E96-3800-400B-A572-B310BFD7E767}"/>
              </a:ext>
            </a:extLst>
          </p:cNvPr>
          <p:cNvSpPr>
            <a:spLocks noGrp="1"/>
          </p:cNvSpPr>
          <p:nvPr>
            <p:ph idx="1"/>
          </p:nvPr>
        </p:nvSpPr>
        <p:spPr>
          <a:xfrm>
            <a:off x="503906" y="2662895"/>
            <a:ext cx="5321859" cy="3318936"/>
          </a:xfrm>
        </p:spPr>
        <p:txBody>
          <a:bodyPr/>
          <a:lstStyle/>
          <a:p>
            <a:r>
              <a:rPr lang="en-US" dirty="0"/>
              <a:t>Syntax:</a:t>
            </a:r>
          </a:p>
          <a:p>
            <a:r>
              <a:rPr lang="en-US" sz="1800" dirty="0"/>
              <a:t>&lt;!DOCTYPE root-element[element-declarations]&gt;</a:t>
            </a:r>
            <a:br>
              <a:rPr lang="en-US" sz="1800" dirty="0"/>
            </a:br>
            <a:endParaRPr lang="en-US" sz="1800" dirty="0"/>
          </a:p>
          <a:p>
            <a:r>
              <a:rPr lang="en-US" sz="1800" dirty="0"/>
              <a:t>DTD scripts are written inside same xml file.</a:t>
            </a:r>
          </a:p>
        </p:txBody>
      </p:sp>
      <p:pic>
        <p:nvPicPr>
          <p:cNvPr id="7" name="Picture 6">
            <a:extLst>
              <a:ext uri="{FF2B5EF4-FFF2-40B4-BE49-F238E27FC236}">
                <a16:creationId xmlns:a16="http://schemas.microsoft.com/office/drawing/2014/main" id="{5DAAC7E3-CD93-4334-9966-AF3784EC9A22}"/>
              </a:ext>
            </a:extLst>
          </p:cNvPr>
          <p:cNvPicPr>
            <a:picLocks noChangeAspect="1"/>
          </p:cNvPicPr>
          <p:nvPr/>
        </p:nvPicPr>
        <p:blipFill>
          <a:blip r:embed="rId2"/>
          <a:stretch>
            <a:fillRect/>
          </a:stretch>
        </p:blipFill>
        <p:spPr>
          <a:xfrm>
            <a:off x="5929461" y="2653594"/>
            <a:ext cx="5644860" cy="3222274"/>
          </a:xfrm>
          <a:prstGeom prst="rect">
            <a:avLst/>
          </a:prstGeom>
        </p:spPr>
      </p:pic>
    </p:spTree>
    <p:extLst>
      <p:ext uri="{BB962C8B-B14F-4D97-AF65-F5344CB8AC3E}">
        <p14:creationId xmlns:p14="http://schemas.microsoft.com/office/powerpoint/2010/main" val="13205016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External DTD Example</a:t>
            </a:r>
          </a:p>
        </p:txBody>
      </p:sp>
      <p:pic>
        <p:nvPicPr>
          <p:cNvPr id="4" name="Content Placeholder 3"/>
          <p:cNvPicPr>
            <a:picLocks noGrp="1" noChangeAspect="1"/>
          </p:cNvPicPr>
          <p:nvPr>
            <p:ph idx="1"/>
          </p:nvPr>
        </p:nvPicPr>
        <p:blipFill>
          <a:blip r:embed="rId2"/>
          <a:stretch>
            <a:fillRect/>
          </a:stretch>
        </p:blipFill>
        <p:spPr>
          <a:xfrm>
            <a:off x="720365" y="3139461"/>
            <a:ext cx="5905978" cy="2902250"/>
          </a:xfrm>
          <a:prstGeom prst="rect">
            <a:avLst/>
          </a:prstGeom>
        </p:spPr>
      </p:pic>
      <p:pic>
        <p:nvPicPr>
          <p:cNvPr id="6" name="Picture 5"/>
          <p:cNvPicPr>
            <a:picLocks noChangeAspect="1"/>
          </p:cNvPicPr>
          <p:nvPr/>
        </p:nvPicPr>
        <p:blipFill>
          <a:blip r:embed="rId3"/>
          <a:stretch>
            <a:fillRect/>
          </a:stretch>
        </p:blipFill>
        <p:spPr>
          <a:xfrm>
            <a:off x="7052985" y="3139461"/>
            <a:ext cx="4418650" cy="2925863"/>
          </a:xfrm>
          <a:prstGeom prst="rect">
            <a:avLst/>
          </a:prstGeom>
        </p:spPr>
      </p:pic>
      <p:sp>
        <p:nvSpPr>
          <p:cNvPr id="3" name="TextBox 2">
            <a:extLst>
              <a:ext uri="{FF2B5EF4-FFF2-40B4-BE49-F238E27FC236}">
                <a16:creationId xmlns:a16="http://schemas.microsoft.com/office/drawing/2014/main" id="{38EACC6B-4682-4BD4-A265-ED2C6ECDDD44}"/>
              </a:ext>
            </a:extLst>
          </p:cNvPr>
          <p:cNvSpPr txBox="1"/>
          <p:nvPr/>
        </p:nvSpPr>
        <p:spPr>
          <a:xfrm>
            <a:off x="941895" y="2389564"/>
            <a:ext cx="10633435" cy="646331"/>
          </a:xfrm>
          <a:prstGeom prst="rect">
            <a:avLst/>
          </a:prstGeom>
          <a:noFill/>
        </p:spPr>
        <p:txBody>
          <a:bodyPr wrap="square" rtlCol="0">
            <a:spAutoFit/>
          </a:bodyPr>
          <a:lstStyle/>
          <a:p>
            <a:r>
              <a:rPr lang="en-US" dirty="0"/>
              <a:t>In external DTD elements are declared outside the XML file. They are accessed by specifying the system attributes which may be either the DTD file or a valid URL. Syntax &lt;!DOCTYPE root-element SYSTEM “file-name”&gt;</a:t>
            </a:r>
          </a:p>
        </p:txBody>
      </p:sp>
    </p:spTree>
    <p:extLst>
      <p:ext uri="{BB962C8B-B14F-4D97-AF65-F5344CB8AC3E}">
        <p14:creationId xmlns:p14="http://schemas.microsoft.com/office/powerpoint/2010/main" val="6203143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DTD example Explanation </a:t>
            </a:r>
          </a:p>
        </p:txBody>
      </p:sp>
      <p:sp>
        <p:nvSpPr>
          <p:cNvPr id="3" name="Content Placeholder 2"/>
          <p:cNvSpPr>
            <a:spLocks noGrp="1"/>
          </p:cNvSpPr>
          <p:nvPr>
            <p:ph idx="1"/>
          </p:nvPr>
        </p:nvSpPr>
        <p:spPr/>
        <p:txBody>
          <a:bodyPr>
            <a:normAutofit fontScale="92500"/>
          </a:bodyPr>
          <a:lstStyle/>
          <a:p>
            <a:pPr algn="just"/>
            <a:r>
              <a:rPr lang="en-US" dirty="0"/>
              <a:t>The DTD above is interpreted like this:</a:t>
            </a:r>
          </a:p>
          <a:p>
            <a:pPr algn="just"/>
            <a:r>
              <a:rPr lang="en-US" dirty="0"/>
              <a:t>!DOCTYPE note -  Defines that the root element of the document is note</a:t>
            </a:r>
          </a:p>
          <a:p>
            <a:pPr algn="just"/>
            <a:r>
              <a:rPr lang="en-US" dirty="0"/>
              <a:t>!ELEMENT note - Defines that the note element must contain the elements: "to, from, heading, body"</a:t>
            </a:r>
          </a:p>
          <a:p>
            <a:pPr algn="just"/>
            <a:r>
              <a:rPr lang="en-US" dirty="0"/>
              <a:t>!ELEMENT to - Defines the to element to be of type "#PCDATA"</a:t>
            </a:r>
          </a:p>
          <a:p>
            <a:pPr algn="just"/>
            <a:r>
              <a:rPr lang="en-US" dirty="0"/>
              <a:t>!ELEMENT from - Defines the from element to be of type "#PCDATA"</a:t>
            </a:r>
          </a:p>
          <a:p>
            <a:pPr algn="just"/>
            <a:r>
              <a:rPr lang="en-US" dirty="0"/>
              <a:t>!ELEMENT heading  - Defines the heading element to be of type "#PCDATA"</a:t>
            </a:r>
          </a:p>
          <a:p>
            <a:pPr algn="just"/>
            <a:r>
              <a:rPr lang="en-US" dirty="0"/>
              <a:t>!ELEMENT body - Defines the body element to be of type "#PCDATA"</a:t>
            </a:r>
          </a:p>
          <a:p>
            <a:pPr algn="just"/>
            <a:r>
              <a:rPr lang="en-US" b="1" dirty="0"/>
              <a:t>Tip:</a:t>
            </a:r>
            <a:r>
              <a:rPr lang="en-US" dirty="0"/>
              <a:t> #PCDATA means parseable character data.</a:t>
            </a:r>
          </a:p>
          <a:p>
            <a:pPr algn="just"/>
            <a:endParaRPr lang="en-US" dirty="0"/>
          </a:p>
        </p:txBody>
      </p:sp>
    </p:spTree>
    <p:extLst>
      <p:ext uri="{BB962C8B-B14F-4D97-AF65-F5344CB8AC3E}">
        <p14:creationId xmlns:p14="http://schemas.microsoft.com/office/powerpoint/2010/main" val="22211990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978EF-3E79-43B7-918F-44C06AD11568}"/>
              </a:ext>
            </a:extLst>
          </p:cNvPr>
          <p:cNvSpPr>
            <a:spLocks noGrp="1"/>
          </p:cNvSpPr>
          <p:nvPr>
            <p:ph type="title"/>
          </p:nvPr>
        </p:nvSpPr>
        <p:spPr/>
        <p:txBody>
          <a:bodyPr/>
          <a:lstStyle/>
          <a:p>
            <a:r>
              <a:rPr lang="en-US" b="1" dirty="0"/>
              <a:t>Assignments</a:t>
            </a:r>
          </a:p>
        </p:txBody>
      </p:sp>
      <p:sp>
        <p:nvSpPr>
          <p:cNvPr id="3" name="Content Placeholder 2">
            <a:extLst>
              <a:ext uri="{FF2B5EF4-FFF2-40B4-BE49-F238E27FC236}">
                <a16:creationId xmlns:a16="http://schemas.microsoft.com/office/drawing/2014/main" id="{5CF505A1-666C-4E7C-80CF-498A0F161CC9}"/>
              </a:ext>
            </a:extLst>
          </p:cNvPr>
          <p:cNvSpPr>
            <a:spLocks noGrp="1"/>
          </p:cNvSpPr>
          <p:nvPr>
            <p:ph idx="1"/>
          </p:nvPr>
        </p:nvSpPr>
        <p:spPr/>
        <p:txBody>
          <a:bodyPr/>
          <a:lstStyle/>
          <a:p>
            <a:r>
              <a:rPr lang="en-US" dirty="0"/>
              <a:t>Mention differences between internal and external DTD??</a:t>
            </a:r>
          </a:p>
          <a:p>
            <a:r>
              <a:rPr lang="en-US" dirty="0"/>
              <a:t>Write internal and external DTD code for following XML document.</a:t>
            </a:r>
          </a:p>
        </p:txBody>
      </p:sp>
      <p:pic>
        <p:nvPicPr>
          <p:cNvPr id="5" name="Picture 4">
            <a:extLst>
              <a:ext uri="{FF2B5EF4-FFF2-40B4-BE49-F238E27FC236}">
                <a16:creationId xmlns:a16="http://schemas.microsoft.com/office/drawing/2014/main" id="{D712430F-CC4F-4DEA-ABB6-657365432F27}"/>
              </a:ext>
            </a:extLst>
          </p:cNvPr>
          <p:cNvPicPr>
            <a:picLocks noChangeAspect="1"/>
          </p:cNvPicPr>
          <p:nvPr/>
        </p:nvPicPr>
        <p:blipFill>
          <a:blip r:embed="rId2"/>
          <a:stretch>
            <a:fillRect/>
          </a:stretch>
        </p:blipFill>
        <p:spPr>
          <a:xfrm>
            <a:off x="838200" y="3198747"/>
            <a:ext cx="5801535" cy="2572109"/>
          </a:xfrm>
          <a:prstGeom prst="rect">
            <a:avLst/>
          </a:prstGeom>
        </p:spPr>
      </p:pic>
    </p:spTree>
    <p:extLst>
      <p:ext uri="{BB962C8B-B14F-4D97-AF65-F5344CB8AC3E}">
        <p14:creationId xmlns:p14="http://schemas.microsoft.com/office/powerpoint/2010/main" val="3871787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7C113-77DE-4DFF-8493-8F20036F9A22}"/>
              </a:ext>
            </a:extLst>
          </p:cNvPr>
          <p:cNvSpPr>
            <a:spLocks noGrp="1"/>
          </p:cNvSpPr>
          <p:nvPr>
            <p:ph type="title"/>
          </p:nvPr>
        </p:nvSpPr>
        <p:spPr/>
        <p:txBody>
          <a:bodyPr/>
          <a:lstStyle/>
          <a:p>
            <a:r>
              <a:rPr lang="en-US" b="1" dirty="0"/>
              <a:t>DTD Elements</a:t>
            </a:r>
          </a:p>
        </p:txBody>
      </p:sp>
      <p:sp>
        <p:nvSpPr>
          <p:cNvPr id="3" name="Content Placeholder 2">
            <a:extLst>
              <a:ext uri="{FF2B5EF4-FFF2-40B4-BE49-F238E27FC236}">
                <a16:creationId xmlns:a16="http://schemas.microsoft.com/office/drawing/2014/main" id="{1A0C54AD-00F2-46A1-83EF-DECB75AA138C}"/>
              </a:ext>
            </a:extLst>
          </p:cNvPr>
          <p:cNvSpPr>
            <a:spLocks noGrp="1"/>
          </p:cNvSpPr>
          <p:nvPr>
            <p:ph idx="1"/>
          </p:nvPr>
        </p:nvSpPr>
        <p:spPr>
          <a:xfrm>
            <a:off x="1295402" y="2440553"/>
            <a:ext cx="9428016" cy="3318936"/>
          </a:xfrm>
        </p:spPr>
        <p:txBody>
          <a:bodyPr/>
          <a:lstStyle/>
          <a:p>
            <a:r>
              <a:rPr lang="en-US" dirty="0"/>
              <a:t>Declaring elements</a:t>
            </a:r>
          </a:p>
          <a:p>
            <a:r>
              <a:rPr lang="en-US" dirty="0"/>
              <a:t>&lt;!ELEMENT element-name category&gt;</a:t>
            </a:r>
          </a:p>
          <a:p>
            <a:r>
              <a:rPr lang="en-US" dirty="0"/>
              <a:t>Or</a:t>
            </a:r>
          </a:p>
          <a:p>
            <a:r>
              <a:rPr lang="en-US" dirty="0"/>
              <a:t>&lt;!ELEMENT element-name (element-content)&gt;</a:t>
            </a:r>
          </a:p>
        </p:txBody>
      </p:sp>
    </p:spTree>
    <p:extLst>
      <p:ext uri="{BB962C8B-B14F-4D97-AF65-F5344CB8AC3E}">
        <p14:creationId xmlns:p14="http://schemas.microsoft.com/office/powerpoint/2010/main" val="27599956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7C113-77DE-4DFF-8493-8F20036F9A22}"/>
              </a:ext>
            </a:extLst>
          </p:cNvPr>
          <p:cNvSpPr>
            <a:spLocks noGrp="1"/>
          </p:cNvSpPr>
          <p:nvPr>
            <p:ph type="title"/>
          </p:nvPr>
        </p:nvSpPr>
        <p:spPr>
          <a:xfrm>
            <a:off x="1295402" y="477521"/>
            <a:ext cx="9601196" cy="1303867"/>
          </a:xfrm>
        </p:spPr>
        <p:txBody>
          <a:bodyPr/>
          <a:lstStyle/>
          <a:p>
            <a:r>
              <a:rPr lang="en-US" b="1" dirty="0"/>
              <a:t>DTD Elements</a:t>
            </a:r>
          </a:p>
        </p:txBody>
      </p:sp>
      <p:sp>
        <p:nvSpPr>
          <p:cNvPr id="3" name="Content Placeholder 2">
            <a:extLst>
              <a:ext uri="{FF2B5EF4-FFF2-40B4-BE49-F238E27FC236}">
                <a16:creationId xmlns:a16="http://schemas.microsoft.com/office/drawing/2014/main" id="{1A0C54AD-00F2-46A1-83EF-DECB75AA138C}"/>
              </a:ext>
            </a:extLst>
          </p:cNvPr>
          <p:cNvSpPr>
            <a:spLocks noGrp="1"/>
          </p:cNvSpPr>
          <p:nvPr>
            <p:ph idx="1"/>
          </p:nvPr>
        </p:nvSpPr>
        <p:spPr>
          <a:xfrm>
            <a:off x="1214122" y="1891912"/>
            <a:ext cx="9428016" cy="3939927"/>
          </a:xfrm>
        </p:spPr>
        <p:txBody>
          <a:bodyPr>
            <a:normAutofit fontScale="25000" lnSpcReduction="20000"/>
          </a:bodyPr>
          <a:lstStyle/>
          <a:p>
            <a:pPr marL="0" indent="0">
              <a:buNone/>
            </a:pPr>
            <a:br>
              <a:rPr lang="en-US" sz="6400" dirty="0"/>
            </a:br>
            <a:r>
              <a:rPr lang="en-US" sz="6400" b="1" dirty="0"/>
              <a:t>Empty Elements</a:t>
            </a:r>
          </a:p>
          <a:p>
            <a:pPr marL="0" indent="0">
              <a:buNone/>
            </a:pPr>
            <a:r>
              <a:rPr lang="en-US" sz="6400" dirty="0"/>
              <a:t>Empty elements are declared with the category keyword EMPTY:</a:t>
            </a:r>
          </a:p>
          <a:p>
            <a:pPr marL="0" indent="0">
              <a:buNone/>
            </a:pPr>
            <a:r>
              <a:rPr lang="en-US" sz="6400" dirty="0"/>
              <a:t>&lt;!ELEMENT element-name EMPTY&gt;</a:t>
            </a:r>
          </a:p>
          <a:p>
            <a:pPr marL="0" indent="0">
              <a:buNone/>
            </a:pPr>
            <a:r>
              <a:rPr lang="en-US" sz="6400" dirty="0"/>
              <a:t>Example:</a:t>
            </a:r>
          </a:p>
          <a:p>
            <a:pPr marL="0" indent="0">
              <a:buNone/>
            </a:pPr>
            <a:r>
              <a:rPr lang="en-US" sz="6400" dirty="0"/>
              <a:t>&lt;!ELEMENT br EMPTY&gt;		XML example:	&lt;</a:t>
            </a:r>
            <a:r>
              <a:rPr lang="en-US" sz="6400" dirty="0" err="1"/>
              <a:t>br</a:t>
            </a:r>
            <a:r>
              <a:rPr lang="en-US" sz="6400" dirty="0"/>
              <a:t>/&gt;</a:t>
            </a:r>
          </a:p>
          <a:p>
            <a:pPr marL="0" indent="0">
              <a:buNone/>
            </a:pPr>
            <a:endParaRPr lang="en-US" sz="6400" dirty="0"/>
          </a:p>
          <a:p>
            <a:pPr marL="0" indent="0">
              <a:buNone/>
            </a:pPr>
            <a:r>
              <a:rPr lang="en-US" sz="6400" b="1" dirty="0"/>
              <a:t>Elements with Parsed Character Data</a:t>
            </a:r>
          </a:p>
          <a:p>
            <a:pPr marL="0" indent="0">
              <a:buNone/>
            </a:pPr>
            <a:r>
              <a:rPr lang="en-US" sz="6400" dirty="0"/>
              <a:t>Elements with only parsed character data are declared with #PCDATA inside parentheses:</a:t>
            </a:r>
          </a:p>
          <a:p>
            <a:pPr marL="0" indent="0">
              <a:buNone/>
            </a:pPr>
            <a:r>
              <a:rPr lang="en-US" sz="6400" dirty="0"/>
              <a:t>&lt;!ELEMENT element-name (#PCDATA)&gt;</a:t>
            </a:r>
          </a:p>
          <a:p>
            <a:pPr marL="0" indent="0">
              <a:buNone/>
            </a:pPr>
            <a:r>
              <a:rPr lang="en-US" sz="6400" dirty="0"/>
              <a:t>Example:</a:t>
            </a:r>
          </a:p>
          <a:p>
            <a:pPr marL="0" indent="0">
              <a:buNone/>
            </a:pPr>
            <a:r>
              <a:rPr lang="en-US" sz="6400" dirty="0"/>
              <a:t>&lt;!ELEMENT user (#PCDATA)&gt;		//here user is tag name &lt;user&gt;someone’s name &lt;/user&gt;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844946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7C113-77DE-4DFF-8493-8F20036F9A22}"/>
              </a:ext>
            </a:extLst>
          </p:cNvPr>
          <p:cNvSpPr>
            <a:spLocks noGrp="1"/>
          </p:cNvSpPr>
          <p:nvPr>
            <p:ph type="title"/>
          </p:nvPr>
        </p:nvSpPr>
        <p:spPr/>
        <p:txBody>
          <a:bodyPr/>
          <a:lstStyle/>
          <a:p>
            <a:r>
              <a:rPr lang="en-US" b="1" dirty="0"/>
              <a:t>DTD Elements</a:t>
            </a:r>
          </a:p>
        </p:txBody>
      </p:sp>
      <p:sp>
        <p:nvSpPr>
          <p:cNvPr id="3" name="Content Placeholder 2">
            <a:extLst>
              <a:ext uri="{FF2B5EF4-FFF2-40B4-BE49-F238E27FC236}">
                <a16:creationId xmlns:a16="http://schemas.microsoft.com/office/drawing/2014/main" id="{1A0C54AD-00F2-46A1-83EF-DECB75AA138C}"/>
              </a:ext>
            </a:extLst>
          </p:cNvPr>
          <p:cNvSpPr>
            <a:spLocks noGrp="1"/>
          </p:cNvSpPr>
          <p:nvPr>
            <p:ph idx="1"/>
          </p:nvPr>
        </p:nvSpPr>
        <p:spPr>
          <a:xfrm>
            <a:off x="1295402" y="2440553"/>
            <a:ext cx="9428016" cy="3318936"/>
          </a:xfrm>
        </p:spPr>
        <p:txBody>
          <a:bodyPr>
            <a:normAutofit/>
          </a:bodyPr>
          <a:lstStyle/>
          <a:p>
            <a:pPr marL="0" indent="0">
              <a:buNone/>
            </a:pPr>
            <a:r>
              <a:rPr lang="en-US" sz="1800" b="1" dirty="0"/>
              <a:t>Elements with any Contents</a:t>
            </a:r>
          </a:p>
          <a:p>
            <a:pPr marL="0" indent="0">
              <a:buNone/>
            </a:pPr>
            <a:r>
              <a:rPr lang="en-US" sz="1800" dirty="0"/>
              <a:t>Elements declared with the category keyword ANY, can contain any combination of parsable data:</a:t>
            </a:r>
          </a:p>
          <a:p>
            <a:pPr marL="0" indent="0">
              <a:buNone/>
            </a:pPr>
            <a:r>
              <a:rPr lang="en-US" sz="1800" dirty="0"/>
              <a:t>&lt;!ELEMENT element-name ANY&gt;</a:t>
            </a:r>
          </a:p>
          <a:p>
            <a:pPr marL="0" indent="0">
              <a:buNone/>
            </a:pPr>
            <a:r>
              <a:rPr lang="en-US" sz="1800" dirty="0"/>
              <a:t>Example:</a:t>
            </a:r>
          </a:p>
          <a:p>
            <a:pPr marL="0" indent="0">
              <a:buNone/>
            </a:pPr>
            <a:r>
              <a:rPr lang="en-US" sz="1800" dirty="0"/>
              <a:t>&lt;!ELEMENT note ANY&gt;</a:t>
            </a:r>
          </a:p>
          <a:p>
            <a:pPr marL="0" indent="0">
              <a:buNone/>
            </a:pPr>
            <a:endParaRPr lang="en-US" sz="700" dirty="0"/>
          </a:p>
        </p:txBody>
      </p:sp>
    </p:spTree>
    <p:extLst>
      <p:ext uri="{BB962C8B-B14F-4D97-AF65-F5344CB8AC3E}">
        <p14:creationId xmlns:p14="http://schemas.microsoft.com/office/powerpoint/2010/main" val="8930490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7C113-77DE-4DFF-8493-8F20036F9A22}"/>
              </a:ext>
            </a:extLst>
          </p:cNvPr>
          <p:cNvSpPr>
            <a:spLocks noGrp="1"/>
          </p:cNvSpPr>
          <p:nvPr>
            <p:ph type="title"/>
          </p:nvPr>
        </p:nvSpPr>
        <p:spPr>
          <a:xfrm>
            <a:off x="1295402" y="548641"/>
            <a:ext cx="9601196" cy="1303867"/>
          </a:xfrm>
        </p:spPr>
        <p:txBody>
          <a:bodyPr/>
          <a:lstStyle/>
          <a:p>
            <a:r>
              <a:rPr lang="en-US" b="1" dirty="0"/>
              <a:t>DTD Elements</a:t>
            </a:r>
          </a:p>
        </p:txBody>
      </p:sp>
      <p:sp>
        <p:nvSpPr>
          <p:cNvPr id="3" name="Content Placeholder 2">
            <a:extLst>
              <a:ext uri="{FF2B5EF4-FFF2-40B4-BE49-F238E27FC236}">
                <a16:creationId xmlns:a16="http://schemas.microsoft.com/office/drawing/2014/main" id="{1A0C54AD-00F2-46A1-83EF-DECB75AA138C}"/>
              </a:ext>
            </a:extLst>
          </p:cNvPr>
          <p:cNvSpPr>
            <a:spLocks noGrp="1"/>
          </p:cNvSpPr>
          <p:nvPr>
            <p:ph idx="1"/>
          </p:nvPr>
        </p:nvSpPr>
        <p:spPr>
          <a:xfrm>
            <a:off x="843280" y="1615440"/>
            <a:ext cx="10627360" cy="4693919"/>
          </a:xfrm>
        </p:spPr>
        <p:txBody>
          <a:bodyPr>
            <a:normAutofit/>
          </a:bodyPr>
          <a:lstStyle/>
          <a:p>
            <a:pPr marL="0" indent="0">
              <a:buNone/>
            </a:pPr>
            <a:r>
              <a:rPr lang="en-US" sz="1500" b="1" dirty="0"/>
              <a:t>Elements with Children (sequences)</a:t>
            </a:r>
          </a:p>
          <a:p>
            <a:pPr marL="0" indent="0">
              <a:buNone/>
            </a:pPr>
            <a:r>
              <a:rPr lang="en-US" sz="1400" dirty="0"/>
              <a:t>Elements with one or more children are declared with the name of the children elements inside parentheses:</a:t>
            </a:r>
          </a:p>
          <a:p>
            <a:pPr marL="0" indent="0">
              <a:buNone/>
            </a:pPr>
            <a:r>
              <a:rPr lang="en-US" sz="1400" dirty="0"/>
              <a:t>&lt;!ELEMENT element-name (child1)&gt;</a:t>
            </a:r>
          </a:p>
          <a:p>
            <a:pPr marL="0" indent="0">
              <a:buNone/>
            </a:pPr>
            <a:r>
              <a:rPr lang="en-US" sz="1400" dirty="0"/>
              <a:t>or</a:t>
            </a:r>
          </a:p>
          <a:p>
            <a:pPr marL="0" indent="0">
              <a:buNone/>
            </a:pPr>
            <a:r>
              <a:rPr lang="en-US" sz="1400" dirty="0"/>
              <a:t>&lt;!ELEMENT element-name (child1,child2,...)&gt;</a:t>
            </a:r>
          </a:p>
          <a:p>
            <a:pPr marL="0" indent="0">
              <a:buNone/>
            </a:pPr>
            <a:r>
              <a:rPr lang="en-US" sz="1400" dirty="0"/>
              <a:t>Example:</a:t>
            </a:r>
          </a:p>
          <a:p>
            <a:pPr marL="0" indent="0">
              <a:buNone/>
            </a:pPr>
            <a:r>
              <a:rPr lang="en-US" sz="1400" dirty="0"/>
              <a:t>&lt;!ELEMENT note (to,from,heading,body)&gt;</a:t>
            </a:r>
          </a:p>
          <a:p>
            <a:pPr marL="0" indent="0">
              <a:buNone/>
            </a:pPr>
            <a:r>
              <a:rPr lang="en-US" sz="1400" dirty="0"/>
              <a:t>When children are declared in a sequence separated by commas, the children must appear in the same sequence in the document. In a full declaration, the children must also be declared, and the children can also have children. The full declaration of the "note" element is:</a:t>
            </a:r>
          </a:p>
          <a:p>
            <a:pPr marL="0" indent="0">
              <a:buNone/>
            </a:pPr>
            <a:r>
              <a:rPr lang="en-US" sz="1400" dirty="0"/>
              <a:t>&lt;!ELEMENT note (to,from,heading,body)&gt;</a:t>
            </a:r>
          </a:p>
          <a:p>
            <a:pPr marL="0" indent="0">
              <a:buNone/>
            </a:pPr>
            <a:r>
              <a:rPr lang="en-US" sz="1400" dirty="0"/>
              <a:t>&lt;!ELEMENT to (#PCDATA)&gt;</a:t>
            </a:r>
          </a:p>
          <a:p>
            <a:pPr marL="0" indent="0">
              <a:buNone/>
            </a:pPr>
            <a:r>
              <a:rPr lang="en-US" sz="1400" dirty="0"/>
              <a:t>&lt;!ELEMENT from (#PCDATA)&gt;</a:t>
            </a:r>
          </a:p>
          <a:p>
            <a:pPr marL="0" indent="0">
              <a:buNone/>
            </a:pPr>
            <a:r>
              <a:rPr lang="en-US" sz="1400" dirty="0"/>
              <a:t>&lt;!ELEMENT heading (#PCDATA)&gt;</a:t>
            </a:r>
          </a:p>
          <a:p>
            <a:pPr marL="0" indent="0">
              <a:buNone/>
            </a:pPr>
            <a:r>
              <a:rPr lang="en-US" sz="1400" dirty="0"/>
              <a:t>&lt;!ELEMENT body (#PCDATA)&gt;</a:t>
            </a:r>
          </a:p>
        </p:txBody>
      </p:sp>
    </p:spTree>
    <p:extLst>
      <p:ext uri="{BB962C8B-B14F-4D97-AF65-F5344CB8AC3E}">
        <p14:creationId xmlns:p14="http://schemas.microsoft.com/office/powerpoint/2010/main" val="41975050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28241-9C5B-47D0-9E27-DFFDD8DA5C67}"/>
              </a:ext>
            </a:extLst>
          </p:cNvPr>
          <p:cNvSpPr>
            <a:spLocks noGrp="1"/>
          </p:cNvSpPr>
          <p:nvPr>
            <p:ph type="title"/>
          </p:nvPr>
        </p:nvSpPr>
        <p:spPr/>
        <p:txBody>
          <a:bodyPr/>
          <a:lstStyle/>
          <a:p>
            <a:r>
              <a:rPr lang="en-US" b="1" dirty="0"/>
              <a:t>DTD Element operators</a:t>
            </a:r>
          </a:p>
        </p:txBody>
      </p:sp>
      <p:pic>
        <p:nvPicPr>
          <p:cNvPr id="5" name="Picture 4">
            <a:extLst>
              <a:ext uri="{FF2B5EF4-FFF2-40B4-BE49-F238E27FC236}">
                <a16:creationId xmlns:a16="http://schemas.microsoft.com/office/drawing/2014/main" id="{40E1F3A0-A4FF-498C-9ACB-9CF38D825189}"/>
              </a:ext>
            </a:extLst>
          </p:cNvPr>
          <p:cNvPicPr>
            <a:picLocks noChangeAspect="1"/>
          </p:cNvPicPr>
          <p:nvPr/>
        </p:nvPicPr>
        <p:blipFill rotWithShape="1">
          <a:blip r:embed="rId2"/>
          <a:srcRect t="8388"/>
          <a:stretch/>
        </p:blipFill>
        <p:spPr>
          <a:xfrm>
            <a:off x="1790439" y="2897380"/>
            <a:ext cx="8611121" cy="2807373"/>
          </a:xfrm>
          <a:prstGeom prst="rect">
            <a:avLst/>
          </a:prstGeom>
        </p:spPr>
      </p:pic>
    </p:spTree>
    <p:extLst>
      <p:ext uri="{BB962C8B-B14F-4D97-AF65-F5344CB8AC3E}">
        <p14:creationId xmlns:p14="http://schemas.microsoft.com/office/powerpoint/2010/main" val="3700859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7C113-77DE-4DFF-8493-8F20036F9A22}"/>
              </a:ext>
            </a:extLst>
          </p:cNvPr>
          <p:cNvSpPr>
            <a:spLocks noGrp="1"/>
          </p:cNvSpPr>
          <p:nvPr>
            <p:ph type="title"/>
          </p:nvPr>
        </p:nvSpPr>
        <p:spPr>
          <a:xfrm>
            <a:off x="1295402" y="528321"/>
            <a:ext cx="9601196" cy="1303867"/>
          </a:xfrm>
        </p:spPr>
        <p:txBody>
          <a:bodyPr/>
          <a:lstStyle/>
          <a:p>
            <a:r>
              <a:rPr lang="en-US" b="1" dirty="0"/>
              <a:t>DTD Elements Operators</a:t>
            </a:r>
          </a:p>
        </p:txBody>
      </p:sp>
      <p:sp>
        <p:nvSpPr>
          <p:cNvPr id="3" name="Content Placeholder 2">
            <a:extLst>
              <a:ext uri="{FF2B5EF4-FFF2-40B4-BE49-F238E27FC236}">
                <a16:creationId xmlns:a16="http://schemas.microsoft.com/office/drawing/2014/main" id="{1A0C54AD-00F2-46A1-83EF-DECB75AA138C}"/>
              </a:ext>
            </a:extLst>
          </p:cNvPr>
          <p:cNvSpPr>
            <a:spLocks noGrp="1"/>
          </p:cNvSpPr>
          <p:nvPr>
            <p:ph idx="1"/>
          </p:nvPr>
        </p:nvSpPr>
        <p:spPr>
          <a:xfrm>
            <a:off x="843280" y="1544320"/>
            <a:ext cx="10485120" cy="4785359"/>
          </a:xfrm>
        </p:spPr>
        <p:txBody>
          <a:bodyPr>
            <a:normAutofit fontScale="92500" lnSpcReduction="10000"/>
          </a:bodyPr>
          <a:lstStyle/>
          <a:p>
            <a:pPr marL="0" indent="0">
              <a:buNone/>
            </a:pPr>
            <a:r>
              <a:rPr lang="en-US" sz="1800" b="1" dirty="0"/>
              <a:t>Declaring Only One Occurrence of an Element</a:t>
            </a:r>
          </a:p>
          <a:p>
            <a:pPr marL="0" indent="0">
              <a:buNone/>
            </a:pPr>
            <a:r>
              <a:rPr lang="en-US" sz="1800" dirty="0"/>
              <a:t>	&lt;!ELEMENT element-name (child-name)&gt;</a:t>
            </a:r>
          </a:p>
          <a:p>
            <a:pPr marL="0" indent="0">
              <a:buNone/>
            </a:pPr>
            <a:r>
              <a:rPr lang="en-US" sz="1800" dirty="0"/>
              <a:t>Example:	&lt;!ELEMENT note (message)&gt;</a:t>
            </a:r>
          </a:p>
          <a:p>
            <a:pPr marL="0" indent="0">
              <a:buNone/>
            </a:pPr>
            <a:r>
              <a:rPr lang="en-US" sz="1800" dirty="0"/>
              <a:t>The example above declares that the child element "message" must occur once, and only once inside the "note" element</a:t>
            </a:r>
            <a:r>
              <a:rPr lang="en-US" sz="1800" b="1" dirty="0"/>
              <a:t>.</a:t>
            </a:r>
          </a:p>
          <a:p>
            <a:pPr marL="0" indent="0">
              <a:buNone/>
            </a:pPr>
            <a:r>
              <a:rPr lang="en-US" sz="1800" b="1" dirty="0"/>
              <a:t>Declaring Minimum One Occurrence to two occurrence of an Element(+)</a:t>
            </a:r>
          </a:p>
          <a:p>
            <a:pPr marL="0" indent="0">
              <a:buNone/>
            </a:pPr>
            <a:r>
              <a:rPr lang="en-US" sz="1800" dirty="0"/>
              <a:t>	&lt;!ELEMENT element-name (child-name+)&gt;</a:t>
            </a:r>
          </a:p>
          <a:p>
            <a:pPr marL="0" indent="0">
              <a:buNone/>
            </a:pPr>
            <a:r>
              <a:rPr lang="en-US" sz="1800" b="1" dirty="0"/>
              <a:t>Declaring Zero or More Occurrences of an Element(*)</a:t>
            </a:r>
          </a:p>
          <a:p>
            <a:pPr marL="0" indent="0">
              <a:buNone/>
            </a:pPr>
            <a:r>
              <a:rPr lang="en-US" sz="1800" dirty="0"/>
              <a:t>	&lt;!ELEMENT element-name (child-name*)&gt;</a:t>
            </a:r>
          </a:p>
          <a:p>
            <a:pPr marL="0" indent="0">
              <a:buNone/>
            </a:pPr>
            <a:r>
              <a:rPr lang="en-US" sz="1800" b="1" dirty="0"/>
              <a:t>Declaring Zero or One Occurrences of an Element(?) </a:t>
            </a:r>
          </a:p>
          <a:p>
            <a:pPr marL="0" indent="0">
              <a:buNone/>
            </a:pPr>
            <a:r>
              <a:rPr lang="en-US" sz="1800" dirty="0"/>
              <a:t>	&lt;!ELEMENT element-name (child-name?)&gt;</a:t>
            </a:r>
          </a:p>
          <a:p>
            <a:pPr marL="0" indent="0">
              <a:buNone/>
            </a:pPr>
            <a:r>
              <a:rPr lang="en-US" sz="1800" b="1" dirty="0"/>
              <a:t>Declaring either/or Content</a:t>
            </a:r>
          </a:p>
          <a:p>
            <a:pPr marL="0" indent="0">
              <a:buNone/>
            </a:pPr>
            <a:r>
              <a:rPr lang="en-US" sz="1800" dirty="0"/>
              <a:t>&lt;!ELEMENT note (to,from,header,(message|body))&gt;</a:t>
            </a:r>
          </a:p>
          <a:p>
            <a:pPr marL="0" indent="0">
              <a:buNone/>
            </a:pPr>
            <a:r>
              <a:rPr lang="en-US" sz="1800" dirty="0"/>
              <a:t>The example above declares that the "note" element must contain a "to" element, a "from" element, a "header" element, and either a "message" or a "body" element.</a:t>
            </a:r>
          </a:p>
          <a:p>
            <a:pPr marL="0" indent="0">
              <a:buNone/>
            </a:pPr>
            <a:endParaRPr lang="en-US" sz="1000" dirty="0"/>
          </a:p>
          <a:p>
            <a:pPr marL="0" indent="0">
              <a:buNone/>
            </a:pPr>
            <a:endParaRPr lang="en-US" sz="1000" dirty="0"/>
          </a:p>
        </p:txBody>
      </p:sp>
    </p:spTree>
    <p:extLst>
      <p:ext uri="{BB962C8B-B14F-4D97-AF65-F5344CB8AC3E}">
        <p14:creationId xmlns:p14="http://schemas.microsoft.com/office/powerpoint/2010/main" val="32984818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A8A54-9B06-404C-B606-1F42C7233826}"/>
              </a:ext>
            </a:extLst>
          </p:cNvPr>
          <p:cNvSpPr>
            <a:spLocks noGrp="1"/>
          </p:cNvSpPr>
          <p:nvPr>
            <p:ph type="title"/>
          </p:nvPr>
        </p:nvSpPr>
        <p:spPr/>
        <p:txBody>
          <a:bodyPr/>
          <a:lstStyle/>
          <a:p>
            <a:r>
              <a:rPr lang="en-US" b="1" dirty="0"/>
              <a:t>DTD attributes</a:t>
            </a:r>
          </a:p>
        </p:txBody>
      </p:sp>
      <p:sp>
        <p:nvSpPr>
          <p:cNvPr id="3" name="Content Placeholder 2">
            <a:extLst>
              <a:ext uri="{FF2B5EF4-FFF2-40B4-BE49-F238E27FC236}">
                <a16:creationId xmlns:a16="http://schemas.microsoft.com/office/drawing/2014/main" id="{B056127A-5371-4F6F-BFE1-8F8B459BEB61}"/>
              </a:ext>
            </a:extLst>
          </p:cNvPr>
          <p:cNvSpPr>
            <a:spLocks noGrp="1"/>
          </p:cNvSpPr>
          <p:nvPr>
            <p:ph idx="1"/>
          </p:nvPr>
        </p:nvSpPr>
        <p:spPr>
          <a:xfrm>
            <a:off x="1295400" y="2556932"/>
            <a:ext cx="9992359" cy="3318936"/>
          </a:xfrm>
        </p:spPr>
        <p:txBody>
          <a:bodyPr>
            <a:normAutofit/>
          </a:bodyPr>
          <a:lstStyle/>
          <a:p>
            <a:r>
              <a:rPr lang="en-US" b="1" dirty="0"/>
              <a:t>&lt;!ATTLIST element-name attribute-name attribute-type attribute-value&gt;</a:t>
            </a:r>
          </a:p>
          <a:p>
            <a:r>
              <a:rPr lang="en-US" dirty="0"/>
              <a:t>DTD example:</a:t>
            </a:r>
          </a:p>
          <a:p>
            <a:r>
              <a:rPr lang="en-US" dirty="0"/>
              <a:t>&lt;!ATTLIST payment type CDATA "check"&gt; //</a:t>
            </a:r>
            <a:r>
              <a:rPr lang="en-US" sz="1600" dirty="0"/>
              <a:t>default value of type will be check</a:t>
            </a:r>
            <a:endParaRPr lang="en-US" dirty="0"/>
          </a:p>
          <a:p>
            <a:r>
              <a:rPr lang="en-US" dirty="0"/>
              <a:t>XML example:</a:t>
            </a:r>
          </a:p>
          <a:p>
            <a:r>
              <a:rPr lang="en-US" dirty="0"/>
              <a:t>&lt;payment type="check"&gt;</a:t>
            </a:r>
          </a:p>
        </p:txBody>
      </p:sp>
    </p:spTree>
    <p:extLst>
      <p:ext uri="{BB962C8B-B14F-4D97-AF65-F5344CB8AC3E}">
        <p14:creationId xmlns:p14="http://schemas.microsoft.com/office/powerpoint/2010/main" val="5913470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A8A54-9B06-404C-B606-1F42C7233826}"/>
              </a:ext>
            </a:extLst>
          </p:cNvPr>
          <p:cNvSpPr>
            <a:spLocks noGrp="1"/>
          </p:cNvSpPr>
          <p:nvPr>
            <p:ph type="title"/>
          </p:nvPr>
        </p:nvSpPr>
        <p:spPr/>
        <p:txBody>
          <a:bodyPr/>
          <a:lstStyle/>
          <a:p>
            <a:r>
              <a:rPr lang="en-US" b="1" dirty="0"/>
              <a:t>DTD attributes</a:t>
            </a:r>
          </a:p>
        </p:txBody>
      </p:sp>
      <p:pic>
        <p:nvPicPr>
          <p:cNvPr id="7" name="Picture 6">
            <a:extLst>
              <a:ext uri="{FF2B5EF4-FFF2-40B4-BE49-F238E27FC236}">
                <a16:creationId xmlns:a16="http://schemas.microsoft.com/office/drawing/2014/main" id="{EB5A4081-3735-4673-9FC4-66704FCF1C77}"/>
              </a:ext>
            </a:extLst>
          </p:cNvPr>
          <p:cNvPicPr>
            <a:picLocks noChangeAspect="1"/>
          </p:cNvPicPr>
          <p:nvPr/>
        </p:nvPicPr>
        <p:blipFill>
          <a:blip r:embed="rId2"/>
          <a:stretch>
            <a:fillRect/>
          </a:stretch>
        </p:blipFill>
        <p:spPr>
          <a:xfrm>
            <a:off x="1384681" y="2445726"/>
            <a:ext cx="5290439" cy="3935496"/>
          </a:xfrm>
          <a:prstGeom prst="rect">
            <a:avLst/>
          </a:prstGeom>
        </p:spPr>
      </p:pic>
      <p:pic>
        <p:nvPicPr>
          <p:cNvPr id="9" name="Picture 8">
            <a:extLst>
              <a:ext uri="{FF2B5EF4-FFF2-40B4-BE49-F238E27FC236}">
                <a16:creationId xmlns:a16="http://schemas.microsoft.com/office/drawing/2014/main" id="{AE89C38C-5A38-4128-8837-A30B421C2163}"/>
              </a:ext>
            </a:extLst>
          </p:cNvPr>
          <p:cNvPicPr>
            <a:picLocks noChangeAspect="1"/>
          </p:cNvPicPr>
          <p:nvPr/>
        </p:nvPicPr>
        <p:blipFill rotWithShape="1">
          <a:blip r:embed="rId3"/>
          <a:srcRect r="20475"/>
          <a:stretch/>
        </p:blipFill>
        <p:spPr>
          <a:xfrm>
            <a:off x="6847841" y="2467669"/>
            <a:ext cx="4221478" cy="1922662"/>
          </a:xfrm>
          <a:prstGeom prst="rect">
            <a:avLst/>
          </a:prstGeom>
        </p:spPr>
      </p:pic>
    </p:spTree>
    <p:extLst>
      <p:ext uri="{BB962C8B-B14F-4D97-AF65-F5344CB8AC3E}">
        <p14:creationId xmlns:p14="http://schemas.microsoft.com/office/powerpoint/2010/main" val="16107500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A8A54-9B06-404C-B606-1F42C7233826}"/>
              </a:ext>
            </a:extLst>
          </p:cNvPr>
          <p:cNvSpPr>
            <a:spLocks noGrp="1"/>
          </p:cNvSpPr>
          <p:nvPr>
            <p:ph type="title"/>
          </p:nvPr>
        </p:nvSpPr>
        <p:spPr/>
        <p:txBody>
          <a:bodyPr/>
          <a:lstStyle/>
          <a:p>
            <a:r>
              <a:rPr lang="en-US" b="1" dirty="0"/>
              <a:t>DTD attributes</a:t>
            </a:r>
          </a:p>
        </p:txBody>
      </p:sp>
      <p:sp>
        <p:nvSpPr>
          <p:cNvPr id="5" name="Content Placeholder 4">
            <a:extLst>
              <a:ext uri="{FF2B5EF4-FFF2-40B4-BE49-F238E27FC236}">
                <a16:creationId xmlns:a16="http://schemas.microsoft.com/office/drawing/2014/main" id="{A33F28FF-5F99-4633-8D91-756975CBFBBB}"/>
              </a:ext>
            </a:extLst>
          </p:cNvPr>
          <p:cNvSpPr>
            <a:spLocks noGrp="1"/>
          </p:cNvSpPr>
          <p:nvPr>
            <p:ph idx="1"/>
          </p:nvPr>
        </p:nvSpPr>
        <p:spPr>
          <a:xfrm>
            <a:off x="838200" y="1825625"/>
            <a:ext cx="10464538" cy="4351338"/>
          </a:xfrm>
        </p:spPr>
        <p:txBody>
          <a:bodyPr/>
          <a:lstStyle/>
          <a:p>
            <a:r>
              <a:rPr lang="en-US" dirty="0"/>
              <a:t>Value for number is required.</a:t>
            </a:r>
          </a:p>
          <a:p>
            <a:endParaRPr lang="en-US" dirty="0"/>
          </a:p>
          <a:p>
            <a:endParaRPr lang="en-US" dirty="0"/>
          </a:p>
          <a:p>
            <a:endParaRPr lang="en-US" dirty="0"/>
          </a:p>
          <a:p>
            <a:endParaRPr lang="en-US" dirty="0"/>
          </a:p>
          <a:p>
            <a:r>
              <a:rPr lang="en-US" dirty="0"/>
              <a:t>Value of type can be check or cash only</a:t>
            </a:r>
          </a:p>
        </p:txBody>
      </p:sp>
      <p:pic>
        <p:nvPicPr>
          <p:cNvPr id="9" name="Picture 8">
            <a:extLst>
              <a:ext uri="{FF2B5EF4-FFF2-40B4-BE49-F238E27FC236}">
                <a16:creationId xmlns:a16="http://schemas.microsoft.com/office/drawing/2014/main" id="{888E4ABD-405D-4604-B7C7-CC7040874398}"/>
              </a:ext>
            </a:extLst>
          </p:cNvPr>
          <p:cNvPicPr>
            <a:picLocks noChangeAspect="1"/>
          </p:cNvPicPr>
          <p:nvPr/>
        </p:nvPicPr>
        <p:blipFill>
          <a:blip r:embed="rId2"/>
          <a:stretch>
            <a:fillRect/>
          </a:stretch>
        </p:blipFill>
        <p:spPr>
          <a:xfrm>
            <a:off x="5771352" y="1194267"/>
            <a:ext cx="4401164" cy="2152950"/>
          </a:xfrm>
          <a:prstGeom prst="rect">
            <a:avLst/>
          </a:prstGeom>
          <a:ln>
            <a:solidFill>
              <a:schemeClr val="tx1"/>
            </a:solidFill>
          </a:ln>
        </p:spPr>
      </p:pic>
      <p:pic>
        <p:nvPicPr>
          <p:cNvPr id="11" name="Picture 10">
            <a:extLst>
              <a:ext uri="{FF2B5EF4-FFF2-40B4-BE49-F238E27FC236}">
                <a16:creationId xmlns:a16="http://schemas.microsoft.com/office/drawing/2014/main" id="{ADF8735E-AF61-4C06-831A-6F7A16542309}"/>
              </a:ext>
            </a:extLst>
          </p:cNvPr>
          <p:cNvPicPr>
            <a:picLocks noChangeAspect="1"/>
          </p:cNvPicPr>
          <p:nvPr/>
        </p:nvPicPr>
        <p:blipFill>
          <a:blip r:embed="rId3"/>
          <a:stretch>
            <a:fillRect/>
          </a:stretch>
        </p:blipFill>
        <p:spPr>
          <a:xfrm>
            <a:off x="7232507" y="3748486"/>
            <a:ext cx="4867954" cy="2057687"/>
          </a:xfrm>
          <a:prstGeom prst="rect">
            <a:avLst/>
          </a:prstGeom>
          <a:ln w="635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0417407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90958-7FC1-4CB3-B6D4-35096BE24F3C}"/>
              </a:ext>
            </a:extLst>
          </p:cNvPr>
          <p:cNvSpPr>
            <a:spLocks noGrp="1"/>
          </p:cNvSpPr>
          <p:nvPr>
            <p:ph type="title"/>
          </p:nvPr>
        </p:nvSpPr>
        <p:spPr/>
        <p:txBody>
          <a:bodyPr/>
          <a:lstStyle/>
          <a:p>
            <a:r>
              <a:rPr lang="en-US" b="1" dirty="0"/>
              <a:t>Assignment</a:t>
            </a:r>
          </a:p>
        </p:txBody>
      </p:sp>
      <p:sp>
        <p:nvSpPr>
          <p:cNvPr id="3" name="Content Placeholder 2">
            <a:extLst>
              <a:ext uri="{FF2B5EF4-FFF2-40B4-BE49-F238E27FC236}">
                <a16:creationId xmlns:a16="http://schemas.microsoft.com/office/drawing/2014/main" id="{4B15DCE6-FB4B-47B7-8AB8-EC2AEA91C90B}"/>
              </a:ext>
            </a:extLst>
          </p:cNvPr>
          <p:cNvSpPr>
            <a:spLocks noGrp="1"/>
          </p:cNvSpPr>
          <p:nvPr>
            <p:ph idx="1"/>
          </p:nvPr>
        </p:nvSpPr>
        <p:spPr/>
        <p:txBody>
          <a:bodyPr/>
          <a:lstStyle/>
          <a:p>
            <a:r>
              <a:rPr lang="en-US" dirty="0"/>
              <a:t>Write valid DTD xml for following:</a:t>
            </a:r>
          </a:p>
        </p:txBody>
      </p:sp>
      <p:pic>
        <p:nvPicPr>
          <p:cNvPr id="5" name="Picture 4">
            <a:extLst>
              <a:ext uri="{FF2B5EF4-FFF2-40B4-BE49-F238E27FC236}">
                <a16:creationId xmlns:a16="http://schemas.microsoft.com/office/drawing/2014/main" id="{218C4D85-AE6E-4122-81BC-1C04DFE27089}"/>
              </a:ext>
            </a:extLst>
          </p:cNvPr>
          <p:cNvPicPr>
            <a:picLocks noChangeAspect="1"/>
          </p:cNvPicPr>
          <p:nvPr/>
        </p:nvPicPr>
        <p:blipFill>
          <a:blip r:embed="rId2"/>
          <a:stretch>
            <a:fillRect/>
          </a:stretch>
        </p:blipFill>
        <p:spPr>
          <a:xfrm>
            <a:off x="2734167" y="3040579"/>
            <a:ext cx="3707273" cy="2835289"/>
          </a:xfrm>
          <a:prstGeom prst="rect">
            <a:avLst/>
          </a:prstGeom>
        </p:spPr>
      </p:pic>
    </p:spTree>
    <p:extLst>
      <p:ext uri="{BB962C8B-B14F-4D97-AF65-F5344CB8AC3E}">
        <p14:creationId xmlns:p14="http://schemas.microsoft.com/office/powerpoint/2010/main" val="21366533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C37E6-1910-4DCF-8520-0A89B26C0D6D}"/>
              </a:ext>
            </a:extLst>
          </p:cNvPr>
          <p:cNvSpPr>
            <a:spLocks noGrp="1"/>
          </p:cNvSpPr>
          <p:nvPr>
            <p:ph type="title"/>
          </p:nvPr>
        </p:nvSpPr>
        <p:spPr/>
        <p:txBody>
          <a:bodyPr/>
          <a:lstStyle/>
          <a:p>
            <a:r>
              <a:rPr lang="en-US" b="1" dirty="0"/>
              <a:t>DTD assignment </a:t>
            </a:r>
          </a:p>
        </p:txBody>
      </p:sp>
      <p:sp>
        <p:nvSpPr>
          <p:cNvPr id="3" name="Content Placeholder 2">
            <a:extLst>
              <a:ext uri="{FF2B5EF4-FFF2-40B4-BE49-F238E27FC236}">
                <a16:creationId xmlns:a16="http://schemas.microsoft.com/office/drawing/2014/main" id="{51BC8021-F19B-48E5-A34E-6DA8A0E330B0}"/>
              </a:ext>
            </a:extLst>
          </p:cNvPr>
          <p:cNvSpPr>
            <a:spLocks noGrp="1"/>
          </p:cNvSpPr>
          <p:nvPr>
            <p:ph idx="1"/>
          </p:nvPr>
        </p:nvSpPr>
        <p:spPr/>
        <p:txBody>
          <a:bodyPr/>
          <a:lstStyle/>
          <a:p>
            <a:r>
              <a:rPr lang="en-US" dirty="0"/>
              <a:t>Write a valid xml for given DTD.</a:t>
            </a:r>
          </a:p>
        </p:txBody>
      </p:sp>
      <p:pic>
        <p:nvPicPr>
          <p:cNvPr id="5" name="Picture 4">
            <a:extLst>
              <a:ext uri="{FF2B5EF4-FFF2-40B4-BE49-F238E27FC236}">
                <a16:creationId xmlns:a16="http://schemas.microsoft.com/office/drawing/2014/main" id="{F5408B8B-619E-4C0F-ABC6-1D84261B2989}"/>
              </a:ext>
            </a:extLst>
          </p:cNvPr>
          <p:cNvPicPr>
            <a:picLocks noChangeAspect="1"/>
          </p:cNvPicPr>
          <p:nvPr/>
        </p:nvPicPr>
        <p:blipFill>
          <a:blip r:embed="rId2"/>
          <a:stretch>
            <a:fillRect/>
          </a:stretch>
        </p:blipFill>
        <p:spPr>
          <a:xfrm>
            <a:off x="7506414" y="2252760"/>
            <a:ext cx="3847386" cy="3324142"/>
          </a:xfrm>
          <a:prstGeom prst="rect">
            <a:avLst/>
          </a:prstGeom>
        </p:spPr>
      </p:pic>
    </p:spTree>
    <p:extLst>
      <p:ext uri="{BB962C8B-B14F-4D97-AF65-F5344CB8AC3E}">
        <p14:creationId xmlns:p14="http://schemas.microsoft.com/office/powerpoint/2010/main" val="29810498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90958-7FC1-4CB3-B6D4-35096BE24F3C}"/>
              </a:ext>
            </a:extLst>
          </p:cNvPr>
          <p:cNvSpPr>
            <a:spLocks noGrp="1"/>
          </p:cNvSpPr>
          <p:nvPr>
            <p:ph type="title"/>
          </p:nvPr>
        </p:nvSpPr>
        <p:spPr/>
        <p:txBody>
          <a:bodyPr/>
          <a:lstStyle/>
          <a:p>
            <a:r>
              <a:rPr lang="en-US" b="1" dirty="0"/>
              <a:t>Assignment</a:t>
            </a:r>
          </a:p>
        </p:txBody>
      </p:sp>
      <p:sp>
        <p:nvSpPr>
          <p:cNvPr id="3" name="Content Placeholder 2">
            <a:extLst>
              <a:ext uri="{FF2B5EF4-FFF2-40B4-BE49-F238E27FC236}">
                <a16:creationId xmlns:a16="http://schemas.microsoft.com/office/drawing/2014/main" id="{4B15DCE6-FB4B-47B7-8AB8-EC2AEA91C90B}"/>
              </a:ext>
            </a:extLst>
          </p:cNvPr>
          <p:cNvSpPr>
            <a:spLocks noGrp="1"/>
          </p:cNvSpPr>
          <p:nvPr>
            <p:ph idx="1"/>
          </p:nvPr>
        </p:nvSpPr>
        <p:spPr/>
        <p:txBody>
          <a:bodyPr/>
          <a:lstStyle/>
          <a:p>
            <a:r>
              <a:rPr lang="en-US" dirty="0"/>
              <a:t>Write internal and external DTD to describe "mail" as a root element and "to", "from", and "subject", and "message" as child elements.</a:t>
            </a:r>
          </a:p>
          <a:p>
            <a:r>
              <a:rPr lang="en-US" dirty="0"/>
              <a:t>Write DTD script demonstrating use of different DTD operators.</a:t>
            </a:r>
          </a:p>
          <a:p>
            <a:r>
              <a:rPr lang="en-US" dirty="0"/>
              <a:t>Write DTD script demonstrating use of different DTD attribute values.</a:t>
            </a:r>
          </a:p>
        </p:txBody>
      </p:sp>
    </p:spTree>
    <p:extLst>
      <p:ext uri="{BB962C8B-B14F-4D97-AF65-F5344CB8AC3E}">
        <p14:creationId xmlns:p14="http://schemas.microsoft.com/office/powerpoint/2010/main" val="22545736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XML Schema or XML Schema Definition (XSD)</a:t>
            </a:r>
          </a:p>
        </p:txBody>
      </p:sp>
      <p:sp>
        <p:nvSpPr>
          <p:cNvPr id="3" name="Content Placeholder 2"/>
          <p:cNvSpPr>
            <a:spLocks noGrp="1"/>
          </p:cNvSpPr>
          <p:nvPr>
            <p:ph idx="1"/>
          </p:nvPr>
        </p:nvSpPr>
        <p:spPr/>
        <p:txBody>
          <a:bodyPr/>
          <a:lstStyle/>
          <a:p>
            <a:pPr algn="just"/>
            <a:r>
              <a:rPr lang="en-US" dirty="0"/>
              <a:t>In XML, a schema is a structural definition that specifies the rules, constraints, and data types for an XML document. XML schemas define the structure and content of XML documents, allowing validation, data integrity, and interoperability.</a:t>
            </a:r>
          </a:p>
          <a:p>
            <a:pPr algn="just"/>
            <a:r>
              <a:rPr lang="en-US" dirty="0"/>
              <a:t>It is like DTD but provides more control on XML structure</a:t>
            </a:r>
          </a:p>
          <a:p>
            <a:pPr algn="just"/>
            <a:endParaRPr lang="en-US" dirty="0"/>
          </a:p>
        </p:txBody>
      </p:sp>
    </p:spTree>
    <p:extLst>
      <p:ext uri="{BB962C8B-B14F-4D97-AF65-F5344CB8AC3E}">
        <p14:creationId xmlns:p14="http://schemas.microsoft.com/office/powerpoint/2010/main" val="21819592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2A9F1-FA3E-41B4-989B-7DA4F5B672DA}"/>
              </a:ext>
            </a:extLst>
          </p:cNvPr>
          <p:cNvSpPr>
            <a:spLocks noGrp="1"/>
          </p:cNvSpPr>
          <p:nvPr>
            <p:ph type="title"/>
          </p:nvPr>
        </p:nvSpPr>
        <p:spPr/>
        <p:txBody>
          <a:bodyPr/>
          <a:lstStyle/>
          <a:p>
            <a:r>
              <a:rPr lang="en-US" b="1" dirty="0"/>
              <a:t>XSD Definition Types</a:t>
            </a:r>
          </a:p>
        </p:txBody>
      </p:sp>
      <p:sp>
        <p:nvSpPr>
          <p:cNvPr id="3" name="Content Placeholder 2">
            <a:extLst>
              <a:ext uri="{FF2B5EF4-FFF2-40B4-BE49-F238E27FC236}">
                <a16:creationId xmlns:a16="http://schemas.microsoft.com/office/drawing/2014/main" id="{7592061B-0B10-4E10-847E-615EFCE71201}"/>
              </a:ext>
            </a:extLst>
          </p:cNvPr>
          <p:cNvSpPr>
            <a:spLocks noGrp="1"/>
          </p:cNvSpPr>
          <p:nvPr>
            <p:ph idx="1"/>
          </p:nvPr>
        </p:nvSpPr>
        <p:spPr/>
        <p:txBody>
          <a:bodyPr/>
          <a:lstStyle/>
          <a:p>
            <a:pPr marL="0" indent="0" algn="just">
              <a:buNone/>
            </a:pPr>
            <a:r>
              <a:rPr lang="en-US" b="1" dirty="0"/>
              <a:t>XML Definition types:</a:t>
            </a:r>
          </a:p>
          <a:p>
            <a:pPr marL="0" indent="0" algn="just">
              <a:buNone/>
            </a:pPr>
            <a:r>
              <a:rPr lang="en-US" b="1" dirty="0"/>
              <a:t>Simple Type: </a:t>
            </a:r>
            <a:r>
              <a:rPr lang="en-US" dirty="0"/>
              <a:t>Used only in the context of the text. Some of predefined simple types are:	xs:integer, xs:Boolean, xs:string, xs:date</a:t>
            </a:r>
          </a:p>
          <a:p>
            <a:pPr marL="0" indent="0" algn="just">
              <a:buNone/>
            </a:pPr>
            <a:r>
              <a:rPr lang="en-US" dirty="0"/>
              <a:t>Ex. &lt;xs:element name=“student_name” type=“xs:int” /&gt;</a:t>
            </a:r>
          </a:p>
          <a:p>
            <a:pPr marL="0" indent="0">
              <a:buNone/>
            </a:pPr>
            <a:r>
              <a:rPr lang="en-US" b="1" dirty="0"/>
              <a:t>Complex Type: </a:t>
            </a:r>
            <a:r>
              <a:rPr lang="en-US" dirty="0"/>
              <a:t>It is a container for other element definitions. This allows us to specify which child elements an element can contain and to provide some structure within our XML documents. In the below example, contact element consists of child elements. This is a container for other &lt;xs:element&gt; definitions, that allows us to build a simple hierarchy of elements in the XML document.</a:t>
            </a:r>
            <a:endParaRPr lang="en-US" b="1" dirty="0"/>
          </a:p>
        </p:txBody>
      </p:sp>
    </p:spTree>
    <p:extLst>
      <p:ext uri="{BB962C8B-B14F-4D97-AF65-F5344CB8AC3E}">
        <p14:creationId xmlns:p14="http://schemas.microsoft.com/office/powerpoint/2010/main" val="19770870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563F5-180B-4641-A80A-51DE4F351DF1}"/>
              </a:ext>
            </a:extLst>
          </p:cNvPr>
          <p:cNvSpPr>
            <a:spLocks noGrp="1"/>
          </p:cNvSpPr>
          <p:nvPr>
            <p:ph type="title"/>
          </p:nvPr>
        </p:nvSpPr>
        <p:spPr/>
        <p:txBody>
          <a:bodyPr/>
          <a:lstStyle/>
          <a:p>
            <a:r>
              <a:rPr lang="en-US" b="1" dirty="0"/>
              <a:t>XSD Example</a:t>
            </a:r>
          </a:p>
        </p:txBody>
      </p:sp>
      <p:sp>
        <p:nvSpPr>
          <p:cNvPr id="3" name="Content Placeholder 2">
            <a:extLst>
              <a:ext uri="{FF2B5EF4-FFF2-40B4-BE49-F238E27FC236}">
                <a16:creationId xmlns:a16="http://schemas.microsoft.com/office/drawing/2014/main" id="{A55762BF-CA3E-4A25-9D7A-0E384C9285AA}"/>
              </a:ext>
            </a:extLst>
          </p:cNvPr>
          <p:cNvSpPr>
            <a:spLocks noGrp="1"/>
          </p:cNvSpPr>
          <p:nvPr>
            <p:ph idx="1"/>
          </p:nvPr>
        </p:nvSpPr>
        <p:spPr>
          <a:xfrm>
            <a:off x="838200" y="1429790"/>
            <a:ext cx="10782994" cy="5286894"/>
          </a:xfrm>
        </p:spPr>
        <p:txBody>
          <a:bodyPr>
            <a:normAutofit fontScale="92500" lnSpcReduction="20000"/>
          </a:bodyPr>
          <a:lstStyle/>
          <a:p>
            <a:pPr marL="0" indent="0">
              <a:buNone/>
            </a:pPr>
            <a:r>
              <a:rPr lang="en-US" b="1" dirty="0"/>
              <a:t>Add.xsd</a:t>
            </a:r>
          </a:p>
          <a:p>
            <a:pPr marL="0" indent="0">
              <a:buNone/>
            </a:pPr>
            <a:r>
              <a:rPr lang="en-US" dirty="0"/>
              <a:t>&lt;?xml version=“1.0” encoding=“UTC-8” ?&gt;</a:t>
            </a:r>
          </a:p>
          <a:p>
            <a:pPr marL="0" indent="0">
              <a:buNone/>
            </a:pPr>
            <a:r>
              <a:rPr lang="en-US" dirty="0"/>
              <a:t>&lt;xs:schema xmlns:xs=</a:t>
            </a:r>
            <a:r>
              <a:rPr lang="en-US" dirty="0">
                <a:hlinkClick r:id="rId2"/>
              </a:rPr>
              <a:t>“http://www.w3.org/2001/XMLSchema</a:t>
            </a:r>
            <a:r>
              <a:rPr lang="en-US" dirty="0"/>
              <a:t>”&gt;</a:t>
            </a:r>
          </a:p>
          <a:p>
            <a:pPr marL="0" indent="0">
              <a:buNone/>
            </a:pPr>
            <a:r>
              <a:rPr lang="en-US" dirty="0"/>
              <a:t>	&lt;xs:element name=“contact&gt;</a:t>
            </a:r>
          </a:p>
          <a:p>
            <a:pPr marL="0" indent="0">
              <a:buNone/>
            </a:pPr>
            <a:r>
              <a:rPr lang="en-US" dirty="0"/>
              <a:t>	&lt;xs:complexType&gt;</a:t>
            </a:r>
          </a:p>
          <a:p>
            <a:pPr marL="0" indent="0">
              <a:buNone/>
            </a:pPr>
            <a:r>
              <a:rPr lang="en-US" dirty="0"/>
              <a:t>			&lt;xs:sequence&gt;</a:t>
            </a:r>
          </a:p>
          <a:p>
            <a:pPr marL="0" indent="0">
              <a:buNone/>
            </a:pPr>
            <a:r>
              <a:rPr lang="en-US" dirty="0"/>
              <a:t>				&lt;xs:element name=“name” type=“xs:string”/&gt;</a:t>
            </a:r>
          </a:p>
          <a:p>
            <a:pPr marL="0" indent="0">
              <a:buNone/>
            </a:pPr>
            <a:r>
              <a:rPr lang="en-US" dirty="0"/>
              <a:t>				&lt;xs:element name=“company” type=“xs:string”/&gt;</a:t>
            </a:r>
          </a:p>
          <a:p>
            <a:pPr marL="0" indent="0">
              <a:buNone/>
            </a:pPr>
            <a:r>
              <a:rPr lang="en-US" dirty="0"/>
              <a:t>				&lt;xs:element name=“phone” type=“xs:int”/&gt;</a:t>
            </a:r>
          </a:p>
          <a:p>
            <a:pPr marL="0" indent="0">
              <a:buNone/>
            </a:pPr>
            <a:r>
              <a:rPr lang="en-US" dirty="0"/>
              <a:t>			&lt;/xs:sequence&gt;</a:t>
            </a:r>
          </a:p>
          <a:p>
            <a:pPr marL="0" indent="0">
              <a:buNone/>
            </a:pPr>
            <a:r>
              <a:rPr lang="en-US" dirty="0"/>
              <a:t>	&lt;xs:complexType&gt;</a:t>
            </a:r>
          </a:p>
          <a:p>
            <a:pPr marL="0" indent="0">
              <a:buNone/>
            </a:pPr>
            <a:r>
              <a:rPr lang="en-US" dirty="0"/>
              <a:t>	&lt;/xs:element&gt;</a:t>
            </a:r>
          </a:p>
          <a:p>
            <a:pPr marL="0" indent="0">
              <a:buNone/>
            </a:pPr>
            <a:r>
              <a:rPr lang="en-US" dirty="0"/>
              <a:t>&lt;/xs:schema&gt;</a:t>
            </a:r>
          </a:p>
          <a:p>
            <a:pPr marL="0" indent="0">
              <a:buNone/>
            </a:pPr>
            <a:endParaRPr lang="en-US" dirty="0"/>
          </a:p>
        </p:txBody>
      </p:sp>
    </p:spTree>
    <p:extLst>
      <p:ext uri="{BB962C8B-B14F-4D97-AF65-F5344CB8AC3E}">
        <p14:creationId xmlns:p14="http://schemas.microsoft.com/office/powerpoint/2010/main" val="15575618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563F5-180B-4641-A80A-51DE4F351DF1}"/>
              </a:ext>
            </a:extLst>
          </p:cNvPr>
          <p:cNvSpPr>
            <a:spLocks noGrp="1"/>
          </p:cNvSpPr>
          <p:nvPr>
            <p:ph type="title"/>
          </p:nvPr>
        </p:nvSpPr>
        <p:spPr/>
        <p:txBody>
          <a:bodyPr/>
          <a:lstStyle/>
          <a:p>
            <a:r>
              <a:rPr lang="en-US" b="1" dirty="0"/>
              <a:t>XSD Example</a:t>
            </a:r>
          </a:p>
        </p:txBody>
      </p:sp>
      <p:sp>
        <p:nvSpPr>
          <p:cNvPr id="3" name="Content Placeholder 2">
            <a:extLst>
              <a:ext uri="{FF2B5EF4-FFF2-40B4-BE49-F238E27FC236}">
                <a16:creationId xmlns:a16="http://schemas.microsoft.com/office/drawing/2014/main" id="{A55762BF-CA3E-4A25-9D7A-0E384C9285AA}"/>
              </a:ext>
            </a:extLst>
          </p:cNvPr>
          <p:cNvSpPr>
            <a:spLocks noGrp="1"/>
          </p:cNvSpPr>
          <p:nvPr>
            <p:ph idx="1"/>
          </p:nvPr>
        </p:nvSpPr>
        <p:spPr>
          <a:xfrm>
            <a:off x="838200" y="1429790"/>
            <a:ext cx="10782994" cy="5286894"/>
          </a:xfrm>
        </p:spPr>
        <p:txBody>
          <a:bodyPr>
            <a:normAutofit fontScale="92500" lnSpcReduction="20000"/>
          </a:bodyPr>
          <a:lstStyle/>
          <a:p>
            <a:pPr marL="0" indent="0">
              <a:buNone/>
            </a:pPr>
            <a:r>
              <a:rPr lang="en-US" b="1" dirty="0"/>
              <a:t>Add.xml</a:t>
            </a:r>
          </a:p>
          <a:p>
            <a:pPr marL="0" indent="0">
              <a:buNone/>
            </a:pPr>
            <a:r>
              <a:rPr lang="en-US" dirty="0"/>
              <a:t>&lt;?xml version=“1.0” encoding=“UTC-8” ?&gt;</a:t>
            </a:r>
          </a:p>
          <a:p>
            <a:pPr marL="0" indent="0">
              <a:buNone/>
            </a:pPr>
            <a:r>
              <a:rPr lang="en-US" dirty="0"/>
              <a:t>&lt;contact xsi:schemalocation=“Add.xsd”&gt;</a:t>
            </a:r>
          </a:p>
          <a:p>
            <a:pPr marL="0" indent="0">
              <a:buNone/>
            </a:pPr>
            <a:r>
              <a:rPr lang="en-US" dirty="0"/>
              <a:t>	&lt;name&gt;Aman&lt;/name&gt;				</a:t>
            </a:r>
          </a:p>
          <a:p>
            <a:pPr marL="0" indent="0">
              <a:buNone/>
            </a:pPr>
            <a:r>
              <a:rPr lang="en-US" dirty="0"/>
              <a:t>	&lt;company&gt;IBM&lt;/company&gt;				&lt;phone&gt;984155555&lt;/phone&gt;</a:t>
            </a:r>
          </a:p>
          <a:p>
            <a:pPr marL="0" indent="0">
              <a:buNone/>
            </a:pPr>
            <a:r>
              <a:rPr lang="en-US" dirty="0"/>
              <a:t>&lt;/contact&gt;</a:t>
            </a:r>
          </a:p>
          <a:p>
            <a:pPr marL="0" indent="0">
              <a:buNone/>
            </a:pPr>
            <a:endParaRPr lang="en-US" dirty="0"/>
          </a:p>
          <a:p>
            <a:pPr marL="0" indent="0">
              <a:buNone/>
            </a:pPr>
            <a:r>
              <a:rPr lang="en-US" dirty="0"/>
              <a:t>**there will be error if we put text in between phone tag since we have set schema</a:t>
            </a:r>
          </a:p>
          <a:p>
            <a:pPr marL="0" indent="0">
              <a:buNone/>
            </a:pPr>
            <a:endParaRPr lang="en-US" dirty="0"/>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20136686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8ACCE-B76D-4037-8A3F-704FF74AB187}"/>
              </a:ext>
            </a:extLst>
          </p:cNvPr>
          <p:cNvSpPr>
            <a:spLocks noGrp="1"/>
          </p:cNvSpPr>
          <p:nvPr>
            <p:ph type="title"/>
          </p:nvPr>
        </p:nvSpPr>
        <p:spPr/>
        <p:txBody>
          <a:bodyPr/>
          <a:lstStyle/>
          <a:p>
            <a:r>
              <a:rPr lang="en-US" b="1" dirty="0"/>
              <a:t>XSD Attributes</a:t>
            </a:r>
          </a:p>
        </p:txBody>
      </p:sp>
      <p:sp>
        <p:nvSpPr>
          <p:cNvPr id="3" name="Content Placeholder 2">
            <a:extLst>
              <a:ext uri="{FF2B5EF4-FFF2-40B4-BE49-F238E27FC236}">
                <a16:creationId xmlns:a16="http://schemas.microsoft.com/office/drawing/2014/main" id="{5E576EA9-15E3-4B20-99DF-0662C2824F42}"/>
              </a:ext>
            </a:extLst>
          </p:cNvPr>
          <p:cNvSpPr>
            <a:spLocks noGrp="1"/>
          </p:cNvSpPr>
          <p:nvPr>
            <p:ph idx="1"/>
          </p:nvPr>
        </p:nvSpPr>
        <p:spPr/>
        <p:txBody>
          <a:bodyPr>
            <a:normAutofit fontScale="77500" lnSpcReduction="20000"/>
          </a:bodyPr>
          <a:lstStyle/>
          <a:p>
            <a:pPr marL="0" indent="0">
              <a:buNone/>
            </a:pPr>
            <a:r>
              <a:rPr lang="en-US" dirty="0"/>
              <a:t>All XSD attributes are declared as simple types.</a:t>
            </a:r>
          </a:p>
          <a:p>
            <a:pPr marL="0" indent="0">
              <a:buNone/>
            </a:pPr>
            <a:endParaRPr lang="en-US" dirty="0"/>
          </a:p>
          <a:p>
            <a:pPr marL="0" indent="0">
              <a:buNone/>
            </a:pPr>
            <a:r>
              <a:rPr lang="en-US" dirty="0"/>
              <a:t>Simple elements cannot have attributes. If an element has attributes, it is considered to be of a complex type. But the attribute itself is always declared as a simple type.</a:t>
            </a:r>
          </a:p>
          <a:p>
            <a:pPr marL="0" indent="0">
              <a:buNone/>
            </a:pPr>
            <a:r>
              <a:rPr lang="en-US" dirty="0"/>
              <a:t>For eg: &lt;book&gt;Science&lt;/book&gt; 			//simple element type</a:t>
            </a:r>
          </a:p>
          <a:p>
            <a:pPr marL="0" indent="0">
              <a:buNone/>
            </a:pPr>
            <a:r>
              <a:rPr lang="en-US" dirty="0"/>
              <a:t>	&lt;book publisher=“KEC”&gt;Book&lt;/book&gt; 	// complex type</a:t>
            </a:r>
          </a:p>
          <a:p>
            <a:pPr marL="0" indent="0">
              <a:buNone/>
            </a:pPr>
            <a:r>
              <a:rPr lang="en-US" dirty="0"/>
              <a:t>The syntax for defining an XSD attribute</a:t>
            </a:r>
          </a:p>
          <a:p>
            <a:pPr marL="0" indent="0">
              <a:buNone/>
            </a:pPr>
            <a:r>
              <a:rPr lang="en-US" dirty="0"/>
              <a:t>&lt;xs:attribute name=“publisher" type=“xs:string"/&gt;</a:t>
            </a:r>
          </a:p>
          <a:p>
            <a:pPr marL="0" indent="0">
              <a:buNone/>
            </a:pPr>
            <a:r>
              <a:rPr lang="en-US" dirty="0"/>
              <a:t>where name is the name of the attribute and xs:string specifies the data type of the attribute.</a:t>
            </a:r>
          </a:p>
          <a:p>
            <a:pPr marL="0" indent="0">
              <a:buNone/>
            </a:pPr>
            <a:r>
              <a:rPr lang="en-US" dirty="0"/>
              <a:t>** this will only allow value of publisher be string. Like publisher=“KEC” not publisher=123 or any other.</a:t>
            </a:r>
          </a:p>
          <a:p>
            <a:pPr marL="0" indent="0">
              <a:buNone/>
            </a:pPr>
            <a:endParaRPr lang="en-US" dirty="0"/>
          </a:p>
        </p:txBody>
      </p:sp>
    </p:spTree>
    <p:extLst>
      <p:ext uri="{BB962C8B-B14F-4D97-AF65-F5344CB8AC3E}">
        <p14:creationId xmlns:p14="http://schemas.microsoft.com/office/powerpoint/2010/main" val="31023106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a:xfrm>
            <a:off x="442271" y="1825624"/>
            <a:ext cx="5833620" cy="4857979"/>
          </a:xfrm>
        </p:spPr>
        <p:style>
          <a:lnRef idx="2">
            <a:schemeClr val="accent3"/>
          </a:lnRef>
          <a:fillRef idx="1">
            <a:schemeClr val="lt1"/>
          </a:fillRef>
          <a:effectRef idx="0">
            <a:schemeClr val="accent3"/>
          </a:effectRef>
          <a:fontRef idx="minor">
            <a:schemeClr val="dk1"/>
          </a:fontRef>
        </p:style>
        <p:txBody>
          <a:bodyPr>
            <a:normAutofit fontScale="62500" lnSpcReduction="20000"/>
          </a:bodyPr>
          <a:lstStyle/>
          <a:p>
            <a:pPr marL="0" indent="0">
              <a:buNone/>
            </a:pPr>
            <a:r>
              <a:rPr lang="en-US" b="1" dirty="0"/>
              <a:t>Add.xsd</a:t>
            </a:r>
            <a:r>
              <a:rPr lang="en-US" dirty="0"/>
              <a:t> file</a:t>
            </a:r>
          </a:p>
          <a:p>
            <a:pPr marL="0" indent="0">
              <a:buNone/>
            </a:pPr>
            <a:endParaRPr lang="en-US" dirty="0"/>
          </a:p>
          <a:p>
            <a:pPr marL="0" indent="0">
              <a:buNone/>
            </a:pPr>
            <a:r>
              <a:rPr lang="en-US" dirty="0"/>
              <a:t>&lt;xs:schema xmlns:xs="http://www.w3.org/2001/XMLSchema"&gt;</a:t>
            </a:r>
          </a:p>
          <a:p>
            <a:pPr marL="0" indent="0">
              <a:buNone/>
            </a:pPr>
            <a:r>
              <a:rPr lang="en-US" dirty="0"/>
              <a:t>  &lt;xs:element name="book"&gt;</a:t>
            </a:r>
          </a:p>
          <a:p>
            <a:pPr marL="0" indent="0">
              <a:buNone/>
            </a:pPr>
            <a:r>
              <a:rPr lang="en-US" dirty="0"/>
              <a:t>    &lt;xs:complexType&gt;</a:t>
            </a:r>
          </a:p>
          <a:p>
            <a:pPr marL="0" indent="0">
              <a:buNone/>
            </a:pPr>
            <a:r>
              <a:rPr lang="en-US" dirty="0"/>
              <a:t>   &lt;xs:attribute name="id" type="xs:string" use="required"/&gt;</a:t>
            </a:r>
          </a:p>
          <a:p>
            <a:pPr marL="0" indent="0">
              <a:buNone/>
            </a:pPr>
            <a:r>
              <a:rPr lang="en-US" dirty="0"/>
              <a:t>      &lt;xs:sequence&gt;</a:t>
            </a:r>
          </a:p>
          <a:p>
            <a:pPr marL="0" indent="0">
              <a:buNone/>
            </a:pPr>
            <a:r>
              <a:rPr lang="en-US" dirty="0"/>
              <a:t>        &lt;xs:element name="title" type="xs:string"/&gt;</a:t>
            </a:r>
          </a:p>
          <a:p>
            <a:pPr marL="0" indent="0">
              <a:buNone/>
            </a:pPr>
            <a:r>
              <a:rPr lang="en-US" dirty="0"/>
              <a:t>        &lt;xs:element name="author" type="xs:string"/&gt;</a:t>
            </a:r>
          </a:p>
          <a:p>
            <a:pPr marL="0" indent="0">
              <a:buNone/>
            </a:pPr>
            <a:r>
              <a:rPr lang="en-US" dirty="0"/>
              <a:t>        &lt;xs:element name="year" type="xs:int"/&gt;</a:t>
            </a:r>
          </a:p>
          <a:p>
            <a:pPr marL="0" indent="0">
              <a:buNone/>
            </a:pPr>
            <a:r>
              <a:rPr lang="en-US" dirty="0"/>
              <a:t>      &lt;/xs:sequence&gt;</a:t>
            </a:r>
          </a:p>
          <a:p>
            <a:pPr marL="0" indent="0">
              <a:buNone/>
            </a:pPr>
            <a:r>
              <a:rPr lang="en-US" dirty="0"/>
              <a:t>    &lt;/xs:complexType&gt;</a:t>
            </a:r>
          </a:p>
          <a:p>
            <a:pPr marL="0" indent="0">
              <a:buNone/>
            </a:pPr>
            <a:r>
              <a:rPr lang="en-US" dirty="0"/>
              <a:t>  &lt;/xs:element&gt;</a:t>
            </a:r>
          </a:p>
          <a:p>
            <a:pPr marL="0" indent="0">
              <a:buNone/>
            </a:pPr>
            <a:r>
              <a:rPr lang="en-US" dirty="0"/>
              <a:t>&lt;/xs:schema&gt;</a:t>
            </a:r>
          </a:p>
        </p:txBody>
      </p:sp>
      <p:sp>
        <p:nvSpPr>
          <p:cNvPr id="5" name="Rectangle 4"/>
          <p:cNvSpPr/>
          <p:nvPr/>
        </p:nvSpPr>
        <p:spPr>
          <a:xfrm>
            <a:off x="6426722" y="2677211"/>
            <a:ext cx="5639586" cy="2585323"/>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b="1" dirty="0"/>
              <a:t>Add.xml</a:t>
            </a:r>
            <a:r>
              <a:rPr lang="en-US" dirty="0"/>
              <a:t> file</a:t>
            </a:r>
          </a:p>
          <a:p>
            <a:endParaRPr lang="en-US" dirty="0"/>
          </a:p>
          <a:p>
            <a:r>
              <a:rPr lang="en-US" dirty="0"/>
              <a:t>&lt;book xsi:schemalocation=“Add.xsd”&gt;</a:t>
            </a:r>
          </a:p>
          <a:p>
            <a:endParaRPr lang="en-US" dirty="0"/>
          </a:p>
          <a:p>
            <a:r>
              <a:rPr lang="en-US" dirty="0"/>
              <a:t>&lt;book id="123"&gt;</a:t>
            </a:r>
          </a:p>
          <a:p>
            <a:r>
              <a:rPr lang="en-US" dirty="0"/>
              <a:t>  &lt;title&gt;Harry Potter and the Philosopher’s Stone&lt;/title&gt;</a:t>
            </a:r>
          </a:p>
          <a:p>
            <a:r>
              <a:rPr lang="en-US" dirty="0"/>
              <a:t>  &lt;author&gt;J.K. Rowling&lt;/author&gt;</a:t>
            </a:r>
          </a:p>
          <a:p>
            <a:r>
              <a:rPr lang="en-US" dirty="0"/>
              <a:t>  &lt;year&gt;1997&lt;/year&gt;</a:t>
            </a:r>
          </a:p>
          <a:p>
            <a:r>
              <a:rPr lang="en-US" dirty="0"/>
              <a:t>&lt;/book&gt;</a:t>
            </a:r>
          </a:p>
        </p:txBody>
      </p:sp>
    </p:spTree>
    <p:extLst>
      <p:ext uri="{BB962C8B-B14F-4D97-AF65-F5344CB8AC3E}">
        <p14:creationId xmlns:p14="http://schemas.microsoft.com/office/powerpoint/2010/main" val="26450888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8ACCE-B76D-4037-8A3F-704FF74AB187}"/>
              </a:ext>
            </a:extLst>
          </p:cNvPr>
          <p:cNvSpPr>
            <a:spLocks noGrp="1"/>
          </p:cNvSpPr>
          <p:nvPr>
            <p:ph type="title"/>
          </p:nvPr>
        </p:nvSpPr>
        <p:spPr/>
        <p:txBody>
          <a:bodyPr/>
          <a:lstStyle/>
          <a:p>
            <a:r>
              <a:rPr lang="en-US" b="1" dirty="0"/>
              <a:t>XSD Attributes</a:t>
            </a:r>
          </a:p>
        </p:txBody>
      </p:sp>
      <p:sp>
        <p:nvSpPr>
          <p:cNvPr id="3" name="Content Placeholder 2">
            <a:extLst>
              <a:ext uri="{FF2B5EF4-FFF2-40B4-BE49-F238E27FC236}">
                <a16:creationId xmlns:a16="http://schemas.microsoft.com/office/drawing/2014/main" id="{5E576EA9-15E3-4B20-99DF-0662C2824F42}"/>
              </a:ext>
            </a:extLst>
          </p:cNvPr>
          <p:cNvSpPr>
            <a:spLocks noGrp="1"/>
          </p:cNvSpPr>
          <p:nvPr>
            <p:ph idx="1"/>
          </p:nvPr>
        </p:nvSpPr>
        <p:spPr>
          <a:xfrm>
            <a:off x="838200" y="1385740"/>
            <a:ext cx="10515600" cy="4791223"/>
          </a:xfrm>
        </p:spPr>
        <p:txBody>
          <a:bodyPr>
            <a:normAutofit fontScale="70000" lnSpcReduction="20000"/>
          </a:bodyPr>
          <a:lstStyle/>
          <a:p>
            <a:pPr marL="0" indent="0">
              <a:buNone/>
            </a:pPr>
            <a:r>
              <a:rPr lang="en-US" b="1" dirty="0"/>
              <a:t>Default and Fixed Values for Attributes</a:t>
            </a:r>
          </a:p>
          <a:p>
            <a:pPr marL="0" indent="0">
              <a:buNone/>
            </a:pPr>
            <a:r>
              <a:rPr lang="en-US" dirty="0"/>
              <a:t>Attributes may have a default value OR a fixed value specified.</a:t>
            </a:r>
          </a:p>
          <a:p>
            <a:pPr marL="0" indent="0">
              <a:buNone/>
            </a:pPr>
            <a:r>
              <a:rPr lang="en-US" dirty="0"/>
              <a:t>A default value is automatically assigned to the attribute when no other value is specified.</a:t>
            </a:r>
          </a:p>
          <a:p>
            <a:pPr marL="0" indent="0">
              <a:buNone/>
            </a:pPr>
            <a:r>
              <a:rPr lang="en-US" dirty="0"/>
              <a:t>In the following example the default value is "EN":</a:t>
            </a:r>
          </a:p>
          <a:p>
            <a:pPr marL="0" indent="0">
              <a:buNone/>
            </a:pPr>
            <a:r>
              <a:rPr lang="en-US" dirty="0"/>
              <a:t>&lt;xs:attribute name="lang" type="xs:string" default="EN"/&gt;</a:t>
            </a:r>
          </a:p>
          <a:p>
            <a:pPr marL="0" indent="0">
              <a:buNone/>
            </a:pPr>
            <a:endParaRPr lang="en-US" dirty="0"/>
          </a:p>
          <a:p>
            <a:pPr marL="0" indent="0">
              <a:buNone/>
            </a:pPr>
            <a:r>
              <a:rPr lang="en-US" dirty="0"/>
              <a:t>A fixed value is also automatically assigned to the attribute, and you cannot specify another value.</a:t>
            </a:r>
          </a:p>
          <a:p>
            <a:pPr marL="0" indent="0">
              <a:buNone/>
            </a:pPr>
            <a:r>
              <a:rPr lang="en-US" dirty="0"/>
              <a:t>In the following example the fixed value is "EN":</a:t>
            </a:r>
          </a:p>
          <a:p>
            <a:pPr marL="0" indent="0">
              <a:buNone/>
            </a:pPr>
            <a:r>
              <a:rPr lang="en-US" dirty="0"/>
              <a:t>&lt;xs:attribute name="lang" type="xs:string" fixed="EN"/&gt;</a:t>
            </a:r>
          </a:p>
          <a:p>
            <a:pPr marL="0" indent="0">
              <a:buNone/>
            </a:pPr>
            <a:endParaRPr lang="en-US" dirty="0"/>
          </a:p>
          <a:p>
            <a:pPr marL="0" indent="0">
              <a:buNone/>
            </a:pPr>
            <a:r>
              <a:rPr lang="en-US" b="1" dirty="0"/>
              <a:t>Optional and Required Attributes</a:t>
            </a:r>
          </a:p>
          <a:p>
            <a:pPr marL="0" indent="0">
              <a:buNone/>
            </a:pPr>
            <a:r>
              <a:rPr lang="en-US" dirty="0"/>
              <a:t>Attributes are optional by default. To specify that the attribute is required, use the "use" attribute:</a:t>
            </a:r>
          </a:p>
          <a:p>
            <a:pPr marL="0" indent="0">
              <a:buNone/>
            </a:pPr>
            <a:r>
              <a:rPr lang="en-US" dirty="0"/>
              <a:t>&lt;xs:attribute name="lang" type="xs:string" use="required"/&gt;</a:t>
            </a:r>
          </a:p>
        </p:txBody>
      </p:sp>
    </p:spTree>
    <p:extLst>
      <p:ext uri="{BB962C8B-B14F-4D97-AF65-F5344CB8AC3E}">
        <p14:creationId xmlns:p14="http://schemas.microsoft.com/office/powerpoint/2010/main" val="19556277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C70B-9456-4896-94CF-503900DB31D9}"/>
              </a:ext>
            </a:extLst>
          </p:cNvPr>
          <p:cNvSpPr>
            <a:spLocks noGrp="1"/>
          </p:cNvSpPr>
          <p:nvPr>
            <p:ph type="title"/>
          </p:nvPr>
        </p:nvSpPr>
        <p:spPr/>
        <p:txBody>
          <a:bodyPr/>
          <a:lstStyle/>
          <a:p>
            <a:r>
              <a:rPr lang="en-US" b="1" dirty="0"/>
              <a:t>XSD Restrictions/Facets</a:t>
            </a:r>
          </a:p>
        </p:txBody>
      </p:sp>
      <p:sp>
        <p:nvSpPr>
          <p:cNvPr id="3" name="Content Placeholder 2">
            <a:extLst>
              <a:ext uri="{FF2B5EF4-FFF2-40B4-BE49-F238E27FC236}">
                <a16:creationId xmlns:a16="http://schemas.microsoft.com/office/drawing/2014/main" id="{83242D7A-B2CD-4A0A-85F7-25F5335DC5D4}"/>
              </a:ext>
            </a:extLst>
          </p:cNvPr>
          <p:cNvSpPr>
            <a:spLocks noGrp="1"/>
          </p:cNvSpPr>
          <p:nvPr>
            <p:ph idx="1"/>
          </p:nvPr>
        </p:nvSpPr>
        <p:spPr/>
        <p:txBody>
          <a:bodyPr>
            <a:normAutofit fontScale="70000" lnSpcReduction="20000"/>
          </a:bodyPr>
          <a:lstStyle/>
          <a:p>
            <a:r>
              <a:rPr lang="en-US" dirty="0"/>
              <a:t>Restrictions are used to define acceptable values for XML elements or attributes. Restrictions on XML elements are called facets.</a:t>
            </a:r>
          </a:p>
          <a:p>
            <a:pPr marL="0" indent="0">
              <a:buNone/>
            </a:pPr>
            <a:r>
              <a:rPr lang="en-US" b="1" dirty="0"/>
              <a:t>Restrictions on Values</a:t>
            </a:r>
          </a:p>
          <a:p>
            <a:r>
              <a:rPr lang="en-US" dirty="0"/>
              <a:t>The following example defines an element called "age" with a restriction. The value of age cannot be lower than 0 or greater than 120:</a:t>
            </a:r>
          </a:p>
          <a:p>
            <a:pPr marL="0" indent="0">
              <a:buNone/>
            </a:pPr>
            <a:r>
              <a:rPr lang="en-US" dirty="0"/>
              <a:t>&lt;xs:element name="age"&gt;</a:t>
            </a:r>
          </a:p>
          <a:p>
            <a:pPr marL="0" indent="0">
              <a:buNone/>
            </a:pPr>
            <a:r>
              <a:rPr lang="en-US" dirty="0"/>
              <a:t>  &lt;xs:simpleType&gt;</a:t>
            </a:r>
          </a:p>
          <a:p>
            <a:pPr marL="0" indent="0">
              <a:buNone/>
            </a:pPr>
            <a:r>
              <a:rPr lang="en-US" dirty="0"/>
              <a:t>    &lt;xs:restriction base="xs:integer"&gt;</a:t>
            </a:r>
          </a:p>
          <a:p>
            <a:pPr marL="0" indent="0">
              <a:buNone/>
            </a:pPr>
            <a:r>
              <a:rPr lang="en-US" dirty="0"/>
              <a:t>      &lt;xs:minInclusive value="0"/&gt;</a:t>
            </a:r>
          </a:p>
          <a:p>
            <a:pPr marL="0" indent="0">
              <a:buNone/>
            </a:pPr>
            <a:r>
              <a:rPr lang="en-US" dirty="0"/>
              <a:t>      &lt;xs:maxInclusive value="120"/&gt;</a:t>
            </a:r>
          </a:p>
          <a:p>
            <a:pPr marL="0" indent="0">
              <a:buNone/>
            </a:pPr>
            <a:r>
              <a:rPr lang="en-US" dirty="0"/>
              <a:t>    &lt;/xs:restriction&gt;</a:t>
            </a:r>
          </a:p>
          <a:p>
            <a:pPr marL="0" indent="0">
              <a:buNone/>
            </a:pPr>
            <a:r>
              <a:rPr lang="en-US" dirty="0"/>
              <a:t>  &lt;/xs:simpleType&gt;</a:t>
            </a:r>
          </a:p>
          <a:p>
            <a:pPr marL="0" indent="0">
              <a:buNone/>
            </a:pPr>
            <a:r>
              <a:rPr lang="en-US" dirty="0"/>
              <a:t>&lt;/xs:element&gt;</a:t>
            </a:r>
          </a:p>
        </p:txBody>
      </p:sp>
    </p:spTree>
    <p:extLst>
      <p:ext uri="{BB962C8B-B14F-4D97-AF65-F5344CB8AC3E}">
        <p14:creationId xmlns:p14="http://schemas.microsoft.com/office/powerpoint/2010/main" val="23910447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C70B-9456-4896-94CF-503900DB31D9}"/>
              </a:ext>
            </a:extLst>
          </p:cNvPr>
          <p:cNvSpPr>
            <a:spLocks noGrp="1"/>
          </p:cNvSpPr>
          <p:nvPr>
            <p:ph type="title"/>
          </p:nvPr>
        </p:nvSpPr>
        <p:spPr/>
        <p:txBody>
          <a:bodyPr/>
          <a:lstStyle/>
          <a:p>
            <a:r>
              <a:rPr lang="en-US" b="1" dirty="0"/>
              <a:t>XSD Restrictions/Facets</a:t>
            </a:r>
          </a:p>
        </p:txBody>
      </p:sp>
      <p:sp>
        <p:nvSpPr>
          <p:cNvPr id="3" name="Content Placeholder 2">
            <a:extLst>
              <a:ext uri="{FF2B5EF4-FFF2-40B4-BE49-F238E27FC236}">
                <a16:creationId xmlns:a16="http://schemas.microsoft.com/office/drawing/2014/main" id="{83242D7A-B2CD-4A0A-85F7-25F5335DC5D4}"/>
              </a:ext>
            </a:extLst>
          </p:cNvPr>
          <p:cNvSpPr>
            <a:spLocks noGrp="1"/>
          </p:cNvSpPr>
          <p:nvPr>
            <p:ph idx="1"/>
          </p:nvPr>
        </p:nvSpPr>
        <p:spPr>
          <a:xfrm>
            <a:off x="838200" y="1348033"/>
            <a:ext cx="10515600" cy="4828930"/>
          </a:xfrm>
        </p:spPr>
        <p:txBody>
          <a:bodyPr>
            <a:normAutofit fontScale="77500" lnSpcReduction="20000"/>
          </a:bodyPr>
          <a:lstStyle/>
          <a:p>
            <a:pPr marL="0" indent="0">
              <a:buNone/>
            </a:pPr>
            <a:r>
              <a:rPr lang="en-US" b="1" dirty="0"/>
              <a:t>Restrictions on a Set of Values</a:t>
            </a:r>
          </a:p>
          <a:p>
            <a:r>
              <a:rPr lang="en-US" dirty="0"/>
              <a:t>To limit the content of an XML element to a set of acceptable values, we would use the </a:t>
            </a:r>
            <a:r>
              <a:rPr lang="en-US" b="1" dirty="0"/>
              <a:t>enumeration</a:t>
            </a:r>
            <a:r>
              <a:rPr lang="en-US" dirty="0"/>
              <a:t> constraint.</a:t>
            </a:r>
          </a:p>
          <a:p>
            <a:r>
              <a:rPr lang="en-US" dirty="0"/>
              <a:t>The example below defines an element called "car" with a restriction. The only acceptable values are: Audi, Golf, BMW:</a:t>
            </a:r>
          </a:p>
          <a:p>
            <a:pPr marL="0" indent="0">
              <a:buNone/>
            </a:pPr>
            <a:r>
              <a:rPr lang="en-US" dirty="0"/>
              <a:t>&lt;xs:element name="car"&gt;</a:t>
            </a:r>
          </a:p>
          <a:p>
            <a:pPr marL="0" indent="0">
              <a:buNone/>
            </a:pPr>
            <a:r>
              <a:rPr lang="en-US" dirty="0"/>
              <a:t>  &lt;xs:simpleType&gt;</a:t>
            </a:r>
          </a:p>
          <a:p>
            <a:pPr marL="0" indent="0">
              <a:buNone/>
            </a:pPr>
            <a:r>
              <a:rPr lang="en-US" dirty="0"/>
              <a:t>    &lt;xs:restriction base="xs:string"&gt;</a:t>
            </a:r>
          </a:p>
          <a:p>
            <a:pPr marL="0" indent="0">
              <a:buNone/>
            </a:pPr>
            <a:r>
              <a:rPr lang="en-US" dirty="0"/>
              <a:t>      &lt;xs:enumeration value="Audi"/&gt;</a:t>
            </a:r>
          </a:p>
          <a:p>
            <a:pPr marL="0" indent="0">
              <a:buNone/>
            </a:pPr>
            <a:r>
              <a:rPr lang="en-US" dirty="0"/>
              <a:t>      &lt;xs:enumeration value="Golf"/&gt;</a:t>
            </a:r>
          </a:p>
          <a:p>
            <a:pPr marL="0" indent="0">
              <a:buNone/>
            </a:pPr>
            <a:r>
              <a:rPr lang="en-US" dirty="0"/>
              <a:t>      &lt;xs:enumeration value="BMW"/&gt;</a:t>
            </a:r>
          </a:p>
          <a:p>
            <a:pPr marL="0" indent="0">
              <a:buNone/>
            </a:pPr>
            <a:r>
              <a:rPr lang="en-US" dirty="0"/>
              <a:t>    &lt;/xs:restriction&gt;</a:t>
            </a:r>
          </a:p>
          <a:p>
            <a:pPr marL="0" indent="0">
              <a:buNone/>
            </a:pPr>
            <a:r>
              <a:rPr lang="en-US" dirty="0"/>
              <a:t>  &lt;/xs:simpleType&gt;</a:t>
            </a:r>
          </a:p>
          <a:p>
            <a:pPr marL="0" indent="0">
              <a:buNone/>
            </a:pPr>
            <a:r>
              <a:rPr lang="en-US" dirty="0"/>
              <a:t>&lt;/xs:element&gt;</a:t>
            </a:r>
          </a:p>
        </p:txBody>
      </p:sp>
    </p:spTree>
    <p:extLst>
      <p:ext uri="{BB962C8B-B14F-4D97-AF65-F5344CB8AC3E}">
        <p14:creationId xmlns:p14="http://schemas.microsoft.com/office/powerpoint/2010/main" val="30049249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C70B-9456-4896-94CF-503900DB31D9}"/>
              </a:ext>
            </a:extLst>
          </p:cNvPr>
          <p:cNvSpPr>
            <a:spLocks noGrp="1"/>
          </p:cNvSpPr>
          <p:nvPr>
            <p:ph type="title"/>
          </p:nvPr>
        </p:nvSpPr>
        <p:spPr/>
        <p:txBody>
          <a:bodyPr/>
          <a:lstStyle/>
          <a:p>
            <a:r>
              <a:rPr lang="en-US" b="1" dirty="0"/>
              <a:t>Restrictions on a Series of Values</a:t>
            </a:r>
            <a:br>
              <a:rPr lang="en-US" b="1" dirty="0"/>
            </a:br>
            <a:endParaRPr lang="en-US" b="1" dirty="0"/>
          </a:p>
        </p:txBody>
      </p:sp>
      <p:sp>
        <p:nvSpPr>
          <p:cNvPr id="3" name="Content Placeholder 2">
            <a:extLst>
              <a:ext uri="{FF2B5EF4-FFF2-40B4-BE49-F238E27FC236}">
                <a16:creationId xmlns:a16="http://schemas.microsoft.com/office/drawing/2014/main" id="{83242D7A-B2CD-4A0A-85F7-25F5335DC5D4}"/>
              </a:ext>
            </a:extLst>
          </p:cNvPr>
          <p:cNvSpPr>
            <a:spLocks noGrp="1"/>
          </p:cNvSpPr>
          <p:nvPr>
            <p:ph idx="1"/>
          </p:nvPr>
        </p:nvSpPr>
        <p:spPr>
          <a:xfrm>
            <a:off x="838200" y="1348033"/>
            <a:ext cx="10515600" cy="4828930"/>
          </a:xfrm>
        </p:spPr>
        <p:txBody>
          <a:bodyPr>
            <a:normAutofit fontScale="92500" lnSpcReduction="20000"/>
          </a:bodyPr>
          <a:lstStyle/>
          <a:p>
            <a:pPr marL="0" indent="0">
              <a:buNone/>
            </a:pPr>
            <a:r>
              <a:rPr lang="en-US" dirty="0"/>
              <a:t>To limit the content of an XML element to define a series of numbers or letters that can be used, we would use the pattern constraint.</a:t>
            </a:r>
          </a:p>
          <a:p>
            <a:pPr marL="0" indent="0">
              <a:buNone/>
            </a:pPr>
            <a:r>
              <a:rPr lang="en-US" dirty="0"/>
              <a:t>The example below defines an element called "letter" with a restriction. The only acceptable value is ONE of the LOWERCASE letters from a to z:</a:t>
            </a:r>
          </a:p>
          <a:p>
            <a:pPr marL="0" indent="0">
              <a:buNone/>
            </a:pPr>
            <a:endParaRPr lang="en-US" dirty="0"/>
          </a:p>
          <a:p>
            <a:pPr marL="0" indent="0">
              <a:buNone/>
            </a:pPr>
            <a:r>
              <a:rPr lang="en-US" dirty="0"/>
              <a:t>&lt;xs:element name="letter"&gt;</a:t>
            </a:r>
          </a:p>
          <a:p>
            <a:pPr marL="0" indent="0">
              <a:buNone/>
            </a:pPr>
            <a:r>
              <a:rPr lang="en-US" dirty="0"/>
              <a:t>  &lt;xs:simpleType&gt;</a:t>
            </a:r>
          </a:p>
          <a:p>
            <a:pPr marL="0" indent="0">
              <a:buNone/>
            </a:pPr>
            <a:r>
              <a:rPr lang="en-US" dirty="0"/>
              <a:t>    &lt;xs:restriction base="xs:string"&gt;</a:t>
            </a:r>
          </a:p>
          <a:p>
            <a:pPr marL="0" indent="0">
              <a:buNone/>
            </a:pPr>
            <a:r>
              <a:rPr lang="en-US" dirty="0"/>
              <a:t>      &lt;</a:t>
            </a:r>
            <a:r>
              <a:rPr lang="en-US" dirty="0" err="1"/>
              <a:t>xs:pattern</a:t>
            </a:r>
            <a:r>
              <a:rPr lang="en-US" dirty="0"/>
              <a:t> value="[a-z]"/&gt;</a:t>
            </a:r>
          </a:p>
          <a:p>
            <a:pPr marL="0" indent="0">
              <a:buNone/>
            </a:pPr>
            <a:r>
              <a:rPr lang="en-US" dirty="0"/>
              <a:t>    &lt;/xs:restriction&gt;</a:t>
            </a:r>
          </a:p>
          <a:p>
            <a:pPr marL="0" indent="0">
              <a:buNone/>
            </a:pPr>
            <a:r>
              <a:rPr lang="en-US" dirty="0"/>
              <a:t>  &lt;/xs:simpleType&gt;</a:t>
            </a:r>
          </a:p>
          <a:p>
            <a:pPr marL="0" indent="0">
              <a:buNone/>
            </a:pPr>
            <a:r>
              <a:rPr lang="en-US" dirty="0"/>
              <a:t>&lt;/xs:element&gt;</a:t>
            </a:r>
          </a:p>
        </p:txBody>
      </p:sp>
    </p:spTree>
    <p:extLst>
      <p:ext uri="{BB962C8B-B14F-4D97-AF65-F5344CB8AC3E}">
        <p14:creationId xmlns:p14="http://schemas.microsoft.com/office/powerpoint/2010/main" val="33373884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C70B-9456-4896-94CF-503900DB31D9}"/>
              </a:ext>
            </a:extLst>
          </p:cNvPr>
          <p:cNvSpPr>
            <a:spLocks noGrp="1"/>
          </p:cNvSpPr>
          <p:nvPr>
            <p:ph type="title"/>
          </p:nvPr>
        </p:nvSpPr>
        <p:spPr/>
        <p:txBody>
          <a:bodyPr/>
          <a:lstStyle/>
          <a:p>
            <a:r>
              <a:rPr lang="en-US" b="1" dirty="0"/>
              <a:t>Restrictions on a Series of Values</a:t>
            </a:r>
            <a:br>
              <a:rPr lang="en-US" b="1" dirty="0"/>
            </a:br>
            <a:endParaRPr lang="en-US" b="1" dirty="0"/>
          </a:p>
        </p:txBody>
      </p:sp>
      <p:sp>
        <p:nvSpPr>
          <p:cNvPr id="3" name="Content Placeholder 2">
            <a:extLst>
              <a:ext uri="{FF2B5EF4-FFF2-40B4-BE49-F238E27FC236}">
                <a16:creationId xmlns:a16="http://schemas.microsoft.com/office/drawing/2014/main" id="{83242D7A-B2CD-4A0A-85F7-25F5335DC5D4}"/>
              </a:ext>
            </a:extLst>
          </p:cNvPr>
          <p:cNvSpPr>
            <a:spLocks noGrp="1"/>
          </p:cNvSpPr>
          <p:nvPr>
            <p:ph idx="1"/>
          </p:nvPr>
        </p:nvSpPr>
        <p:spPr>
          <a:xfrm>
            <a:off x="838200" y="1348033"/>
            <a:ext cx="10515600" cy="4828930"/>
          </a:xfrm>
        </p:spPr>
        <p:txBody>
          <a:bodyPr>
            <a:normAutofit/>
          </a:bodyPr>
          <a:lstStyle/>
          <a:p>
            <a:pPr marL="0" indent="0">
              <a:buNone/>
            </a:pPr>
            <a:r>
              <a:rPr lang="en-US" dirty="0"/>
              <a:t>The example below defines an element called "letter" with a restriction. The acceptable value is zero or more occurrences of lowercase letters from a to z:</a:t>
            </a:r>
          </a:p>
          <a:p>
            <a:pPr marL="0" indent="0">
              <a:buNone/>
            </a:pPr>
            <a:r>
              <a:rPr lang="en-US" dirty="0"/>
              <a:t>&lt;xs:element name="letter"&gt;</a:t>
            </a:r>
          </a:p>
          <a:p>
            <a:pPr marL="0" indent="0">
              <a:buNone/>
            </a:pPr>
            <a:r>
              <a:rPr lang="en-US" dirty="0"/>
              <a:t>  &lt;xs:simpleType&gt;</a:t>
            </a:r>
          </a:p>
          <a:p>
            <a:pPr marL="0" indent="0">
              <a:buNone/>
            </a:pPr>
            <a:r>
              <a:rPr lang="en-US" dirty="0"/>
              <a:t>    &lt;xs:restriction base="xs:string"&gt;</a:t>
            </a:r>
          </a:p>
          <a:p>
            <a:pPr marL="0" indent="0">
              <a:buNone/>
            </a:pPr>
            <a:r>
              <a:rPr lang="en-US" dirty="0"/>
              <a:t>      &lt;xs:pattern value="([a-z])*"/&gt;</a:t>
            </a:r>
          </a:p>
          <a:p>
            <a:pPr marL="0" indent="0">
              <a:buNone/>
            </a:pPr>
            <a:r>
              <a:rPr lang="en-US" dirty="0"/>
              <a:t>    &lt;/xs:restriction&gt;</a:t>
            </a:r>
          </a:p>
          <a:p>
            <a:pPr marL="0" indent="0">
              <a:buNone/>
            </a:pPr>
            <a:r>
              <a:rPr lang="en-US" dirty="0"/>
              <a:t>  &lt;/xs:simpleType&gt;</a:t>
            </a:r>
          </a:p>
          <a:p>
            <a:pPr marL="0" indent="0">
              <a:buNone/>
            </a:pPr>
            <a:r>
              <a:rPr lang="en-US" dirty="0"/>
              <a:t>&lt;/xs:element&gt;</a:t>
            </a:r>
          </a:p>
        </p:txBody>
      </p:sp>
    </p:spTree>
    <p:extLst>
      <p:ext uri="{BB962C8B-B14F-4D97-AF65-F5344CB8AC3E}">
        <p14:creationId xmlns:p14="http://schemas.microsoft.com/office/powerpoint/2010/main" val="19011696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C70B-9456-4896-94CF-503900DB31D9}"/>
              </a:ext>
            </a:extLst>
          </p:cNvPr>
          <p:cNvSpPr>
            <a:spLocks noGrp="1"/>
          </p:cNvSpPr>
          <p:nvPr>
            <p:ph type="title"/>
          </p:nvPr>
        </p:nvSpPr>
        <p:spPr/>
        <p:txBody>
          <a:bodyPr/>
          <a:lstStyle/>
          <a:p>
            <a:r>
              <a:rPr lang="en-US" b="1" dirty="0"/>
              <a:t>Restrictions on a Series of Values</a:t>
            </a:r>
            <a:br>
              <a:rPr lang="en-US" b="1" dirty="0"/>
            </a:br>
            <a:endParaRPr lang="en-US" b="1" dirty="0"/>
          </a:p>
        </p:txBody>
      </p:sp>
      <p:sp>
        <p:nvSpPr>
          <p:cNvPr id="3" name="Content Placeholder 2">
            <a:extLst>
              <a:ext uri="{FF2B5EF4-FFF2-40B4-BE49-F238E27FC236}">
                <a16:creationId xmlns:a16="http://schemas.microsoft.com/office/drawing/2014/main" id="{83242D7A-B2CD-4A0A-85F7-25F5335DC5D4}"/>
              </a:ext>
            </a:extLst>
          </p:cNvPr>
          <p:cNvSpPr>
            <a:spLocks noGrp="1"/>
          </p:cNvSpPr>
          <p:nvPr>
            <p:ph idx="1"/>
          </p:nvPr>
        </p:nvSpPr>
        <p:spPr>
          <a:xfrm>
            <a:off x="838200" y="1348033"/>
            <a:ext cx="10515600" cy="4828930"/>
          </a:xfrm>
        </p:spPr>
        <p:txBody>
          <a:bodyPr>
            <a:normAutofit fontScale="55000" lnSpcReduction="20000"/>
          </a:bodyPr>
          <a:lstStyle/>
          <a:p>
            <a:pPr marL="0" indent="0">
              <a:buNone/>
            </a:pPr>
            <a:r>
              <a:rPr lang="en-US" dirty="0"/>
              <a:t>The only acceptable value is male OR female:</a:t>
            </a:r>
          </a:p>
          <a:p>
            <a:pPr marL="0" indent="0">
              <a:buNone/>
            </a:pPr>
            <a:r>
              <a:rPr lang="en-US" dirty="0"/>
              <a:t>&lt;xs:element name="gender"&gt;</a:t>
            </a:r>
          </a:p>
          <a:p>
            <a:pPr marL="0" indent="0">
              <a:buNone/>
            </a:pPr>
            <a:r>
              <a:rPr lang="en-US" dirty="0"/>
              <a:t>  &lt;xs:simpleType&gt;</a:t>
            </a:r>
          </a:p>
          <a:p>
            <a:pPr marL="0" indent="0">
              <a:buNone/>
            </a:pPr>
            <a:r>
              <a:rPr lang="en-US" dirty="0"/>
              <a:t>    &lt;xs:restriction base="xs:string"&gt;</a:t>
            </a:r>
          </a:p>
          <a:p>
            <a:pPr marL="0" indent="0">
              <a:buNone/>
            </a:pPr>
            <a:r>
              <a:rPr lang="en-US" dirty="0"/>
              <a:t>      &lt;xs:pattern value="male|female"/&gt;</a:t>
            </a:r>
          </a:p>
          <a:p>
            <a:pPr marL="0" indent="0">
              <a:buNone/>
            </a:pPr>
            <a:r>
              <a:rPr lang="en-US" dirty="0"/>
              <a:t>    &lt;/xs:restriction&gt;</a:t>
            </a:r>
          </a:p>
          <a:p>
            <a:pPr marL="0" indent="0">
              <a:buNone/>
            </a:pPr>
            <a:r>
              <a:rPr lang="en-US" dirty="0"/>
              <a:t>  &lt;/xs:simpleType&gt;</a:t>
            </a:r>
          </a:p>
          <a:p>
            <a:pPr marL="0" indent="0">
              <a:buNone/>
            </a:pPr>
            <a:r>
              <a:rPr lang="en-US" dirty="0"/>
              <a:t>&lt;/xs:element&gt;</a:t>
            </a:r>
          </a:p>
          <a:p>
            <a:pPr marL="0" indent="0">
              <a:buNone/>
            </a:pPr>
            <a:r>
              <a:rPr lang="en-US" dirty="0"/>
              <a:t>The next example defines an element called "password" with a restriction. There must be exactly eight characters in a row and those characters must be lowercase or uppercase letters from a to z, or a number from 0 to 9:</a:t>
            </a:r>
          </a:p>
          <a:p>
            <a:pPr marL="0" indent="0">
              <a:buNone/>
            </a:pPr>
            <a:r>
              <a:rPr lang="en-US" dirty="0"/>
              <a:t>&lt;xs:element name="password"&gt;</a:t>
            </a:r>
          </a:p>
          <a:p>
            <a:pPr marL="0" indent="0">
              <a:buNone/>
            </a:pPr>
            <a:r>
              <a:rPr lang="en-US" dirty="0"/>
              <a:t>  &lt;xs:simpleType&gt;</a:t>
            </a:r>
          </a:p>
          <a:p>
            <a:pPr marL="0" indent="0">
              <a:buNone/>
            </a:pPr>
            <a:r>
              <a:rPr lang="en-US" dirty="0"/>
              <a:t>    &lt;xs:restriction base="xs:string"&gt;</a:t>
            </a:r>
          </a:p>
          <a:p>
            <a:pPr marL="0" indent="0">
              <a:buNone/>
            </a:pPr>
            <a:r>
              <a:rPr lang="en-US" dirty="0"/>
              <a:t>      &lt;xs:pattern value="[a-zA-Z0-9]{8}"/&gt;</a:t>
            </a:r>
          </a:p>
          <a:p>
            <a:pPr marL="0" indent="0">
              <a:buNone/>
            </a:pPr>
            <a:r>
              <a:rPr lang="en-US" dirty="0"/>
              <a:t>    &lt;/xs:restriction&gt;</a:t>
            </a:r>
          </a:p>
          <a:p>
            <a:pPr marL="0" indent="0">
              <a:buNone/>
            </a:pPr>
            <a:r>
              <a:rPr lang="en-US" dirty="0"/>
              <a:t>  &lt;/xs:simpleType&gt;</a:t>
            </a:r>
          </a:p>
          <a:p>
            <a:pPr marL="0" indent="0">
              <a:buNone/>
            </a:pPr>
            <a:r>
              <a:rPr lang="en-US" dirty="0"/>
              <a:t>&lt;/xs:element&gt;</a:t>
            </a:r>
          </a:p>
        </p:txBody>
      </p:sp>
    </p:spTree>
    <p:extLst>
      <p:ext uri="{BB962C8B-B14F-4D97-AF65-F5344CB8AC3E}">
        <p14:creationId xmlns:p14="http://schemas.microsoft.com/office/powerpoint/2010/main" val="4335412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E437F-582F-4978-9312-CC63BE9EA6FB}"/>
              </a:ext>
            </a:extLst>
          </p:cNvPr>
          <p:cNvSpPr>
            <a:spLocks noGrp="1"/>
          </p:cNvSpPr>
          <p:nvPr>
            <p:ph type="title"/>
          </p:nvPr>
        </p:nvSpPr>
        <p:spPr/>
        <p:txBody>
          <a:bodyPr/>
          <a:lstStyle/>
          <a:p>
            <a:r>
              <a:rPr lang="en-US" b="1" dirty="0"/>
              <a:t>Complex type Element</a:t>
            </a:r>
          </a:p>
        </p:txBody>
      </p:sp>
      <p:sp>
        <p:nvSpPr>
          <p:cNvPr id="3" name="Content Placeholder 2">
            <a:extLst>
              <a:ext uri="{FF2B5EF4-FFF2-40B4-BE49-F238E27FC236}">
                <a16:creationId xmlns:a16="http://schemas.microsoft.com/office/drawing/2014/main" id="{326D957D-98B2-4153-B997-913729192C54}"/>
              </a:ext>
            </a:extLst>
          </p:cNvPr>
          <p:cNvSpPr>
            <a:spLocks noGrp="1"/>
          </p:cNvSpPr>
          <p:nvPr>
            <p:ph idx="1"/>
          </p:nvPr>
        </p:nvSpPr>
        <p:spPr/>
        <p:txBody>
          <a:bodyPr>
            <a:normAutofit/>
          </a:bodyPr>
          <a:lstStyle/>
          <a:p>
            <a:r>
              <a:rPr lang="en-US" dirty="0"/>
              <a:t>A complex element is an XML element that contains other elements and/or attributes.</a:t>
            </a:r>
          </a:p>
          <a:p>
            <a:r>
              <a:rPr lang="en-US" dirty="0"/>
              <a:t>There are four kinds of complex elements:</a:t>
            </a:r>
          </a:p>
          <a:p>
            <a:pPr marL="514350" indent="-514350">
              <a:buFont typeface="+mj-lt"/>
              <a:buAutoNum type="arabicPeriod"/>
            </a:pPr>
            <a:r>
              <a:rPr lang="en-US" dirty="0"/>
              <a:t>empty elements</a:t>
            </a:r>
          </a:p>
          <a:p>
            <a:pPr marL="514350" indent="-514350">
              <a:buFont typeface="+mj-lt"/>
              <a:buAutoNum type="arabicPeriod"/>
            </a:pPr>
            <a:r>
              <a:rPr lang="en-US" dirty="0"/>
              <a:t>elements that contain only other elements</a:t>
            </a:r>
          </a:p>
          <a:p>
            <a:pPr marL="514350" indent="-514350">
              <a:buFont typeface="+mj-lt"/>
              <a:buAutoNum type="arabicPeriod"/>
            </a:pPr>
            <a:r>
              <a:rPr lang="en-US" dirty="0"/>
              <a:t>elements that contain only text but with attribute.</a:t>
            </a:r>
          </a:p>
          <a:p>
            <a:pPr marL="514350" indent="-514350">
              <a:buFont typeface="+mj-lt"/>
              <a:buAutoNum type="arabicPeriod"/>
            </a:pPr>
            <a:r>
              <a:rPr lang="en-US" dirty="0"/>
              <a:t>elements that contain both other elements and text</a:t>
            </a:r>
          </a:p>
          <a:p>
            <a:pPr marL="0" indent="0">
              <a:buNone/>
            </a:pPr>
            <a:r>
              <a:rPr lang="en-US" dirty="0"/>
              <a:t>Note: Each of these elements may contain attributes as well!</a:t>
            </a:r>
          </a:p>
          <a:p>
            <a:pPr marL="0" indent="0">
              <a:buNone/>
            </a:pPr>
            <a:endParaRPr lang="en-US" dirty="0"/>
          </a:p>
        </p:txBody>
      </p:sp>
    </p:spTree>
    <p:extLst>
      <p:ext uri="{BB962C8B-B14F-4D97-AF65-F5344CB8AC3E}">
        <p14:creationId xmlns:p14="http://schemas.microsoft.com/office/powerpoint/2010/main" val="16356086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E437F-582F-4978-9312-CC63BE9EA6FB}"/>
              </a:ext>
            </a:extLst>
          </p:cNvPr>
          <p:cNvSpPr>
            <a:spLocks noGrp="1"/>
          </p:cNvSpPr>
          <p:nvPr>
            <p:ph type="title"/>
          </p:nvPr>
        </p:nvSpPr>
        <p:spPr/>
        <p:txBody>
          <a:bodyPr/>
          <a:lstStyle/>
          <a:p>
            <a:r>
              <a:rPr lang="en-US" b="1" dirty="0"/>
              <a:t>Complex type Element</a:t>
            </a:r>
          </a:p>
        </p:txBody>
      </p:sp>
      <p:sp>
        <p:nvSpPr>
          <p:cNvPr id="3" name="Content Placeholder 2">
            <a:extLst>
              <a:ext uri="{FF2B5EF4-FFF2-40B4-BE49-F238E27FC236}">
                <a16:creationId xmlns:a16="http://schemas.microsoft.com/office/drawing/2014/main" id="{326D957D-98B2-4153-B997-913729192C54}"/>
              </a:ext>
            </a:extLst>
          </p:cNvPr>
          <p:cNvSpPr>
            <a:spLocks noGrp="1"/>
          </p:cNvSpPr>
          <p:nvPr>
            <p:ph idx="1"/>
          </p:nvPr>
        </p:nvSpPr>
        <p:spPr>
          <a:xfrm>
            <a:off x="838200" y="1329178"/>
            <a:ext cx="10515600" cy="5163697"/>
          </a:xfrm>
        </p:spPr>
        <p:txBody>
          <a:bodyPr>
            <a:normAutofit fontScale="62500" lnSpcReduction="20000"/>
          </a:bodyPr>
          <a:lstStyle/>
          <a:p>
            <a:pPr marL="0" indent="0">
              <a:buNone/>
            </a:pPr>
            <a:r>
              <a:rPr lang="en-US" b="1" dirty="0"/>
              <a:t>A complex XML element, "product", which is empty:</a:t>
            </a:r>
          </a:p>
          <a:p>
            <a:pPr marL="0" indent="0">
              <a:buNone/>
            </a:pPr>
            <a:r>
              <a:rPr lang="en-US" dirty="0"/>
              <a:t>&lt;product </a:t>
            </a:r>
            <a:r>
              <a:rPr lang="en-US" dirty="0" err="1"/>
              <a:t>pid</a:t>
            </a:r>
            <a:r>
              <a:rPr lang="en-US" dirty="0"/>
              <a:t>="1345"/&gt;</a:t>
            </a:r>
          </a:p>
          <a:p>
            <a:pPr marL="0" indent="0">
              <a:buNone/>
            </a:pPr>
            <a:endParaRPr lang="en-US" dirty="0"/>
          </a:p>
          <a:p>
            <a:pPr marL="0" indent="0">
              <a:buNone/>
            </a:pPr>
            <a:r>
              <a:rPr lang="en-US" b="1" dirty="0"/>
              <a:t>A complex XML element, "employee", which contains only other elements:</a:t>
            </a:r>
          </a:p>
          <a:p>
            <a:pPr marL="0" indent="0">
              <a:buNone/>
            </a:pPr>
            <a:r>
              <a:rPr lang="en-US" dirty="0"/>
              <a:t>&lt;employee&gt;</a:t>
            </a:r>
          </a:p>
          <a:p>
            <a:pPr marL="0" indent="0">
              <a:buNone/>
            </a:pPr>
            <a:r>
              <a:rPr lang="en-US" dirty="0"/>
              <a:t>  &lt;</a:t>
            </a:r>
            <a:r>
              <a:rPr lang="en-US" dirty="0" err="1"/>
              <a:t>firstname</a:t>
            </a:r>
            <a:r>
              <a:rPr lang="en-US" dirty="0"/>
              <a:t>&gt;John&lt;/</a:t>
            </a:r>
            <a:r>
              <a:rPr lang="en-US" dirty="0" err="1"/>
              <a:t>firstname</a:t>
            </a:r>
            <a:r>
              <a:rPr lang="en-US" dirty="0"/>
              <a:t>&gt;</a:t>
            </a:r>
          </a:p>
          <a:p>
            <a:pPr marL="0" indent="0">
              <a:buNone/>
            </a:pPr>
            <a:r>
              <a:rPr lang="en-US" dirty="0"/>
              <a:t>  &lt;</a:t>
            </a:r>
            <a:r>
              <a:rPr lang="en-US" dirty="0" err="1"/>
              <a:t>lastname</a:t>
            </a:r>
            <a:r>
              <a:rPr lang="en-US" dirty="0"/>
              <a:t>&gt;Smith&lt;/</a:t>
            </a:r>
            <a:r>
              <a:rPr lang="en-US" dirty="0" err="1"/>
              <a:t>lastname</a:t>
            </a:r>
            <a:r>
              <a:rPr lang="en-US" dirty="0"/>
              <a:t>&gt;</a:t>
            </a:r>
          </a:p>
          <a:p>
            <a:pPr marL="0" indent="0">
              <a:buNone/>
            </a:pPr>
            <a:r>
              <a:rPr lang="en-US" dirty="0"/>
              <a:t>&lt;/employee&gt;</a:t>
            </a:r>
          </a:p>
          <a:p>
            <a:pPr marL="0" indent="0">
              <a:buNone/>
            </a:pPr>
            <a:endParaRPr lang="en-US" dirty="0"/>
          </a:p>
          <a:p>
            <a:pPr marL="0" indent="0">
              <a:buNone/>
            </a:pPr>
            <a:r>
              <a:rPr lang="en-US" b="1" dirty="0"/>
              <a:t>A complex XML element, "food", which contains only text but with attribute:</a:t>
            </a:r>
          </a:p>
          <a:p>
            <a:pPr marL="0" indent="0">
              <a:buNone/>
            </a:pPr>
            <a:r>
              <a:rPr lang="en-US" dirty="0"/>
              <a:t>&lt;food type="dessert"&gt;Ice cream&lt;/food&gt;</a:t>
            </a:r>
          </a:p>
          <a:p>
            <a:pPr marL="0" indent="0">
              <a:buNone/>
            </a:pPr>
            <a:endParaRPr lang="en-US" b="1" dirty="0"/>
          </a:p>
          <a:p>
            <a:pPr marL="0" indent="0">
              <a:buNone/>
            </a:pPr>
            <a:r>
              <a:rPr lang="en-US" b="1" dirty="0"/>
              <a:t>A complex XML element, "description", which contains both elements and text:</a:t>
            </a:r>
          </a:p>
          <a:p>
            <a:pPr marL="0" indent="0">
              <a:buNone/>
            </a:pPr>
            <a:r>
              <a:rPr lang="en-US" dirty="0"/>
              <a:t>&lt;description&gt;</a:t>
            </a:r>
          </a:p>
          <a:p>
            <a:pPr marL="0" indent="0">
              <a:buNone/>
            </a:pPr>
            <a:r>
              <a:rPr lang="en-US" dirty="0"/>
              <a:t>It happened on &lt;date lang="</a:t>
            </a:r>
            <a:r>
              <a:rPr lang="en-US" dirty="0" err="1"/>
              <a:t>norwegian</a:t>
            </a:r>
            <a:r>
              <a:rPr lang="en-US" dirty="0"/>
              <a:t>"&gt;03.03.99&lt;/date&gt; ....</a:t>
            </a:r>
          </a:p>
          <a:p>
            <a:pPr marL="0" indent="0">
              <a:buNone/>
            </a:pPr>
            <a:r>
              <a:rPr lang="en-US" dirty="0"/>
              <a:t>&lt;/description&gt;</a:t>
            </a:r>
          </a:p>
        </p:txBody>
      </p:sp>
    </p:spTree>
    <p:extLst>
      <p:ext uri="{BB962C8B-B14F-4D97-AF65-F5344CB8AC3E}">
        <p14:creationId xmlns:p14="http://schemas.microsoft.com/office/powerpoint/2010/main" val="25667179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normAutofit/>
          </a:bodyPr>
          <a:lstStyle/>
          <a:p>
            <a:r>
              <a:rPr lang="en-US" dirty="0"/>
              <a:t>What is XML? How can we create XML file? Explain basic structure of XML with example.</a:t>
            </a:r>
          </a:p>
          <a:p>
            <a:r>
              <a:rPr lang="en-US" dirty="0"/>
              <a:t>Differentiate between XML and HTML.</a:t>
            </a:r>
          </a:p>
          <a:p>
            <a:r>
              <a:rPr lang="en-US" dirty="0"/>
              <a:t>Differentiate between Database and XML.</a:t>
            </a:r>
          </a:p>
          <a:p>
            <a:r>
              <a:rPr lang="en-US" dirty="0"/>
              <a:t>Differentiate between DTD and XML Schema</a:t>
            </a:r>
          </a:p>
          <a:p>
            <a:endParaRPr lang="en-US" dirty="0"/>
          </a:p>
        </p:txBody>
      </p:sp>
    </p:spTree>
    <p:extLst>
      <p:ext uri="{BB962C8B-B14F-4D97-AF65-F5344CB8AC3E}">
        <p14:creationId xmlns:p14="http://schemas.microsoft.com/office/powerpoint/2010/main" val="33963219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Xpath</a:t>
            </a:r>
          </a:p>
        </p:txBody>
      </p:sp>
      <p:sp>
        <p:nvSpPr>
          <p:cNvPr id="3" name="Content Placeholder 2"/>
          <p:cNvSpPr>
            <a:spLocks noGrp="1"/>
          </p:cNvSpPr>
          <p:nvPr>
            <p:ph idx="1"/>
          </p:nvPr>
        </p:nvSpPr>
        <p:spPr/>
        <p:txBody>
          <a:bodyPr>
            <a:normAutofit lnSpcReduction="10000"/>
          </a:bodyPr>
          <a:lstStyle/>
          <a:p>
            <a:pPr algn="just"/>
            <a:r>
              <a:rPr lang="en-US" dirty="0"/>
              <a:t>XPath is a query language used for selecting nodes from an XML document. It is commonly used in conjunction with XSLT (Extensible Stylesheet Language Transformations) and XQuery to navigate and extract specific parts of an XML document.</a:t>
            </a:r>
          </a:p>
          <a:p>
            <a:pPr algn="just"/>
            <a:r>
              <a:rPr lang="en-US" dirty="0"/>
              <a:t>XPath uses a path-like syntax to locate nodes in an XML document by traversing the document's structure. It provides a way to address individual elements, attributes, or other components within the XML hierarchy.</a:t>
            </a:r>
          </a:p>
          <a:p>
            <a:pPr algn="just"/>
            <a:r>
              <a:rPr lang="en-US" dirty="0"/>
              <a:t>XPath expressions consist of a series of steps separated by slashes (/). Each step specifies a location or condition to match within the XML document. Here are some examples of XPath expressions:</a:t>
            </a:r>
          </a:p>
        </p:txBody>
      </p:sp>
    </p:spTree>
    <p:extLst>
      <p:ext uri="{BB962C8B-B14F-4D97-AF65-F5344CB8AC3E}">
        <p14:creationId xmlns:p14="http://schemas.microsoft.com/office/powerpoint/2010/main" val="19328952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Xpath</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Select all the elements with a specific tag name:</a:t>
            </a:r>
          </a:p>
          <a:p>
            <a:pPr marL="0" indent="0" algn="just">
              <a:buNone/>
            </a:pPr>
            <a:r>
              <a:rPr lang="en-US" dirty="0"/>
              <a:t>/root/element: Selects all "element" nodes that are children of the "root" node.</a:t>
            </a:r>
          </a:p>
          <a:p>
            <a:pPr algn="just"/>
            <a:r>
              <a:rPr lang="en-US" dirty="0"/>
              <a:t>Select elements with a specific attribute value:</a:t>
            </a:r>
          </a:p>
          <a:p>
            <a:pPr marL="0" indent="0" algn="just">
              <a:buNone/>
            </a:pPr>
            <a:r>
              <a:rPr lang="en-US" dirty="0"/>
              <a:t>/root/element[@attribute='value']: Selects "element" nodes that have an attribute with the value 'value'.</a:t>
            </a:r>
          </a:p>
          <a:p>
            <a:pPr algn="just"/>
            <a:r>
              <a:rPr lang="en-US" dirty="0"/>
              <a:t>Select elements based on their position:</a:t>
            </a:r>
          </a:p>
          <a:p>
            <a:pPr marL="0" indent="0" algn="just">
              <a:buNone/>
            </a:pPr>
            <a:r>
              <a:rPr lang="en-US" dirty="0"/>
              <a:t>/root/element[1]: Selects the first "element" node that is a child of the "root" node.</a:t>
            </a:r>
          </a:p>
          <a:p>
            <a:pPr algn="just"/>
            <a:r>
              <a:rPr lang="en-US" dirty="0"/>
              <a:t>Select elements with specific conditions:</a:t>
            </a:r>
          </a:p>
          <a:p>
            <a:pPr marL="0" indent="0" algn="just">
              <a:buNone/>
            </a:pPr>
            <a:r>
              <a:rPr lang="en-US" dirty="0"/>
              <a:t>/root/element[@attribute='value' and @otherAttribute='otherValue']: Selects "element" nodes that satisfy multiple conditions.</a:t>
            </a:r>
          </a:p>
        </p:txBody>
      </p:sp>
    </p:spTree>
    <p:extLst>
      <p:ext uri="{BB962C8B-B14F-4D97-AF65-F5344CB8AC3E}">
        <p14:creationId xmlns:p14="http://schemas.microsoft.com/office/powerpoint/2010/main" val="17437742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lstStyle/>
          <a:p>
            <a:r>
              <a:rPr lang="en-US" dirty="0"/>
              <a:t>Go to </a:t>
            </a:r>
            <a:r>
              <a:rPr lang="en-US" dirty="0">
                <a:hlinkClick r:id="rId2"/>
              </a:rPr>
              <a:t>https://easycodeforall.com/generate-xpath.html</a:t>
            </a:r>
            <a:r>
              <a:rPr lang="en-US" dirty="0"/>
              <a:t> and you can generate and test your xpath.</a:t>
            </a:r>
          </a:p>
          <a:p>
            <a:endParaRPr lang="en-US" dirty="0"/>
          </a:p>
        </p:txBody>
      </p:sp>
      <p:pic>
        <p:nvPicPr>
          <p:cNvPr id="4" name="Picture 3"/>
          <p:cNvPicPr>
            <a:picLocks noChangeAspect="1"/>
          </p:cNvPicPr>
          <p:nvPr/>
        </p:nvPicPr>
        <p:blipFill>
          <a:blip r:embed="rId3"/>
          <a:stretch>
            <a:fillRect/>
          </a:stretch>
        </p:blipFill>
        <p:spPr>
          <a:xfrm>
            <a:off x="1089925" y="3300612"/>
            <a:ext cx="3698891" cy="3354712"/>
          </a:xfrm>
          <a:prstGeom prst="rect">
            <a:avLst/>
          </a:prstGeom>
        </p:spPr>
      </p:pic>
      <p:pic>
        <p:nvPicPr>
          <p:cNvPr id="5" name="Picture 4"/>
          <p:cNvPicPr>
            <a:picLocks noChangeAspect="1"/>
          </p:cNvPicPr>
          <p:nvPr/>
        </p:nvPicPr>
        <p:blipFill>
          <a:blip r:embed="rId4"/>
          <a:stretch>
            <a:fillRect/>
          </a:stretch>
        </p:blipFill>
        <p:spPr>
          <a:xfrm>
            <a:off x="4919889" y="4010439"/>
            <a:ext cx="3090369" cy="1232777"/>
          </a:xfrm>
          <a:prstGeom prst="rect">
            <a:avLst/>
          </a:prstGeom>
        </p:spPr>
      </p:pic>
      <p:pic>
        <p:nvPicPr>
          <p:cNvPr id="6" name="Picture 5"/>
          <p:cNvPicPr>
            <a:picLocks noChangeAspect="1"/>
          </p:cNvPicPr>
          <p:nvPr/>
        </p:nvPicPr>
        <p:blipFill>
          <a:blip r:embed="rId5"/>
          <a:stretch>
            <a:fillRect/>
          </a:stretch>
        </p:blipFill>
        <p:spPr>
          <a:xfrm>
            <a:off x="8885686" y="4059695"/>
            <a:ext cx="1592686" cy="796341"/>
          </a:xfrm>
          <a:prstGeom prst="rect">
            <a:avLst/>
          </a:prstGeom>
        </p:spPr>
      </p:pic>
      <p:sp>
        <p:nvSpPr>
          <p:cNvPr id="7" name="TextBox 6"/>
          <p:cNvSpPr txBox="1"/>
          <p:nvPr/>
        </p:nvSpPr>
        <p:spPr>
          <a:xfrm>
            <a:off x="1743958" y="2815364"/>
            <a:ext cx="1593130" cy="369332"/>
          </a:xfrm>
          <a:prstGeom prst="rect">
            <a:avLst/>
          </a:prstGeom>
          <a:noFill/>
        </p:spPr>
        <p:txBody>
          <a:bodyPr wrap="square" rtlCol="0">
            <a:spAutoFit/>
          </a:bodyPr>
          <a:lstStyle/>
          <a:p>
            <a:r>
              <a:rPr lang="en-US" dirty="0"/>
              <a:t>XML File</a:t>
            </a:r>
          </a:p>
        </p:txBody>
      </p:sp>
      <p:sp>
        <p:nvSpPr>
          <p:cNvPr id="8" name="TextBox 7"/>
          <p:cNvSpPr txBox="1"/>
          <p:nvPr/>
        </p:nvSpPr>
        <p:spPr>
          <a:xfrm>
            <a:off x="5344997" y="3496072"/>
            <a:ext cx="1319404" cy="379430"/>
          </a:xfrm>
          <a:prstGeom prst="rect">
            <a:avLst/>
          </a:prstGeom>
          <a:noFill/>
        </p:spPr>
        <p:txBody>
          <a:bodyPr wrap="square" rtlCol="0">
            <a:spAutoFit/>
          </a:bodyPr>
          <a:lstStyle/>
          <a:p>
            <a:r>
              <a:rPr lang="en-US" dirty="0"/>
              <a:t>Xpath</a:t>
            </a:r>
          </a:p>
        </p:txBody>
      </p:sp>
      <p:sp>
        <p:nvSpPr>
          <p:cNvPr id="9" name="TextBox 8"/>
          <p:cNvSpPr txBox="1"/>
          <p:nvPr/>
        </p:nvSpPr>
        <p:spPr>
          <a:xfrm>
            <a:off x="8753913" y="3555426"/>
            <a:ext cx="1238053" cy="369332"/>
          </a:xfrm>
          <a:prstGeom prst="rect">
            <a:avLst/>
          </a:prstGeom>
          <a:noFill/>
        </p:spPr>
        <p:txBody>
          <a:bodyPr wrap="square" rtlCol="0">
            <a:spAutoFit/>
          </a:bodyPr>
          <a:lstStyle/>
          <a:p>
            <a:r>
              <a:rPr lang="en-US" dirty="0"/>
              <a:t>Result</a:t>
            </a:r>
          </a:p>
        </p:txBody>
      </p:sp>
    </p:spTree>
    <p:extLst>
      <p:ext uri="{BB962C8B-B14F-4D97-AF65-F5344CB8AC3E}">
        <p14:creationId xmlns:p14="http://schemas.microsoft.com/office/powerpoint/2010/main" val="7899618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XSLT (Extensible Stylesheet Language Transformations)</a:t>
            </a:r>
          </a:p>
        </p:txBody>
      </p:sp>
      <p:sp>
        <p:nvSpPr>
          <p:cNvPr id="3" name="Content Placeholder 2"/>
          <p:cNvSpPr>
            <a:spLocks noGrp="1"/>
          </p:cNvSpPr>
          <p:nvPr>
            <p:ph idx="1"/>
          </p:nvPr>
        </p:nvSpPr>
        <p:spPr/>
        <p:txBody>
          <a:bodyPr>
            <a:normAutofit/>
          </a:bodyPr>
          <a:lstStyle/>
          <a:p>
            <a:pPr algn="just"/>
            <a:r>
              <a:rPr lang="en-US" dirty="0"/>
              <a:t>XSLT (Extensible Stylesheet Language Transformations) is a language used for transforming XML documents into different formats. It is a powerful tool for converting XML data into HTML, XML, plain text, or other structured formats.</a:t>
            </a:r>
          </a:p>
          <a:p>
            <a:pPr algn="just"/>
            <a:r>
              <a:rPr lang="en-US" dirty="0"/>
              <a:t>XSLT operates on two main components: the XML input document and an XSLT stylesheet. The XSLT stylesheet contains a set of rules and instructions that define how the XML input document should be transformed. These rules are written using XSLT syntax, which is based on XML itself.</a:t>
            </a:r>
          </a:p>
        </p:txBody>
      </p:sp>
    </p:spTree>
    <p:extLst>
      <p:ext uri="{BB962C8B-B14F-4D97-AF65-F5344CB8AC3E}">
        <p14:creationId xmlns:p14="http://schemas.microsoft.com/office/powerpoint/2010/main" val="13404377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7925E-2A2A-41A2-A1D7-96E1CBD09F25}"/>
              </a:ext>
            </a:extLst>
          </p:cNvPr>
          <p:cNvSpPr>
            <a:spLocks noGrp="1"/>
          </p:cNvSpPr>
          <p:nvPr>
            <p:ph type="title"/>
          </p:nvPr>
        </p:nvSpPr>
        <p:spPr/>
        <p:txBody>
          <a:bodyPr/>
          <a:lstStyle/>
          <a:p>
            <a:r>
              <a:rPr lang="en-US" b="1" dirty="0"/>
              <a:t>Why do we need XSLT??</a:t>
            </a:r>
          </a:p>
        </p:txBody>
      </p:sp>
      <p:sp>
        <p:nvSpPr>
          <p:cNvPr id="3" name="Content Placeholder 2">
            <a:extLst>
              <a:ext uri="{FF2B5EF4-FFF2-40B4-BE49-F238E27FC236}">
                <a16:creationId xmlns:a16="http://schemas.microsoft.com/office/drawing/2014/main" id="{48D0D893-24C7-41C8-BA04-746830BF3170}"/>
              </a:ext>
            </a:extLst>
          </p:cNvPr>
          <p:cNvSpPr>
            <a:spLocks noGrp="1"/>
          </p:cNvSpPr>
          <p:nvPr>
            <p:ph idx="1"/>
          </p:nvPr>
        </p:nvSpPr>
        <p:spPr/>
        <p:txBody>
          <a:bodyPr/>
          <a:lstStyle/>
          <a:p>
            <a:r>
              <a:rPr lang="en-US" dirty="0"/>
              <a:t>XSLT provides the ability to transform XML data from one format to another automatically. IT is the recommended style sheet language for XML.</a:t>
            </a:r>
          </a:p>
          <a:p>
            <a:r>
              <a:rPr lang="en-US" dirty="0"/>
              <a:t>XSLT is far more sophisticated than CSS. With XSLT we add/remove elements and attributes to or from the output file.</a:t>
            </a:r>
          </a:p>
          <a:p>
            <a:r>
              <a:rPr lang="en-US" dirty="0"/>
              <a:t>WE can also rearrange and sort elements, perform tests and make decisions about which elements to hide and display and a lot more.</a:t>
            </a:r>
          </a:p>
          <a:p>
            <a:r>
              <a:rPr lang="en-US" dirty="0"/>
              <a:t>XSLT uses </a:t>
            </a:r>
            <a:r>
              <a:rPr lang="en-US" dirty="0" err="1"/>
              <a:t>Xpath</a:t>
            </a:r>
            <a:r>
              <a:rPr lang="en-US" dirty="0"/>
              <a:t> to find information in an XML document</a:t>
            </a:r>
          </a:p>
        </p:txBody>
      </p:sp>
    </p:spTree>
    <p:extLst>
      <p:ext uri="{BB962C8B-B14F-4D97-AF65-F5344CB8AC3E}">
        <p14:creationId xmlns:p14="http://schemas.microsoft.com/office/powerpoint/2010/main" val="27522562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7418"/>
            <a:ext cx="10515600" cy="1325563"/>
          </a:xfrm>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838200" y="2323138"/>
            <a:ext cx="4965955" cy="3956253"/>
          </a:xfrm>
          <a:prstGeom prst="rect">
            <a:avLst/>
          </a:prstGeom>
        </p:spPr>
      </p:pic>
      <p:sp>
        <p:nvSpPr>
          <p:cNvPr id="5" name="TextBox 4"/>
          <p:cNvSpPr txBox="1"/>
          <p:nvPr/>
        </p:nvSpPr>
        <p:spPr>
          <a:xfrm>
            <a:off x="2452539" y="1822247"/>
            <a:ext cx="1498862" cy="369332"/>
          </a:xfrm>
          <a:prstGeom prst="rect">
            <a:avLst/>
          </a:prstGeom>
          <a:noFill/>
        </p:spPr>
        <p:txBody>
          <a:bodyPr wrap="square" rtlCol="0">
            <a:spAutoFit/>
          </a:bodyPr>
          <a:lstStyle/>
          <a:p>
            <a:r>
              <a:rPr lang="en-US" dirty="0"/>
              <a:t>student.xml</a:t>
            </a:r>
          </a:p>
        </p:txBody>
      </p:sp>
      <p:pic>
        <p:nvPicPr>
          <p:cNvPr id="6" name="Picture 5"/>
          <p:cNvPicPr>
            <a:picLocks noChangeAspect="1"/>
          </p:cNvPicPr>
          <p:nvPr/>
        </p:nvPicPr>
        <p:blipFill>
          <a:blip r:embed="rId3"/>
          <a:stretch>
            <a:fillRect/>
          </a:stretch>
        </p:blipFill>
        <p:spPr>
          <a:xfrm>
            <a:off x="6718062" y="1919891"/>
            <a:ext cx="4635738" cy="4762745"/>
          </a:xfrm>
          <a:prstGeom prst="rect">
            <a:avLst/>
          </a:prstGeom>
        </p:spPr>
      </p:pic>
      <p:sp>
        <p:nvSpPr>
          <p:cNvPr id="7" name="TextBox 6"/>
          <p:cNvSpPr txBox="1"/>
          <p:nvPr/>
        </p:nvSpPr>
        <p:spPr>
          <a:xfrm>
            <a:off x="8059918" y="1461555"/>
            <a:ext cx="2139884" cy="369332"/>
          </a:xfrm>
          <a:prstGeom prst="rect">
            <a:avLst/>
          </a:prstGeom>
          <a:noFill/>
        </p:spPr>
        <p:txBody>
          <a:bodyPr wrap="square" rtlCol="0">
            <a:spAutoFit/>
          </a:bodyPr>
          <a:lstStyle/>
          <a:p>
            <a:r>
              <a:rPr lang="en-US" dirty="0"/>
              <a:t>student.xsl</a:t>
            </a:r>
          </a:p>
        </p:txBody>
      </p:sp>
    </p:spTree>
    <p:extLst>
      <p:ext uri="{BB962C8B-B14F-4D97-AF65-F5344CB8AC3E}">
        <p14:creationId xmlns:p14="http://schemas.microsoft.com/office/powerpoint/2010/main" val="22744605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838200" y="2686086"/>
            <a:ext cx="4851649" cy="2762392"/>
          </a:xfrm>
          <a:prstGeom prst="rect">
            <a:avLst/>
          </a:prstGeom>
        </p:spPr>
      </p:pic>
      <p:pic>
        <p:nvPicPr>
          <p:cNvPr id="5" name="Picture 4"/>
          <p:cNvPicPr>
            <a:picLocks noChangeAspect="1"/>
          </p:cNvPicPr>
          <p:nvPr/>
        </p:nvPicPr>
        <p:blipFill>
          <a:blip r:embed="rId3"/>
          <a:stretch>
            <a:fillRect/>
          </a:stretch>
        </p:blipFill>
        <p:spPr>
          <a:xfrm>
            <a:off x="6959765" y="2850838"/>
            <a:ext cx="3824499" cy="2432888"/>
          </a:xfrm>
          <a:prstGeom prst="rect">
            <a:avLst/>
          </a:prstGeom>
        </p:spPr>
      </p:pic>
      <p:sp>
        <p:nvSpPr>
          <p:cNvPr id="6" name="TextBox 5"/>
          <p:cNvSpPr txBox="1"/>
          <p:nvPr/>
        </p:nvSpPr>
        <p:spPr>
          <a:xfrm>
            <a:off x="2179941" y="2086097"/>
            <a:ext cx="2168165" cy="369332"/>
          </a:xfrm>
          <a:prstGeom prst="rect">
            <a:avLst/>
          </a:prstGeom>
          <a:noFill/>
        </p:spPr>
        <p:txBody>
          <a:bodyPr wrap="square" rtlCol="0">
            <a:spAutoFit/>
          </a:bodyPr>
          <a:lstStyle/>
          <a:p>
            <a:r>
              <a:rPr lang="en-US" dirty="0"/>
              <a:t>Without xsl file</a:t>
            </a:r>
          </a:p>
        </p:txBody>
      </p:sp>
      <p:sp>
        <p:nvSpPr>
          <p:cNvPr id="7" name="TextBox 6"/>
          <p:cNvSpPr txBox="1"/>
          <p:nvPr/>
        </p:nvSpPr>
        <p:spPr>
          <a:xfrm>
            <a:off x="8125905" y="2366128"/>
            <a:ext cx="2083324" cy="369332"/>
          </a:xfrm>
          <a:prstGeom prst="rect">
            <a:avLst/>
          </a:prstGeom>
          <a:noFill/>
        </p:spPr>
        <p:txBody>
          <a:bodyPr wrap="square" rtlCol="0">
            <a:spAutoFit/>
          </a:bodyPr>
          <a:lstStyle/>
          <a:p>
            <a:r>
              <a:rPr lang="en-US" dirty="0"/>
              <a:t>With xsl file</a:t>
            </a:r>
          </a:p>
        </p:txBody>
      </p:sp>
    </p:spTree>
    <p:extLst>
      <p:ext uri="{BB962C8B-B14F-4D97-AF65-F5344CB8AC3E}">
        <p14:creationId xmlns:p14="http://schemas.microsoft.com/office/powerpoint/2010/main" val="6756464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Xquery</a:t>
            </a:r>
          </a:p>
        </p:txBody>
      </p:sp>
      <p:sp>
        <p:nvSpPr>
          <p:cNvPr id="3" name="Content Placeholder 2"/>
          <p:cNvSpPr>
            <a:spLocks noGrp="1"/>
          </p:cNvSpPr>
          <p:nvPr>
            <p:ph idx="1"/>
          </p:nvPr>
        </p:nvSpPr>
        <p:spPr/>
        <p:txBody>
          <a:bodyPr>
            <a:normAutofit fontScale="85000" lnSpcReduction="20000"/>
          </a:bodyPr>
          <a:lstStyle/>
          <a:p>
            <a:pPr algn="just"/>
            <a:r>
              <a:rPr lang="en-US" dirty="0"/>
              <a:t>XQuery is a query and functional programming language designed for working with XML data. It allows you to query, extract, transform, and manipulate XML documents or XML databases.</a:t>
            </a:r>
          </a:p>
          <a:p>
            <a:pPr lvl="1"/>
            <a:r>
              <a:rPr lang="en-US" dirty="0"/>
              <a:t>XQuery is </a:t>
            </a:r>
            <a:r>
              <a:rPr lang="en-US" b="1" i="1" dirty="0"/>
              <a:t>the</a:t>
            </a:r>
            <a:r>
              <a:rPr lang="en-US" dirty="0"/>
              <a:t> language for querying XML data</a:t>
            </a:r>
          </a:p>
          <a:p>
            <a:pPr lvl="1"/>
            <a:r>
              <a:rPr lang="en-US" dirty="0"/>
              <a:t>XQuery for XML is like SQL for databases</a:t>
            </a:r>
          </a:p>
          <a:p>
            <a:pPr lvl="1"/>
            <a:r>
              <a:rPr lang="en-US" dirty="0"/>
              <a:t>XQuery is built on XPath expressions</a:t>
            </a:r>
          </a:p>
          <a:p>
            <a:pPr lvl="1"/>
            <a:r>
              <a:rPr lang="en-US" dirty="0"/>
              <a:t>XQuery is supported by all major databases</a:t>
            </a:r>
          </a:p>
          <a:p>
            <a:pPr lvl="1"/>
            <a:r>
              <a:rPr lang="en-US" dirty="0"/>
              <a:t>XQuery is a W3C Recommendation</a:t>
            </a:r>
          </a:p>
          <a:p>
            <a:pPr algn="just"/>
            <a:r>
              <a:rPr lang="en-US" dirty="0"/>
              <a:t>FLWOR Expressions: FLWOR (For-Let-Where-Order by-Return) expressions are a fundamental construct in XQuery. They allow you to iterate over sequences of data, apply filters, perform calculations, and generate results.</a:t>
            </a:r>
          </a:p>
          <a:p>
            <a:pPr marL="0" indent="0">
              <a:buNone/>
            </a:pPr>
            <a:r>
              <a:rPr lang="en-US" dirty="0"/>
              <a:t>Here is an example of what XQuery could solve:</a:t>
            </a:r>
          </a:p>
          <a:p>
            <a:r>
              <a:rPr lang="en-US" dirty="0"/>
              <a:t>"Select all CD records with a price less than $10 from the CD collection stored in cd_catalog.xml"</a:t>
            </a:r>
          </a:p>
          <a:p>
            <a:pPr algn="just"/>
            <a:endParaRPr lang="en-US" dirty="0"/>
          </a:p>
        </p:txBody>
      </p:sp>
    </p:spTree>
    <p:extLst>
      <p:ext uri="{BB962C8B-B14F-4D97-AF65-F5344CB8AC3E}">
        <p14:creationId xmlns:p14="http://schemas.microsoft.com/office/powerpoint/2010/main" val="12106003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a:t>
            </a:r>
          </a:p>
        </p:txBody>
      </p:sp>
      <p:sp>
        <p:nvSpPr>
          <p:cNvPr id="3" name="Content Placeholder 2"/>
          <p:cNvSpPr>
            <a:spLocks noGrp="1"/>
          </p:cNvSpPr>
          <p:nvPr>
            <p:ph idx="1"/>
          </p:nvPr>
        </p:nvSpPr>
        <p:spPr>
          <a:xfrm>
            <a:off x="838200" y="1825625"/>
            <a:ext cx="5666295" cy="4351338"/>
          </a:xfrm>
        </p:spPr>
        <p:txBody>
          <a:bodyPr>
            <a:normAutofit/>
          </a:bodyPr>
          <a:lstStyle/>
          <a:p>
            <a:pPr algn="just"/>
            <a:r>
              <a:rPr lang="en-US" dirty="0"/>
              <a:t>Consider the following XML document representing a list of employees:</a:t>
            </a:r>
          </a:p>
          <a:p>
            <a:pPr marL="0" indent="0">
              <a:buNone/>
            </a:pPr>
            <a:r>
              <a:rPr lang="en-US" sz="2200" dirty="0"/>
              <a:t>&lt;employees&gt;</a:t>
            </a:r>
          </a:p>
          <a:p>
            <a:pPr marL="0" indent="0">
              <a:buNone/>
            </a:pPr>
            <a:r>
              <a:rPr lang="en-US" sz="2200" dirty="0"/>
              <a:t>  &lt;employee&gt;</a:t>
            </a:r>
          </a:p>
          <a:p>
            <a:pPr marL="0" indent="0">
              <a:buNone/>
            </a:pPr>
            <a:r>
              <a:rPr lang="en-US" sz="2200" dirty="0"/>
              <a:t>    &lt;name&gt;John Smith&lt;/name&gt;</a:t>
            </a:r>
          </a:p>
          <a:p>
            <a:pPr marL="0" indent="0">
              <a:buNone/>
            </a:pPr>
            <a:r>
              <a:rPr lang="en-US" sz="2200" dirty="0"/>
              <a:t>    &lt;position&gt;Manager&lt;/position&gt;</a:t>
            </a:r>
          </a:p>
          <a:p>
            <a:pPr marL="0" indent="0">
              <a:buNone/>
            </a:pPr>
            <a:r>
              <a:rPr lang="en-US" sz="2200" dirty="0"/>
              <a:t>    &lt;department&gt;Marketing&lt;/department&gt;</a:t>
            </a:r>
          </a:p>
          <a:p>
            <a:pPr marL="0" indent="0">
              <a:buNone/>
            </a:pPr>
            <a:r>
              <a:rPr lang="en-US" sz="2200" dirty="0"/>
              <a:t>    &lt;salary&gt;50000&lt;/salary&gt;</a:t>
            </a:r>
          </a:p>
          <a:p>
            <a:pPr marL="0" indent="0">
              <a:buNone/>
            </a:pPr>
            <a:r>
              <a:rPr lang="en-US" sz="2200" dirty="0"/>
              <a:t>  &lt;/employee&gt;</a:t>
            </a:r>
          </a:p>
          <a:p>
            <a:endParaRPr lang="en-US" dirty="0"/>
          </a:p>
        </p:txBody>
      </p:sp>
      <p:sp>
        <p:nvSpPr>
          <p:cNvPr id="4" name="Rectangle 3"/>
          <p:cNvSpPr/>
          <p:nvPr/>
        </p:nvSpPr>
        <p:spPr>
          <a:xfrm>
            <a:off x="7032396" y="2270498"/>
            <a:ext cx="5590095" cy="3693319"/>
          </a:xfrm>
          <a:prstGeom prst="rect">
            <a:avLst/>
          </a:prstGeom>
        </p:spPr>
        <p:txBody>
          <a:bodyPr wrap="square">
            <a:spAutoFit/>
          </a:bodyPr>
          <a:lstStyle/>
          <a:p>
            <a:r>
              <a:rPr lang="en-US" dirty="0"/>
              <a:t> &lt;employee&gt;</a:t>
            </a:r>
          </a:p>
          <a:p>
            <a:r>
              <a:rPr lang="en-US" dirty="0"/>
              <a:t>    &lt;name&gt;Jane Doe&lt;/name&gt;</a:t>
            </a:r>
          </a:p>
          <a:p>
            <a:r>
              <a:rPr lang="en-US" dirty="0"/>
              <a:t>    &lt;position&gt;Developer&lt;/position&gt;</a:t>
            </a:r>
          </a:p>
          <a:p>
            <a:r>
              <a:rPr lang="en-US" dirty="0"/>
              <a:t>    &lt;department&gt;IT&lt;/department&gt;</a:t>
            </a:r>
          </a:p>
          <a:p>
            <a:r>
              <a:rPr lang="en-US" dirty="0"/>
              <a:t>    &lt;salary&gt;60000&lt;/salary&gt;</a:t>
            </a:r>
          </a:p>
          <a:p>
            <a:r>
              <a:rPr lang="en-US" dirty="0"/>
              <a:t>  &lt;/employee&gt;</a:t>
            </a:r>
          </a:p>
          <a:p>
            <a:r>
              <a:rPr lang="en-US" dirty="0"/>
              <a:t>  &lt;employee&gt;</a:t>
            </a:r>
          </a:p>
          <a:p>
            <a:r>
              <a:rPr lang="en-US" dirty="0"/>
              <a:t>    &lt;name&gt;Mike Johnson&lt;/name&gt;</a:t>
            </a:r>
          </a:p>
          <a:p>
            <a:r>
              <a:rPr lang="en-US" dirty="0"/>
              <a:t>    &lt;position&gt;Analyst&lt;/position&gt;</a:t>
            </a:r>
          </a:p>
          <a:p>
            <a:r>
              <a:rPr lang="en-US" dirty="0"/>
              <a:t>    &lt;department&gt;Finance&lt;/department&gt;</a:t>
            </a:r>
          </a:p>
          <a:p>
            <a:r>
              <a:rPr lang="en-US" dirty="0"/>
              <a:t>    &lt;salary&gt;55000&lt;/salary&gt;</a:t>
            </a:r>
          </a:p>
          <a:p>
            <a:r>
              <a:rPr lang="en-US" dirty="0"/>
              <a:t>  &lt;/employee&gt;</a:t>
            </a:r>
          </a:p>
          <a:p>
            <a:r>
              <a:rPr lang="en-US" dirty="0"/>
              <a:t>&lt;/employees&gt;</a:t>
            </a:r>
          </a:p>
        </p:txBody>
      </p:sp>
    </p:spTree>
    <p:extLst>
      <p:ext uri="{BB962C8B-B14F-4D97-AF65-F5344CB8AC3E}">
        <p14:creationId xmlns:p14="http://schemas.microsoft.com/office/powerpoint/2010/main" val="4321503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normAutofit/>
          </a:bodyPr>
          <a:lstStyle/>
          <a:p>
            <a:pPr algn="just"/>
            <a:r>
              <a:rPr lang="en-US" dirty="0"/>
              <a:t>Suppose you want to retrieve the names and salaries of employees who earn a salary greater than $55000. You can use a FLWOR expression in XQuery to accomplish this:</a:t>
            </a:r>
          </a:p>
          <a:p>
            <a:pPr marL="0" indent="0" algn="just">
              <a:buNone/>
            </a:pPr>
            <a:r>
              <a:rPr lang="en-US" b="1" dirty="0"/>
              <a:t>for $employee in doc("employees.xml")/employees/employee</a:t>
            </a:r>
          </a:p>
          <a:p>
            <a:pPr marL="0" indent="0" algn="just">
              <a:buNone/>
            </a:pPr>
            <a:r>
              <a:rPr lang="en-US" b="1" dirty="0"/>
              <a:t>where $employee/salary &gt; 55000</a:t>
            </a:r>
          </a:p>
          <a:p>
            <a:pPr marL="0" indent="0" algn="just">
              <a:buNone/>
            </a:pPr>
            <a:r>
              <a:rPr lang="en-US" b="1" dirty="0"/>
              <a:t>return concat($employee/name, ": $", $employee/salary)</a:t>
            </a:r>
          </a:p>
          <a:p>
            <a:pPr marL="0" indent="0" algn="just">
              <a:buNone/>
            </a:pPr>
            <a:r>
              <a:rPr lang="en-US" dirty="0"/>
              <a:t>For the given XML document, the result of the XQuery query would be:</a:t>
            </a:r>
          </a:p>
          <a:p>
            <a:pPr marL="0" indent="0" algn="just">
              <a:buNone/>
            </a:pPr>
            <a:endParaRPr lang="en-US" b="1" dirty="0"/>
          </a:p>
          <a:p>
            <a:pPr algn="just"/>
            <a:endParaRPr lang="en-US" dirty="0"/>
          </a:p>
        </p:txBody>
      </p:sp>
      <p:pic>
        <p:nvPicPr>
          <p:cNvPr id="4" name="Picture 3"/>
          <p:cNvPicPr>
            <a:picLocks noChangeAspect="1"/>
          </p:cNvPicPr>
          <p:nvPr/>
        </p:nvPicPr>
        <p:blipFill>
          <a:blip r:embed="rId2"/>
          <a:stretch>
            <a:fillRect/>
          </a:stretch>
        </p:blipFill>
        <p:spPr>
          <a:xfrm>
            <a:off x="4023142" y="5371925"/>
            <a:ext cx="4295230" cy="1094862"/>
          </a:xfrm>
          <a:prstGeom prst="rect">
            <a:avLst/>
          </a:prstGeom>
        </p:spPr>
      </p:pic>
    </p:spTree>
    <p:extLst>
      <p:ext uri="{BB962C8B-B14F-4D97-AF65-F5344CB8AC3E}">
        <p14:creationId xmlns:p14="http://schemas.microsoft.com/office/powerpoint/2010/main" val="26226832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Explanation</a:t>
            </a:r>
          </a:p>
        </p:txBody>
      </p:sp>
      <p:sp>
        <p:nvSpPr>
          <p:cNvPr id="3" name="Content Placeholder 2"/>
          <p:cNvSpPr>
            <a:spLocks noGrp="1"/>
          </p:cNvSpPr>
          <p:nvPr>
            <p:ph idx="1"/>
          </p:nvPr>
        </p:nvSpPr>
        <p:spPr/>
        <p:txBody>
          <a:bodyPr>
            <a:normAutofit fontScale="85000" lnSpcReduction="20000"/>
          </a:bodyPr>
          <a:lstStyle/>
          <a:p>
            <a:pPr marL="0" indent="0" algn="just">
              <a:buNone/>
            </a:pPr>
            <a:r>
              <a:rPr lang="en-US" dirty="0"/>
              <a:t>In this XQuery example:</a:t>
            </a:r>
          </a:p>
          <a:p>
            <a:pPr algn="just"/>
            <a:endParaRPr lang="en-US" dirty="0"/>
          </a:p>
          <a:p>
            <a:pPr algn="just"/>
            <a:r>
              <a:rPr lang="en-US" dirty="0"/>
              <a:t>The doc("employees.xml") function is used to load the XML document from a file named "employees.xml". Adjust the filename and path as per your XML file's location.</a:t>
            </a:r>
          </a:p>
          <a:p>
            <a:pPr algn="just"/>
            <a:r>
              <a:rPr lang="en-US" dirty="0"/>
              <a:t>The for loop iterates over each employee element in the XML document.</a:t>
            </a:r>
          </a:p>
          <a:p>
            <a:pPr algn="just"/>
            <a:r>
              <a:rPr lang="en-US" dirty="0"/>
              <a:t>The where clause filters the employees based on the condition $employee/salary &gt; 55000, selecting only those with a salary greater than $55000.</a:t>
            </a:r>
          </a:p>
          <a:p>
            <a:pPr algn="just"/>
            <a:r>
              <a:rPr lang="en-US" dirty="0"/>
              <a:t>The return statement concatenates the employee's name, a colon, and their salary using the concat() function.</a:t>
            </a:r>
          </a:p>
          <a:p>
            <a:pPr algn="just"/>
            <a:r>
              <a:rPr lang="en-US" dirty="0"/>
              <a:t>The result of the XQuery query would be a sequence of strings displaying the names and salaries of the selected employees.</a:t>
            </a:r>
          </a:p>
        </p:txBody>
      </p:sp>
    </p:spTree>
    <p:extLst>
      <p:ext uri="{BB962C8B-B14F-4D97-AF65-F5344CB8AC3E}">
        <p14:creationId xmlns:p14="http://schemas.microsoft.com/office/powerpoint/2010/main" val="8938187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What is Xpath, XSLT and Xquery? Give proper example of each one.</a:t>
            </a:r>
          </a:p>
          <a:p>
            <a:pPr marL="0" indent="0">
              <a:buNone/>
            </a:pPr>
            <a:endParaRPr lang="en-US" dirty="0"/>
          </a:p>
        </p:txBody>
      </p:sp>
    </p:spTree>
    <p:extLst>
      <p:ext uri="{BB962C8B-B14F-4D97-AF65-F5344CB8AC3E}">
        <p14:creationId xmlns:p14="http://schemas.microsoft.com/office/powerpoint/2010/main" val="1243178729"/>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1170</TotalTime>
  <Words>5493</Words>
  <Application>Microsoft Office PowerPoint</Application>
  <PresentationFormat>Widescreen</PresentationFormat>
  <Paragraphs>520</Paragraphs>
  <Slides>72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Arial</vt:lpstr>
      <vt:lpstr>Calibri</vt:lpstr>
      <vt:lpstr>Calibri Light</vt:lpstr>
      <vt:lpstr>Verdana</vt:lpstr>
      <vt:lpstr>Custom Design</vt:lpstr>
      <vt:lpstr>Unit 5  AJAX &amp; Extensible Markup Language</vt:lpstr>
      <vt:lpstr>AJAX</vt:lpstr>
      <vt:lpstr>Working of AJAX</vt:lpstr>
      <vt:lpstr>Advantage of AJAX</vt:lpstr>
      <vt:lpstr>Disadvantage of AJAX</vt:lpstr>
      <vt:lpstr>XMLHttpRequest Object</vt:lpstr>
      <vt:lpstr>XMLHttpRequest Object</vt:lpstr>
      <vt:lpstr>XML (Extensible Markup Language)</vt:lpstr>
      <vt:lpstr>Applications/Use of XML</vt:lpstr>
      <vt:lpstr>Applications/Use of XML</vt:lpstr>
      <vt:lpstr>Example</vt:lpstr>
      <vt:lpstr>Syntax rules for XML documents</vt:lpstr>
      <vt:lpstr>Syntax rules for XML documents</vt:lpstr>
      <vt:lpstr>Syntax rules for XML documents</vt:lpstr>
      <vt:lpstr>Syntax rules for XML documents</vt:lpstr>
      <vt:lpstr>Syntax rules for XML documents</vt:lpstr>
      <vt:lpstr>XML Element and Attribute</vt:lpstr>
      <vt:lpstr>XML Attribute</vt:lpstr>
      <vt:lpstr>XML Tree</vt:lpstr>
      <vt:lpstr>XML Tree</vt:lpstr>
      <vt:lpstr>Assignments</vt:lpstr>
      <vt:lpstr>XML Namespace</vt:lpstr>
      <vt:lpstr>XML Namespaces - The xmlns Attribute</vt:lpstr>
      <vt:lpstr>XML Namespaces-Example</vt:lpstr>
      <vt:lpstr>XML Namespaces-Example</vt:lpstr>
      <vt:lpstr>Example</vt:lpstr>
      <vt:lpstr>Assignment</vt:lpstr>
      <vt:lpstr>DTD</vt:lpstr>
      <vt:lpstr>Document Type Definition</vt:lpstr>
      <vt:lpstr>Internal DTD</vt:lpstr>
      <vt:lpstr>External DTD Example</vt:lpstr>
      <vt:lpstr>DTD example Explanation </vt:lpstr>
      <vt:lpstr>Assignments</vt:lpstr>
      <vt:lpstr>DTD Elements</vt:lpstr>
      <vt:lpstr>DTD Elements</vt:lpstr>
      <vt:lpstr>DTD Elements</vt:lpstr>
      <vt:lpstr>DTD Elements</vt:lpstr>
      <vt:lpstr>DTD Element operators</vt:lpstr>
      <vt:lpstr>DTD Elements Operators</vt:lpstr>
      <vt:lpstr>DTD attributes</vt:lpstr>
      <vt:lpstr>DTD attributes</vt:lpstr>
      <vt:lpstr>DTD attributes</vt:lpstr>
      <vt:lpstr>Assignment</vt:lpstr>
      <vt:lpstr>DTD assignment </vt:lpstr>
      <vt:lpstr>Assignment</vt:lpstr>
      <vt:lpstr>XML Schema or XML Schema Definition (XSD)</vt:lpstr>
      <vt:lpstr>XSD Definition Types</vt:lpstr>
      <vt:lpstr>XSD Example</vt:lpstr>
      <vt:lpstr>XSD Example</vt:lpstr>
      <vt:lpstr>XSD Attributes</vt:lpstr>
      <vt:lpstr>Example</vt:lpstr>
      <vt:lpstr>XSD Attributes</vt:lpstr>
      <vt:lpstr>XSD Restrictions/Facets</vt:lpstr>
      <vt:lpstr>XSD Restrictions/Facets</vt:lpstr>
      <vt:lpstr>Restrictions on a Series of Values </vt:lpstr>
      <vt:lpstr>Restrictions on a Series of Values </vt:lpstr>
      <vt:lpstr>Restrictions on a Series of Values </vt:lpstr>
      <vt:lpstr>Complex type Element</vt:lpstr>
      <vt:lpstr>Complex type Element</vt:lpstr>
      <vt:lpstr>Question:</vt:lpstr>
      <vt:lpstr>Xpath</vt:lpstr>
      <vt:lpstr>Xpath</vt:lpstr>
      <vt:lpstr>Example</vt:lpstr>
      <vt:lpstr>XSLT (Extensible Stylesheet Language Transformations)</vt:lpstr>
      <vt:lpstr>Why do we need XSLT??</vt:lpstr>
      <vt:lpstr>Example</vt:lpstr>
      <vt:lpstr>Example</vt:lpstr>
      <vt:lpstr>Xquery</vt:lpstr>
      <vt:lpstr>Example </vt:lpstr>
      <vt:lpstr>Example</vt:lpstr>
      <vt:lpstr>Explanation</vt:lpstr>
      <vt:lpstr>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Extensible Markup Language</dc:title>
  <dc:creator>Hp</dc:creator>
  <cp:lastModifiedBy>Yachu</cp:lastModifiedBy>
  <cp:revision>179</cp:revision>
  <dcterms:created xsi:type="dcterms:W3CDTF">2023-07-16T00:11:10Z</dcterms:created>
  <dcterms:modified xsi:type="dcterms:W3CDTF">2026-03-17T06:45:20Z</dcterms:modified>
</cp:coreProperties>
</file>