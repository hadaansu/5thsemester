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59"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5" r:id="rId31"/>
    <p:sldId id="286" r:id="rId32"/>
    <p:sldId id="290" r:id="rId33"/>
    <p:sldId id="291" r:id="rId34"/>
    <p:sldId id="292" r:id="rId35"/>
    <p:sldId id="293" r:id="rId36"/>
    <p:sldId id="294" r:id="rId37"/>
    <p:sldId id="295" r:id="rId38"/>
    <p:sldId id="296" r:id="rId39"/>
    <p:sldId id="287" r:id="rId40"/>
    <p:sldId id="288" r:id="rId41"/>
    <p:sldId id="289" r:id="rId42"/>
    <p:sldId id="298" r:id="rId43"/>
    <p:sldId id="297"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6" r:id="rId61"/>
    <p:sldId id="317" r:id="rId62"/>
    <p:sldId id="318" r:id="rId63"/>
    <p:sldId id="319" r:id="rId64"/>
    <p:sldId id="315" r:id="rId65"/>
    <p:sldId id="320" r:id="rId66"/>
    <p:sldId id="321" r:id="rId67"/>
    <p:sldId id="322" r:id="rId68"/>
    <p:sldId id="323" r:id="rId69"/>
    <p:sldId id="324" r:id="rId70"/>
    <p:sldId id="325" r:id="rId71"/>
    <p:sldId id="326"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77"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2D2C387-E78A-41FA-99EE-6E41D14FA85F}"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122922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D2C387-E78A-41FA-99EE-6E41D14FA85F}"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3882392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D2C387-E78A-41FA-99EE-6E41D14FA85F}"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399861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D2C387-E78A-41FA-99EE-6E41D14FA85F}"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1398460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2D2C387-E78A-41FA-99EE-6E41D14FA85F}" type="datetimeFigureOut">
              <a:rPr lang="en-US" smtClean="0"/>
              <a:t>12/15/2024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101942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2D2C387-E78A-41FA-99EE-6E41D14FA85F}" type="datetimeFigureOut">
              <a:rPr lang="en-US" smtClean="0"/>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2417971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D2C387-E78A-41FA-99EE-6E41D14FA85F}" type="datetimeFigureOut">
              <a:rPr lang="en-US" smtClean="0"/>
              <a:t>12/15/2024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2604540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D2C387-E78A-41FA-99EE-6E41D14FA85F}"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3762049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D2C387-E78A-41FA-99EE-6E41D14FA85F}"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415529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D2C387-E78A-41FA-99EE-6E41D14FA85F}"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3131547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D2C387-E78A-41FA-99EE-6E41D14FA85F}"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E9BF69-190F-400C-B390-5ACB4353B99F}" type="slidenum">
              <a:rPr lang="en-US" smtClean="0"/>
              <a:t>‹#›</a:t>
            </a:fld>
            <a:endParaRPr lang="en-US"/>
          </a:p>
        </p:txBody>
      </p:sp>
    </p:spTree>
    <p:extLst>
      <p:ext uri="{BB962C8B-B14F-4D97-AF65-F5344CB8AC3E}">
        <p14:creationId xmlns:p14="http://schemas.microsoft.com/office/powerpoint/2010/main" val="435953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2C387-E78A-41FA-99EE-6E41D14FA85F}" type="datetimeFigureOut">
              <a:rPr lang="en-US" smtClean="0"/>
              <a:t>12/15/2024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E9BF69-190F-400C-B390-5ACB4353B99F}" type="slidenum">
              <a:rPr lang="en-US" smtClean="0"/>
              <a:t>‹#›</a:t>
            </a:fld>
            <a:endParaRPr lang="en-US"/>
          </a:p>
        </p:txBody>
      </p:sp>
    </p:spTree>
    <p:extLst>
      <p:ext uri="{BB962C8B-B14F-4D97-AF65-F5344CB8AC3E}">
        <p14:creationId xmlns:p14="http://schemas.microsoft.com/office/powerpoint/2010/main" val="3859880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allpaperflare.com/coffee-beige-minimalism-studio-shot-gold-colored-copy-space-wallpaper-ccqpi"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6000" b="-6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24758"/>
            <a:ext cx="9144000" cy="2387600"/>
          </a:xfr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txBody>
          <a:bodyPr>
            <a:normAutofit/>
          </a:bodyPr>
          <a:lstStyle/>
          <a:p>
            <a:r>
              <a:rPr lang="en-US" b="1" dirty="0">
                <a:solidFill>
                  <a:schemeClr val="bg2"/>
                </a:solidFill>
              </a:rPr>
              <a:t>UNIT 2</a:t>
            </a:r>
            <a:br>
              <a:rPr lang="en-US" b="1" dirty="0"/>
            </a:br>
            <a:r>
              <a:rPr lang="en-US" b="1" dirty="0">
                <a:solidFill>
                  <a:schemeClr val="bg2"/>
                </a:solidFill>
              </a:rPr>
              <a:t>Hyper Text Markup Language</a:t>
            </a:r>
          </a:p>
        </p:txBody>
      </p:sp>
      <p:sp>
        <p:nvSpPr>
          <p:cNvPr id="3" name="Subtitle 2"/>
          <p:cNvSpPr>
            <a:spLocks noGrp="1"/>
          </p:cNvSpPr>
          <p:nvPr>
            <p:ph type="subTitle" idx="1"/>
          </p:nvPr>
        </p:nvSpPr>
        <p:spPr>
          <a:xfrm>
            <a:off x="1967060" y="5139442"/>
            <a:ext cx="9144000" cy="1655762"/>
          </a:xfrm>
        </p:spPr>
        <p:txBody>
          <a:bodyPr/>
          <a:lstStyle/>
          <a:p>
            <a:pPr algn="r"/>
            <a:r>
              <a:rPr lang="en-US" dirty="0"/>
              <a:t>Prepared by:</a:t>
            </a:r>
          </a:p>
          <a:p>
            <a:pPr algn="r"/>
            <a:r>
              <a:rPr lang="en-US" dirty="0"/>
              <a:t>Yachu Shakya</a:t>
            </a:r>
          </a:p>
        </p:txBody>
      </p:sp>
    </p:spTree>
    <p:extLst>
      <p:ext uri="{BB962C8B-B14F-4D97-AF65-F5344CB8AC3E}">
        <p14:creationId xmlns:p14="http://schemas.microsoft.com/office/powerpoint/2010/main" val="2776137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HTML</a:t>
            </a:r>
          </a:p>
        </p:txBody>
      </p:sp>
      <p:sp>
        <p:nvSpPr>
          <p:cNvPr id="3" name="Content Placeholder 2"/>
          <p:cNvSpPr>
            <a:spLocks noGrp="1"/>
          </p:cNvSpPr>
          <p:nvPr>
            <p:ph idx="1"/>
          </p:nvPr>
        </p:nvSpPr>
        <p:spPr/>
        <p:txBody>
          <a:bodyPr/>
          <a:lstStyle/>
          <a:p>
            <a:r>
              <a:rPr lang="en-US" dirty="0"/>
              <a:t>HTML stands for Hyper Text Markup Language</a:t>
            </a:r>
          </a:p>
          <a:p>
            <a:r>
              <a:rPr lang="en-US" dirty="0"/>
              <a:t>HTML is the standard markup language for creating Web pages</a:t>
            </a:r>
          </a:p>
          <a:p>
            <a:r>
              <a:rPr lang="en-US" dirty="0"/>
              <a:t>HTML describes the structure of a Web page</a:t>
            </a:r>
          </a:p>
          <a:p>
            <a:r>
              <a:rPr lang="en-US" dirty="0"/>
              <a:t>HTML consists of a series of elements</a:t>
            </a:r>
          </a:p>
          <a:p>
            <a:r>
              <a:rPr lang="en-US" dirty="0"/>
              <a:t>HTML elements tell the browser how to display the content</a:t>
            </a:r>
          </a:p>
        </p:txBody>
      </p:sp>
    </p:spTree>
    <p:extLst>
      <p:ext uri="{BB962C8B-B14F-4D97-AF65-F5344CB8AC3E}">
        <p14:creationId xmlns:p14="http://schemas.microsoft.com/office/powerpoint/2010/main" val="1274998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of HTML</a:t>
            </a:r>
          </a:p>
        </p:txBody>
      </p:sp>
      <p:pic>
        <p:nvPicPr>
          <p:cNvPr id="4" name="Content Placeholder 3"/>
          <p:cNvPicPr>
            <a:picLocks noGrp="1" noChangeAspect="1"/>
          </p:cNvPicPr>
          <p:nvPr>
            <p:ph idx="1"/>
          </p:nvPr>
        </p:nvPicPr>
        <p:blipFill>
          <a:blip r:embed="rId2"/>
          <a:stretch>
            <a:fillRect/>
          </a:stretch>
        </p:blipFill>
        <p:spPr>
          <a:xfrm>
            <a:off x="3891299" y="1690688"/>
            <a:ext cx="5381756" cy="4870368"/>
          </a:xfrm>
          <a:prstGeom prst="rect">
            <a:avLst/>
          </a:prstGeom>
        </p:spPr>
      </p:pic>
    </p:spTree>
    <p:extLst>
      <p:ext uri="{BB962C8B-B14F-4D97-AF65-F5344CB8AC3E}">
        <p14:creationId xmlns:p14="http://schemas.microsoft.com/office/powerpoint/2010/main" val="34600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Element and Attributes of HTML</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HTML (Hypertext Markup Language) is a markup language used to create web pages. HTML documents consist of two main parts: elements and attributes.</a:t>
            </a:r>
          </a:p>
          <a:p>
            <a:pPr algn="just"/>
            <a:r>
              <a:rPr lang="en-US" b="1" dirty="0"/>
              <a:t>Elements: </a:t>
            </a:r>
            <a:r>
              <a:rPr lang="en-US" dirty="0"/>
              <a:t>HTML elements are the building blocks of an HTML document. An HTML element is defined by a starting tag, content, and an ending tag. The starting tag consists of the opening angle bracket (&lt;), followed by the name of the element, and a closing angle bracket (&gt;). The content of the element is placed between the starting and ending tags. The ending tag consists of the opening angle bracket, followed by a forward slash (/), the name of the element, and a closing angle bracket. For example, the following code creates a paragraph element:</a:t>
            </a:r>
          </a:p>
          <a:p>
            <a:r>
              <a:rPr lang="en-US" dirty="0"/>
              <a:t>&lt;</a:t>
            </a:r>
            <a:r>
              <a:rPr lang="en-US" dirty="0" err="1"/>
              <a:t>tagname</a:t>
            </a:r>
            <a:r>
              <a:rPr lang="en-US" dirty="0"/>
              <a:t>&gt;Content goes here...&lt;/</a:t>
            </a:r>
            <a:r>
              <a:rPr lang="en-US" dirty="0" err="1"/>
              <a:t>tagname</a:t>
            </a:r>
            <a:r>
              <a:rPr lang="en-US" dirty="0"/>
              <a:t>&gt;</a:t>
            </a:r>
          </a:p>
          <a:p>
            <a:r>
              <a:rPr lang="en-US" dirty="0"/>
              <a:t>Examples of some HTML elements:</a:t>
            </a:r>
          </a:p>
          <a:p>
            <a:r>
              <a:rPr lang="en-US" dirty="0"/>
              <a:t>&lt;h1&gt;My First Heading&lt;/h1&gt;</a:t>
            </a:r>
          </a:p>
          <a:p>
            <a:r>
              <a:rPr lang="en-US" dirty="0"/>
              <a:t>&lt;p&gt;My first paragraph.&lt;/p&gt;</a:t>
            </a:r>
          </a:p>
        </p:txBody>
      </p:sp>
    </p:spTree>
    <p:extLst>
      <p:ext uri="{BB962C8B-B14F-4D97-AF65-F5344CB8AC3E}">
        <p14:creationId xmlns:p14="http://schemas.microsoft.com/office/powerpoint/2010/main" val="283473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Element and Attributes of HTML</a:t>
            </a:r>
          </a:p>
        </p:txBody>
      </p:sp>
      <p:sp>
        <p:nvSpPr>
          <p:cNvPr id="3" name="Content Placeholder 2"/>
          <p:cNvSpPr>
            <a:spLocks noGrp="1"/>
          </p:cNvSpPr>
          <p:nvPr>
            <p:ph idx="1"/>
          </p:nvPr>
        </p:nvSpPr>
        <p:spPr/>
        <p:txBody>
          <a:bodyPr/>
          <a:lstStyle/>
          <a:p>
            <a:pPr algn="just"/>
            <a:r>
              <a:rPr lang="en-US" dirty="0"/>
              <a:t>Attributes: HTML attributes provide additional information about an HTML element. Attributes are used to define the characteristics of an element and are placed inside the starting tag of an element. An attribute consists of a name and a value, separated by an equal sign (=) and enclosed in double quotes (""). For example, the following code sets the width and height attributes of an image element:</a:t>
            </a:r>
          </a:p>
          <a:p>
            <a:pPr algn="just"/>
            <a:r>
              <a:rPr lang="en-US" dirty="0" err="1"/>
              <a:t>Eg</a:t>
            </a:r>
            <a:r>
              <a:rPr lang="en-US" dirty="0"/>
              <a:t>: </a:t>
            </a:r>
            <a:r>
              <a:rPr lang="en-US" b="1" dirty="0"/>
              <a:t>&lt;</a:t>
            </a:r>
            <a:r>
              <a:rPr lang="en-US" b="1" dirty="0" err="1"/>
              <a:t>img</a:t>
            </a:r>
            <a:r>
              <a:rPr lang="en-US" b="1" dirty="0"/>
              <a:t> </a:t>
            </a:r>
            <a:r>
              <a:rPr lang="en-US" b="1" dirty="0" err="1"/>
              <a:t>src</a:t>
            </a:r>
            <a:r>
              <a:rPr lang="en-US" b="1" dirty="0"/>
              <a:t>="image.jpg" width="500" height="500"&gt;</a:t>
            </a:r>
          </a:p>
        </p:txBody>
      </p:sp>
    </p:spTree>
    <p:extLst>
      <p:ext uri="{BB962C8B-B14F-4D97-AF65-F5344CB8AC3E}">
        <p14:creationId xmlns:p14="http://schemas.microsoft.com/office/powerpoint/2010/main" val="2803010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1</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&lt;!DOCTYPE html&gt;</a:t>
            </a:r>
            <a:br>
              <a:rPr lang="en-US" dirty="0"/>
            </a:br>
            <a:r>
              <a:rPr lang="en-US" dirty="0"/>
              <a:t>&lt;html&gt;</a:t>
            </a:r>
            <a:br>
              <a:rPr lang="en-US" dirty="0"/>
            </a:br>
            <a:r>
              <a:rPr lang="en-US" dirty="0"/>
              <a:t>&lt;head&gt;</a:t>
            </a:r>
            <a:br>
              <a:rPr lang="en-US" dirty="0"/>
            </a:br>
            <a:r>
              <a:rPr lang="en-US" dirty="0"/>
              <a:t>&lt;title&gt;Page Title&lt;/title&gt;</a:t>
            </a:r>
            <a:br>
              <a:rPr lang="en-US" dirty="0"/>
            </a:br>
            <a:r>
              <a:rPr lang="en-US" dirty="0"/>
              <a:t>&lt;/head&gt;</a:t>
            </a:r>
            <a:br>
              <a:rPr lang="en-US" dirty="0"/>
            </a:br>
            <a:r>
              <a:rPr lang="en-US" dirty="0"/>
              <a:t>&lt;body&gt;</a:t>
            </a:r>
            <a:br>
              <a:rPr lang="en-US" dirty="0"/>
            </a:br>
            <a:br>
              <a:rPr lang="en-US" dirty="0"/>
            </a:br>
            <a:r>
              <a:rPr lang="en-US" dirty="0"/>
              <a:t>&lt;h1&gt;My First Heading&lt;/h1&gt;</a:t>
            </a:r>
            <a:br>
              <a:rPr lang="en-US" dirty="0"/>
            </a:br>
            <a:r>
              <a:rPr lang="en-US" dirty="0"/>
              <a:t>&lt;p&gt;My first paragraph.&lt;/p&gt;</a:t>
            </a:r>
            <a:br>
              <a:rPr lang="en-US" dirty="0"/>
            </a:br>
            <a:br>
              <a:rPr lang="en-US" dirty="0"/>
            </a:br>
            <a:r>
              <a:rPr lang="en-US" dirty="0"/>
              <a:t>&lt;/body&gt;</a:t>
            </a:r>
            <a:br>
              <a:rPr lang="en-US" dirty="0"/>
            </a:br>
            <a:r>
              <a:rPr lang="en-US" dirty="0"/>
              <a:t>&lt;/html&gt;</a:t>
            </a:r>
          </a:p>
        </p:txBody>
      </p:sp>
      <p:sp>
        <p:nvSpPr>
          <p:cNvPr id="5" name="TextBox 4"/>
          <p:cNvSpPr txBox="1"/>
          <p:nvPr/>
        </p:nvSpPr>
        <p:spPr>
          <a:xfrm>
            <a:off x="7814822" y="1912823"/>
            <a:ext cx="1517716" cy="523220"/>
          </a:xfrm>
          <a:prstGeom prst="rect">
            <a:avLst/>
          </a:prstGeom>
          <a:noFill/>
        </p:spPr>
        <p:txBody>
          <a:bodyPr wrap="square" rtlCol="0">
            <a:spAutoFit/>
          </a:bodyPr>
          <a:lstStyle/>
          <a:p>
            <a:r>
              <a:rPr lang="en-US" sz="2800" b="1" u="sng" dirty="0"/>
              <a:t>Output</a:t>
            </a:r>
          </a:p>
        </p:txBody>
      </p:sp>
      <p:pic>
        <p:nvPicPr>
          <p:cNvPr id="6" name="Picture 5"/>
          <p:cNvPicPr>
            <a:picLocks noChangeAspect="1"/>
          </p:cNvPicPr>
          <p:nvPr/>
        </p:nvPicPr>
        <p:blipFill>
          <a:blip r:embed="rId2"/>
          <a:stretch>
            <a:fillRect/>
          </a:stretch>
        </p:blipFill>
        <p:spPr>
          <a:xfrm>
            <a:off x="7098385" y="2663999"/>
            <a:ext cx="3318234" cy="2800556"/>
          </a:xfrm>
          <a:prstGeom prst="rect">
            <a:avLst/>
          </a:prstGeom>
        </p:spPr>
      </p:pic>
    </p:spTree>
    <p:extLst>
      <p:ext uri="{BB962C8B-B14F-4D97-AF65-F5344CB8AC3E}">
        <p14:creationId xmlns:p14="http://schemas.microsoft.com/office/powerpoint/2010/main" val="225104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Headings</a:t>
            </a:r>
          </a:p>
        </p:txBody>
      </p:sp>
      <p:sp>
        <p:nvSpPr>
          <p:cNvPr id="3" name="Content Placeholder 2"/>
          <p:cNvSpPr>
            <a:spLocks noGrp="1"/>
          </p:cNvSpPr>
          <p:nvPr>
            <p:ph idx="1"/>
          </p:nvPr>
        </p:nvSpPr>
        <p:spPr/>
        <p:txBody>
          <a:bodyPr/>
          <a:lstStyle/>
          <a:p>
            <a:pPr algn="just"/>
            <a:r>
              <a:rPr lang="en-US" dirty="0"/>
              <a:t>HTML headings are defined with the &lt;h1&gt; to &lt;h6&gt; tags.</a:t>
            </a:r>
          </a:p>
          <a:p>
            <a:pPr algn="just"/>
            <a:r>
              <a:rPr lang="en-US" dirty="0"/>
              <a:t>&lt;h1&gt; defines the most important heading. &lt;h6&gt; defines the least important heading.</a:t>
            </a:r>
          </a:p>
          <a:p>
            <a:pPr marL="0" indent="0">
              <a:buNone/>
            </a:pPr>
            <a:r>
              <a:rPr lang="en-US" dirty="0"/>
              <a:t>Example: </a:t>
            </a:r>
          </a:p>
          <a:p>
            <a:pPr marL="0" indent="0">
              <a:buNone/>
            </a:pPr>
            <a:r>
              <a:rPr lang="en-US" dirty="0"/>
              <a:t>&lt;h1&gt;Heading 1&lt;/h1&gt;   	</a:t>
            </a:r>
            <a:br>
              <a:rPr lang="en-US" dirty="0"/>
            </a:br>
            <a:r>
              <a:rPr lang="en-US" dirty="0"/>
              <a:t>&lt;h2&gt;Heading 2&lt;/h2&gt;</a:t>
            </a:r>
            <a:br>
              <a:rPr lang="en-US" dirty="0"/>
            </a:br>
            <a:r>
              <a:rPr lang="en-US" dirty="0"/>
              <a:t>&lt;h3&gt;Heading 3&lt;/h3&gt;</a:t>
            </a:r>
            <a:br>
              <a:rPr lang="en-US" dirty="0"/>
            </a:br>
            <a:r>
              <a:rPr lang="en-US" dirty="0"/>
              <a:t>&lt;h4&gt;Heading 4&lt;/h4&gt;</a:t>
            </a:r>
            <a:br>
              <a:rPr lang="en-US" dirty="0"/>
            </a:br>
            <a:r>
              <a:rPr lang="en-US" dirty="0"/>
              <a:t>&lt;h5&gt;Heading 5&lt;/h5&gt;</a:t>
            </a:r>
            <a:br>
              <a:rPr lang="en-US" dirty="0"/>
            </a:br>
            <a:r>
              <a:rPr lang="en-US" dirty="0"/>
              <a:t>&lt;h6&gt;Heading 6&lt;/h6&gt;</a:t>
            </a:r>
          </a:p>
          <a:p>
            <a:endParaRPr lang="en-US" dirty="0"/>
          </a:p>
        </p:txBody>
      </p:sp>
    </p:spTree>
    <p:extLst>
      <p:ext uri="{BB962C8B-B14F-4D97-AF65-F5344CB8AC3E}">
        <p14:creationId xmlns:p14="http://schemas.microsoft.com/office/powerpoint/2010/main" val="85675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2</a:t>
            </a:r>
          </a:p>
        </p:txBody>
      </p:sp>
      <p:sp>
        <p:nvSpPr>
          <p:cNvPr id="3" name="Content Placeholder 2"/>
          <p:cNvSpPr>
            <a:spLocks noGrp="1"/>
          </p:cNvSpPr>
          <p:nvPr>
            <p:ph idx="1"/>
          </p:nvPr>
        </p:nvSpPr>
        <p:spPr/>
        <p:txBody>
          <a:bodyPr>
            <a:normAutofit fontScale="62500" lnSpcReduction="20000"/>
          </a:bodyPr>
          <a:lstStyle/>
          <a:p>
            <a:pPr marL="0" indent="0">
              <a:buNone/>
            </a:pPr>
            <a:r>
              <a:rPr lang="en-US" dirty="0"/>
              <a:t>&lt;html&gt;</a:t>
            </a:r>
          </a:p>
          <a:p>
            <a:pPr marL="0" indent="0">
              <a:buNone/>
            </a:pPr>
            <a:r>
              <a:rPr lang="en-US" dirty="0"/>
              <a:t>	&lt;head&gt;</a:t>
            </a:r>
          </a:p>
          <a:p>
            <a:pPr marL="0" indent="0">
              <a:buNone/>
            </a:pPr>
            <a:r>
              <a:rPr lang="en-US" dirty="0"/>
              <a:t>		&lt;title&gt; Heading Tags &lt;/title&gt;</a:t>
            </a:r>
          </a:p>
          <a:p>
            <a:pPr marL="0" indent="0">
              <a:buNone/>
            </a:pPr>
            <a:r>
              <a:rPr lang="en-US" dirty="0"/>
              <a:t>	&lt;/head&gt;</a:t>
            </a:r>
          </a:p>
          <a:p>
            <a:pPr marL="0" indent="0">
              <a:buNone/>
            </a:pPr>
            <a:r>
              <a:rPr lang="en-US" dirty="0"/>
              <a:t>&lt;body </a:t>
            </a:r>
            <a:r>
              <a:rPr lang="en-US" dirty="0" err="1"/>
              <a:t>bgcolor</a:t>
            </a:r>
            <a:r>
              <a:rPr lang="en-US" dirty="0"/>
              <a:t>="#</a:t>
            </a:r>
            <a:r>
              <a:rPr lang="en-US" dirty="0" err="1"/>
              <a:t>ccffcc</a:t>
            </a:r>
            <a:r>
              <a:rPr lang="en-US" dirty="0"/>
              <a:t>" text="red"&gt;</a:t>
            </a:r>
          </a:p>
          <a:p>
            <a:pPr marL="0" indent="0">
              <a:buNone/>
            </a:pPr>
            <a:r>
              <a:rPr lang="en-US" dirty="0"/>
              <a:t>&lt;h1&gt;Heading Level 1&lt;/h1&gt;</a:t>
            </a:r>
          </a:p>
          <a:p>
            <a:pPr marL="0" indent="0">
              <a:buNone/>
            </a:pPr>
            <a:r>
              <a:rPr lang="en-US" dirty="0"/>
              <a:t>&lt;h2&gt;Heading Level 2&lt;/h2&gt;</a:t>
            </a:r>
          </a:p>
          <a:p>
            <a:pPr marL="0" indent="0">
              <a:buNone/>
            </a:pPr>
            <a:r>
              <a:rPr lang="en-US" dirty="0"/>
              <a:t>&lt;h3&gt;Heading Level 3&lt;/h3&gt;</a:t>
            </a:r>
          </a:p>
          <a:p>
            <a:pPr marL="0" indent="0">
              <a:buNone/>
            </a:pPr>
            <a:r>
              <a:rPr lang="en-US" dirty="0"/>
              <a:t>&lt;h4&gt;Heading Level 4&lt;/h4&gt;</a:t>
            </a:r>
          </a:p>
          <a:p>
            <a:pPr marL="0" indent="0">
              <a:buNone/>
            </a:pPr>
            <a:r>
              <a:rPr lang="en-US" dirty="0"/>
              <a:t>&lt;h5&gt;Heading Level 5&lt;/h5&gt;</a:t>
            </a:r>
          </a:p>
          <a:p>
            <a:pPr marL="0" indent="0">
              <a:buNone/>
            </a:pPr>
            <a:r>
              <a:rPr lang="en-US" dirty="0"/>
              <a:t>&lt;h6&gt;Heading Level 6&lt;/h6&gt;</a:t>
            </a:r>
          </a:p>
          <a:p>
            <a:pPr marL="0" indent="0">
              <a:buNone/>
            </a:pPr>
            <a:r>
              <a:rPr lang="en-US" dirty="0"/>
              <a:t>&lt;/body&gt;</a:t>
            </a:r>
          </a:p>
          <a:p>
            <a:pPr marL="0" indent="0">
              <a:buNone/>
            </a:pPr>
            <a:r>
              <a:rPr lang="en-US" dirty="0"/>
              <a:t>&lt;/html&gt;</a:t>
            </a:r>
          </a:p>
        </p:txBody>
      </p:sp>
      <p:pic>
        <p:nvPicPr>
          <p:cNvPr id="4" name="Picture 3"/>
          <p:cNvPicPr>
            <a:picLocks noChangeAspect="1"/>
          </p:cNvPicPr>
          <p:nvPr/>
        </p:nvPicPr>
        <p:blipFill>
          <a:blip r:embed="rId2"/>
          <a:stretch>
            <a:fillRect/>
          </a:stretch>
        </p:blipFill>
        <p:spPr>
          <a:xfrm>
            <a:off x="6858751" y="2348845"/>
            <a:ext cx="3774419" cy="3486933"/>
          </a:xfrm>
          <a:prstGeom prst="rect">
            <a:avLst/>
          </a:prstGeom>
        </p:spPr>
      </p:pic>
      <p:sp>
        <p:nvSpPr>
          <p:cNvPr id="5" name="TextBox 4"/>
          <p:cNvSpPr txBox="1"/>
          <p:nvPr/>
        </p:nvSpPr>
        <p:spPr>
          <a:xfrm>
            <a:off x="7795969" y="1690688"/>
            <a:ext cx="1517716" cy="523220"/>
          </a:xfrm>
          <a:prstGeom prst="rect">
            <a:avLst/>
          </a:prstGeom>
          <a:noFill/>
        </p:spPr>
        <p:txBody>
          <a:bodyPr wrap="square" rtlCol="0">
            <a:spAutoFit/>
          </a:bodyPr>
          <a:lstStyle/>
          <a:p>
            <a:r>
              <a:rPr lang="en-US" sz="2800" b="1" u="sng" dirty="0"/>
              <a:t>Output</a:t>
            </a:r>
          </a:p>
        </p:txBody>
      </p:sp>
    </p:spTree>
    <p:extLst>
      <p:ext uri="{BB962C8B-B14F-4D97-AF65-F5344CB8AC3E}">
        <p14:creationId xmlns:p14="http://schemas.microsoft.com/office/powerpoint/2010/main" val="94244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Paragraphs</a:t>
            </a:r>
          </a:p>
        </p:txBody>
      </p:sp>
      <p:sp>
        <p:nvSpPr>
          <p:cNvPr id="3" name="Content Placeholder 2"/>
          <p:cNvSpPr>
            <a:spLocks noGrp="1"/>
          </p:cNvSpPr>
          <p:nvPr>
            <p:ph idx="1"/>
          </p:nvPr>
        </p:nvSpPr>
        <p:spPr/>
        <p:txBody>
          <a:bodyPr/>
          <a:lstStyle/>
          <a:p>
            <a:r>
              <a:rPr lang="en-US" dirty="0"/>
              <a:t>The HTML &lt;p&gt; element defines a paragraph.</a:t>
            </a:r>
          </a:p>
          <a:p>
            <a:r>
              <a:rPr lang="en-US" dirty="0"/>
              <a:t>A paragraph always starts on a new line, and browsers automatically add some white space (a margin) before and after a paragraph.</a:t>
            </a:r>
          </a:p>
          <a:p>
            <a:pPr marL="0" indent="0">
              <a:buNone/>
            </a:pPr>
            <a:r>
              <a:rPr lang="en-US" dirty="0"/>
              <a:t>&lt;p&gt;This is a paragraph.&lt;/p&gt;</a:t>
            </a:r>
            <a:br>
              <a:rPr lang="en-US" dirty="0"/>
            </a:br>
            <a:r>
              <a:rPr lang="en-US" dirty="0"/>
              <a:t>&lt;p&gt;This is another paragraph.&lt;/p&gt; </a:t>
            </a:r>
          </a:p>
          <a:p>
            <a:pPr marL="0" indent="0">
              <a:buNone/>
            </a:pPr>
            <a:endParaRPr lang="en-US" dirty="0"/>
          </a:p>
        </p:txBody>
      </p:sp>
      <p:pic>
        <p:nvPicPr>
          <p:cNvPr id="5" name="Picture 4"/>
          <p:cNvPicPr>
            <a:picLocks noChangeAspect="1"/>
          </p:cNvPicPr>
          <p:nvPr/>
        </p:nvPicPr>
        <p:blipFill>
          <a:blip r:embed="rId2"/>
          <a:stretch>
            <a:fillRect/>
          </a:stretch>
        </p:blipFill>
        <p:spPr>
          <a:xfrm>
            <a:off x="3708276" y="4191598"/>
            <a:ext cx="5248289" cy="2275189"/>
          </a:xfrm>
          <a:prstGeom prst="rect">
            <a:avLst/>
          </a:prstGeom>
        </p:spPr>
      </p:pic>
    </p:spTree>
    <p:extLst>
      <p:ext uri="{BB962C8B-B14F-4D97-AF65-F5344CB8AC3E}">
        <p14:creationId xmlns:p14="http://schemas.microsoft.com/office/powerpoint/2010/main" val="3084805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3</a:t>
            </a:r>
          </a:p>
        </p:txBody>
      </p:sp>
      <p:pic>
        <p:nvPicPr>
          <p:cNvPr id="4" name="Content Placeholder 3"/>
          <p:cNvPicPr>
            <a:picLocks noGrp="1" noChangeAspect="1"/>
          </p:cNvPicPr>
          <p:nvPr>
            <p:ph idx="1"/>
          </p:nvPr>
        </p:nvPicPr>
        <p:blipFill>
          <a:blip r:embed="rId2"/>
          <a:stretch>
            <a:fillRect/>
          </a:stretch>
        </p:blipFill>
        <p:spPr>
          <a:xfrm>
            <a:off x="3375717" y="1797318"/>
            <a:ext cx="6503573" cy="4781808"/>
          </a:xfrm>
          <a:prstGeom prst="rect">
            <a:avLst/>
          </a:prstGeom>
        </p:spPr>
      </p:pic>
    </p:spTree>
    <p:extLst>
      <p:ext uri="{BB962C8B-B14F-4D97-AF65-F5344CB8AC3E}">
        <p14:creationId xmlns:p14="http://schemas.microsoft.com/office/powerpoint/2010/main" val="1114063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 </a:t>
            </a:r>
          </a:p>
        </p:txBody>
      </p:sp>
      <p:pic>
        <p:nvPicPr>
          <p:cNvPr id="4" name="Content Placeholder 3"/>
          <p:cNvPicPr>
            <a:picLocks noGrp="1" noChangeAspect="1"/>
          </p:cNvPicPr>
          <p:nvPr>
            <p:ph idx="1"/>
          </p:nvPr>
        </p:nvPicPr>
        <p:blipFill>
          <a:blip r:embed="rId2"/>
          <a:stretch>
            <a:fillRect/>
          </a:stretch>
        </p:blipFill>
        <p:spPr>
          <a:xfrm>
            <a:off x="838200" y="2352786"/>
            <a:ext cx="10515600" cy="2637141"/>
          </a:xfrm>
          <a:prstGeom prst="rect">
            <a:avLst/>
          </a:prstGeom>
        </p:spPr>
      </p:pic>
    </p:spTree>
    <p:extLst>
      <p:ext uri="{BB962C8B-B14F-4D97-AF65-F5344CB8AC3E}">
        <p14:creationId xmlns:p14="http://schemas.microsoft.com/office/powerpoint/2010/main" val="288520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Styles</a:t>
            </a:r>
          </a:p>
        </p:txBody>
      </p:sp>
      <p:sp>
        <p:nvSpPr>
          <p:cNvPr id="3" name="Content Placeholder 2"/>
          <p:cNvSpPr>
            <a:spLocks noGrp="1"/>
          </p:cNvSpPr>
          <p:nvPr>
            <p:ph idx="1"/>
          </p:nvPr>
        </p:nvSpPr>
        <p:spPr/>
        <p:txBody>
          <a:bodyPr/>
          <a:lstStyle/>
          <a:p>
            <a:r>
              <a:rPr lang="en-US" dirty="0"/>
              <a:t>The HTML style attribute is used to add styles to an element, such as color, font, size, and more.</a:t>
            </a:r>
          </a:p>
          <a:p>
            <a:r>
              <a:rPr lang="en-US" dirty="0"/>
              <a:t>Setting the style of an HTML element, can be done with the style attribute.</a:t>
            </a:r>
          </a:p>
          <a:p>
            <a:r>
              <a:rPr lang="en-US" dirty="0"/>
              <a:t>The HTML style attribute has the following syntax:</a:t>
            </a:r>
          </a:p>
          <a:p>
            <a:r>
              <a:rPr lang="en-US" dirty="0"/>
              <a:t>&lt;</a:t>
            </a:r>
            <a:r>
              <a:rPr lang="en-US" i="1" dirty="0" err="1"/>
              <a:t>tagname</a:t>
            </a:r>
            <a:r>
              <a:rPr lang="en-US" dirty="0"/>
              <a:t> style="</a:t>
            </a:r>
            <a:r>
              <a:rPr lang="en-US" i="1" dirty="0" err="1"/>
              <a:t>property</a:t>
            </a:r>
            <a:r>
              <a:rPr lang="en-US" dirty="0" err="1"/>
              <a:t>:</a:t>
            </a:r>
            <a:r>
              <a:rPr lang="en-US" i="1" dirty="0" err="1"/>
              <a:t>value</a:t>
            </a:r>
            <a:r>
              <a:rPr lang="en-US" i="1" dirty="0"/>
              <a:t>;</a:t>
            </a:r>
            <a:r>
              <a:rPr lang="en-US" dirty="0"/>
              <a:t>"&gt;</a:t>
            </a:r>
          </a:p>
          <a:p>
            <a:endParaRPr lang="en-US" dirty="0"/>
          </a:p>
          <a:p>
            <a:endParaRPr lang="en-US" dirty="0"/>
          </a:p>
        </p:txBody>
      </p:sp>
    </p:spTree>
    <p:extLst>
      <p:ext uri="{BB962C8B-B14F-4D97-AF65-F5344CB8AC3E}">
        <p14:creationId xmlns:p14="http://schemas.microsoft.com/office/powerpoint/2010/main" val="579134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a:t>
            </a:r>
          </a:p>
        </p:txBody>
      </p:sp>
      <p:pic>
        <p:nvPicPr>
          <p:cNvPr id="4" name="Content Placeholder 3"/>
          <p:cNvPicPr>
            <a:picLocks noGrp="1" noChangeAspect="1"/>
          </p:cNvPicPr>
          <p:nvPr>
            <p:ph idx="1"/>
          </p:nvPr>
        </p:nvPicPr>
        <p:blipFill>
          <a:blip r:embed="rId2"/>
          <a:stretch>
            <a:fillRect/>
          </a:stretch>
        </p:blipFill>
        <p:spPr>
          <a:xfrm>
            <a:off x="1198872" y="1765916"/>
            <a:ext cx="6832765" cy="1782093"/>
          </a:xfrm>
          <a:prstGeom prst="rect">
            <a:avLst/>
          </a:prstGeom>
        </p:spPr>
      </p:pic>
      <p:sp>
        <p:nvSpPr>
          <p:cNvPr id="5" name="Rectangle 4"/>
          <p:cNvSpPr/>
          <p:nvPr/>
        </p:nvSpPr>
        <p:spPr>
          <a:xfrm>
            <a:off x="5257800" y="3619894"/>
            <a:ext cx="6582266" cy="646331"/>
          </a:xfrm>
          <a:prstGeom prst="rect">
            <a:avLst/>
          </a:prstGeom>
        </p:spPr>
        <p:txBody>
          <a:bodyPr wrap="square">
            <a:spAutoFit/>
          </a:bodyPr>
          <a:lstStyle/>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color:blue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heading</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a:t>
            </a:r>
            <a:r>
              <a:rPr lang="en-US" b="0" i="0" dirty="0" err="1">
                <a:solidFill>
                  <a:srgbClr val="0000CD"/>
                </a:solidFill>
                <a:effectLst/>
                <a:latin typeface="Consolas" panose="020B0609020204030204" pitchFamily="49" charset="0"/>
              </a:rPr>
              <a:t>color:red</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This is a paragraph.</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endParaRPr lang="en-US" dirty="0"/>
          </a:p>
        </p:txBody>
      </p:sp>
      <p:pic>
        <p:nvPicPr>
          <p:cNvPr id="6" name="Picture 5"/>
          <p:cNvPicPr>
            <a:picLocks noChangeAspect="1"/>
          </p:cNvPicPr>
          <p:nvPr/>
        </p:nvPicPr>
        <p:blipFill>
          <a:blip r:embed="rId3"/>
          <a:stretch>
            <a:fillRect/>
          </a:stretch>
        </p:blipFill>
        <p:spPr>
          <a:xfrm>
            <a:off x="1213708" y="4704871"/>
            <a:ext cx="5293935" cy="2063574"/>
          </a:xfrm>
          <a:prstGeom prst="rect">
            <a:avLst/>
          </a:prstGeom>
        </p:spPr>
      </p:pic>
    </p:spTree>
    <p:extLst>
      <p:ext uri="{BB962C8B-B14F-4D97-AF65-F5344CB8AC3E}">
        <p14:creationId xmlns:p14="http://schemas.microsoft.com/office/powerpoint/2010/main" val="4065929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Formatting Elements</a:t>
            </a:r>
          </a:p>
        </p:txBody>
      </p:sp>
      <p:sp>
        <p:nvSpPr>
          <p:cNvPr id="4" name="Rectangle 1"/>
          <p:cNvSpPr>
            <a:spLocks noGrp="1" noChangeArrowheads="1"/>
          </p:cNvSpPr>
          <p:nvPr>
            <p:ph idx="1"/>
          </p:nvPr>
        </p:nvSpPr>
        <p:spPr bwMode="auto">
          <a:xfrm>
            <a:off x="838200" y="1739137"/>
            <a:ext cx="8577926"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rPr>
              <a:t>Formatting elements were designed to display special types of text: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&lt;b&gt;</a:t>
            </a:r>
            <a:r>
              <a:rPr kumimoji="0" lang="en-US" altLang="en-US" sz="2400" b="0" i="0" u="none" strike="noStrike" cap="none" normalizeH="0" baseline="0" dirty="0">
                <a:ln>
                  <a:noFill/>
                </a:ln>
                <a:solidFill>
                  <a:srgbClr val="000000"/>
                </a:solidFill>
                <a:effectLst/>
              </a:rPr>
              <a:t> - Bold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&lt;strong&gt;</a:t>
            </a:r>
            <a:r>
              <a:rPr kumimoji="0" lang="en-US" altLang="en-US" sz="2400" b="0" i="0" u="none" strike="noStrike" cap="none" normalizeH="0" baseline="0" dirty="0">
                <a:ln>
                  <a:noFill/>
                </a:ln>
                <a:solidFill>
                  <a:srgbClr val="000000"/>
                </a:solidFill>
                <a:effectLst/>
              </a:rPr>
              <a:t> - Important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a:t>
            </a:r>
            <a:r>
              <a:rPr kumimoji="0" lang="en-US" altLang="en-US" sz="2400" b="0" i="0" u="none" strike="noStrike" cap="none" normalizeH="0" baseline="0" dirty="0" err="1">
                <a:ln>
                  <a:noFill/>
                </a:ln>
                <a:solidFill>
                  <a:srgbClr val="DC143C"/>
                </a:solidFill>
                <a:effectLst/>
              </a:rPr>
              <a:t>i</a:t>
            </a:r>
            <a:r>
              <a:rPr kumimoji="0" lang="en-US" altLang="en-US" sz="2400" b="0" i="0" u="none" strike="noStrike" cap="none" normalizeH="0" baseline="0" dirty="0">
                <a:ln>
                  <a:noFill/>
                </a:ln>
                <a:solidFill>
                  <a:srgbClr val="DC143C"/>
                </a:solidFill>
                <a:effectLst/>
              </a:rPr>
              <a:t>&gt;</a:t>
            </a:r>
            <a:r>
              <a:rPr kumimoji="0" lang="en-US" altLang="en-US" sz="2400" b="0" i="0" u="none" strike="noStrike" cap="none" normalizeH="0" baseline="0" dirty="0">
                <a:ln>
                  <a:noFill/>
                </a:ln>
                <a:solidFill>
                  <a:srgbClr val="000000"/>
                </a:solidFill>
                <a:effectLst/>
              </a:rPr>
              <a:t> - Italic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a:t>
            </a:r>
            <a:r>
              <a:rPr kumimoji="0" lang="en-US" altLang="en-US" sz="2400" b="0" i="0" u="none" strike="noStrike" cap="none" normalizeH="0" baseline="0" dirty="0" err="1">
                <a:ln>
                  <a:noFill/>
                </a:ln>
                <a:solidFill>
                  <a:srgbClr val="DC143C"/>
                </a:solidFill>
                <a:effectLst/>
              </a:rPr>
              <a:t>em</a:t>
            </a:r>
            <a:r>
              <a:rPr kumimoji="0" lang="en-US" altLang="en-US" sz="2400" b="0" i="0" u="none" strike="noStrike" cap="none" normalizeH="0" baseline="0" dirty="0">
                <a:ln>
                  <a:noFill/>
                </a:ln>
                <a:solidFill>
                  <a:srgbClr val="DC143C"/>
                </a:solidFill>
                <a:effectLst/>
              </a:rPr>
              <a:t>&gt;</a:t>
            </a:r>
            <a:r>
              <a:rPr kumimoji="0" lang="en-US" altLang="en-US" sz="2400" b="0" i="0" u="none" strike="noStrike" cap="none" normalizeH="0" baseline="0" dirty="0">
                <a:ln>
                  <a:noFill/>
                </a:ln>
                <a:solidFill>
                  <a:srgbClr val="000000"/>
                </a:solidFill>
                <a:effectLst/>
              </a:rPr>
              <a:t> - Emphasized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&lt;mark&gt;</a:t>
            </a:r>
            <a:r>
              <a:rPr kumimoji="0" lang="en-US" altLang="en-US" sz="2400" b="0" i="0" u="none" strike="noStrike" cap="none" normalizeH="0" baseline="0" dirty="0">
                <a:ln>
                  <a:noFill/>
                </a:ln>
                <a:solidFill>
                  <a:srgbClr val="000000"/>
                </a:solidFill>
                <a:effectLst/>
              </a:rPr>
              <a:t> - Marked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&lt;small&gt;</a:t>
            </a:r>
            <a:r>
              <a:rPr kumimoji="0" lang="en-US" altLang="en-US" sz="2400" b="0" i="0" u="none" strike="noStrike" cap="none" normalizeH="0" baseline="0" dirty="0">
                <a:ln>
                  <a:noFill/>
                </a:ln>
                <a:solidFill>
                  <a:srgbClr val="000000"/>
                </a:solidFill>
                <a:effectLst/>
              </a:rPr>
              <a:t> - Smaller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&lt;del&gt;</a:t>
            </a:r>
            <a:r>
              <a:rPr kumimoji="0" lang="en-US" altLang="en-US" sz="2400" b="0" i="0" u="none" strike="noStrike" cap="none" normalizeH="0" baseline="0" dirty="0">
                <a:ln>
                  <a:noFill/>
                </a:ln>
                <a:solidFill>
                  <a:srgbClr val="000000"/>
                </a:solidFill>
                <a:effectLst/>
              </a:rPr>
              <a:t> - Deleted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&lt;ins&gt;</a:t>
            </a:r>
            <a:r>
              <a:rPr kumimoji="0" lang="en-US" altLang="en-US" sz="2400" b="0" i="0" u="none" strike="noStrike" cap="none" normalizeH="0" baseline="0" dirty="0">
                <a:ln>
                  <a:noFill/>
                </a:ln>
                <a:solidFill>
                  <a:srgbClr val="000000"/>
                </a:solidFill>
                <a:effectLst/>
              </a:rPr>
              <a:t> - Inserted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&lt;sub&gt;</a:t>
            </a:r>
            <a:r>
              <a:rPr kumimoji="0" lang="en-US" altLang="en-US" sz="2400" b="0" i="0" u="none" strike="noStrike" cap="none" normalizeH="0" baseline="0" dirty="0">
                <a:ln>
                  <a:noFill/>
                </a:ln>
                <a:solidFill>
                  <a:srgbClr val="000000"/>
                </a:solidFill>
                <a:effectLst/>
              </a:rPr>
              <a:t> - Subscript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DC143C"/>
                </a:solidFill>
                <a:effectLst/>
              </a:rPr>
              <a:t>&lt;sup&gt;</a:t>
            </a:r>
            <a:r>
              <a:rPr kumimoji="0" lang="en-US" altLang="en-US" sz="2400" b="0" i="0" u="none" strike="noStrike" cap="none" normalizeH="0" baseline="0" dirty="0">
                <a:ln>
                  <a:noFill/>
                </a:ln>
                <a:solidFill>
                  <a:srgbClr val="000000"/>
                </a:solidFill>
                <a:effectLst/>
              </a:rPr>
              <a:t> - Superscript 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pic>
        <p:nvPicPr>
          <p:cNvPr id="5" name="Picture 4"/>
          <p:cNvPicPr>
            <a:picLocks noChangeAspect="1"/>
          </p:cNvPicPr>
          <p:nvPr/>
        </p:nvPicPr>
        <p:blipFill>
          <a:blip r:embed="rId2"/>
          <a:stretch>
            <a:fillRect/>
          </a:stretch>
        </p:blipFill>
        <p:spPr>
          <a:xfrm>
            <a:off x="6954203" y="3354350"/>
            <a:ext cx="3283306" cy="1592979"/>
          </a:xfrm>
          <a:prstGeom prst="rect">
            <a:avLst/>
          </a:prstGeom>
        </p:spPr>
      </p:pic>
    </p:spTree>
    <p:extLst>
      <p:ext uri="{BB962C8B-B14F-4D97-AF65-F5344CB8AC3E}">
        <p14:creationId xmlns:p14="http://schemas.microsoft.com/office/powerpoint/2010/main" val="1057097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066664" y="1407235"/>
            <a:ext cx="5805476" cy="5118108"/>
          </a:xfrm>
          <a:prstGeom prst="rect">
            <a:avLst/>
          </a:prstGeom>
        </p:spPr>
      </p:pic>
      <p:pic>
        <p:nvPicPr>
          <p:cNvPr id="5" name="Picture 4"/>
          <p:cNvPicPr>
            <a:picLocks noChangeAspect="1"/>
          </p:cNvPicPr>
          <p:nvPr/>
        </p:nvPicPr>
        <p:blipFill>
          <a:blip r:embed="rId3"/>
          <a:stretch>
            <a:fillRect/>
          </a:stretch>
        </p:blipFill>
        <p:spPr>
          <a:xfrm>
            <a:off x="7831634" y="1984133"/>
            <a:ext cx="3715441" cy="4509717"/>
          </a:xfrm>
          <a:prstGeom prst="rect">
            <a:avLst/>
          </a:prstGeom>
        </p:spPr>
      </p:pic>
      <p:sp>
        <p:nvSpPr>
          <p:cNvPr id="7" name="Rectangle 6"/>
          <p:cNvSpPr/>
          <p:nvPr/>
        </p:nvSpPr>
        <p:spPr>
          <a:xfrm>
            <a:off x="8368000" y="1407235"/>
            <a:ext cx="870751" cy="369332"/>
          </a:xfrm>
          <a:prstGeom prst="rect">
            <a:avLst/>
          </a:prstGeom>
        </p:spPr>
        <p:txBody>
          <a:bodyPr wrap="none">
            <a:spAutoFit/>
          </a:bodyPr>
          <a:lstStyle/>
          <a:p>
            <a:r>
              <a:rPr lang="en-US" b="1" u="sng" dirty="0"/>
              <a:t>Output</a:t>
            </a:r>
          </a:p>
        </p:txBody>
      </p:sp>
    </p:spTree>
    <p:extLst>
      <p:ext uri="{BB962C8B-B14F-4D97-AF65-F5344CB8AC3E}">
        <p14:creationId xmlns:p14="http://schemas.microsoft.com/office/powerpoint/2010/main" val="3379373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 1:</a:t>
            </a:r>
          </a:p>
        </p:txBody>
      </p:sp>
      <p:sp>
        <p:nvSpPr>
          <p:cNvPr id="3" name="Content Placeholder 2"/>
          <p:cNvSpPr>
            <a:spLocks noGrp="1"/>
          </p:cNvSpPr>
          <p:nvPr>
            <p:ph idx="1"/>
          </p:nvPr>
        </p:nvSpPr>
        <p:spPr/>
        <p:txBody>
          <a:bodyPr/>
          <a:lstStyle/>
          <a:p>
            <a:r>
              <a:rPr lang="en-US" dirty="0"/>
              <a:t>What is HTML? Explain the structure of the HTML. Also List out the tags which we have covered today.</a:t>
            </a:r>
          </a:p>
          <a:p>
            <a:r>
              <a:rPr lang="en-US" dirty="0"/>
              <a:t>Try to make this using Heading and text formatting with proper attributes:</a:t>
            </a:r>
          </a:p>
          <a:p>
            <a:endParaRPr lang="en-US" dirty="0"/>
          </a:p>
          <a:p>
            <a:endParaRPr lang="en-US" dirty="0"/>
          </a:p>
        </p:txBody>
      </p:sp>
      <p:pic>
        <p:nvPicPr>
          <p:cNvPr id="4" name="Picture 3"/>
          <p:cNvPicPr>
            <a:picLocks noChangeAspect="1"/>
          </p:cNvPicPr>
          <p:nvPr/>
        </p:nvPicPr>
        <p:blipFill>
          <a:blip r:embed="rId2"/>
          <a:stretch>
            <a:fillRect/>
          </a:stretch>
        </p:blipFill>
        <p:spPr>
          <a:xfrm>
            <a:off x="3584166" y="3361816"/>
            <a:ext cx="5683542" cy="3264068"/>
          </a:xfrm>
          <a:prstGeom prst="rect">
            <a:avLst/>
          </a:prstGeom>
        </p:spPr>
      </p:pic>
    </p:spTree>
    <p:extLst>
      <p:ext uri="{BB962C8B-B14F-4D97-AF65-F5344CB8AC3E}">
        <p14:creationId xmlns:p14="http://schemas.microsoft.com/office/powerpoint/2010/main" val="3838757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Hyperlink</a:t>
            </a:r>
          </a:p>
        </p:txBody>
      </p:sp>
      <p:sp>
        <p:nvSpPr>
          <p:cNvPr id="3" name="Content Placeholder 2"/>
          <p:cNvSpPr>
            <a:spLocks noGrp="1"/>
          </p:cNvSpPr>
          <p:nvPr>
            <p:ph idx="1"/>
          </p:nvPr>
        </p:nvSpPr>
        <p:spPr/>
        <p:txBody>
          <a:bodyPr/>
          <a:lstStyle/>
          <a:p>
            <a:pPr algn="just"/>
            <a:r>
              <a:rPr lang="en-US" dirty="0"/>
              <a:t>A hyperlink, often abbreviated as "link", is a reference or clickable element in a web page or electronic document that, when clicked or activated, takes the user to another document or to a specific location within the same document. </a:t>
            </a:r>
          </a:p>
          <a:p>
            <a:pPr algn="just"/>
            <a:r>
              <a:rPr lang="en-US" dirty="0"/>
              <a:t>Hyperlinks are used to connect web pages, images, videos, or other digital content on the internet, creating a web of interconnected information.</a:t>
            </a:r>
          </a:p>
        </p:txBody>
      </p:sp>
    </p:spTree>
    <p:extLst>
      <p:ext uri="{BB962C8B-B14F-4D97-AF65-F5344CB8AC3E}">
        <p14:creationId xmlns:p14="http://schemas.microsoft.com/office/powerpoint/2010/main" val="330796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a:xfrm>
            <a:off x="838200" y="1769064"/>
            <a:ext cx="10285429" cy="4377212"/>
          </a:xfrm>
        </p:spPr>
        <p:txBody>
          <a:bodyPr>
            <a:normAutofit fontScale="92500" lnSpcReduction="10000"/>
          </a:bodyPr>
          <a:lstStyle/>
          <a:p>
            <a:pPr marL="0" indent="0">
              <a:buNone/>
            </a:pPr>
            <a:r>
              <a:rPr lang="en-US" dirty="0"/>
              <a:t>&lt;html&gt;</a:t>
            </a:r>
          </a:p>
          <a:p>
            <a:pPr marL="0" indent="0">
              <a:buNone/>
            </a:pPr>
            <a:r>
              <a:rPr lang="en-US" dirty="0"/>
              <a:t>&lt;head&gt;</a:t>
            </a:r>
          </a:p>
          <a:p>
            <a:pPr marL="0" indent="0">
              <a:buNone/>
            </a:pPr>
            <a:r>
              <a:rPr lang="en-US" dirty="0"/>
              <a:t>&lt;title&gt; Hyperlink&lt;/title&gt;</a:t>
            </a:r>
          </a:p>
          <a:p>
            <a:pPr marL="0" indent="0">
              <a:buNone/>
            </a:pPr>
            <a:r>
              <a:rPr lang="en-US" dirty="0"/>
              <a:t>&lt;/head&gt;</a:t>
            </a:r>
          </a:p>
          <a:p>
            <a:pPr marL="0" indent="0">
              <a:buNone/>
            </a:pPr>
            <a:r>
              <a:rPr lang="en-US" dirty="0"/>
              <a:t>&lt;body&gt;</a:t>
            </a:r>
          </a:p>
          <a:p>
            <a:pPr marL="0" indent="0">
              <a:buNone/>
            </a:pPr>
            <a:r>
              <a:rPr lang="en-US" dirty="0"/>
              <a:t>&lt;a </a:t>
            </a:r>
            <a:r>
              <a:rPr lang="en-US" dirty="0" err="1"/>
              <a:t>href</a:t>
            </a:r>
            <a:r>
              <a:rPr lang="en-US" dirty="0"/>
              <a:t>="https://mail.google.com/mail/u/0/#inbox"&gt;Click me for visiting </a:t>
            </a:r>
            <a:r>
              <a:rPr lang="en-US" dirty="0" err="1"/>
              <a:t>gmail</a:t>
            </a:r>
            <a:r>
              <a:rPr lang="en-US" dirty="0"/>
              <a:t>!&lt;/a&gt;&lt;</a:t>
            </a:r>
            <a:r>
              <a:rPr lang="en-US" dirty="0" err="1"/>
              <a:t>br</a:t>
            </a:r>
            <a:r>
              <a:rPr lang="en-US" dirty="0"/>
              <a:t>&gt;</a:t>
            </a:r>
          </a:p>
          <a:p>
            <a:pPr marL="0" indent="0">
              <a:buNone/>
            </a:pPr>
            <a:r>
              <a:rPr lang="en-US" dirty="0"/>
              <a:t>&lt;a </a:t>
            </a:r>
            <a:r>
              <a:rPr lang="en-US" dirty="0" err="1"/>
              <a:t>href</a:t>
            </a:r>
            <a:r>
              <a:rPr lang="en-US" dirty="0"/>
              <a:t>="XYZ.html"&gt;Click me for filling up form!&lt;/a&gt;</a:t>
            </a:r>
          </a:p>
          <a:p>
            <a:pPr marL="0" indent="0">
              <a:buNone/>
            </a:pPr>
            <a:r>
              <a:rPr lang="en-US" dirty="0"/>
              <a:t>&lt;/body&gt;</a:t>
            </a:r>
          </a:p>
          <a:p>
            <a:pPr marL="0" indent="0">
              <a:buNone/>
            </a:pPr>
            <a:r>
              <a:rPr lang="en-US" dirty="0"/>
              <a:t>&lt;/html&gt;</a:t>
            </a:r>
          </a:p>
        </p:txBody>
      </p:sp>
      <p:pic>
        <p:nvPicPr>
          <p:cNvPr id="4" name="Picture 3"/>
          <p:cNvPicPr>
            <a:picLocks noChangeAspect="1"/>
          </p:cNvPicPr>
          <p:nvPr/>
        </p:nvPicPr>
        <p:blipFill>
          <a:blip r:embed="rId2"/>
          <a:stretch>
            <a:fillRect/>
          </a:stretch>
        </p:blipFill>
        <p:spPr>
          <a:xfrm>
            <a:off x="6253938" y="2016888"/>
            <a:ext cx="4439985" cy="1654111"/>
          </a:xfrm>
          <a:prstGeom prst="rect">
            <a:avLst/>
          </a:prstGeom>
        </p:spPr>
      </p:pic>
    </p:spTree>
    <p:extLst>
      <p:ext uri="{BB962C8B-B14F-4D97-AF65-F5344CB8AC3E}">
        <p14:creationId xmlns:p14="http://schemas.microsoft.com/office/powerpoint/2010/main" val="3764626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pPr marL="0" indent="0" algn="just">
              <a:buNone/>
            </a:pPr>
            <a:r>
              <a:rPr lang="en-US" b="1" dirty="0"/>
              <a:t>&lt;a </a:t>
            </a:r>
            <a:r>
              <a:rPr lang="en-US" b="1" dirty="0" err="1"/>
              <a:t>href</a:t>
            </a:r>
            <a:r>
              <a:rPr lang="en-US" b="1" dirty="0"/>
              <a:t>="https://example.com" target="_blank"&gt;Click me!&lt;/a&gt;</a:t>
            </a:r>
          </a:p>
          <a:p>
            <a:pPr marL="0" indent="0" algn="just">
              <a:buNone/>
            </a:pPr>
            <a:r>
              <a:rPr lang="en-US" i="1" dirty="0"/>
              <a:t>This example adds the target="_blank" attribute to the &lt;a&gt; tag, which tells the browser to open the link in a new window or tab.</a:t>
            </a:r>
          </a:p>
          <a:p>
            <a:pPr marL="0" indent="0" algn="just">
              <a:buNone/>
            </a:pPr>
            <a:r>
              <a:rPr lang="en-US" b="1" dirty="0"/>
              <a:t>&lt;a </a:t>
            </a:r>
            <a:r>
              <a:rPr lang="en-US" b="1" dirty="0" err="1"/>
              <a:t>href</a:t>
            </a:r>
            <a:r>
              <a:rPr lang="en-US" b="1" dirty="0"/>
              <a:t>="#section-1"&gt;Go to section 1&lt;/a&gt;</a:t>
            </a:r>
          </a:p>
          <a:p>
            <a:pPr marL="0" indent="0" algn="just">
              <a:buNone/>
            </a:pPr>
            <a:r>
              <a:rPr lang="en-US" i="1" dirty="0"/>
              <a:t>This example uses a relative URL (#section-1) to create an internal link that jumps to a specific section of the current page. To create an internal link, use the # symbol followed by the id attribute of the element you want to link to.</a:t>
            </a:r>
          </a:p>
        </p:txBody>
      </p:sp>
    </p:spTree>
    <p:extLst>
      <p:ext uri="{BB962C8B-B14F-4D97-AF65-F5344CB8AC3E}">
        <p14:creationId xmlns:p14="http://schemas.microsoft.com/office/powerpoint/2010/main" val="1948407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 Tag</a:t>
            </a:r>
          </a:p>
        </p:txBody>
      </p:sp>
      <p:sp>
        <p:nvSpPr>
          <p:cNvPr id="3" name="Content Placeholder 2"/>
          <p:cNvSpPr>
            <a:spLocks noGrp="1"/>
          </p:cNvSpPr>
          <p:nvPr>
            <p:ph idx="1"/>
          </p:nvPr>
        </p:nvSpPr>
        <p:spPr/>
        <p:txBody>
          <a:bodyPr/>
          <a:lstStyle/>
          <a:p>
            <a:pPr algn="just"/>
            <a:r>
              <a:rPr lang="en-US" dirty="0"/>
              <a:t>In HTML, an image is a graphical element that can be displayed on a web page. An image can be a photograph, a drawing, an icon, a logo, or any other type of graphic that can be saved as a digital file.</a:t>
            </a:r>
          </a:p>
          <a:p>
            <a:pPr algn="just"/>
            <a:r>
              <a:rPr lang="en-US" dirty="0"/>
              <a:t>To display an image in HTML, you can use the &lt;</a:t>
            </a:r>
            <a:r>
              <a:rPr lang="en-US" dirty="0" err="1"/>
              <a:t>img</a:t>
            </a:r>
            <a:r>
              <a:rPr lang="en-US" dirty="0"/>
              <a:t>&gt; tag, which is a self-closing tag. The &lt;</a:t>
            </a:r>
            <a:r>
              <a:rPr lang="en-US" dirty="0" err="1"/>
              <a:t>img</a:t>
            </a:r>
            <a:r>
              <a:rPr lang="en-US" dirty="0"/>
              <a:t>&gt; tag has several attributes that allow you to specify the URL of the image file, the size of the image, and other characteristics such as the alt text and title text. The most important attribute is </a:t>
            </a:r>
            <a:r>
              <a:rPr lang="en-US" dirty="0" err="1"/>
              <a:t>src</a:t>
            </a:r>
            <a:r>
              <a:rPr lang="en-US" dirty="0"/>
              <a:t>, which specifies the URL of the image file.</a:t>
            </a:r>
          </a:p>
        </p:txBody>
      </p:sp>
    </p:spTree>
    <p:extLst>
      <p:ext uri="{BB962C8B-B14F-4D97-AF65-F5344CB8AC3E}">
        <p14:creationId xmlns:p14="http://schemas.microsoft.com/office/powerpoint/2010/main" val="1971352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In HTML, you can use the &lt;</a:t>
            </a:r>
            <a:r>
              <a:rPr lang="en-US" dirty="0" err="1"/>
              <a:t>img</a:t>
            </a:r>
            <a:r>
              <a:rPr lang="en-US" dirty="0"/>
              <a:t>&gt; tag to display images on a web page. Here's an example:</a:t>
            </a:r>
          </a:p>
          <a:p>
            <a:pPr marL="0" indent="0" algn="just">
              <a:buNone/>
            </a:pPr>
            <a:r>
              <a:rPr lang="en-US" b="1" dirty="0"/>
              <a:t>&lt;</a:t>
            </a:r>
            <a:r>
              <a:rPr lang="en-US" b="1" dirty="0" err="1"/>
              <a:t>img</a:t>
            </a:r>
            <a:r>
              <a:rPr lang="en-US" b="1" dirty="0"/>
              <a:t> </a:t>
            </a:r>
            <a:r>
              <a:rPr lang="en-US" b="1" dirty="0" err="1"/>
              <a:t>src</a:t>
            </a:r>
            <a:r>
              <a:rPr lang="en-US" b="1" dirty="0"/>
              <a:t>="image.jpg" alt="A beautiful sunset"&gt;</a:t>
            </a:r>
          </a:p>
          <a:p>
            <a:pPr marL="0" indent="0" algn="just">
              <a:buNone/>
            </a:pPr>
            <a:r>
              <a:rPr lang="en-US" i="1" dirty="0"/>
              <a:t>In this example, "image.jpg" is the URL of the image file and "A beautiful sunset" is the alternative text that is displayed if the image cannot be loaded or if the user is using a screen reader.</a:t>
            </a:r>
          </a:p>
          <a:p>
            <a:pPr marL="0" indent="0" algn="just">
              <a:buNone/>
            </a:pPr>
            <a:r>
              <a:rPr lang="en-US" dirty="0"/>
              <a:t>The &lt;</a:t>
            </a:r>
            <a:r>
              <a:rPr lang="en-US" dirty="0" err="1"/>
              <a:t>img</a:t>
            </a:r>
            <a:r>
              <a:rPr lang="en-US" dirty="0"/>
              <a:t>&gt; tag has several attributes that you can use to customize the appearance and behavior of the image, including:</a:t>
            </a:r>
          </a:p>
          <a:p>
            <a:pPr algn="just"/>
            <a:r>
              <a:rPr lang="en-US" dirty="0" err="1"/>
              <a:t>src</a:t>
            </a:r>
            <a:r>
              <a:rPr lang="en-US" dirty="0"/>
              <a:t>: specifies the URL of the image file</a:t>
            </a:r>
          </a:p>
          <a:p>
            <a:pPr algn="just"/>
            <a:r>
              <a:rPr lang="en-US" dirty="0"/>
              <a:t>alt: provides alternative text for the image</a:t>
            </a:r>
          </a:p>
          <a:p>
            <a:pPr algn="just"/>
            <a:r>
              <a:rPr lang="en-US" dirty="0"/>
              <a:t>width and height: sets the width and height of the image in pixels or as a percentage of the container size</a:t>
            </a:r>
          </a:p>
          <a:p>
            <a:pPr algn="just"/>
            <a:r>
              <a:rPr lang="en-US" dirty="0"/>
              <a:t>title: adds a tooltip when the user hovers over the image</a:t>
            </a:r>
          </a:p>
          <a:p>
            <a:pPr algn="just"/>
            <a:r>
              <a:rPr lang="en-US" dirty="0"/>
              <a:t>class and id: adds CSS classes or IDs to the image for styling or JavaScript purposes</a:t>
            </a:r>
          </a:p>
          <a:p>
            <a:pPr marL="0" indent="0" algn="just">
              <a:buNone/>
            </a:pPr>
            <a:endParaRPr lang="en-US" dirty="0"/>
          </a:p>
          <a:p>
            <a:pPr algn="just"/>
            <a:endParaRPr lang="en-US" dirty="0"/>
          </a:p>
        </p:txBody>
      </p:sp>
    </p:spTree>
    <p:extLst>
      <p:ext uri="{BB962C8B-B14F-4D97-AF65-F5344CB8AC3E}">
        <p14:creationId xmlns:p14="http://schemas.microsoft.com/office/powerpoint/2010/main" val="2702971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pPr marL="0" indent="0" algn="just">
              <a:buNone/>
            </a:pPr>
            <a:r>
              <a:rPr lang="en-US" b="1" dirty="0"/>
              <a:t>&lt;</a:t>
            </a:r>
            <a:r>
              <a:rPr lang="en-US" b="1" dirty="0" err="1"/>
              <a:t>img</a:t>
            </a:r>
            <a:r>
              <a:rPr lang="en-US" b="1" dirty="0"/>
              <a:t> </a:t>
            </a:r>
            <a:r>
              <a:rPr lang="en-US" b="1" dirty="0" err="1"/>
              <a:t>src</a:t>
            </a:r>
            <a:r>
              <a:rPr lang="en-US" b="1" dirty="0"/>
              <a:t>="image.jpg" alt="A beautiful sunset" width="800" height="600" title="Click to enlarge" class="image"&gt;</a:t>
            </a:r>
          </a:p>
          <a:p>
            <a:pPr marL="0" indent="0" algn="just">
              <a:buNone/>
            </a:pPr>
            <a:r>
              <a:rPr lang="en-US" i="1" dirty="0"/>
              <a:t>In this example, the image has a width of 800 pixels and a height of 600 pixels, and a tooltip that says "Click to enlarge" when the user hovers over it. The class attribute adds the CSS class "image" to the image, which can be used to style it with CSS.</a:t>
            </a:r>
          </a:p>
        </p:txBody>
      </p:sp>
    </p:spTree>
    <p:extLst>
      <p:ext uri="{BB962C8B-B14F-4D97-AF65-F5344CB8AC3E}">
        <p14:creationId xmlns:p14="http://schemas.microsoft.com/office/powerpoint/2010/main" val="624983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lstStyle/>
          <a:p>
            <a:pPr marL="0" indent="0">
              <a:buNone/>
            </a:pPr>
            <a:r>
              <a:rPr lang="en-US" dirty="0"/>
              <a:t>&lt;html&gt;</a:t>
            </a:r>
          </a:p>
          <a:p>
            <a:pPr marL="0" indent="0">
              <a:buNone/>
            </a:pPr>
            <a:r>
              <a:rPr lang="en-US" dirty="0"/>
              <a:t>&lt;head&gt;</a:t>
            </a:r>
          </a:p>
          <a:p>
            <a:pPr marL="0" indent="0">
              <a:buNone/>
            </a:pPr>
            <a:r>
              <a:rPr lang="en-US" dirty="0"/>
              <a:t>&lt;title&gt; Image tag&lt;/title&gt;</a:t>
            </a:r>
          </a:p>
          <a:p>
            <a:pPr marL="0" indent="0">
              <a:buNone/>
            </a:pPr>
            <a:r>
              <a:rPr lang="en-US" dirty="0"/>
              <a:t>&lt;/head&gt;</a:t>
            </a:r>
          </a:p>
          <a:p>
            <a:pPr marL="0" indent="0">
              <a:buNone/>
            </a:pPr>
            <a:r>
              <a:rPr lang="en-US" dirty="0"/>
              <a:t>&lt;body&gt;</a:t>
            </a:r>
          </a:p>
          <a:p>
            <a:pPr marL="0" indent="0">
              <a:buNone/>
            </a:pPr>
            <a:r>
              <a:rPr lang="en-US" dirty="0"/>
              <a:t>&lt;</a:t>
            </a:r>
            <a:r>
              <a:rPr lang="en-US" dirty="0" err="1"/>
              <a:t>img</a:t>
            </a:r>
            <a:r>
              <a:rPr lang="en-US" dirty="0"/>
              <a:t> </a:t>
            </a:r>
            <a:r>
              <a:rPr lang="en-US" dirty="0" err="1"/>
              <a:t>src</a:t>
            </a:r>
            <a:r>
              <a:rPr lang="en-US" dirty="0"/>
              <a:t>="image1.jpg" alt="laptop" height="300" width="300"&gt;</a:t>
            </a:r>
          </a:p>
          <a:p>
            <a:pPr marL="0" indent="0">
              <a:buNone/>
            </a:pPr>
            <a:r>
              <a:rPr lang="en-US" dirty="0"/>
              <a:t>&lt;/body&gt;</a:t>
            </a:r>
          </a:p>
          <a:p>
            <a:pPr marL="0" indent="0">
              <a:buNone/>
            </a:pPr>
            <a:r>
              <a:rPr lang="en-US" dirty="0"/>
              <a:t>&lt;/html&gt;</a:t>
            </a:r>
          </a:p>
        </p:txBody>
      </p:sp>
      <p:pic>
        <p:nvPicPr>
          <p:cNvPr id="4" name="Picture 3"/>
          <p:cNvPicPr>
            <a:picLocks noChangeAspect="1"/>
          </p:cNvPicPr>
          <p:nvPr/>
        </p:nvPicPr>
        <p:blipFill>
          <a:blip r:embed="rId2"/>
          <a:stretch>
            <a:fillRect/>
          </a:stretch>
        </p:blipFill>
        <p:spPr>
          <a:xfrm>
            <a:off x="7673418" y="1690688"/>
            <a:ext cx="2686488" cy="2760325"/>
          </a:xfrm>
          <a:prstGeom prst="rect">
            <a:avLst/>
          </a:prstGeom>
        </p:spPr>
      </p:pic>
    </p:spTree>
    <p:extLst>
      <p:ext uri="{BB962C8B-B14F-4D97-AF65-F5344CB8AC3E}">
        <p14:creationId xmlns:p14="http://schemas.microsoft.com/office/powerpoint/2010/main" val="3416612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Hyperlink in HTML? How can we create hyperlink? Give some proper example.</a:t>
            </a:r>
          </a:p>
          <a:p>
            <a:r>
              <a:rPr lang="en-US" dirty="0"/>
              <a:t>What is Image tag? Give proper example of Image tag.</a:t>
            </a:r>
          </a:p>
        </p:txBody>
      </p:sp>
    </p:spTree>
    <p:extLst>
      <p:ext uri="{BB962C8B-B14F-4D97-AF65-F5344CB8AC3E}">
        <p14:creationId xmlns:p14="http://schemas.microsoft.com/office/powerpoint/2010/main" val="2833996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Favicon </a:t>
            </a:r>
          </a:p>
        </p:txBody>
      </p:sp>
      <p:sp>
        <p:nvSpPr>
          <p:cNvPr id="3" name="Content Placeholder 2"/>
          <p:cNvSpPr>
            <a:spLocks noGrp="1"/>
          </p:cNvSpPr>
          <p:nvPr>
            <p:ph idx="1"/>
          </p:nvPr>
        </p:nvSpPr>
        <p:spPr/>
        <p:txBody>
          <a:bodyPr>
            <a:normAutofit/>
          </a:bodyPr>
          <a:lstStyle/>
          <a:p>
            <a:pPr algn="just"/>
            <a:r>
              <a:rPr lang="en-US" dirty="0"/>
              <a:t>A favicon is a small image displayed next to the page title in the browser tab.</a:t>
            </a:r>
          </a:p>
          <a:p>
            <a:pPr algn="just"/>
            <a:r>
              <a:rPr lang="en-US" b="1" dirty="0"/>
              <a:t>Tip:</a:t>
            </a:r>
            <a:r>
              <a:rPr lang="en-US" dirty="0"/>
              <a:t> A favicon is a small image, so it should be a simple image with high contrast.</a:t>
            </a:r>
          </a:p>
          <a:p>
            <a:pPr algn="just"/>
            <a:r>
              <a:rPr lang="en-US" dirty="0"/>
              <a:t>To add a favicon to your website, either save your favicon image to the root directory of your webserver, or create a folder in the root directory called images, and save your favicon image in this folder. A common name for a favicon image is "favicon.ico".</a:t>
            </a:r>
          </a:p>
          <a:p>
            <a:pPr algn="just"/>
            <a:r>
              <a:rPr lang="en-US" dirty="0"/>
              <a:t>Next, add a &lt;link&gt; element to your "index.html" file, after the &lt;title&gt; element, like this:</a:t>
            </a:r>
          </a:p>
        </p:txBody>
      </p:sp>
    </p:spTree>
    <p:extLst>
      <p:ext uri="{BB962C8B-B14F-4D97-AF65-F5344CB8AC3E}">
        <p14:creationId xmlns:p14="http://schemas.microsoft.com/office/powerpoint/2010/main" val="3745208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&lt;!DOCTYPE html&gt;</a:t>
            </a:r>
            <a:br>
              <a:rPr lang="en-US" dirty="0"/>
            </a:br>
            <a:r>
              <a:rPr lang="en-US" dirty="0"/>
              <a:t>&lt;html&gt;</a:t>
            </a:r>
            <a:br>
              <a:rPr lang="en-US" dirty="0"/>
            </a:br>
            <a:r>
              <a:rPr lang="en-US" dirty="0"/>
              <a:t>&lt;head&gt;</a:t>
            </a:r>
            <a:br>
              <a:rPr lang="en-US" dirty="0"/>
            </a:br>
            <a:r>
              <a:rPr lang="en-US" dirty="0"/>
              <a:t>  &lt;title&gt;My Page Title&lt;/title&gt;</a:t>
            </a:r>
            <a:br>
              <a:rPr lang="en-US" dirty="0"/>
            </a:br>
            <a:r>
              <a:rPr lang="en-US" dirty="0"/>
              <a:t>  &lt;link </a:t>
            </a:r>
            <a:r>
              <a:rPr lang="en-US" dirty="0" err="1"/>
              <a:t>rel</a:t>
            </a:r>
            <a:r>
              <a:rPr lang="en-US" dirty="0"/>
              <a:t>="icon" type="image/x-icon" </a:t>
            </a:r>
            <a:r>
              <a:rPr lang="en-US" dirty="0" err="1"/>
              <a:t>href</a:t>
            </a:r>
            <a:r>
              <a:rPr lang="en-US" dirty="0"/>
              <a:t>="/images/favicon.ico"&gt;</a:t>
            </a:r>
            <a:br>
              <a:rPr lang="en-US" dirty="0"/>
            </a:br>
            <a:r>
              <a:rPr lang="en-US" dirty="0"/>
              <a:t>&lt;/head&gt;</a:t>
            </a:r>
            <a:br>
              <a:rPr lang="en-US" dirty="0"/>
            </a:br>
            <a:r>
              <a:rPr lang="en-US" dirty="0"/>
              <a:t>&lt;body&gt;</a:t>
            </a:r>
            <a:br>
              <a:rPr lang="en-US" dirty="0"/>
            </a:br>
            <a:br>
              <a:rPr lang="en-US" dirty="0"/>
            </a:br>
            <a:r>
              <a:rPr lang="en-US" dirty="0"/>
              <a:t>&lt;h1&gt;This is a Heading&lt;/h1&gt;</a:t>
            </a:r>
            <a:br>
              <a:rPr lang="en-US" dirty="0"/>
            </a:br>
            <a:r>
              <a:rPr lang="en-US" dirty="0"/>
              <a:t>&lt;p&gt;This is a paragraph.&lt;/p&gt;</a:t>
            </a:r>
            <a:br>
              <a:rPr lang="en-US" dirty="0"/>
            </a:br>
            <a:br>
              <a:rPr lang="en-US" dirty="0"/>
            </a:br>
            <a:r>
              <a:rPr lang="en-US" dirty="0"/>
              <a:t>&lt;/body&gt;</a:t>
            </a:r>
            <a:br>
              <a:rPr lang="en-US" dirty="0"/>
            </a:br>
            <a:r>
              <a:rPr lang="en-US" dirty="0"/>
              <a:t>&lt;/html&gt;</a:t>
            </a:r>
          </a:p>
        </p:txBody>
      </p:sp>
      <p:pic>
        <p:nvPicPr>
          <p:cNvPr id="4" name="Picture 3"/>
          <p:cNvPicPr>
            <a:picLocks noChangeAspect="1"/>
          </p:cNvPicPr>
          <p:nvPr/>
        </p:nvPicPr>
        <p:blipFill>
          <a:blip r:embed="rId2"/>
          <a:stretch>
            <a:fillRect/>
          </a:stretch>
        </p:blipFill>
        <p:spPr>
          <a:xfrm>
            <a:off x="6138433" y="3812758"/>
            <a:ext cx="5407868" cy="2107790"/>
          </a:xfrm>
          <a:prstGeom prst="rect">
            <a:avLst/>
          </a:prstGeom>
        </p:spPr>
      </p:pic>
    </p:spTree>
    <p:extLst>
      <p:ext uri="{BB962C8B-B14F-4D97-AF65-F5344CB8AC3E}">
        <p14:creationId xmlns:p14="http://schemas.microsoft.com/office/powerpoint/2010/main" val="3949537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List Tag</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In HTML, a list tag is a type of element used to create lists of items on a webpage. There are several types of list tags, including:</a:t>
            </a:r>
          </a:p>
          <a:p>
            <a:pPr algn="just"/>
            <a:r>
              <a:rPr lang="en-US" dirty="0"/>
              <a:t>&lt;</a:t>
            </a:r>
            <a:r>
              <a:rPr lang="en-US" dirty="0" err="1"/>
              <a:t>ul</a:t>
            </a:r>
            <a:r>
              <a:rPr lang="en-US" dirty="0"/>
              <a:t>&gt; - Unordered list tag: creates an unordered list of items. Each item is represented by an &lt;li&gt; tag within the &lt;</a:t>
            </a:r>
            <a:r>
              <a:rPr lang="en-US" dirty="0" err="1"/>
              <a:t>ul</a:t>
            </a:r>
            <a:r>
              <a:rPr lang="en-US" dirty="0"/>
              <a:t>&gt; tag.</a:t>
            </a:r>
          </a:p>
          <a:p>
            <a:pPr algn="just"/>
            <a:r>
              <a:rPr lang="en-US" dirty="0"/>
              <a:t>&lt;</a:t>
            </a:r>
            <a:r>
              <a:rPr lang="en-US" dirty="0" err="1"/>
              <a:t>ol</a:t>
            </a:r>
            <a:r>
              <a:rPr lang="en-US" dirty="0"/>
              <a:t>&gt; - Ordered list tag: creates an ordered (numbered) list of items. Each item is represented by an &lt;li&gt; tag within the &lt;</a:t>
            </a:r>
            <a:r>
              <a:rPr lang="en-US" dirty="0" err="1"/>
              <a:t>ol</a:t>
            </a:r>
            <a:r>
              <a:rPr lang="en-US" dirty="0"/>
              <a:t>&gt; tag.</a:t>
            </a:r>
          </a:p>
          <a:p>
            <a:pPr algn="just"/>
            <a:r>
              <a:rPr lang="en-US" dirty="0"/>
              <a:t>&lt;li&gt; - List item tag: represents an item within a list, and is always used as a child element of either &lt;</a:t>
            </a:r>
            <a:r>
              <a:rPr lang="en-US" dirty="0" err="1"/>
              <a:t>ul</a:t>
            </a:r>
            <a:r>
              <a:rPr lang="en-US" dirty="0"/>
              <a:t>&gt; or &lt;</a:t>
            </a:r>
            <a:r>
              <a:rPr lang="en-US" dirty="0" err="1"/>
              <a:t>ol</a:t>
            </a:r>
            <a:r>
              <a:rPr lang="en-US" dirty="0"/>
              <a:t>&gt;.</a:t>
            </a:r>
          </a:p>
          <a:p>
            <a:pPr marL="0" indent="0" algn="just">
              <a:buNone/>
            </a:pPr>
            <a:r>
              <a:rPr lang="en-US" dirty="0"/>
              <a:t>Lists are useful for organizing information on a webpage, especially when there is a lot of information that needs to be presented in a structured and easily readable format. By using list tags, you can create visually appealing and easy-to-read lists that will make your webpage more user-friendly.</a:t>
            </a:r>
          </a:p>
        </p:txBody>
      </p:sp>
    </p:spTree>
    <p:extLst>
      <p:ext uri="{BB962C8B-B14F-4D97-AF65-F5344CB8AC3E}">
        <p14:creationId xmlns:p14="http://schemas.microsoft.com/office/powerpoint/2010/main" val="1020732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Unordered List</a:t>
            </a:r>
          </a:p>
        </p:txBody>
      </p:sp>
      <p:sp>
        <p:nvSpPr>
          <p:cNvPr id="3" name="Content Placeholder 2"/>
          <p:cNvSpPr>
            <a:spLocks noGrp="1"/>
          </p:cNvSpPr>
          <p:nvPr>
            <p:ph idx="1"/>
          </p:nvPr>
        </p:nvSpPr>
        <p:spPr/>
        <p:txBody>
          <a:bodyPr/>
          <a:lstStyle/>
          <a:p>
            <a:pPr algn="just"/>
            <a:r>
              <a:rPr lang="en-US" dirty="0"/>
              <a:t>An unordered list starts with the &lt;</a:t>
            </a:r>
            <a:r>
              <a:rPr lang="en-US" dirty="0" err="1"/>
              <a:t>ul</a:t>
            </a:r>
            <a:r>
              <a:rPr lang="en-US" dirty="0"/>
              <a:t>&gt; tag. Each list item starts with the &lt;li&gt; tag.</a:t>
            </a:r>
          </a:p>
          <a:p>
            <a:pPr algn="just"/>
            <a:r>
              <a:rPr lang="en-US" dirty="0"/>
              <a:t>The list items will be marked with bullets (small black circles) by default:</a:t>
            </a:r>
          </a:p>
          <a:p>
            <a:pPr algn="just"/>
            <a:endParaRPr lang="en-US" dirty="0"/>
          </a:p>
        </p:txBody>
      </p:sp>
      <p:pic>
        <p:nvPicPr>
          <p:cNvPr id="5" name="Picture 4"/>
          <p:cNvPicPr>
            <a:picLocks noChangeAspect="1"/>
          </p:cNvPicPr>
          <p:nvPr/>
        </p:nvPicPr>
        <p:blipFill>
          <a:blip r:embed="rId2"/>
          <a:stretch>
            <a:fillRect/>
          </a:stretch>
        </p:blipFill>
        <p:spPr>
          <a:xfrm>
            <a:off x="2601798" y="3445832"/>
            <a:ext cx="4197260" cy="3224386"/>
          </a:xfrm>
          <a:prstGeom prst="rect">
            <a:avLst/>
          </a:prstGeom>
        </p:spPr>
      </p:pic>
      <p:pic>
        <p:nvPicPr>
          <p:cNvPr id="6" name="Picture 5"/>
          <p:cNvPicPr>
            <a:picLocks noChangeAspect="1"/>
          </p:cNvPicPr>
          <p:nvPr/>
        </p:nvPicPr>
        <p:blipFill>
          <a:blip r:embed="rId3"/>
          <a:stretch>
            <a:fillRect/>
          </a:stretch>
        </p:blipFill>
        <p:spPr>
          <a:xfrm>
            <a:off x="7958126" y="4061269"/>
            <a:ext cx="3574499" cy="2115694"/>
          </a:xfrm>
          <a:prstGeom prst="rect">
            <a:avLst/>
          </a:prstGeom>
        </p:spPr>
      </p:pic>
    </p:spTree>
    <p:extLst>
      <p:ext uri="{BB962C8B-B14F-4D97-AF65-F5344CB8AC3E}">
        <p14:creationId xmlns:p14="http://schemas.microsoft.com/office/powerpoint/2010/main" val="2639526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Ordered HTML List</a:t>
            </a:r>
          </a:p>
        </p:txBody>
      </p:sp>
      <p:sp>
        <p:nvSpPr>
          <p:cNvPr id="3" name="Content Placeholder 2"/>
          <p:cNvSpPr>
            <a:spLocks noGrp="1"/>
          </p:cNvSpPr>
          <p:nvPr>
            <p:ph idx="1"/>
          </p:nvPr>
        </p:nvSpPr>
        <p:spPr/>
        <p:txBody>
          <a:bodyPr/>
          <a:lstStyle/>
          <a:p>
            <a:r>
              <a:rPr lang="en-US" dirty="0"/>
              <a:t>An ordered list starts with the &lt;</a:t>
            </a:r>
            <a:r>
              <a:rPr lang="en-US" dirty="0" err="1"/>
              <a:t>ol</a:t>
            </a:r>
            <a:r>
              <a:rPr lang="en-US" dirty="0"/>
              <a:t>&gt; tag. Each list item starts with the &lt;li&gt; tag.</a:t>
            </a:r>
          </a:p>
          <a:p>
            <a:r>
              <a:rPr lang="en-US" dirty="0"/>
              <a:t>The list items will be marked with numbers by default:</a:t>
            </a:r>
          </a:p>
        </p:txBody>
      </p:sp>
      <p:pic>
        <p:nvPicPr>
          <p:cNvPr id="5" name="Picture 4"/>
          <p:cNvPicPr>
            <a:picLocks noChangeAspect="1"/>
          </p:cNvPicPr>
          <p:nvPr/>
        </p:nvPicPr>
        <p:blipFill>
          <a:blip r:embed="rId2"/>
          <a:stretch>
            <a:fillRect/>
          </a:stretch>
        </p:blipFill>
        <p:spPr>
          <a:xfrm>
            <a:off x="1877434" y="3291632"/>
            <a:ext cx="4089733" cy="3360776"/>
          </a:xfrm>
          <a:prstGeom prst="rect">
            <a:avLst/>
          </a:prstGeom>
        </p:spPr>
      </p:pic>
      <p:pic>
        <p:nvPicPr>
          <p:cNvPr id="6" name="Picture 5"/>
          <p:cNvPicPr>
            <a:picLocks noChangeAspect="1"/>
          </p:cNvPicPr>
          <p:nvPr/>
        </p:nvPicPr>
        <p:blipFill>
          <a:blip r:embed="rId3"/>
          <a:stretch>
            <a:fillRect/>
          </a:stretch>
        </p:blipFill>
        <p:spPr>
          <a:xfrm>
            <a:off x="6532748" y="3692293"/>
            <a:ext cx="4255471" cy="2369141"/>
          </a:xfrm>
          <a:prstGeom prst="rect">
            <a:avLst/>
          </a:prstGeom>
        </p:spPr>
      </p:pic>
    </p:spTree>
    <p:extLst>
      <p:ext uri="{BB962C8B-B14F-4D97-AF65-F5344CB8AC3E}">
        <p14:creationId xmlns:p14="http://schemas.microsoft.com/office/powerpoint/2010/main" val="2304682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Description Lists</a:t>
            </a:r>
          </a:p>
        </p:txBody>
      </p:sp>
      <p:sp>
        <p:nvSpPr>
          <p:cNvPr id="3" name="Content Placeholder 2"/>
          <p:cNvSpPr>
            <a:spLocks noGrp="1"/>
          </p:cNvSpPr>
          <p:nvPr>
            <p:ph idx="1"/>
          </p:nvPr>
        </p:nvSpPr>
        <p:spPr/>
        <p:txBody>
          <a:bodyPr/>
          <a:lstStyle/>
          <a:p>
            <a:r>
              <a:rPr lang="en-US" dirty="0"/>
              <a:t>HTML also supports description lists.</a:t>
            </a:r>
          </a:p>
          <a:p>
            <a:r>
              <a:rPr lang="en-US" dirty="0"/>
              <a:t>A description list is a list of terms, with a description of each term.</a:t>
            </a:r>
          </a:p>
          <a:p>
            <a:r>
              <a:rPr lang="en-US" dirty="0"/>
              <a:t>The &lt;dl&gt; tag defines the description list, the &lt;</a:t>
            </a:r>
            <a:r>
              <a:rPr lang="en-US" dirty="0" err="1"/>
              <a:t>dt</a:t>
            </a:r>
            <a:r>
              <a:rPr lang="en-US" dirty="0"/>
              <a:t>&gt; tag defines the term (name), and the &lt;</a:t>
            </a:r>
            <a:r>
              <a:rPr lang="en-US" dirty="0" err="1"/>
              <a:t>dd</a:t>
            </a:r>
            <a:r>
              <a:rPr lang="en-US" dirty="0"/>
              <a:t>&gt; tag describes each term:</a:t>
            </a:r>
          </a:p>
          <a:p>
            <a:endParaRPr lang="en-US" dirty="0"/>
          </a:p>
        </p:txBody>
      </p:sp>
      <p:pic>
        <p:nvPicPr>
          <p:cNvPr id="4" name="Picture 3"/>
          <p:cNvPicPr>
            <a:picLocks noChangeAspect="1"/>
          </p:cNvPicPr>
          <p:nvPr/>
        </p:nvPicPr>
        <p:blipFill>
          <a:blip r:embed="rId2"/>
          <a:stretch>
            <a:fillRect/>
          </a:stretch>
        </p:blipFill>
        <p:spPr>
          <a:xfrm>
            <a:off x="2286257" y="3793045"/>
            <a:ext cx="3170755" cy="2975400"/>
          </a:xfrm>
          <a:prstGeom prst="rect">
            <a:avLst/>
          </a:prstGeom>
        </p:spPr>
      </p:pic>
      <p:pic>
        <p:nvPicPr>
          <p:cNvPr id="5" name="Picture 4"/>
          <p:cNvPicPr>
            <a:picLocks noChangeAspect="1"/>
          </p:cNvPicPr>
          <p:nvPr/>
        </p:nvPicPr>
        <p:blipFill>
          <a:blip r:embed="rId3"/>
          <a:stretch>
            <a:fillRect/>
          </a:stretch>
        </p:blipFill>
        <p:spPr>
          <a:xfrm>
            <a:off x="7266275" y="3895161"/>
            <a:ext cx="3612256" cy="2510571"/>
          </a:xfrm>
          <a:prstGeom prst="rect">
            <a:avLst/>
          </a:prstGeom>
        </p:spPr>
      </p:pic>
    </p:spTree>
    <p:extLst>
      <p:ext uri="{BB962C8B-B14F-4D97-AF65-F5344CB8AC3E}">
        <p14:creationId xmlns:p14="http://schemas.microsoft.com/office/powerpoint/2010/main" val="3938166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Favicon in HTML? How can we use it? Give proper example.</a:t>
            </a:r>
          </a:p>
          <a:p>
            <a:r>
              <a:rPr lang="en-US" dirty="0"/>
              <a:t>What is HTML List tag? What are the types of List tag. Give proper example.</a:t>
            </a:r>
          </a:p>
        </p:txBody>
      </p:sp>
    </p:spTree>
    <p:extLst>
      <p:ext uri="{BB962C8B-B14F-4D97-AF65-F5344CB8AC3E}">
        <p14:creationId xmlns:p14="http://schemas.microsoft.com/office/powerpoint/2010/main" val="3637969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Quotation and Citation Elements</a:t>
            </a:r>
          </a:p>
        </p:txBody>
      </p:sp>
      <p:pic>
        <p:nvPicPr>
          <p:cNvPr id="4" name="Content Placeholder 3"/>
          <p:cNvPicPr>
            <a:picLocks noGrp="1" noChangeAspect="1"/>
          </p:cNvPicPr>
          <p:nvPr>
            <p:ph idx="1"/>
          </p:nvPr>
        </p:nvPicPr>
        <p:blipFill>
          <a:blip r:embed="rId2"/>
          <a:stretch>
            <a:fillRect/>
          </a:stretch>
        </p:blipFill>
        <p:spPr>
          <a:xfrm>
            <a:off x="1174490" y="2058157"/>
            <a:ext cx="10300001" cy="3569645"/>
          </a:xfrm>
          <a:prstGeom prst="rect">
            <a:avLst/>
          </a:prstGeom>
        </p:spPr>
      </p:pic>
    </p:spTree>
    <p:extLst>
      <p:ext uri="{BB962C8B-B14F-4D97-AF65-F5344CB8AC3E}">
        <p14:creationId xmlns:p14="http://schemas.microsoft.com/office/powerpoint/2010/main" val="176173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&lt;blockquote&gt; for Quotations</a:t>
            </a:r>
          </a:p>
        </p:txBody>
      </p:sp>
      <p:pic>
        <p:nvPicPr>
          <p:cNvPr id="4" name="Content Placeholder 3"/>
          <p:cNvPicPr>
            <a:picLocks noGrp="1" noChangeAspect="1"/>
          </p:cNvPicPr>
          <p:nvPr>
            <p:ph idx="1"/>
          </p:nvPr>
        </p:nvPicPr>
        <p:blipFill>
          <a:blip r:embed="rId2"/>
          <a:stretch>
            <a:fillRect/>
          </a:stretch>
        </p:blipFill>
        <p:spPr>
          <a:xfrm>
            <a:off x="838200" y="1690688"/>
            <a:ext cx="6569814" cy="2966328"/>
          </a:xfrm>
          <a:prstGeom prst="rect">
            <a:avLst/>
          </a:prstGeom>
        </p:spPr>
      </p:pic>
      <p:pic>
        <p:nvPicPr>
          <p:cNvPr id="5" name="Picture 4"/>
          <p:cNvPicPr>
            <a:picLocks noChangeAspect="1"/>
          </p:cNvPicPr>
          <p:nvPr/>
        </p:nvPicPr>
        <p:blipFill>
          <a:blip r:embed="rId3"/>
          <a:stretch>
            <a:fillRect/>
          </a:stretch>
        </p:blipFill>
        <p:spPr>
          <a:xfrm>
            <a:off x="5623321" y="4657016"/>
            <a:ext cx="6247355" cy="1996072"/>
          </a:xfrm>
          <a:prstGeom prst="rect">
            <a:avLst/>
          </a:prstGeom>
        </p:spPr>
      </p:pic>
    </p:spTree>
    <p:extLst>
      <p:ext uri="{BB962C8B-B14F-4D97-AF65-F5344CB8AC3E}">
        <p14:creationId xmlns:p14="http://schemas.microsoft.com/office/powerpoint/2010/main" val="994028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&lt;q&gt; for Short Quotations</a:t>
            </a:r>
          </a:p>
        </p:txBody>
      </p:sp>
      <p:pic>
        <p:nvPicPr>
          <p:cNvPr id="4" name="Content Placeholder 3"/>
          <p:cNvPicPr>
            <a:picLocks noGrp="1" noChangeAspect="1"/>
          </p:cNvPicPr>
          <p:nvPr>
            <p:ph idx="1"/>
          </p:nvPr>
        </p:nvPicPr>
        <p:blipFill>
          <a:blip r:embed="rId2"/>
          <a:stretch>
            <a:fillRect/>
          </a:stretch>
        </p:blipFill>
        <p:spPr>
          <a:xfrm>
            <a:off x="981580" y="1807778"/>
            <a:ext cx="6718582" cy="2142051"/>
          </a:xfrm>
          <a:prstGeom prst="rect">
            <a:avLst/>
          </a:prstGeom>
        </p:spPr>
      </p:pic>
      <p:pic>
        <p:nvPicPr>
          <p:cNvPr id="5" name="Picture 4"/>
          <p:cNvPicPr>
            <a:picLocks noChangeAspect="1"/>
          </p:cNvPicPr>
          <p:nvPr/>
        </p:nvPicPr>
        <p:blipFill>
          <a:blip r:embed="rId3"/>
          <a:stretch>
            <a:fillRect/>
          </a:stretch>
        </p:blipFill>
        <p:spPr>
          <a:xfrm>
            <a:off x="4608023" y="4535343"/>
            <a:ext cx="7021867" cy="1658067"/>
          </a:xfrm>
          <a:prstGeom prst="rect">
            <a:avLst/>
          </a:prstGeom>
        </p:spPr>
      </p:pic>
    </p:spTree>
    <p:extLst>
      <p:ext uri="{BB962C8B-B14F-4D97-AF65-F5344CB8AC3E}">
        <p14:creationId xmlns:p14="http://schemas.microsoft.com/office/powerpoint/2010/main" val="4209808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&lt;</a:t>
            </a:r>
            <a:r>
              <a:rPr lang="en-US" b="1" dirty="0" err="1"/>
              <a:t>abbr</a:t>
            </a:r>
            <a:r>
              <a:rPr lang="en-US" b="1" dirty="0"/>
              <a:t>&gt; for Abbreviations</a:t>
            </a:r>
          </a:p>
        </p:txBody>
      </p:sp>
      <p:sp>
        <p:nvSpPr>
          <p:cNvPr id="4" name="Rectangle 1"/>
          <p:cNvSpPr>
            <a:spLocks noGrp="1" noChangeArrowheads="1"/>
          </p:cNvSpPr>
          <p:nvPr>
            <p:ph idx="1"/>
          </p:nvPr>
        </p:nvSpPr>
        <p:spPr bwMode="auto">
          <a:xfrm>
            <a:off x="838200" y="1534622"/>
            <a:ext cx="8456629"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mn-lt"/>
              </a:rPr>
              <a:t>The HTML </a:t>
            </a:r>
            <a:r>
              <a:rPr kumimoji="0" lang="en-US" altLang="en-US" sz="1800" b="0" i="0" u="none" strike="noStrike" cap="none" normalizeH="0" baseline="0" dirty="0">
                <a:ln>
                  <a:noFill/>
                </a:ln>
                <a:solidFill>
                  <a:srgbClr val="DC143C"/>
                </a:solidFill>
                <a:effectLst/>
                <a:latin typeface="+mn-lt"/>
              </a:rPr>
              <a:t>&lt;</a:t>
            </a:r>
            <a:r>
              <a:rPr kumimoji="0" lang="en-US" altLang="en-US" sz="1800" b="0" i="0" u="none" strike="noStrike" cap="none" normalizeH="0" baseline="0" dirty="0" err="1">
                <a:ln>
                  <a:noFill/>
                </a:ln>
                <a:solidFill>
                  <a:srgbClr val="DC143C"/>
                </a:solidFill>
                <a:effectLst/>
                <a:latin typeface="+mn-lt"/>
              </a:rPr>
              <a:t>abbr</a:t>
            </a:r>
            <a:r>
              <a:rPr kumimoji="0" lang="en-US" altLang="en-US" sz="1800" b="0" i="0" u="none" strike="noStrike" cap="none" normalizeH="0" baseline="0" dirty="0">
                <a:ln>
                  <a:noFill/>
                </a:ln>
                <a:solidFill>
                  <a:srgbClr val="DC143C"/>
                </a:solidFill>
                <a:effectLst/>
                <a:latin typeface="+mn-lt"/>
              </a:rPr>
              <a:t>&gt;</a:t>
            </a:r>
            <a:r>
              <a:rPr kumimoji="0" lang="en-US" altLang="en-US" sz="1800" b="0" i="0" u="none" strike="noStrike" cap="none" normalizeH="0" baseline="0" dirty="0">
                <a:ln>
                  <a:noFill/>
                </a:ln>
                <a:solidFill>
                  <a:srgbClr val="000000"/>
                </a:solidFill>
                <a:effectLst/>
                <a:latin typeface="+mn-lt"/>
              </a:rPr>
              <a:t> tag defines an abbreviation or an acronym, like "HTML", "CSS", "Mr.", "Dr.", "ASAP", "ATM".</a:t>
            </a:r>
            <a:endParaRPr kumimoji="0" lang="en-US" altLang="en-US" sz="18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mn-lt"/>
              </a:rPr>
              <a:t>Marking abbreviations can give useful information to browsers, translation systems and search-engines.</a:t>
            </a:r>
            <a:endParaRPr kumimoji="0" lang="en-US" altLang="en-US" sz="1800" b="0" i="0" u="none" strike="noStrike" cap="none" normalizeH="0" baseline="0" dirty="0">
              <a:ln>
                <a:noFill/>
              </a:ln>
              <a:solidFill>
                <a:schemeClr val="tx1"/>
              </a:solidFill>
              <a:effectLst/>
              <a:latin typeface="+mn-lt"/>
            </a:endParaRPr>
          </a:p>
        </p:txBody>
      </p:sp>
      <p:pic>
        <p:nvPicPr>
          <p:cNvPr id="5" name="Picture 4"/>
          <p:cNvPicPr>
            <a:picLocks noChangeAspect="1"/>
          </p:cNvPicPr>
          <p:nvPr/>
        </p:nvPicPr>
        <p:blipFill>
          <a:blip r:embed="rId2"/>
          <a:stretch>
            <a:fillRect/>
          </a:stretch>
        </p:blipFill>
        <p:spPr>
          <a:xfrm>
            <a:off x="941092" y="2860185"/>
            <a:ext cx="5766096" cy="2019404"/>
          </a:xfrm>
          <a:prstGeom prst="rect">
            <a:avLst/>
          </a:prstGeom>
        </p:spPr>
      </p:pic>
      <p:pic>
        <p:nvPicPr>
          <p:cNvPr id="6" name="Picture 5"/>
          <p:cNvPicPr>
            <a:picLocks noChangeAspect="1"/>
          </p:cNvPicPr>
          <p:nvPr/>
        </p:nvPicPr>
        <p:blipFill>
          <a:blip r:embed="rId3"/>
          <a:stretch>
            <a:fillRect/>
          </a:stretch>
        </p:blipFill>
        <p:spPr>
          <a:xfrm>
            <a:off x="4948006" y="5004823"/>
            <a:ext cx="6405794" cy="1153043"/>
          </a:xfrm>
          <a:prstGeom prst="rect">
            <a:avLst/>
          </a:prstGeom>
        </p:spPr>
      </p:pic>
    </p:spTree>
    <p:extLst>
      <p:ext uri="{BB962C8B-B14F-4D97-AF65-F5344CB8AC3E}">
        <p14:creationId xmlns:p14="http://schemas.microsoft.com/office/powerpoint/2010/main" val="2593583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&lt;address&gt; for Contact Information</a:t>
            </a:r>
          </a:p>
        </p:txBody>
      </p:sp>
      <p:sp>
        <p:nvSpPr>
          <p:cNvPr id="4" name="Rectangle 1"/>
          <p:cNvSpPr>
            <a:spLocks noGrp="1" noChangeArrowheads="1"/>
          </p:cNvSpPr>
          <p:nvPr>
            <p:ph idx="1"/>
          </p:nvPr>
        </p:nvSpPr>
        <p:spPr bwMode="auto">
          <a:xfrm>
            <a:off x="838200" y="1595054"/>
            <a:ext cx="9682316"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HTML </a:t>
            </a:r>
            <a:r>
              <a:rPr kumimoji="0" lang="en-US" altLang="en-US" sz="1600" b="0" i="0" u="none" strike="noStrike" cap="none" normalizeH="0" baseline="0" dirty="0">
                <a:ln>
                  <a:noFill/>
                </a:ln>
                <a:solidFill>
                  <a:srgbClr val="DC143C"/>
                </a:solidFill>
                <a:effectLst/>
                <a:latin typeface="Consolas" panose="020B0609020204030204" pitchFamily="49" charset="0"/>
              </a:rPr>
              <a:t>&lt;address&gt;</a:t>
            </a:r>
            <a:r>
              <a:rPr kumimoji="0" lang="en-US" altLang="en-US" sz="1600" b="0" i="0" u="none" strike="noStrike" cap="none" normalizeH="0" baseline="0" dirty="0">
                <a:ln>
                  <a:noFill/>
                </a:ln>
                <a:solidFill>
                  <a:srgbClr val="000000"/>
                </a:solidFill>
                <a:effectLst/>
                <a:latin typeface="Verdana" panose="020B0604030504040204" pitchFamily="34" charset="0"/>
              </a:rPr>
              <a:t> tag defines the contact information for the author/owner of a document or an article.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contact information can be an email address, URL, physical address, phone number, social media handle, etc.</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 text in the </a:t>
            </a:r>
            <a:r>
              <a:rPr kumimoji="0" lang="en-US" altLang="en-US" sz="1600" b="0" i="0" u="none" strike="noStrike" cap="none" normalizeH="0" baseline="0" dirty="0">
                <a:ln>
                  <a:noFill/>
                </a:ln>
                <a:solidFill>
                  <a:srgbClr val="DC143C"/>
                </a:solidFill>
                <a:effectLst/>
                <a:latin typeface="Consolas" panose="020B0609020204030204" pitchFamily="49" charset="0"/>
              </a:rPr>
              <a:t>&lt;address&gt;</a:t>
            </a:r>
            <a:r>
              <a:rPr kumimoji="0" lang="en-US" altLang="en-US" sz="1600" b="0" i="0" u="none" strike="noStrike" cap="none" normalizeH="0" baseline="0" dirty="0">
                <a:ln>
                  <a:noFill/>
                </a:ln>
                <a:solidFill>
                  <a:srgbClr val="000000"/>
                </a:solidFill>
                <a:effectLst/>
                <a:latin typeface="Verdana" panose="020B0604030504040204" pitchFamily="34" charset="0"/>
              </a:rPr>
              <a:t> element usually renders in </a:t>
            </a:r>
            <a:r>
              <a:rPr kumimoji="0" lang="en-US" altLang="en-US" sz="1600" b="0" i="1" u="none" strike="noStrike" cap="none" normalizeH="0" baseline="0" dirty="0">
                <a:ln>
                  <a:noFill/>
                </a:ln>
                <a:solidFill>
                  <a:srgbClr val="000000"/>
                </a:solidFill>
                <a:effectLst/>
                <a:latin typeface="Verdana" panose="020B0604030504040204" pitchFamily="34" charset="0"/>
              </a:rPr>
              <a:t>italic,</a:t>
            </a:r>
            <a:r>
              <a:rPr kumimoji="0" lang="en-US" altLang="en-US" sz="1600" b="0" i="0" u="none" strike="noStrike" cap="none" normalizeH="0" baseline="0" dirty="0">
                <a:ln>
                  <a:noFill/>
                </a:ln>
                <a:solidFill>
                  <a:srgbClr val="000000"/>
                </a:solidFill>
                <a:effectLst/>
                <a:latin typeface="Verdana" panose="020B0604030504040204" pitchFamily="34" charset="0"/>
              </a:rPr>
              <a:t> and browsers will always add a line break before and after the </a:t>
            </a:r>
            <a:r>
              <a:rPr kumimoji="0" lang="en-US" altLang="en-US" sz="1600" b="0" i="0" u="none" strike="noStrike" cap="none" normalizeH="0" baseline="0" dirty="0">
                <a:ln>
                  <a:noFill/>
                </a:ln>
                <a:solidFill>
                  <a:srgbClr val="DC143C"/>
                </a:solidFill>
                <a:effectLst/>
                <a:latin typeface="Consolas" panose="020B0609020204030204" pitchFamily="49" charset="0"/>
              </a:rPr>
              <a:t>&lt;address&gt;</a:t>
            </a:r>
            <a:r>
              <a:rPr kumimoji="0" lang="en-US" altLang="en-US" sz="1600" b="0" i="0" u="none" strike="noStrike" cap="none" normalizeH="0" baseline="0" dirty="0">
                <a:ln>
                  <a:noFill/>
                </a:ln>
                <a:solidFill>
                  <a:srgbClr val="000000"/>
                </a:solidFill>
                <a:effectLst/>
                <a:latin typeface="Verdana" panose="020B0604030504040204" pitchFamily="34" charset="0"/>
              </a:rPr>
              <a:t> element.</a:t>
            </a:r>
            <a:endParaRPr kumimoji="0" lang="en-US" altLang="en-US" sz="1600" b="0" i="0" u="none" strike="noStrike" cap="none" normalizeH="0" baseline="0" dirty="0">
              <a:ln>
                <a:noFill/>
              </a:ln>
              <a:solidFill>
                <a:schemeClr val="tx1"/>
              </a:solidFill>
              <a:effectLst/>
            </a:endParaRPr>
          </a:p>
        </p:txBody>
      </p:sp>
      <p:pic>
        <p:nvPicPr>
          <p:cNvPr id="5" name="Picture 4"/>
          <p:cNvPicPr>
            <a:picLocks noChangeAspect="1"/>
          </p:cNvPicPr>
          <p:nvPr/>
        </p:nvPicPr>
        <p:blipFill>
          <a:blip r:embed="rId2"/>
          <a:stretch>
            <a:fillRect/>
          </a:stretch>
        </p:blipFill>
        <p:spPr>
          <a:xfrm>
            <a:off x="937719" y="3433445"/>
            <a:ext cx="5810549" cy="2781443"/>
          </a:xfrm>
          <a:prstGeom prst="rect">
            <a:avLst/>
          </a:prstGeom>
        </p:spPr>
      </p:pic>
      <p:pic>
        <p:nvPicPr>
          <p:cNvPr id="6" name="Picture 5"/>
          <p:cNvPicPr>
            <a:picLocks noChangeAspect="1"/>
          </p:cNvPicPr>
          <p:nvPr/>
        </p:nvPicPr>
        <p:blipFill>
          <a:blip r:embed="rId3"/>
          <a:stretch>
            <a:fillRect/>
          </a:stretch>
        </p:blipFill>
        <p:spPr>
          <a:xfrm>
            <a:off x="5809965" y="4978592"/>
            <a:ext cx="5543835" cy="1505027"/>
          </a:xfrm>
          <a:prstGeom prst="rect">
            <a:avLst/>
          </a:prstGeom>
        </p:spPr>
      </p:pic>
    </p:spTree>
    <p:extLst>
      <p:ext uri="{BB962C8B-B14F-4D97-AF65-F5344CB8AC3E}">
        <p14:creationId xmlns:p14="http://schemas.microsoft.com/office/powerpoint/2010/main" val="2251360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&lt;cite&gt; for Work Title</a:t>
            </a:r>
          </a:p>
        </p:txBody>
      </p:sp>
      <p:sp>
        <p:nvSpPr>
          <p:cNvPr id="4" name="Rectangle 1"/>
          <p:cNvSpPr>
            <a:spLocks noGrp="1" noChangeArrowheads="1"/>
          </p:cNvSpPr>
          <p:nvPr>
            <p:ph idx="1"/>
          </p:nvPr>
        </p:nvSpPr>
        <p:spPr bwMode="auto">
          <a:xfrm>
            <a:off x="913616" y="1798409"/>
            <a:ext cx="9503004"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The HTML </a:t>
            </a:r>
            <a:r>
              <a:rPr kumimoji="0" lang="en-US" altLang="en-US" sz="1400" b="0" i="0" u="none" strike="noStrike" cap="none" normalizeH="0" baseline="0" dirty="0">
                <a:ln>
                  <a:noFill/>
                </a:ln>
                <a:solidFill>
                  <a:srgbClr val="DC143C"/>
                </a:solidFill>
                <a:effectLst/>
                <a:latin typeface="Consolas" panose="020B0609020204030204" pitchFamily="49" charset="0"/>
              </a:rPr>
              <a:t>&lt;cite&gt;</a:t>
            </a:r>
            <a:r>
              <a:rPr kumimoji="0" lang="en-US" altLang="en-US" sz="1400" b="0" i="0" u="none" strike="noStrike" cap="none" normalizeH="0" baseline="0" dirty="0">
                <a:ln>
                  <a:noFill/>
                </a:ln>
                <a:solidFill>
                  <a:srgbClr val="000000"/>
                </a:solidFill>
                <a:effectLst/>
                <a:latin typeface="Verdana" panose="020B0604030504040204" pitchFamily="34" charset="0"/>
              </a:rPr>
              <a:t> tag defines the title of a creative work (e.g. a book, a poem, a song, a movie, a painting, a sculpture, etc.).</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The text in the </a:t>
            </a:r>
            <a:r>
              <a:rPr kumimoji="0" lang="en-US" altLang="en-US" sz="1400" b="0" i="0" u="none" strike="noStrike" cap="none" normalizeH="0" baseline="0" dirty="0">
                <a:ln>
                  <a:noFill/>
                </a:ln>
                <a:solidFill>
                  <a:srgbClr val="DC143C"/>
                </a:solidFill>
                <a:effectLst/>
                <a:latin typeface="Consolas" panose="020B0609020204030204" pitchFamily="49" charset="0"/>
              </a:rPr>
              <a:t>&lt;cite&gt;</a:t>
            </a:r>
            <a:r>
              <a:rPr kumimoji="0" lang="en-US" altLang="en-US" sz="1400" b="0" i="0" u="none" strike="noStrike" cap="none" normalizeH="0" baseline="0" dirty="0">
                <a:ln>
                  <a:noFill/>
                </a:ln>
                <a:solidFill>
                  <a:srgbClr val="000000"/>
                </a:solidFill>
                <a:effectLst/>
                <a:latin typeface="Verdana" panose="020B0604030504040204" pitchFamily="34" charset="0"/>
              </a:rPr>
              <a:t> element usually renders in </a:t>
            </a:r>
            <a:r>
              <a:rPr kumimoji="0" lang="en-US" altLang="en-US" sz="1400" b="0" i="1" u="none" strike="noStrike" cap="none" normalizeH="0" baseline="0" dirty="0">
                <a:ln>
                  <a:noFill/>
                </a:ln>
                <a:solidFill>
                  <a:srgbClr val="000000"/>
                </a:solidFill>
                <a:effectLst/>
                <a:latin typeface="Verdana" panose="020B0604030504040204" pitchFamily="34" charset="0"/>
              </a:rPr>
              <a:t>italic</a:t>
            </a:r>
            <a:r>
              <a:rPr kumimoji="0" lang="en-US" altLang="en-US" sz="1400" b="0" i="0" u="none" strike="noStrike" cap="none" normalizeH="0" baseline="0" dirty="0">
                <a:ln>
                  <a:noFill/>
                </a:ln>
                <a:solidFill>
                  <a:srgbClr val="000000"/>
                </a:solidFill>
                <a:effectLst/>
                <a:latin typeface="Verdana" panose="020B0604030504040204" pitchFamily="34" charset="0"/>
              </a:rPr>
              <a:t>.</a:t>
            </a:r>
            <a:endParaRPr kumimoji="0" lang="en-US" altLang="en-US" sz="1400" b="0" i="0" u="none" strike="noStrike" cap="none" normalizeH="0" baseline="0" dirty="0">
              <a:ln>
                <a:noFill/>
              </a:ln>
              <a:solidFill>
                <a:schemeClr val="tx1"/>
              </a:solidFill>
              <a:effectLst/>
            </a:endParaRPr>
          </a:p>
        </p:txBody>
      </p:sp>
      <p:pic>
        <p:nvPicPr>
          <p:cNvPr id="5" name="Picture 4"/>
          <p:cNvPicPr>
            <a:picLocks noChangeAspect="1"/>
          </p:cNvPicPr>
          <p:nvPr/>
        </p:nvPicPr>
        <p:blipFill>
          <a:blip r:embed="rId2"/>
          <a:stretch>
            <a:fillRect/>
          </a:stretch>
        </p:blipFill>
        <p:spPr>
          <a:xfrm>
            <a:off x="1038535" y="2774736"/>
            <a:ext cx="6451701" cy="2183762"/>
          </a:xfrm>
          <a:prstGeom prst="rect">
            <a:avLst/>
          </a:prstGeom>
        </p:spPr>
      </p:pic>
      <p:pic>
        <p:nvPicPr>
          <p:cNvPr id="6" name="Picture 5"/>
          <p:cNvPicPr>
            <a:picLocks noChangeAspect="1"/>
          </p:cNvPicPr>
          <p:nvPr/>
        </p:nvPicPr>
        <p:blipFill>
          <a:blip r:embed="rId3"/>
          <a:stretch>
            <a:fillRect/>
          </a:stretch>
        </p:blipFill>
        <p:spPr>
          <a:xfrm>
            <a:off x="7769994" y="2774736"/>
            <a:ext cx="3194214" cy="3822896"/>
          </a:xfrm>
          <a:prstGeom prst="rect">
            <a:avLst/>
          </a:prstGeom>
        </p:spPr>
      </p:pic>
    </p:spTree>
    <p:extLst>
      <p:ext uri="{BB962C8B-B14F-4D97-AF65-F5344CB8AC3E}">
        <p14:creationId xmlns:p14="http://schemas.microsoft.com/office/powerpoint/2010/main" val="1447647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&lt;</a:t>
            </a:r>
            <a:r>
              <a:rPr lang="en-US" b="1" dirty="0" err="1"/>
              <a:t>bdo</a:t>
            </a:r>
            <a:r>
              <a:rPr lang="en-US" b="1" dirty="0"/>
              <a:t>&gt; for Bi-Directional Override</a:t>
            </a:r>
          </a:p>
        </p:txBody>
      </p:sp>
      <p:sp>
        <p:nvSpPr>
          <p:cNvPr id="5" name="Rectangle 4"/>
          <p:cNvSpPr/>
          <p:nvPr/>
        </p:nvSpPr>
        <p:spPr>
          <a:xfrm>
            <a:off x="1022931" y="1690688"/>
            <a:ext cx="8224764" cy="646331"/>
          </a:xfrm>
          <a:prstGeom prst="rect">
            <a:avLst/>
          </a:prstGeom>
        </p:spPr>
        <p:txBody>
          <a:bodyPr wrap="square">
            <a:spAutoFit/>
          </a:bodyPr>
          <a:lstStyle/>
          <a:p>
            <a:pPr lvl="0" algn="just" eaLnBrk="0" fontAlgn="base" hangingPunct="0">
              <a:spcBef>
                <a:spcPct val="0"/>
              </a:spcBef>
              <a:spcAft>
                <a:spcPct val="0"/>
              </a:spcAft>
            </a:pPr>
            <a:r>
              <a:rPr lang="en-US" altLang="en-US" dirty="0">
                <a:solidFill>
                  <a:srgbClr val="000000"/>
                </a:solidFill>
                <a:latin typeface="Verdana" panose="020B0604030504040204" pitchFamily="34" charset="0"/>
              </a:rPr>
              <a:t>BDO stands for Bi-Directional Override.</a:t>
            </a:r>
            <a:endParaRPr lang="en-US" altLang="en-US" dirty="0"/>
          </a:p>
          <a:p>
            <a:pPr lvl="0" algn="just" eaLnBrk="0" fontAlgn="base" hangingPunct="0">
              <a:spcBef>
                <a:spcPct val="0"/>
              </a:spcBef>
              <a:spcAft>
                <a:spcPct val="0"/>
              </a:spcAft>
            </a:pPr>
            <a:r>
              <a:rPr lang="en-US" altLang="en-US" dirty="0">
                <a:solidFill>
                  <a:srgbClr val="000000"/>
                </a:solidFill>
                <a:latin typeface="Verdana" panose="020B0604030504040204" pitchFamily="34" charset="0"/>
              </a:rPr>
              <a:t>The HTML </a:t>
            </a:r>
            <a:r>
              <a:rPr lang="en-US" altLang="en-US" dirty="0">
                <a:solidFill>
                  <a:srgbClr val="DC143C"/>
                </a:solidFill>
                <a:latin typeface="Consolas" panose="020B0609020204030204" pitchFamily="49" charset="0"/>
              </a:rPr>
              <a:t>&lt;</a:t>
            </a:r>
            <a:r>
              <a:rPr lang="en-US" altLang="en-US" dirty="0" err="1">
                <a:solidFill>
                  <a:srgbClr val="DC143C"/>
                </a:solidFill>
                <a:latin typeface="Consolas" panose="020B0609020204030204" pitchFamily="49" charset="0"/>
              </a:rPr>
              <a:t>bdo</a:t>
            </a:r>
            <a:r>
              <a:rPr lang="en-US" altLang="en-US" dirty="0">
                <a:solidFill>
                  <a:srgbClr val="DC143C"/>
                </a:solidFill>
                <a:latin typeface="Consolas" panose="020B0609020204030204" pitchFamily="49" charset="0"/>
              </a:rPr>
              <a:t>&gt;</a:t>
            </a:r>
            <a:r>
              <a:rPr lang="en-US" altLang="en-US" dirty="0">
                <a:solidFill>
                  <a:srgbClr val="000000"/>
                </a:solidFill>
                <a:latin typeface="Verdana" panose="020B0604030504040204" pitchFamily="34" charset="0"/>
              </a:rPr>
              <a:t> tag is used to override the current text direction:</a:t>
            </a:r>
            <a:endParaRPr lang="en-US" altLang="en-US" dirty="0"/>
          </a:p>
        </p:txBody>
      </p:sp>
      <p:pic>
        <p:nvPicPr>
          <p:cNvPr id="6" name="Picture 5"/>
          <p:cNvPicPr>
            <a:picLocks noChangeAspect="1"/>
          </p:cNvPicPr>
          <p:nvPr/>
        </p:nvPicPr>
        <p:blipFill>
          <a:blip r:embed="rId2"/>
          <a:stretch>
            <a:fillRect/>
          </a:stretch>
        </p:blipFill>
        <p:spPr>
          <a:xfrm>
            <a:off x="1022931" y="2492012"/>
            <a:ext cx="6778157" cy="2341140"/>
          </a:xfrm>
          <a:prstGeom prst="rect">
            <a:avLst/>
          </a:prstGeom>
        </p:spPr>
      </p:pic>
      <p:pic>
        <p:nvPicPr>
          <p:cNvPr id="7" name="Picture 6"/>
          <p:cNvPicPr>
            <a:picLocks noChangeAspect="1"/>
          </p:cNvPicPr>
          <p:nvPr/>
        </p:nvPicPr>
        <p:blipFill>
          <a:blip r:embed="rId3"/>
          <a:stretch>
            <a:fillRect/>
          </a:stretch>
        </p:blipFill>
        <p:spPr>
          <a:xfrm>
            <a:off x="4771253" y="4988145"/>
            <a:ext cx="5816899" cy="1047804"/>
          </a:xfrm>
          <a:prstGeom prst="rect">
            <a:avLst/>
          </a:prstGeom>
        </p:spPr>
      </p:pic>
    </p:spTree>
    <p:extLst>
      <p:ext uri="{BB962C8B-B14F-4D97-AF65-F5344CB8AC3E}">
        <p14:creationId xmlns:p14="http://schemas.microsoft.com/office/powerpoint/2010/main" val="27000878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Table Tag</a:t>
            </a:r>
          </a:p>
        </p:txBody>
      </p:sp>
      <p:sp>
        <p:nvSpPr>
          <p:cNvPr id="3" name="Content Placeholder 2"/>
          <p:cNvSpPr>
            <a:spLocks noGrp="1"/>
          </p:cNvSpPr>
          <p:nvPr>
            <p:ph idx="1"/>
          </p:nvPr>
        </p:nvSpPr>
        <p:spPr/>
        <p:txBody>
          <a:bodyPr>
            <a:normAutofit/>
          </a:bodyPr>
          <a:lstStyle/>
          <a:p>
            <a:pPr algn="just"/>
            <a:r>
              <a:rPr lang="en-US" dirty="0"/>
              <a:t>In HTML (Hypertext Markup Language), the &lt;table&gt; tag is used to create a table on a web page. The &lt;table&gt; tag is used to define the start and end of a table, and everything inside the tags is considered part of the table.</a:t>
            </a:r>
          </a:p>
          <a:p>
            <a:pPr algn="just"/>
            <a:r>
              <a:rPr lang="en-US" dirty="0"/>
              <a:t>Within the &lt;table&gt; tag, you can use several other tags to create the structure of the table, including &lt;</a:t>
            </a:r>
            <a:r>
              <a:rPr lang="en-US" dirty="0" err="1"/>
              <a:t>tr</a:t>
            </a:r>
            <a:r>
              <a:rPr lang="en-US" dirty="0"/>
              <a:t>&gt; (table row), &lt;</a:t>
            </a:r>
            <a:r>
              <a:rPr lang="en-US" dirty="0" err="1"/>
              <a:t>th</a:t>
            </a:r>
            <a:r>
              <a:rPr lang="en-US" dirty="0"/>
              <a:t>&gt; (table header), and &lt;td&gt; (table data/cell).</a:t>
            </a:r>
          </a:p>
          <a:p>
            <a:pPr algn="just"/>
            <a:r>
              <a:rPr lang="en-US" dirty="0"/>
              <a:t>Here's an example of how the &lt;table&gt; tag can be used to create a simple table with two rows and two columns:</a:t>
            </a:r>
          </a:p>
        </p:txBody>
      </p:sp>
    </p:spTree>
    <p:extLst>
      <p:ext uri="{BB962C8B-B14F-4D97-AF65-F5344CB8AC3E}">
        <p14:creationId xmlns:p14="http://schemas.microsoft.com/office/powerpoint/2010/main" val="1459960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Table Tag</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&lt;table&gt;</a:t>
            </a:r>
          </a:p>
          <a:p>
            <a:pPr marL="0" indent="0">
              <a:buNone/>
            </a:pPr>
            <a:r>
              <a:rPr lang="en-US" dirty="0"/>
              <a:t>  &lt;</a:t>
            </a:r>
            <a:r>
              <a:rPr lang="en-US" dirty="0" err="1"/>
              <a:t>tr</a:t>
            </a:r>
            <a:r>
              <a:rPr lang="en-US" dirty="0"/>
              <a:t>&gt;</a:t>
            </a:r>
          </a:p>
          <a:p>
            <a:pPr marL="0" indent="0">
              <a:buNone/>
            </a:pPr>
            <a:r>
              <a:rPr lang="en-US" dirty="0"/>
              <a:t>    &lt;</a:t>
            </a:r>
            <a:r>
              <a:rPr lang="en-US" dirty="0" err="1"/>
              <a:t>th</a:t>
            </a:r>
            <a:r>
              <a:rPr lang="en-US" dirty="0"/>
              <a:t>&gt;Heading 1&lt;/</a:t>
            </a:r>
            <a:r>
              <a:rPr lang="en-US" dirty="0" err="1"/>
              <a:t>th</a:t>
            </a:r>
            <a:r>
              <a:rPr lang="en-US" dirty="0"/>
              <a:t>&gt;</a:t>
            </a:r>
          </a:p>
          <a:p>
            <a:pPr marL="0" indent="0">
              <a:buNone/>
            </a:pPr>
            <a:r>
              <a:rPr lang="en-US" dirty="0"/>
              <a:t>    &lt;</a:t>
            </a:r>
            <a:r>
              <a:rPr lang="en-US" dirty="0" err="1"/>
              <a:t>th</a:t>
            </a:r>
            <a:r>
              <a:rPr lang="en-US" dirty="0"/>
              <a:t>&gt;Heading 2&lt;/</a:t>
            </a:r>
            <a:r>
              <a:rPr lang="en-US" dirty="0" err="1"/>
              <a:t>th</a:t>
            </a:r>
            <a:r>
              <a:rPr lang="en-US" dirty="0"/>
              <a:t>&gt;</a:t>
            </a:r>
          </a:p>
          <a:p>
            <a:pPr marL="0" indent="0">
              <a:buNone/>
            </a:pPr>
            <a:r>
              <a:rPr lang="en-US" dirty="0"/>
              <a:t>  &lt;/</a:t>
            </a:r>
            <a:r>
              <a:rPr lang="en-US" dirty="0" err="1"/>
              <a:t>tr</a:t>
            </a:r>
            <a:r>
              <a:rPr lang="en-US" dirty="0"/>
              <a:t>&gt;</a:t>
            </a:r>
          </a:p>
          <a:p>
            <a:pPr marL="0" indent="0">
              <a:buNone/>
            </a:pPr>
            <a:r>
              <a:rPr lang="en-US" dirty="0"/>
              <a:t>  &lt;</a:t>
            </a:r>
            <a:r>
              <a:rPr lang="en-US" dirty="0" err="1"/>
              <a:t>tr</a:t>
            </a:r>
            <a:r>
              <a:rPr lang="en-US" dirty="0"/>
              <a:t>&gt;</a:t>
            </a:r>
          </a:p>
          <a:p>
            <a:pPr marL="0" indent="0">
              <a:buNone/>
            </a:pPr>
            <a:r>
              <a:rPr lang="en-US" dirty="0"/>
              <a:t>    &lt;td&gt;Data 1&lt;/td&gt;</a:t>
            </a:r>
          </a:p>
          <a:p>
            <a:pPr marL="0" indent="0">
              <a:buNone/>
            </a:pPr>
            <a:r>
              <a:rPr lang="en-US" dirty="0"/>
              <a:t>    &lt;td&gt;Data 2&lt;/td&gt;</a:t>
            </a:r>
          </a:p>
          <a:p>
            <a:pPr marL="0" indent="0">
              <a:buNone/>
            </a:pPr>
            <a:r>
              <a:rPr lang="en-US" dirty="0"/>
              <a:t>  &lt;/</a:t>
            </a:r>
            <a:r>
              <a:rPr lang="en-US" dirty="0" err="1"/>
              <a:t>tr</a:t>
            </a:r>
            <a:r>
              <a:rPr lang="en-US" dirty="0"/>
              <a:t>&gt;</a:t>
            </a:r>
          </a:p>
          <a:p>
            <a:pPr marL="0" indent="0">
              <a:buNone/>
            </a:pPr>
            <a:r>
              <a:rPr lang="en-US" dirty="0"/>
              <a:t>&lt;/table&gt;</a:t>
            </a:r>
          </a:p>
          <a:p>
            <a:pPr marL="0" indent="0">
              <a:buNone/>
            </a:pPr>
            <a:r>
              <a:rPr lang="en-US" dirty="0"/>
              <a:t>In this example, the first row (&lt;</a:t>
            </a:r>
            <a:r>
              <a:rPr lang="en-US" dirty="0" err="1"/>
              <a:t>tr</a:t>
            </a:r>
            <a:r>
              <a:rPr lang="en-US" dirty="0"/>
              <a:t>&gt;) contains two headers (&lt;</a:t>
            </a:r>
            <a:r>
              <a:rPr lang="en-US" dirty="0" err="1"/>
              <a:t>th</a:t>
            </a:r>
            <a:r>
              <a:rPr lang="en-US" dirty="0"/>
              <a:t>&gt;) for the two columns in the table. The second row also contains two cells (&lt;td&gt;), with the data for each column.</a:t>
            </a:r>
          </a:p>
        </p:txBody>
      </p:sp>
    </p:spTree>
    <p:extLst>
      <p:ext uri="{BB962C8B-B14F-4D97-AF65-F5344CB8AC3E}">
        <p14:creationId xmlns:p14="http://schemas.microsoft.com/office/powerpoint/2010/main" val="8042684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Autofit/>
          </a:bodyPr>
          <a:lstStyle/>
          <a:p>
            <a:pPr marL="0" indent="0">
              <a:buNone/>
            </a:pPr>
            <a:r>
              <a:rPr lang="en-US" sz="2000" dirty="0"/>
              <a:t>&lt;table border=2 </a:t>
            </a:r>
            <a:r>
              <a:rPr lang="en-US" sz="2000" dirty="0" err="1"/>
              <a:t>bordercolor</a:t>
            </a:r>
            <a:r>
              <a:rPr lang="en-US" sz="2000" dirty="0"/>
              <a:t>="red"&gt;</a:t>
            </a:r>
          </a:p>
          <a:p>
            <a:pPr marL="0" indent="0">
              <a:buNone/>
            </a:pPr>
            <a:r>
              <a:rPr lang="en-US" sz="2000" dirty="0"/>
              <a:t>  &lt;</a:t>
            </a:r>
            <a:r>
              <a:rPr lang="en-US" sz="2000" dirty="0" err="1"/>
              <a:t>tr</a:t>
            </a:r>
            <a:r>
              <a:rPr lang="en-US" sz="2000" dirty="0"/>
              <a:t>&gt;</a:t>
            </a:r>
          </a:p>
          <a:p>
            <a:pPr marL="0" indent="0">
              <a:buNone/>
            </a:pPr>
            <a:r>
              <a:rPr lang="en-US" sz="2000" dirty="0"/>
              <a:t>    &lt;</a:t>
            </a:r>
            <a:r>
              <a:rPr lang="en-US" sz="2000" dirty="0" err="1"/>
              <a:t>th</a:t>
            </a:r>
            <a:r>
              <a:rPr lang="en-US" sz="2000" dirty="0"/>
              <a:t>&gt;Row 1, Column 1&lt;/</a:t>
            </a:r>
            <a:r>
              <a:rPr lang="en-US" sz="2000" dirty="0" err="1"/>
              <a:t>th</a:t>
            </a:r>
            <a:r>
              <a:rPr lang="en-US" sz="2000" dirty="0"/>
              <a:t>&gt;</a:t>
            </a:r>
          </a:p>
          <a:p>
            <a:pPr marL="0" indent="0">
              <a:buNone/>
            </a:pPr>
            <a:r>
              <a:rPr lang="en-US" sz="2000" dirty="0"/>
              <a:t>    &lt;</a:t>
            </a:r>
            <a:r>
              <a:rPr lang="en-US" sz="2000" dirty="0" err="1"/>
              <a:t>th</a:t>
            </a:r>
            <a:r>
              <a:rPr lang="en-US" sz="2000" dirty="0"/>
              <a:t>&gt;Row 1, Column 2&lt;/</a:t>
            </a:r>
            <a:r>
              <a:rPr lang="en-US" sz="2000" dirty="0" err="1"/>
              <a:t>th</a:t>
            </a:r>
            <a:r>
              <a:rPr lang="en-US" sz="2000" dirty="0"/>
              <a:t>&gt;</a:t>
            </a:r>
          </a:p>
          <a:p>
            <a:pPr marL="0" indent="0">
              <a:buNone/>
            </a:pPr>
            <a:r>
              <a:rPr lang="en-US" sz="2000" dirty="0"/>
              <a:t>  &lt;/</a:t>
            </a:r>
            <a:r>
              <a:rPr lang="en-US" sz="2000" dirty="0" err="1"/>
              <a:t>tr</a:t>
            </a:r>
            <a:r>
              <a:rPr lang="en-US" sz="2000" dirty="0"/>
              <a:t>&gt;</a:t>
            </a:r>
          </a:p>
          <a:p>
            <a:pPr marL="0" indent="0">
              <a:buNone/>
            </a:pPr>
            <a:r>
              <a:rPr lang="en-US" sz="2000" dirty="0"/>
              <a:t>  &lt;</a:t>
            </a:r>
            <a:r>
              <a:rPr lang="en-US" sz="2000" dirty="0" err="1"/>
              <a:t>tr</a:t>
            </a:r>
            <a:r>
              <a:rPr lang="en-US" sz="2000" dirty="0"/>
              <a:t>&gt;</a:t>
            </a:r>
          </a:p>
          <a:p>
            <a:pPr marL="0" indent="0">
              <a:buNone/>
            </a:pPr>
            <a:r>
              <a:rPr lang="en-US" sz="2000" dirty="0"/>
              <a:t>    &lt;td&gt;Row 2, Column 1&lt;/td&gt;</a:t>
            </a:r>
          </a:p>
          <a:p>
            <a:pPr marL="0" indent="0">
              <a:buNone/>
            </a:pPr>
            <a:r>
              <a:rPr lang="en-US" sz="2000" dirty="0"/>
              <a:t>    &lt;td&gt;Row 2, Column 2&lt;/td&gt;</a:t>
            </a:r>
          </a:p>
          <a:p>
            <a:pPr marL="0" indent="0">
              <a:buNone/>
            </a:pPr>
            <a:r>
              <a:rPr lang="en-US" sz="2000" dirty="0"/>
              <a:t>  &lt;/</a:t>
            </a:r>
            <a:r>
              <a:rPr lang="en-US" sz="2000" dirty="0" err="1"/>
              <a:t>tr</a:t>
            </a:r>
            <a:r>
              <a:rPr lang="en-US" sz="2000" dirty="0"/>
              <a:t>&gt;</a:t>
            </a:r>
          </a:p>
          <a:p>
            <a:pPr marL="0" indent="0">
              <a:buNone/>
            </a:pPr>
            <a:r>
              <a:rPr lang="en-US" sz="2000" dirty="0"/>
              <a:t>&lt;/table&gt;</a:t>
            </a:r>
          </a:p>
          <a:p>
            <a:pPr marL="0" indent="0">
              <a:buNone/>
            </a:pPr>
            <a:endParaRPr lang="en-US" sz="2000" dirty="0"/>
          </a:p>
        </p:txBody>
      </p:sp>
      <p:pic>
        <p:nvPicPr>
          <p:cNvPr id="4" name="Picture 3"/>
          <p:cNvPicPr>
            <a:picLocks noChangeAspect="1"/>
          </p:cNvPicPr>
          <p:nvPr/>
        </p:nvPicPr>
        <p:blipFill>
          <a:blip r:embed="rId2"/>
          <a:stretch>
            <a:fillRect/>
          </a:stretch>
        </p:blipFill>
        <p:spPr>
          <a:xfrm>
            <a:off x="5340641" y="2944186"/>
            <a:ext cx="5705719" cy="1674948"/>
          </a:xfrm>
          <a:prstGeom prst="rect">
            <a:avLst/>
          </a:prstGeom>
        </p:spPr>
      </p:pic>
    </p:spTree>
    <p:extLst>
      <p:ext uri="{BB962C8B-B14F-4D97-AF65-F5344CB8AC3E}">
        <p14:creationId xmlns:p14="http://schemas.microsoft.com/office/powerpoint/2010/main" val="2254704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&lt;table border=2 </a:t>
            </a:r>
            <a:r>
              <a:rPr lang="en-US" dirty="0" err="1"/>
              <a:t>bordercolor</a:t>
            </a:r>
            <a:r>
              <a:rPr lang="en-US" dirty="0"/>
              <a:t>="green"&gt; </a:t>
            </a:r>
          </a:p>
          <a:p>
            <a:pPr marL="0" indent="0">
              <a:buNone/>
            </a:pPr>
            <a:r>
              <a:rPr lang="en-US" dirty="0"/>
              <a:t> &lt;</a:t>
            </a:r>
            <a:r>
              <a:rPr lang="en-US" dirty="0" err="1"/>
              <a:t>tr</a:t>
            </a:r>
            <a:r>
              <a:rPr lang="en-US" dirty="0"/>
              <a:t>&gt;</a:t>
            </a:r>
          </a:p>
          <a:p>
            <a:pPr marL="0" indent="0">
              <a:buNone/>
            </a:pPr>
            <a:r>
              <a:rPr lang="en-US" dirty="0"/>
              <a:t>    &lt;</a:t>
            </a:r>
            <a:r>
              <a:rPr lang="en-US" dirty="0" err="1"/>
              <a:t>th</a:t>
            </a:r>
            <a:r>
              <a:rPr lang="en-US" dirty="0"/>
              <a:t> </a:t>
            </a:r>
            <a:r>
              <a:rPr lang="en-US" dirty="0" err="1"/>
              <a:t>rowspan</a:t>
            </a:r>
            <a:r>
              <a:rPr lang="en-US" dirty="0"/>
              <a:t>="2"&gt;Row 1 and 2, Column 1&lt;/</a:t>
            </a:r>
            <a:r>
              <a:rPr lang="en-US" dirty="0" err="1"/>
              <a:t>th</a:t>
            </a:r>
            <a:r>
              <a:rPr lang="en-US" dirty="0"/>
              <a:t>&gt;</a:t>
            </a:r>
          </a:p>
          <a:p>
            <a:pPr marL="0" indent="0">
              <a:buNone/>
            </a:pPr>
            <a:r>
              <a:rPr lang="en-US" dirty="0"/>
              <a:t>    &lt;</a:t>
            </a:r>
            <a:r>
              <a:rPr lang="en-US" dirty="0" err="1"/>
              <a:t>th</a:t>
            </a:r>
            <a:r>
              <a:rPr lang="en-US" dirty="0"/>
              <a:t>&gt;Row 1, Column 2&lt;/</a:t>
            </a:r>
            <a:r>
              <a:rPr lang="en-US" dirty="0" err="1"/>
              <a:t>th</a:t>
            </a:r>
            <a:r>
              <a:rPr lang="en-US" dirty="0"/>
              <a:t>&gt;</a:t>
            </a:r>
          </a:p>
          <a:p>
            <a:pPr marL="0" indent="0">
              <a:buNone/>
            </a:pPr>
            <a:r>
              <a:rPr lang="en-US" dirty="0"/>
              <a:t>  &lt;/</a:t>
            </a:r>
            <a:r>
              <a:rPr lang="en-US" dirty="0" err="1"/>
              <a:t>tr</a:t>
            </a:r>
            <a:r>
              <a:rPr lang="en-US" dirty="0"/>
              <a:t>&gt;</a:t>
            </a:r>
          </a:p>
          <a:p>
            <a:pPr marL="0" indent="0">
              <a:buNone/>
            </a:pPr>
            <a:r>
              <a:rPr lang="en-US" dirty="0"/>
              <a:t>  &lt;</a:t>
            </a:r>
            <a:r>
              <a:rPr lang="en-US" dirty="0" err="1"/>
              <a:t>tr</a:t>
            </a:r>
            <a:r>
              <a:rPr lang="en-US" dirty="0"/>
              <a:t>&gt;</a:t>
            </a:r>
          </a:p>
          <a:p>
            <a:pPr marL="0" indent="0">
              <a:buNone/>
            </a:pPr>
            <a:r>
              <a:rPr lang="en-US" dirty="0"/>
              <a:t>    &lt;td&gt;Row 2, Column 2&lt;/td&gt;</a:t>
            </a:r>
          </a:p>
          <a:p>
            <a:pPr marL="0" indent="0">
              <a:buNone/>
            </a:pPr>
            <a:r>
              <a:rPr lang="en-US" dirty="0"/>
              <a:t>  &lt;/</a:t>
            </a:r>
            <a:r>
              <a:rPr lang="en-US" dirty="0" err="1"/>
              <a:t>tr</a:t>
            </a:r>
            <a:r>
              <a:rPr lang="en-US" dirty="0"/>
              <a:t>&gt;</a:t>
            </a:r>
          </a:p>
          <a:p>
            <a:pPr marL="0" indent="0">
              <a:buNone/>
            </a:pPr>
            <a:r>
              <a:rPr lang="en-US" dirty="0"/>
              <a:t>  &lt;</a:t>
            </a:r>
            <a:r>
              <a:rPr lang="en-US" dirty="0" err="1"/>
              <a:t>tr</a:t>
            </a:r>
            <a:r>
              <a:rPr lang="en-US" dirty="0"/>
              <a:t>&gt;</a:t>
            </a:r>
          </a:p>
          <a:p>
            <a:pPr marL="0" indent="0">
              <a:buNone/>
            </a:pPr>
            <a:r>
              <a:rPr lang="en-US" dirty="0"/>
              <a:t>    &lt;td </a:t>
            </a:r>
            <a:r>
              <a:rPr lang="en-US" dirty="0" err="1"/>
              <a:t>colspan</a:t>
            </a:r>
            <a:r>
              <a:rPr lang="en-US" dirty="0"/>
              <a:t>="2"&gt;Row 3, Columns 1 and 2&lt;/td&gt;</a:t>
            </a:r>
          </a:p>
          <a:p>
            <a:pPr marL="0" indent="0">
              <a:buNone/>
            </a:pPr>
            <a:r>
              <a:rPr lang="en-US" dirty="0"/>
              <a:t>  &lt;/</a:t>
            </a:r>
            <a:r>
              <a:rPr lang="en-US" dirty="0" err="1"/>
              <a:t>tr</a:t>
            </a:r>
            <a:r>
              <a:rPr lang="en-US" dirty="0"/>
              <a:t>&gt;</a:t>
            </a:r>
          </a:p>
          <a:p>
            <a:pPr marL="0" indent="0">
              <a:buNone/>
            </a:pPr>
            <a:r>
              <a:rPr lang="en-US" dirty="0"/>
              <a:t>&lt;/table&gt;</a:t>
            </a:r>
          </a:p>
        </p:txBody>
      </p:sp>
      <p:pic>
        <p:nvPicPr>
          <p:cNvPr id="4" name="Picture 3"/>
          <p:cNvPicPr>
            <a:picLocks noChangeAspect="1"/>
          </p:cNvPicPr>
          <p:nvPr/>
        </p:nvPicPr>
        <p:blipFill>
          <a:blip r:embed="rId2"/>
          <a:stretch>
            <a:fillRect/>
          </a:stretch>
        </p:blipFill>
        <p:spPr>
          <a:xfrm>
            <a:off x="6096000" y="2974852"/>
            <a:ext cx="5609243" cy="1757403"/>
          </a:xfrm>
          <a:prstGeom prst="rect">
            <a:avLst/>
          </a:prstGeom>
        </p:spPr>
      </p:pic>
    </p:spTree>
    <p:extLst>
      <p:ext uri="{BB962C8B-B14F-4D97-AF65-F5344CB8AC3E}">
        <p14:creationId xmlns:p14="http://schemas.microsoft.com/office/powerpoint/2010/main" val="29332279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HTML Quotation and citation element? List out the tags and describe it.</a:t>
            </a:r>
          </a:p>
          <a:p>
            <a:r>
              <a:rPr lang="en-US" dirty="0"/>
              <a:t>What is HTML &lt;Table&gt; tag? Try to make table as below:</a:t>
            </a:r>
          </a:p>
          <a:p>
            <a:endParaRPr lang="en-US" dirty="0"/>
          </a:p>
        </p:txBody>
      </p:sp>
      <p:pic>
        <p:nvPicPr>
          <p:cNvPr id="6" name="Picture 5"/>
          <p:cNvPicPr>
            <a:picLocks noChangeAspect="1"/>
          </p:cNvPicPr>
          <p:nvPr/>
        </p:nvPicPr>
        <p:blipFill>
          <a:blip r:embed="rId2"/>
          <a:stretch>
            <a:fillRect/>
          </a:stretch>
        </p:blipFill>
        <p:spPr>
          <a:xfrm>
            <a:off x="1762058" y="3710653"/>
            <a:ext cx="8907695" cy="2171671"/>
          </a:xfrm>
          <a:prstGeom prst="rect">
            <a:avLst/>
          </a:prstGeom>
        </p:spPr>
      </p:pic>
    </p:spTree>
    <p:extLst>
      <p:ext uri="{BB962C8B-B14F-4D97-AF65-F5344CB8AC3E}">
        <p14:creationId xmlns:p14="http://schemas.microsoft.com/office/powerpoint/2010/main" val="2395057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Form Tag</a:t>
            </a:r>
          </a:p>
        </p:txBody>
      </p:sp>
      <p:sp>
        <p:nvSpPr>
          <p:cNvPr id="3" name="Content Placeholder 2"/>
          <p:cNvSpPr>
            <a:spLocks noGrp="1"/>
          </p:cNvSpPr>
          <p:nvPr>
            <p:ph idx="1"/>
          </p:nvPr>
        </p:nvSpPr>
        <p:spPr/>
        <p:txBody>
          <a:bodyPr/>
          <a:lstStyle/>
          <a:p>
            <a:pPr algn="just"/>
            <a:r>
              <a:rPr lang="en-US" dirty="0"/>
              <a:t>The &lt;form&gt; tag in HTML is used to create an HTML form that allows users to input data that can be submitted to a web server for processing. </a:t>
            </a:r>
          </a:p>
          <a:p>
            <a:pPr algn="just"/>
            <a:r>
              <a:rPr lang="en-US" dirty="0"/>
              <a:t>The form element has several attributes that can be used to control its behavior and appearance. Here is a basic example of a simple form tag:</a:t>
            </a:r>
          </a:p>
        </p:txBody>
      </p:sp>
    </p:spTree>
    <p:extLst>
      <p:ext uri="{BB962C8B-B14F-4D97-AF65-F5344CB8AC3E}">
        <p14:creationId xmlns:p14="http://schemas.microsoft.com/office/powerpoint/2010/main" val="2987827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55000" lnSpcReduction="20000"/>
          </a:bodyPr>
          <a:lstStyle/>
          <a:p>
            <a:pPr marL="0" indent="0">
              <a:buNone/>
            </a:pPr>
            <a:r>
              <a:rPr lang="en-US" dirty="0"/>
              <a:t>&lt;html&gt;</a:t>
            </a:r>
          </a:p>
          <a:p>
            <a:pPr marL="0" indent="0">
              <a:buNone/>
            </a:pPr>
            <a:r>
              <a:rPr lang="en-US" dirty="0"/>
              <a:t>&lt;head&gt;</a:t>
            </a:r>
          </a:p>
          <a:p>
            <a:pPr marL="0" indent="0">
              <a:buNone/>
            </a:pPr>
            <a:r>
              <a:rPr lang="en-US" dirty="0"/>
              <a:t>&lt;title&gt; form&lt;/title&gt;</a:t>
            </a:r>
          </a:p>
          <a:p>
            <a:pPr marL="0" indent="0">
              <a:buNone/>
            </a:pPr>
            <a:r>
              <a:rPr lang="en-US" dirty="0"/>
              <a:t>&lt;/head&gt;</a:t>
            </a:r>
          </a:p>
          <a:p>
            <a:pPr marL="0" indent="0">
              <a:buNone/>
            </a:pPr>
            <a:r>
              <a:rPr lang="en-US" dirty="0"/>
              <a:t>&lt;body&gt;</a:t>
            </a:r>
          </a:p>
          <a:p>
            <a:pPr marL="0" indent="0">
              <a:buNone/>
            </a:pPr>
            <a:r>
              <a:rPr lang="en-US" dirty="0"/>
              <a:t>&lt;form action="</a:t>
            </a:r>
            <a:r>
              <a:rPr lang="en-US" dirty="0" err="1"/>
              <a:t>submit.php</a:t>
            </a:r>
            <a:r>
              <a:rPr lang="en-US" dirty="0"/>
              <a:t>" method="post"&gt;</a:t>
            </a:r>
          </a:p>
          <a:p>
            <a:pPr marL="0" indent="0">
              <a:buNone/>
            </a:pPr>
            <a:r>
              <a:rPr lang="en-US" dirty="0"/>
              <a:t>  &lt;label for="name"&gt;Name:&lt;/label&gt;</a:t>
            </a:r>
          </a:p>
          <a:p>
            <a:pPr marL="0" indent="0">
              <a:buNone/>
            </a:pPr>
            <a:r>
              <a:rPr lang="en-US" dirty="0"/>
              <a:t>  &lt;input type="text" id="name" name="</a:t>
            </a:r>
            <a:r>
              <a:rPr lang="en-US" dirty="0" err="1"/>
              <a:t>user_name</a:t>
            </a:r>
            <a:r>
              <a:rPr lang="en-US" dirty="0"/>
              <a:t>"&gt;</a:t>
            </a:r>
          </a:p>
          <a:p>
            <a:pPr marL="0" indent="0">
              <a:buNone/>
            </a:pPr>
            <a:r>
              <a:rPr lang="en-US" dirty="0"/>
              <a:t>  &lt;</a:t>
            </a:r>
            <a:r>
              <a:rPr lang="en-US" dirty="0" err="1"/>
              <a:t>br</a:t>
            </a:r>
            <a:r>
              <a:rPr lang="en-US" dirty="0"/>
              <a:t>&gt;&lt;</a:t>
            </a:r>
            <a:r>
              <a:rPr lang="en-US" dirty="0" err="1"/>
              <a:t>br</a:t>
            </a:r>
            <a:r>
              <a:rPr lang="en-US" dirty="0"/>
              <a:t>&gt;</a:t>
            </a:r>
          </a:p>
          <a:p>
            <a:pPr marL="0" indent="0">
              <a:buNone/>
            </a:pPr>
            <a:r>
              <a:rPr lang="en-US" dirty="0"/>
              <a:t>  &lt;label for="email"&gt;Email:&lt;/label&gt;</a:t>
            </a:r>
          </a:p>
          <a:p>
            <a:pPr marL="0" indent="0">
              <a:buNone/>
            </a:pPr>
            <a:r>
              <a:rPr lang="en-US" dirty="0"/>
              <a:t>  &lt;input type="email" id="email" name="</a:t>
            </a:r>
            <a:r>
              <a:rPr lang="en-US" dirty="0" err="1"/>
              <a:t>user_email</a:t>
            </a:r>
            <a:r>
              <a:rPr lang="en-US" dirty="0"/>
              <a:t>"&gt;</a:t>
            </a:r>
          </a:p>
          <a:p>
            <a:pPr marL="0" indent="0">
              <a:buNone/>
            </a:pPr>
            <a:r>
              <a:rPr lang="en-US" dirty="0"/>
              <a:t>  &lt;</a:t>
            </a:r>
            <a:r>
              <a:rPr lang="en-US" dirty="0" err="1"/>
              <a:t>br</a:t>
            </a:r>
            <a:r>
              <a:rPr lang="en-US" dirty="0"/>
              <a:t>&gt;&lt;</a:t>
            </a:r>
            <a:r>
              <a:rPr lang="en-US" dirty="0" err="1"/>
              <a:t>br</a:t>
            </a:r>
            <a:r>
              <a:rPr lang="en-US" dirty="0"/>
              <a:t>&gt;</a:t>
            </a:r>
          </a:p>
          <a:p>
            <a:pPr marL="0" indent="0">
              <a:buNone/>
            </a:pPr>
            <a:r>
              <a:rPr lang="en-US" dirty="0"/>
              <a:t>  &lt;label for="password"&gt;Password:&lt;/label&gt;</a:t>
            </a:r>
          </a:p>
          <a:p>
            <a:pPr marL="0" indent="0">
              <a:buNone/>
            </a:pPr>
            <a:r>
              <a:rPr lang="en-US" dirty="0"/>
              <a:t>  &lt;input type="password" id="password" name="</a:t>
            </a:r>
            <a:r>
              <a:rPr lang="en-US" dirty="0" err="1"/>
              <a:t>user_password</a:t>
            </a:r>
            <a:r>
              <a:rPr lang="en-US" dirty="0"/>
              <a:t>"&gt;</a:t>
            </a:r>
          </a:p>
          <a:p>
            <a:pPr marL="0" indent="0">
              <a:buNone/>
            </a:pPr>
            <a:r>
              <a:rPr lang="en-US" dirty="0"/>
              <a:t>  &lt;</a:t>
            </a:r>
            <a:r>
              <a:rPr lang="en-US" dirty="0" err="1"/>
              <a:t>br</a:t>
            </a:r>
            <a:r>
              <a:rPr lang="en-US" dirty="0"/>
              <a:t>&gt;&lt;</a:t>
            </a:r>
            <a:r>
              <a:rPr lang="en-US" dirty="0" err="1"/>
              <a:t>br</a:t>
            </a:r>
            <a:r>
              <a:rPr lang="en-US" dirty="0"/>
              <a:t>&gt;</a:t>
            </a:r>
          </a:p>
        </p:txBody>
      </p:sp>
    </p:spTree>
    <p:extLst>
      <p:ext uri="{BB962C8B-B14F-4D97-AF65-F5344CB8AC3E}">
        <p14:creationId xmlns:p14="http://schemas.microsoft.com/office/powerpoint/2010/main" val="20571090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a:xfrm>
            <a:off x="838200" y="1825625"/>
            <a:ext cx="11077280" cy="4867406"/>
          </a:xfrm>
        </p:spPr>
        <p:txBody>
          <a:bodyPr>
            <a:normAutofit fontScale="47500" lnSpcReduction="20000"/>
          </a:bodyPr>
          <a:lstStyle/>
          <a:p>
            <a:pPr marL="0" indent="0">
              <a:buNone/>
            </a:pPr>
            <a:r>
              <a:rPr lang="en-US" dirty="0"/>
              <a:t>&lt;label for="gender"&gt;Gender:&lt;/label&gt;</a:t>
            </a:r>
          </a:p>
          <a:p>
            <a:pPr marL="0" indent="0">
              <a:buNone/>
            </a:pPr>
            <a:r>
              <a:rPr lang="en-US" dirty="0"/>
              <a:t>  &lt;input type="radio" id="male" name="gender" value="male"&gt;</a:t>
            </a:r>
          </a:p>
          <a:p>
            <a:pPr marL="0" indent="0">
              <a:buNone/>
            </a:pPr>
            <a:r>
              <a:rPr lang="en-US" dirty="0"/>
              <a:t>  &lt;label for="male"&gt;Male&lt;/label&gt;</a:t>
            </a:r>
          </a:p>
          <a:p>
            <a:pPr marL="0" indent="0">
              <a:buNone/>
            </a:pPr>
            <a:r>
              <a:rPr lang="en-US" dirty="0"/>
              <a:t>  &lt;input type="radio" id="female" name="gender" value="female"&gt;</a:t>
            </a:r>
          </a:p>
          <a:p>
            <a:pPr marL="0" indent="0">
              <a:buNone/>
            </a:pPr>
            <a:r>
              <a:rPr lang="en-US" dirty="0"/>
              <a:t>  &lt;label for="female"&gt;Female&lt;/label&gt;</a:t>
            </a:r>
          </a:p>
          <a:p>
            <a:pPr marL="0" indent="0">
              <a:buNone/>
            </a:pPr>
            <a:r>
              <a:rPr lang="en-US" dirty="0"/>
              <a:t>  &lt;</a:t>
            </a:r>
            <a:r>
              <a:rPr lang="en-US" dirty="0" err="1"/>
              <a:t>br</a:t>
            </a:r>
            <a:r>
              <a:rPr lang="en-US" dirty="0"/>
              <a:t>&gt;&lt;</a:t>
            </a:r>
            <a:r>
              <a:rPr lang="en-US" dirty="0" err="1"/>
              <a:t>br</a:t>
            </a:r>
            <a:r>
              <a:rPr lang="en-US" dirty="0"/>
              <a:t>&gt;</a:t>
            </a:r>
          </a:p>
          <a:p>
            <a:pPr marL="0" indent="0">
              <a:buNone/>
            </a:pPr>
            <a:r>
              <a:rPr lang="en-US" dirty="0"/>
              <a:t>  &lt;label for="country"&gt;Country:&lt;/label&gt;</a:t>
            </a:r>
          </a:p>
          <a:p>
            <a:pPr marL="0" indent="0">
              <a:buNone/>
            </a:pPr>
            <a:r>
              <a:rPr lang="en-US" dirty="0"/>
              <a:t>  &lt;select id="country" name="</a:t>
            </a:r>
            <a:r>
              <a:rPr lang="en-US" dirty="0" err="1"/>
              <a:t>user_country</a:t>
            </a:r>
            <a:r>
              <a:rPr lang="en-US" dirty="0"/>
              <a:t>"&gt;</a:t>
            </a:r>
          </a:p>
          <a:p>
            <a:pPr marL="0" indent="0">
              <a:buNone/>
            </a:pPr>
            <a:r>
              <a:rPr lang="en-US" dirty="0"/>
              <a:t>    &lt;option value=""&gt;Select&lt;/option&gt;</a:t>
            </a:r>
          </a:p>
          <a:p>
            <a:pPr marL="0" indent="0">
              <a:buNone/>
            </a:pPr>
            <a:r>
              <a:rPr lang="en-US" dirty="0"/>
              <a:t>    &lt;option value="USA"&gt;USA&lt;/option&gt;</a:t>
            </a:r>
          </a:p>
          <a:p>
            <a:pPr marL="0" indent="0">
              <a:buNone/>
            </a:pPr>
            <a:r>
              <a:rPr lang="en-US" dirty="0"/>
              <a:t>    &lt;option value="UK"&gt;UK&lt;/option&gt;</a:t>
            </a:r>
          </a:p>
          <a:p>
            <a:pPr marL="0" indent="0">
              <a:buNone/>
            </a:pPr>
            <a:r>
              <a:rPr lang="en-US" dirty="0"/>
              <a:t>    &lt;option value="India"&gt;India&lt;/option&gt;</a:t>
            </a:r>
          </a:p>
          <a:p>
            <a:pPr marL="0" indent="0">
              <a:buNone/>
            </a:pPr>
            <a:r>
              <a:rPr lang="en-US" dirty="0"/>
              <a:t>  &lt;/select&gt;</a:t>
            </a:r>
          </a:p>
          <a:p>
            <a:pPr marL="0" indent="0">
              <a:buNone/>
            </a:pPr>
            <a:r>
              <a:rPr lang="en-US" dirty="0"/>
              <a:t>  &lt;</a:t>
            </a:r>
            <a:r>
              <a:rPr lang="en-US" dirty="0" err="1"/>
              <a:t>br</a:t>
            </a:r>
            <a:r>
              <a:rPr lang="en-US" dirty="0"/>
              <a:t>&gt;&lt;</a:t>
            </a:r>
            <a:r>
              <a:rPr lang="en-US" dirty="0" err="1"/>
              <a:t>br</a:t>
            </a:r>
            <a:r>
              <a:rPr lang="en-US" dirty="0"/>
              <a:t>&gt;</a:t>
            </a:r>
          </a:p>
          <a:p>
            <a:pPr marL="0" indent="0">
              <a:buNone/>
            </a:pPr>
            <a:r>
              <a:rPr lang="en-US" dirty="0"/>
              <a:t>  &lt;input type="submit" value="Submit"&gt;</a:t>
            </a:r>
          </a:p>
          <a:p>
            <a:pPr marL="0" indent="0">
              <a:buNone/>
            </a:pPr>
            <a:r>
              <a:rPr lang="en-US" dirty="0"/>
              <a:t>&lt;/form&gt; </a:t>
            </a:r>
          </a:p>
          <a:p>
            <a:pPr marL="0" indent="0">
              <a:buNone/>
            </a:pPr>
            <a:r>
              <a:rPr lang="en-US" dirty="0"/>
              <a:t>&lt;/body&gt;</a:t>
            </a:r>
          </a:p>
          <a:p>
            <a:pPr marL="0" indent="0">
              <a:buNone/>
            </a:pPr>
            <a:r>
              <a:rPr lang="en-US" dirty="0"/>
              <a:t>&lt;/html&gt;</a:t>
            </a:r>
          </a:p>
        </p:txBody>
      </p:sp>
      <p:pic>
        <p:nvPicPr>
          <p:cNvPr id="4" name="Picture 3"/>
          <p:cNvPicPr>
            <a:picLocks noChangeAspect="1"/>
          </p:cNvPicPr>
          <p:nvPr/>
        </p:nvPicPr>
        <p:blipFill>
          <a:blip r:embed="rId2"/>
          <a:stretch>
            <a:fillRect/>
          </a:stretch>
        </p:blipFill>
        <p:spPr>
          <a:xfrm>
            <a:off x="6716560" y="1921667"/>
            <a:ext cx="4904878" cy="4017219"/>
          </a:xfrm>
          <a:prstGeom prst="rect">
            <a:avLst/>
          </a:prstGeom>
        </p:spPr>
      </p:pic>
    </p:spTree>
    <p:extLst>
      <p:ext uri="{BB962C8B-B14F-4D97-AF65-F5344CB8AC3E}">
        <p14:creationId xmlns:p14="http://schemas.microsoft.com/office/powerpoint/2010/main" val="2178084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iframe (Inline Frame)</a:t>
            </a:r>
          </a:p>
        </p:txBody>
      </p:sp>
      <p:sp>
        <p:nvSpPr>
          <p:cNvPr id="3" name="Content Placeholder 2"/>
          <p:cNvSpPr>
            <a:spLocks noGrp="1"/>
          </p:cNvSpPr>
          <p:nvPr>
            <p:ph idx="1"/>
          </p:nvPr>
        </p:nvSpPr>
        <p:spPr/>
        <p:txBody>
          <a:bodyPr/>
          <a:lstStyle/>
          <a:p>
            <a:pPr algn="just"/>
            <a:r>
              <a:rPr lang="en-US" dirty="0"/>
              <a:t>An iframe (Inline Frame) is an HTML element used to embed another HTML document within the current document. It allows you to display content from another source or website within your own webpage.</a:t>
            </a:r>
          </a:p>
          <a:p>
            <a:pPr algn="just"/>
            <a:r>
              <a:rPr lang="en-US" dirty="0"/>
              <a:t>The iframe element in HTML is used to embed external content within a webpage, enabling the display of content from other sources like maps, videos, or widgets. It also facilitates cross-domain communication and modularization of code by allowing the integration of third-party services or the reuse of standalone HTML documents.</a:t>
            </a:r>
          </a:p>
        </p:txBody>
      </p:sp>
    </p:spTree>
    <p:extLst>
      <p:ext uri="{BB962C8B-B14F-4D97-AF65-F5344CB8AC3E}">
        <p14:creationId xmlns:p14="http://schemas.microsoft.com/office/powerpoint/2010/main" val="1132114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a:xfrm>
            <a:off x="838200" y="1825625"/>
            <a:ext cx="5345784" cy="4351338"/>
          </a:xfrm>
        </p:spPr>
        <p:txBody>
          <a:bodyPr>
            <a:normAutofit fontScale="92500" lnSpcReduction="20000"/>
          </a:bodyPr>
          <a:lstStyle/>
          <a:p>
            <a:pPr marL="0" indent="0">
              <a:buNone/>
            </a:pPr>
            <a:r>
              <a:rPr lang="en-US" dirty="0"/>
              <a:t>&lt;html&gt;</a:t>
            </a:r>
          </a:p>
          <a:p>
            <a:pPr marL="0" indent="0">
              <a:buNone/>
            </a:pPr>
            <a:r>
              <a:rPr lang="en-US" dirty="0"/>
              <a:t>&lt;head&gt;</a:t>
            </a:r>
          </a:p>
          <a:p>
            <a:pPr marL="0" indent="0">
              <a:buNone/>
            </a:pPr>
            <a:r>
              <a:rPr lang="en-US" dirty="0"/>
              <a:t>&lt;title&gt; iframe&lt;/title&gt;</a:t>
            </a:r>
          </a:p>
          <a:p>
            <a:pPr marL="0" indent="0">
              <a:buNone/>
            </a:pPr>
            <a:r>
              <a:rPr lang="en-US" dirty="0"/>
              <a:t>&lt;/head&gt;</a:t>
            </a:r>
          </a:p>
          <a:p>
            <a:pPr marL="0" indent="0">
              <a:buNone/>
            </a:pPr>
            <a:r>
              <a:rPr lang="en-US" dirty="0"/>
              <a:t>&lt;body&gt;</a:t>
            </a:r>
          </a:p>
          <a:p>
            <a:pPr marL="0" indent="0">
              <a:buNone/>
            </a:pPr>
            <a:r>
              <a:rPr lang="en-US" dirty="0"/>
              <a:t>&lt;iframe width="560" height="315" </a:t>
            </a:r>
            <a:r>
              <a:rPr lang="en-US" dirty="0" err="1"/>
              <a:t>src</a:t>
            </a:r>
            <a:r>
              <a:rPr lang="en-US" dirty="0"/>
              <a:t>="https://www.youtube.com/embed/JS5iRAxJ-0M" title="YouTube video player"&gt;&lt;/iframe&gt;</a:t>
            </a:r>
          </a:p>
          <a:p>
            <a:pPr marL="0" indent="0">
              <a:buNone/>
            </a:pPr>
            <a:r>
              <a:rPr lang="en-US" dirty="0"/>
              <a:t>&lt;/body&gt;</a:t>
            </a:r>
          </a:p>
          <a:p>
            <a:pPr marL="0" indent="0">
              <a:buNone/>
            </a:pPr>
            <a:r>
              <a:rPr lang="en-US" dirty="0"/>
              <a:t>&lt;/html&gt;</a:t>
            </a:r>
          </a:p>
        </p:txBody>
      </p:sp>
      <p:pic>
        <p:nvPicPr>
          <p:cNvPr id="4" name="Picture 3"/>
          <p:cNvPicPr>
            <a:picLocks noChangeAspect="1"/>
          </p:cNvPicPr>
          <p:nvPr/>
        </p:nvPicPr>
        <p:blipFill>
          <a:blip r:embed="rId2"/>
          <a:stretch>
            <a:fillRect/>
          </a:stretch>
        </p:blipFill>
        <p:spPr>
          <a:xfrm>
            <a:off x="6577102" y="1825625"/>
            <a:ext cx="5398081" cy="3839619"/>
          </a:xfrm>
          <a:prstGeom prst="rect">
            <a:avLst/>
          </a:prstGeom>
        </p:spPr>
      </p:pic>
    </p:spTree>
    <p:extLst>
      <p:ext uri="{BB962C8B-B14F-4D97-AF65-F5344CB8AC3E}">
        <p14:creationId xmlns:p14="http://schemas.microsoft.com/office/powerpoint/2010/main" val="8334901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Head Tag in HTML</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The &lt;head&gt; tag is an HTML element that is used to define the head section of a web page. It is typically placed after the opening &lt;html&gt; tag and before the &lt;body&gt; tag. The content within the &lt;head&gt; tag is not directly displayed on the web page but provides important information and instructions to browsers and search engines.</a:t>
            </a:r>
          </a:p>
          <a:p>
            <a:pPr marL="0" indent="0">
              <a:buNone/>
            </a:pPr>
            <a:r>
              <a:rPr lang="en-US" dirty="0"/>
              <a:t>Some common elements that can be included within the &lt;head&gt; tag are:</a:t>
            </a:r>
          </a:p>
          <a:p>
            <a:pPr marL="0" indent="0">
              <a:buNone/>
            </a:pPr>
            <a:endParaRPr lang="en-US" dirty="0"/>
          </a:p>
          <a:p>
            <a:r>
              <a:rPr lang="en-US" b="1" dirty="0"/>
              <a:t>&lt;title&gt;: </a:t>
            </a:r>
            <a:r>
              <a:rPr lang="en-US" dirty="0"/>
              <a:t>Specifies the title of the web page, which is displayed in the browser's title bar or tab.</a:t>
            </a:r>
          </a:p>
          <a:p>
            <a:pPr marL="0" indent="0">
              <a:buNone/>
            </a:pPr>
            <a:r>
              <a:rPr lang="en-US" dirty="0"/>
              <a:t>	Example: &lt;title&gt;My Web Page&lt;/title&gt;</a:t>
            </a:r>
          </a:p>
          <a:p>
            <a:endParaRPr lang="en-US" dirty="0"/>
          </a:p>
          <a:p>
            <a:r>
              <a:rPr lang="en-US" b="1" dirty="0"/>
              <a:t>&lt;meta&gt;: </a:t>
            </a:r>
            <a:r>
              <a:rPr lang="en-US" dirty="0"/>
              <a:t>Defines metadata about the document, such as character encoding, viewport settings, keywords, and descriptions.</a:t>
            </a:r>
          </a:p>
          <a:p>
            <a:pPr marL="0" indent="0">
              <a:buNone/>
            </a:pPr>
            <a:r>
              <a:rPr lang="en-US" dirty="0"/>
              <a:t>	Example: &lt;meta charset="UTF-8"&gt; (Specifies the character encoding as UTF-8)</a:t>
            </a:r>
          </a:p>
        </p:txBody>
      </p:sp>
    </p:spTree>
    <p:extLst>
      <p:ext uri="{BB962C8B-B14F-4D97-AF65-F5344CB8AC3E}">
        <p14:creationId xmlns:p14="http://schemas.microsoft.com/office/powerpoint/2010/main" val="34010404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Head Tag in HTML</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External resource references: </a:t>
            </a:r>
            <a:r>
              <a:rPr lang="en-US" dirty="0"/>
              <a:t>Links to external files like CSS stylesheets or JavaScript files.</a:t>
            </a:r>
          </a:p>
          <a:p>
            <a:pPr marL="0" indent="0">
              <a:buNone/>
            </a:pPr>
            <a:r>
              <a:rPr lang="en-US" dirty="0"/>
              <a:t>	Example: &lt;link </a:t>
            </a:r>
            <a:r>
              <a:rPr lang="en-US" dirty="0" err="1"/>
              <a:t>rel</a:t>
            </a:r>
            <a:r>
              <a:rPr lang="en-US" dirty="0"/>
              <a:t>="stylesheet" </a:t>
            </a:r>
            <a:r>
              <a:rPr lang="en-US" dirty="0" err="1"/>
              <a:t>href</a:t>
            </a:r>
            <a:r>
              <a:rPr lang="en-US" dirty="0"/>
              <a:t>="styles.css"&gt; (Links to an external 	CSS file)</a:t>
            </a:r>
          </a:p>
          <a:p>
            <a:endParaRPr lang="en-US" dirty="0"/>
          </a:p>
          <a:p>
            <a:r>
              <a:rPr lang="en-US" b="1" dirty="0"/>
              <a:t>Inline styles: </a:t>
            </a:r>
            <a:r>
              <a:rPr lang="en-US" dirty="0"/>
              <a:t>Style definitions that apply only to the current page.</a:t>
            </a:r>
          </a:p>
          <a:p>
            <a:pPr marL="0" indent="0">
              <a:buNone/>
            </a:pPr>
            <a:r>
              <a:rPr lang="en-US" dirty="0"/>
              <a:t>	Example: &lt;style&gt;body { background-color: #f2f2f2; }&lt;/style&gt;</a:t>
            </a:r>
          </a:p>
          <a:p>
            <a:endParaRPr lang="en-US" dirty="0"/>
          </a:p>
          <a:p>
            <a:r>
              <a:rPr lang="en-US" b="1" dirty="0"/>
              <a:t>Inline scripts: </a:t>
            </a:r>
            <a:r>
              <a:rPr lang="en-US" dirty="0"/>
              <a:t>JavaScript code that runs on the page.</a:t>
            </a:r>
          </a:p>
          <a:p>
            <a:pPr marL="0" indent="0">
              <a:buNone/>
            </a:pPr>
            <a:r>
              <a:rPr lang="en-US" dirty="0"/>
              <a:t>	Example: &lt;script&gt;alert('Hello, World!');&lt;/script&gt;</a:t>
            </a:r>
          </a:p>
        </p:txBody>
      </p:sp>
    </p:spTree>
    <p:extLst>
      <p:ext uri="{BB962C8B-B14F-4D97-AF65-F5344CB8AC3E}">
        <p14:creationId xmlns:p14="http://schemas.microsoft.com/office/powerpoint/2010/main" val="3176574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with Audio and Video</a:t>
            </a:r>
          </a:p>
        </p:txBody>
      </p:sp>
      <p:sp>
        <p:nvSpPr>
          <p:cNvPr id="3" name="Content Placeholder 2"/>
          <p:cNvSpPr>
            <a:spLocks noGrp="1"/>
          </p:cNvSpPr>
          <p:nvPr>
            <p:ph idx="1"/>
          </p:nvPr>
        </p:nvSpPr>
        <p:spPr/>
        <p:txBody>
          <a:bodyPr>
            <a:normAutofit lnSpcReduction="10000"/>
          </a:bodyPr>
          <a:lstStyle/>
          <a:p>
            <a:pPr algn="just"/>
            <a:r>
              <a:rPr lang="en-US" dirty="0"/>
              <a:t>When working with audio and video on a web page, you can use HTML5's &lt;audio&gt; and &lt;video&gt; elements along with their respective attributes and methods. Here's an example of how to embed audio and video in HTML:</a:t>
            </a:r>
          </a:p>
          <a:p>
            <a:pPr algn="just"/>
            <a:r>
              <a:rPr lang="en-US" b="1" dirty="0"/>
              <a:t>&lt;audio </a:t>
            </a:r>
            <a:r>
              <a:rPr lang="en-US" b="1" dirty="0" err="1"/>
              <a:t>src</a:t>
            </a:r>
            <a:r>
              <a:rPr lang="en-US" b="1" dirty="0"/>
              <a:t>="audio.mp3" controls&gt; Your browser does not support the audio element. &lt;/audio&gt;</a:t>
            </a:r>
          </a:p>
          <a:p>
            <a:pPr algn="just"/>
            <a:r>
              <a:rPr lang="en-US" i="1" dirty="0"/>
              <a:t>In this example, the </a:t>
            </a:r>
            <a:r>
              <a:rPr lang="en-US" i="1" dirty="0" err="1"/>
              <a:t>src</a:t>
            </a:r>
            <a:r>
              <a:rPr lang="en-US" i="1" dirty="0"/>
              <a:t> attribute specifies the URL of the audio file, and the controls attribute adds playback controls (play/pause, volume, etc.) to the audio player. The text "Your browser does not support the audio element." is displayed if the browser does not support HTML5 audio.</a:t>
            </a:r>
          </a:p>
        </p:txBody>
      </p:sp>
    </p:spTree>
    <p:extLst>
      <p:ext uri="{BB962C8B-B14F-4D97-AF65-F5344CB8AC3E}">
        <p14:creationId xmlns:p14="http://schemas.microsoft.com/office/powerpoint/2010/main" val="2517971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Working with Audio and Video</a:t>
            </a:r>
            <a:endParaRPr lang="en-US" dirty="0"/>
          </a:p>
        </p:txBody>
      </p:sp>
      <p:sp>
        <p:nvSpPr>
          <p:cNvPr id="3" name="Content Placeholder 2"/>
          <p:cNvSpPr>
            <a:spLocks noGrp="1"/>
          </p:cNvSpPr>
          <p:nvPr>
            <p:ph idx="1"/>
          </p:nvPr>
        </p:nvSpPr>
        <p:spPr/>
        <p:txBody>
          <a:bodyPr>
            <a:normAutofit/>
          </a:bodyPr>
          <a:lstStyle/>
          <a:p>
            <a:r>
              <a:rPr lang="en-US" b="1" dirty="0"/>
              <a:t>&lt;video </a:t>
            </a:r>
            <a:r>
              <a:rPr lang="en-US" b="1" dirty="0" err="1"/>
              <a:t>src</a:t>
            </a:r>
            <a:r>
              <a:rPr lang="en-US" b="1" dirty="0"/>
              <a:t>="video.mp4" controls&gt; Your browser does not support the video element. &lt;/video&gt;</a:t>
            </a:r>
          </a:p>
          <a:p>
            <a:r>
              <a:rPr lang="en-US" i="1" dirty="0"/>
              <a:t>Similar to the audio element, the </a:t>
            </a:r>
            <a:r>
              <a:rPr lang="en-US" i="1" dirty="0" err="1"/>
              <a:t>src</a:t>
            </a:r>
            <a:r>
              <a:rPr lang="en-US" i="1" dirty="0"/>
              <a:t> attribute specifies the URL of the video file, and the controls attribute adds video player controls. The fallback text is displayed if the browser does not support HTML5 video.</a:t>
            </a:r>
            <a:endParaRPr lang="en-US" dirty="0"/>
          </a:p>
          <a:p>
            <a:r>
              <a:rPr lang="en-US" dirty="0"/>
              <a:t>Both &lt;audio&gt; and &lt;video&gt; elements support additional attributes such as </a:t>
            </a:r>
            <a:r>
              <a:rPr lang="en-US" dirty="0" err="1"/>
              <a:t>autoplay</a:t>
            </a:r>
            <a:r>
              <a:rPr lang="en-US" dirty="0"/>
              <a:t>, loop, preload, and more. You can customize these elements further by using JavaScript or CSS to enhance their functionality and appearance.</a:t>
            </a:r>
          </a:p>
          <a:p>
            <a:endParaRPr lang="en-US" dirty="0"/>
          </a:p>
        </p:txBody>
      </p:sp>
    </p:spTree>
    <p:extLst>
      <p:ext uri="{BB962C8B-B14F-4D97-AF65-F5344CB8AC3E}">
        <p14:creationId xmlns:p14="http://schemas.microsoft.com/office/powerpoint/2010/main" val="35273429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Iframe in HTML? Giver proper example of Iframe.</a:t>
            </a:r>
          </a:p>
          <a:p>
            <a:r>
              <a:rPr lang="en-US" dirty="0"/>
              <a:t>What is &lt;audio&gt; and &lt;video&gt; tag? How can we implement it? Give proper example.</a:t>
            </a:r>
          </a:p>
        </p:txBody>
      </p:sp>
    </p:spTree>
    <p:extLst>
      <p:ext uri="{BB962C8B-B14F-4D97-AF65-F5344CB8AC3E}">
        <p14:creationId xmlns:p14="http://schemas.microsoft.com/office/powerpoint/2010/main" val="21101410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Sectioning/Layout Elements</a:t>
            </a:r>
          </a:p>
        </p:txBody>
      </p:sp>
      <p:sp>
        <p:nvSpPr>
          <p:cNvPr id="3" name="Content Placeholder 2"/>
          <p:cNvSpPr>
            <a:spLocks noGrp="1"/>
          </p:cNvSpPr>
          <p:nvPr>
            <p:ph idx="1"/>
          </p:nvPr>
        </p:nvSpPr>
        <p:spPr/>
        <p:txBody>
          <a:bodyPr>
            <a:normAutofit fontScale="92500" lnSpcReduction="20000"/>
          </a:bodyPr>
          <a:lstStyle/>
          <a:p>
            <a:pPr algn="just"/>
            <a:r>
              <a:rPr lang="en-US" dirty="0"/>
              <a:t>HTML layout refers to the structure and arrangement of elements within an HTML document. It involves organizing and positioning various HTML elements to create a visually appealing and well-structured web page.</a:t>
            </a:r>
          </a:p>
          <a:p>
            <a:pPr marL="0" indent="0" algn="just">
              <a:buNone/>
            </a:pPr>
            <a:endParaRPr lang="en-US" dirty="0"/>
          </a:p>
          <a:p>
            <a:pPr algn="just"/>
            <a:r>
              <a:rPr lang="en-US" dirty="0"/>
              <a:t>In addition to these semantic elements, HTML also provides elements for creating grids, columns, and other layout structures. CSS (Cascading Style Sheets) is commonly used alongside HTML to control the presentation and styling of the layout elements.</a:t>
            </a:r>
          </a:p>
          <a:p>
            <a:pPr algn="just"/>
            <a:endParaRPr lang="en-US" dirty="0"/>
          </a:p>
          <a:p>
            <a:pPr algn="just"/>
            <a:r>
              <a:rPr lang="en-US" dirty="0"/>
              <a:t>HTML provides a set of elements that are used to define the different sections of a webpage. Some commonly used HTML layout elements include:</a:t>
            </a:r>
          </a:p>
        </p:txBody>
      </p:sp>
    </p:spTree>
    <p:extLst>
      <p:ext uri="{BB962C8B-B14F-4D97-AF65-F5344CB8AC3E}">
        <p14:creationId xmlns:p14="http://schemas.microsoft.com/office/powerpoint/2010/main" val="4078108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Sectioning/Layout Elements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&lt;header&gt;: Defines the top section of a webpage, typically containing the site's logo, navigation menu, or other introductory content.</a:t>
            </a:r>
          </a:p>
          <a:p>
            <a:pPr algn="just"/>
            <a:r>
              <a:rPr lang="en-US" dirty="0"/>
              <a:t>&lt;</a:t>
            </a:r>
            <a:r>
              <a:rPr lang="en-US" dirty="0" err="1"/>
              <a:t>nav</a:t>
            </a:r>
            <a:r>
              <a:rPr lang="en-US" dirty="0"/>
              <a:t>&gt;: Represents a section of navigation links.</a:t>
            </a:r>
          </a:p>
          <a:p>
            <a:pPr algn="just"/>
            <a:r>
              <a:rPr lang="en-US" dirty="0"/>
              <a:t>&lt;main&gt;: Defines the main content area of the webpage, containing the primary content.</a:t>
            </a:r>
          </a:p>
          <a:p>
            <a:pPr algn="just"/>
            <a:r>
              <a:rPr lang="en-US" dirty="0"/>
              <a:t>&lt;section&gt;: Represents a standalone section within a document, such as chapters, articles, or segmented content.</a:t>
            </a:r>
          </a:p>
          <a:p>
            <a:pPr algn="just"/>
            <a:r>
              <a:rPr lang="en-US" dirty="0"/>
              <a:t>&lt;article&gt;: Defines an independent piece of content that can be distributed or reused on its own.</a:t>
            </a:r>
          </a:p>
          <a:p>
            <a:pPr algn="just"/>
            <a:r>
              <a:rPr lang="en-US" dirty="0"/>
              <a:t>&lt;aside&gt;: Represents content that is tangentially related to the main content, such as sidebars or pull quotes.</a:t>
            </a:r>
          </a:p>
          <a:p>
            <a:pPr algn="just"/>
            <a:r>
              <a:rPr lang="en-US" dirty="0"/>
              <a:t>&lt;footer&gt;: Defines the bottom section of a webpage, typically containing information about the author, copyright notice, or links to related documents.</a:t>
            </a:r>
          </a:p>
        </p:txBody>
      </p:sp>
    </p:spTree>
    <p:extLst>
      <p:ext uri="{BB962C8B-B14F-4D97-AF65-F5344CB8AC3E}">
        <p14:creationId xmlns:p14="http://schemas.microsoft.com/office/powerpoint/2010/main" val="10879588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Sectioning/Layout Elements</a:t>
            </a:r>
            <a:endParaRPr lang="en-US" dirty="0"/>
          </a:p>
        </p:txBody>
      </p:sp>
      <p:pic>
        <p:nvPicPr>
          <p:cNvPr id="4" name="Content Placeholder 3"/>
          <p:cNvPicPr>
            <a:picLocks noGrp="1" noChangeAspect="1"/>
          </p:cNvPicPr>
          <p:nvPr>
            <p:ph idx="1"/>
          </p:nvPr>
        </p:nvPicPr>
        <p:blipFill>
          <a:blip r:embed="rId2"/>
          <a:stretch>
            <a:fillRect/>
          </a:stretch>
        </p:blipFill>
        <p:spPr>
          <a:xfrm>
            <a:off x="1710712" y="1690688"/>
            <a:ext cx="4171613" cy="4927870"/>
          </a:xfrm>
          <a:prstGeom prst="rect">
            <a:avLst/>
          </a:prstGeom>
        </p:spPr>
      </p:pic>
      <p:sp>
        <p:nvSpPr>
          <p:cNvPr id="5" name="Rectangle 4"/>
          <p:cNvSpPr/>
          <p:nvPr/>
        </p:nvSpPr>
        <p:spPr>
          <a:xfrm>
            <a:off x="5986020" y="2756324"/>
            <a:ext cx="6096000" cy="1477328"/>
          </a:xfrm>
          <a:prstGeom prst="rect">
            <a:avLst/>
          </a:prstGeom>
        </p:spPr>
        <p:txBody>
          <a:bodyPr>
            <a:spAutoFit/>
          </a:bodyPr>
          <a:lstStyle/>
          <a:p>
            <a:pPr algn="just"/>
            <a:r>
              <a:rPr lang="en-US" dirty="0"/>
              <a:t>It's important to note that these tag does not have any specific styling or behavior associated with it by default. Its purpose is to provide a semantic structure for content, and its presentation can be customized using CSS according to the design requirements of the webpage.</a:t>
            </a:r>
          </a:p>
        </p:txBody>
      </p:sp>
    </p:spTree>
    <p:extLst>
      <p:ext uri="{BB962C8B-B14F-4D97-AF65-F5344CB8AC3E}">
        <p14:creationId xmlns:p14="http://schemas.microsoft.com/office/powerpoint/2010/main" val="4040141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213" y="402833"/>
            <a:ext cx="10515600" cy="1325563"/>
          </a:xfrm>
        </p:spPr>
        <p:txBody>
          <a:bodyPr/>
          <a:lstStyle/>
          <a:p>
            <a:r>
              <a:rPr lang="en-US" b="1" dirty="0"/>
              <a:t>HTML Sectioning/Layout Elements</a:t>
            </a:r>
            <a:endParaRPr lang="en-US" dirty="0"/>
          </a:p>
        </p:txBody>
      </p:sp>
      <p:pic>
        <p:nvPicPr>
          <p:cNvPr id="4" name="Content Placeholder 3"/>
          <p:cNvPicPr>
            <a:picLocks noGrp="1" noChangeAspect="1"/>
          </p:cNvPicPr>
          <p:nvPr>
            <p:ph idx="1"/>
          </p:nvPr>
        </p:nvPicPr>
        <p:blipFill>
          <a:blip r:embed="rId2"/>
          <a:stretch>
            <a:fillRect/>
          </a:stretch>
        </p:blipFill>
        <p:spPr>
          <a:xfrm>
            <a:off x="979603" y="2574534"/>
            <a:ext cx="10515600" cy="3928177"/>
          </a:xfrm>
          <a:prstGeom prst="rect">
            <a:avLst/>
          </a:prstGeom>
        </p:spPr>
      </p:pic>
      <p:sp>
        <p:nvSpPr>
          <p:cNvPr id="5" name="TextBox 4"/>
          <p:cNvSpPr txBox="1"/>
          <p:nvPr/>
        </p:nvSpPr>
        <p:spPr>
          <a:xfrm>
            <a:off x="4223209" y="2007910"/>
            <a:ext cx="4289195" cy="369332"/>
          </a:xfrm>
          <a:prstGeom prst="rect">
            <a:avLst/>
          </a:prstGeom>
          <a:noFill/>
        </p:spPr>
        <p:txBody>
          <a:bodyPr wrap="square" rtlCol="0">
            <a:spAutoFit/>
          </a:bodyPr>
          <a:lstStyle/>
          <a:p>
            <a:r>
              <a:rPr lang="en-US" b="1" dirty="0"/>
              <a:t>Try to make this using HTML Layout tags</a:t>
            </a:r>
          </a:p>
        </p:txBody>
      </p:sp>
    </p:spTree>
    <p:extLst>
      <p:ext uri="{BB962C8B-B14F-4D97-AF65-F5344CB8AC3E}">
        <p14:creationId xmlns:p14="http://schemas.microsoft.com/office/powerpoint/2010/main" val="2934907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DIV Tag</a:t>
            </a:r>
          </a:p>
        </p:txBody>
      </p:sp>
      <p:sp>
        <p:nvSpPr>
          <p:cNvPr id="3" name="Content Placeholder 2"/>
          <p:cNvSpPr>
            <a:spLocks noGrp="1"/>
          </p:cNvSpPr>
          <p:nvPr>
            <p:ph idx="1"/>
          </p:nvPr>
        </p:nvSpPr>
        <p:spPr/>
        <p:txBody>
          <a:bodyPr>
            <a:normAutofit fontScale="92500" lnSpcReduction="10000"/>
          </a:bodyPr>
          <a:lstStyle/>
          <a:p>
            <a:pPr algn="just" fontAlgn="base"/>
            <a:r>
              <a:rPr lang="en-US" dirty="0"/>
              <a:t>The div tag is known as Division tag. The div tag is used in HTML to make divisions of content in the web page like (text, images, header, footer, navigation bar, </a:t>
            </a:r>
            <a:r>
              <a:rPr lang="en-US" dirty="0" err="1"/>
              <a:t>etc</a:t>
            </a:r>
            <a:r>
              <a:rPr lang="en-US" dirty="0"/>
              <a:t>).</a:t>
            </a:r>
          </a:p>
          <a:p>
            <a:pPr algn="just" fontAlgn="base"/>
            <a:r>
              <a:rPr lang="en-US" dirty="0"/>
              <a:t> Div tag has both open (&lt;div&gt;) and closing (&lt;/div&gt;) tag and it is mandatory to close the tag. </a:t>
            </a:r>
          </a:p>
          <a:p>
            <a:pPr algn="just" fontAlgn="base"/>
            <a:r>
              <a:rPr lang="en-US" dirty="0"/>
              <a:t>The Div is the most usable tag in web development because it helps us to separate out data in the web page and we can create a particular section for particular data or function in the web pages.</a:t>
            </a:r>
          </a:p>
          <a:p>
            <a:pPr lvl="1" fontAlgn="base"/>
            <a:r>
              <a:rPr lang="en-US" dirty="0"/>
              <a:t>Div tag is Block level tag</a:t>
            </a:r>
          </a:p>
          <a:p>
            <a:pPr lvl="1" fontAlgn="base"/>
            <a:r>
              <a:rPr lang="en-US" dirty="0"/>
              <a:t>It is a generic container tag</a:t>
            </a:r>
          </a:p>
          <a:p>
            <a:pPr lvl="1" fontAlgn="base"/>
            <a:r>
              <a:rPr lang="en-US" dirty="0"/>
              <a:t>It is used to group various tags of HTML so that sections can be created and styles can be applied to them.</a:t>
            </a:r>
          </a:p>
        </p:txBody>
      </p:sp>
    </p:spTree>
    <p:extLst>
      <p:ext uri="{BB962C8B-B14F-4D97-AF65-F5344CB8AC3E}">
        <p14:creationId xmlns:p14="http://schemas.microsoft.com/office/powerpoint/2010/main" val="103704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DIV Attributes</a:t>
            </a:r>
          </a:p>
        </p:txBody>
      </p:sp>
      <p:sp>
        <p:nvSpPr>
          <p:cNvPr id="3" name="Content Placeholder 2"/>
          <p:cNvSpPr>
            <a:spLocks noGrp="1"/>
          </p:cNvSpPr>
          <p:nvPr>
            <p:ph idx="1"/>
          </p:nvPr>
        </p:nvSpPr>
        <p:spPr/>
        <p:txBody>
          <a:bodyPr>
            <a:normAutofit fontScale="77500" lnSpcReduction="20000"/>
          </a:bodyPr>
          <a:lstStyle/>
          <a:p>
            <a:pPr algn="just"/>
            <a:r>
              <a:rPr lang="en-US" dirty="0"/>
              <a:t>The &lt;div&gt; element in HTML is a versatile container that can have various attributes assigned to it to modify its behavior or provide additional information. Here are some commonly used attributes with the &lt;div&gt; element:</a:t>
            </a:r>
          </a:p>
          <a:p>
            <a:pPr algn="just"/>
            <a:endParaRPr lang="en-US" dirty="0"/>
          </a:p>
          <a:p>
            <a:pPr algn="just"/>
            <a:r>
              <a:rPr lang="en-US" b="1" dirty="0"/>
              <a:t>class: </a:t>
            </a:r>
            <a:r>
              <a:rPr lang="en-US" dirty="0"/>
              <a:t>Specifies one or more CSS classes to apply to the &lt;div&gt;. It allows you to target and style the &lt;div&gt; using CSS or apply specific behaviors using JavaScript.</a:t>
            </a:r>
          </a:p>
          <a:p>
            <a:pPr marL="0" indent="0" algn="just">
              <a:buNone/>
            </a:pPr>
            <a:endParaRPr lang="en-US" dirty="0"/>
          </a:p>
          <a:p>
            <a:pPr algn="just"/>
            <a:r>
              <a:rPr lang="en-US" b="1" dirty="0"/>
              <a:t>id: </a:t>
            </a:r>
            <a:r>
              <a:rPr lang="en-US" dirty="0"/>
              <a:t>Assigns a unique identifier to the &lt;div&gt;. This identifier can be used to target the element for styling or scripting purposes. Unlike the class attribute, the id attribute should be unique within the HTML document.</a:t>
            </a:r>
          </a:p>
          <a:p>
            <a:pPr algn="just"/>
            <a:endParaRPr lang="en-US" dirty="0"/>
          </a:p>
          <a:p>
            <a:pPr algn="just"/>
            <a:r>
              <a:rPr lang="en-US" b="1" dirty="0"/>
              <a:t>style: </a:t>
            </a:r>
            <a:r>
              <a:rPr lang="en-US" dirty="0"/>
              <a:t>Allows you to define inline CSS styles directly on the &lt;div&gt;. You can specify various CSS properties and values to control the appearance and layout of the &lt;div&gt;.</a:t>
            </a:r>
          </a:p>
        </p:txBody>
      </p:sp>
    </p:spTree>
    <p:extLst>
      <p:ext uri="{BB962C8B-B14F-4D97-AF65-F5344CB8AC3E}">
        <p14:creationId xmlns:p14="http://schemas.microsoft.com/office/powerpoint/2010/main" val="23618185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Attribute</a:t>
            </a:r>
          </a:p>
        </p:txBody>
      </p:sp>
      <p:sp>
        <p:nvSpPr>
          <p:cNvPr id="3" name="Content Placeholder 2"/>
          <p:cNvSpPr>
            <a:spLocks noGrp="1"/>
          </p:cNvSpPr>
          <p:nvPr>
            <p:ph idx="1"/>
          </p:nvPr>
        </p:nvSpPr>
        <p:spPr/>
        <p:txBody>
          <a:bodyPr/>
          <a:lstStyle/>
          <a:p>
            <a:pPr algn="just"/>
            <a:r>
              <a:rPr lang="en-US" dirty="0"/>
              <a:t>The class attribute is often used to point to a class name in a style sheet. It can also be used by a JavaScript to access and manipulate elements with the specific class name.</a:t>
            </a:r>
          </a:p>
          <a:p>
            <a:pPr algn="just"/>
            <a:r>
              <a:rPr lang="en-US" dirty="0"/>
              <a:t>In the following example we have three &lt;div&gt; elements with a class attribute with the value of "city". All of the three &lt;div&gt; elements will be styled equally according to the .city style definition in the head section:</a:t>
            </a:r>
          </a:p>
        </p:txBody>
      </p:sp>
    </p:spTree>
    <p:extLst>
      <p:ext uri="{BB962C8B-B14F-4D97-AF65-F5344CB8AC3E}">
        <p14:creationId xmlns:p14="http://schemas.microsoft.com/office/powerpoint/2010/main" val="8381757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6" name="Picture 5"/>
          <p:cNvPicPr>
            <a:picLocks noChangeAspect="1"/>
          </p:cNvPicPr>
          <p:nvPr/>
        </p:nvPicPr>
        <p:blipFill>
          <a:blip r:embed="rId2"/>
          <a:stretch>
            <a:fillRect/>
          </a:stretch>
        </p:blipFill>
        <p:spPr>
          <a:xfrm>
            <a:off x="6880518" y="3375195"/>
            <a:ext cx="3841947" cy="1365320"/>
          </a:xfrm>
          <a:prstGeom prst="rect">
            <a:avLst/>
          </a:prstGeom>
        </p:spPr>
      </p:pic>
      <p:pic>
        <p:nvPicPr>
          <p:cNvPr id="8" name="Picture 7"/>
          <p:cNvPicPr>
            <a:picLocks noChangeAspect="1"/>
          </p:cNvPicPr>
          <p:nvPr/>
        </p:nvPicPr>
        <p:blipFill>
          <a:blip r:embed="rId3"/>
          <a:stretch>
            <a:fillRect/>
          </a:stretch>
        </p:blipFill>
        <p:spPr>
          <a:xfrm>
            <a:off x="1612670" y="1997174"/>
            <a:ext cx="4483330" cy="4121362"/>
          </a:xfrm>
          <a:prstGeom prst="rect">
            <a:avLst/>
          </a:prstGeom>
        </p:spPr>
      </p:pic>
    </p:spTree>
    <p:extLst>
      <p:ext uri="{BB962C8B-B14F-4D97-AF65-F5344CB8AC3E}">
        <p14:creationId xmlns:p14="http://schemas.microsoft.com/office/powerpoint/2010/main" val="28303325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ID Attribute</a:t>
            </a:r>
          </a:p>
        </p:txBody>
      </p:sp>
      <p:sp>
        <p:nvSpPr>
          <p:cNvPr id="3" name="Content Placeholder 2"/>
          <p:cNvSpPr>
            <a:spLocks noGrp="1"/>
          </p:cNvSpPr>
          <p:nvPr>
            <p:ph idx="1"/>
          </p:nvPr>
        </p:nvSpPr>
        <p:spPr/>
        <p:txBody>
          <a:bodyPr>
            <a:normAutofit fontScale="92500" lnSpcReduction="20000"/>
          </a:bodyPr>
          <a:lstStyle/>
          <a:p>
            <a:pPr algn="just"/>
            <a:r>
              <a:rPr lang="en-US" dirty="0"/>
              <a:t>The id attribute specifies a unique id for an HTML element. The value of the id attribute must be unique within the HTML document.</a:t>
            </a:r>
          </a:p>
          <a:p>
            <a:pPr marL="0" indent="0" algn="just">
              <a:buNone/>
            </a:pPr>
            <a:endParaRPr lang="en-US" dirty="0"/>
          </a:p>
          <a:p>
            <a:pPr algn="just"/>
            <a:r>
              <a:rPr lang="en-US" dirty="0"/>
              <a:t>The id attribute is used to point to a specific style declaration in a style sheet. It is also used by JavaScript to access and manipulate the element with the specific id.</a:t>
            </a:r>
          </a:p>
          <a:p>
            <a:pPr algn="just"/>
            <a:endParaRPr lang="en-US" dirty="0"/>
          </a:p>
          <a:p>
            <a:pPr algn="just"/>
            <a:r>
              <a:rPr lang="en-US" dirty="0"/>
              <a:t>The syntax for id is: write a hash character (#), followed by an id name. Then, define the CSS properties within curly braces {}.</a:t>
            </a:r>
          </a:p>
          <a:p>
            <a:pPr marL="0" indent="0" algn="just">
              <a:buNone/>
            </a:pPr>
            <a:endParaRPr lang="en-US" dirty="0"/>
          </a:p>
          <a:p>
            <a:pPr algn="just"/>
            <a:r>
              <a:rPr lang="en-US" dirty="0"/>
              <a:t>A class name can be used by multiple HTML elements, while an id name must only be used by one HTML element within the page.</a:t>
            </a:r>
          </a:p>
        </p:txBody>
      </p:sp>
    </p:spTree>
    <p:extLst>
      <p:ext uri="{BB962C8B-B14F-4D97-AF65-F5344CB8AC3E}">
        <p14:creationId xmlns:p14="http://schemas.microsoft.com/office/powerpoint/2010/main" val="3076622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384058" y="2253967"/>
            <a:ext cx="4711942" cy="3683189"/>
          </a:xfrm>
          <a:prstGeom prst="rect">
            <a:avLst/>
          </a:prstGeom>
        </p:spPr>
      </p:pic>
      <p:pic>
        <p:nvPicPr>
          <p:cNvPr id="5" name="Picture 4"/>
          <p:cNvPicPr>
            <a:picLocks noChangeAspect="1"/>
          </p:cNvPicPr>
          <p:nvPr/>
        </p:nvPicPr>
        <p:blipFill>
          <a:blip r:embed="rId3"/>
          <a:stretch>
            <a:fillRect/>
          </a:stretch>
        </p:blipFill>
        <p:spPr>
          <a:xfrm>
            <a:off x="6250966" y="2997624"/>
            <a:ext cx="5874052" cy="2597283"/>
          </a:xfrm>
          <a:prstGeom prst="rect">
            <a:avLst/>
          </a:prstGeom>
        </p:spPr>
      </p:pic>
    </p:spTree>
    <p:extLst>
      <p:ext uri="{BB962C8B-B14F-4D97-AF65-F5344CB8AC3E}">
        <p14:creationId xmlns:p14="http://schemas.microsoft.com/office/powerpoint/2010/main" val="30912629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Assignment</a:t>
            </a:r>
          </a:p>
        </p:txBody>
      </p:sp>
      <p:pic>
        <p:nvPicPr>
          <p:cNvPr id="4" name="Content Placeholder 3"/>
          <p:cNvPicPr>
            <a:picLocks noGrp="1" noChangeAspect="1"/>
          </p:cNvPicPr>
          <p:nvPr>
            <p:ph idx="1"/>
          </p:nvPr>
        </p:nvPicPr>
        <p:blipFill>
          <a:blip r:embed="rId2"/>
          <a:stretch>
            <a:fillRect/>
          </a:stretch>
        </p:blipFill>
        <p:spPr>
          <a:xfrm>
            <a:off x="1092724" y="2867757"/>
            <a:ext cx="10515600" cy="2267073"/>
          </a:xfrm>
          <a:prstGeom prst="rect">
            <a:avLst/>
          </a:prstGeom>
        </p:spPr>
      </p:pic>
      <p:sp>
        <p:nvSpPr>
          <p:cNvPr id="5" name="TextBox 4"/>
          <p:cNvSpPr txBox="1"/>
          <p:nvPr/>
        </p:nvSpPr>
        <p:spPr>
          <a:xfrm>
            <a:off x="3591612" y="2055043"/>
            <a:ext cx="7522590" cy="369332"/>
          </a:xfrm>
          <a:prstGeom prst="rect">
            <a:avLst/>
          </a:prstGeom>
          <a:noFill/>
        </p:spPr>
        <p:txBody>
          <a:bodyPr wrap="square" rtlCol="0">
            <a:spAutoFit/>
          </a:bodyPr>
          <a:lstStyle/>
          <a:p>
            <a:r>
              <a:rPr lang="en-US" b="1" dirty="0"/>
              <a:t>Try to make this using &lt;div&gt; tag with class attribute</a:t>
            </a:r>
          </a:p>
        </p:txBody>
      </p:sp>
    </p:spTree>
    <p:extLst>
      <p:ext uri="{BB962C8B-B14F-4D97-AF65-F5344CB8AC3E}">
        <p14:creationId xmlns:p14="http://schemas.microsoft.com/office/powerpoint/2010/main" val="26920209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HTML Events</a:t>
            </a:r>
          </a:p>
        </p:txBody>
      </p:sp>
      <p:sp>
        <p:nvSpPr>
          <p:cNvPr id="3" name="Content Placeholder 2"/>
          <p:cNvSpPr>
            <a:spLocks noGrp="1"/>
          </p:cNvSpPr>
          <p:nvPr>
            <p:ph idx="1"/>
          </p:nvPr>
        </p:nvSpPr>
        <p:spPr/>
        <p:txBody>
          <a:bodyPr/>
          <a:lstStyle/>
          <a:p>
            <a:pPr algn="just"/>
            <a:r>
              <a:rPr lang="en-US" dirty="0"/>
              <a:t>In HTML, an event refers to an action or occurrence that takes place within the web page or browser. </a:t>
            </a:r>
          </a:p>
          <a:p>
            <a:pPr algn="just"/>
            <a:r>
              <a:rPr lang="en-US" dirty="0"/>
              <a:t>It can be triggered by various user interactions or system events, such as mouse clicks, keyboard inputs, form submissions, page loading, or timers.</a:t>
            </a:r>
          </a:p>
          <a:p>
            <a:pPr algn="just"/>
            <a:r>
              <a:rPr lang="en-US" dirty="0"/>
              <a:t> HTML events are used to initiate JavaScript code or execute predefined actions, allowing dynamic and interactive behavior in web applications.</a:t>
            </a:r>
          </a:p>
        </p:txBody>
      </p:sp>
    </p:spTree>
    <p:extLst>
      <p:ext uri="{BB962C8B-B14F-4D97-AF65-F5344CB8AC3E}">
        <p14:creationId xmlns:p14="http://schemas.microsoft.com/office/powerpoint/2010/main" val="40537385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 Event Attributes</a:t>
            </a:r>
          </a:p>
        </p:txBody>
      </p:sp>
      <p:sp>
        <p:nvSpPr>
          <p:cNvPr id="3" name="Content Placeholder 2"/>
          <p:cNvSpPr>
            <a:spLocks noGrp="1"/>
          </p:cNvSpPr>
          <p:nvPr>
            <p:ph idx="1"/>
          </p:nvPr>
        </p:nvSpPr>
        <p:spPr/>
        <p:txBody>
          <a:bodyPr/>
          <a:lstStyle/>
          <a:p>
            <a:r>
              <a:rPr lang="en-US" dirty="0"/>
              <a:t>Form event occurs when the user performs some action within the form such as submitting the form, selecting input field, etc.</a:t>
            </a:r>
          </a:p>
          <a:p>
            <a:r>
              <a:rPr lang="en-US" dirty="0"/>
              <a:t>The form events can be used with any element, but these are mainly used with HTML form elements.</a:t>
            </a:r>
          </a:p>
          <a:p>
            <a:r>
              <a:rPr lang="en-US" dirty="0"/>
              <a:t>Following is the list of all Form Event attributes:</a:t>
            </a:r>
          </a:p>
        </p:txBody>
      </p:sp>
    </p:spTree>
    <p:extLst>
      <p:ext uri="{BB962C8B-B14F-4D97-AF65-F5344CB8AC3E}">
        <p14:creationId xmlns:p14="http://schemas.microsoft.com/office/powerpoint/2010/main" val="14156343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 Event Attributes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28978140"/>
              </p:ext>
            </p:extLst>
          </p:nvPr>
        </p:nvGraphicFramePr>
        <p:xfrm>
          <a:off x="838200" y="1754296"/>
          <a:ext cx="10920662" cy="5075642"/>
        </p:xfrm>
        <a:graphic>
          <a:graphicData uri="http://schemas.openxmlformats.org/drawingml/2006/table">
            <a:tbl>
              <a:tblPr/>
              <a:tblGrid>
                <a:gridCol w="5460331">
                  <a:extLst>
                    <a:ext uri="{9D8B030D-6E8A-4147-A177-3AD203B41FA5}">
                      <a16:colId xmlns:a16="http://schemas.microsoft.com/office/drawing/2014/main" val="2017912116"/>
                    </a:ext>
                  </a:extLst>
                </a:gridCol>
                <a:gridCol w="5460331">
                  <a:extLst>
                    <a:ext uri="{9D8B030D-6E8A-4147-A177-3AD203B41FA5}">
                      <a16:colId xmlns:a16="http://schemas.microsoft.com/office/drawing/2014/main" val="4039992934"/>
                    </a:ext>
                  </a:extLst>
                </a:gridCol>
              </a:tblGrid>
              <a:tr h="289528">
                <a:tc>
                  <a:txBody>
                    <a:bodyPr/>
                    <a:lstStyle/>
                    <a:p>
                      <a:pPr algn="l" fontAlgn="t"/>
                      <a:r>
                        <a:rPr lang="en-US" sz="1800">
                          <a:solidFill>
                            <a:srgbClr val="000000"/>
                          </a:solidFill>
                          <a:effectLst/>
                          <a:latin typeface="times new roman" panose="02020603050405020304" pitchFamily="18" charset="0"/>
                        </a:rPr>
                        <a:t>Attribute</a:t>
                      </a:r>
                    </a:p>
                  </a:txBody>
                  <a:tcPr marL="20182" marR="20182" marT="20182" marB="20182">
                    <a:lnL w="6350" cap="flat" cmpd="sng" algn="ctr">
                      <a:solidFill>
                        <a:srgbClr val="F0B378"/>
                      </a:solidFill>
                      <a:prstDash val="solid"/>
                      <a:round/>
                      <a:headEnd type="none" w="med" len="med"/>
                      <a:tailEnd type="none" w="med" len="med"/>
                    </a:lnL>
                    <a:lnR w="6350" cap="flat" cmpd="sng" algn="ctr">
                      <a:solidFill>
                        <a:srgbClr val="F0B378"/>
                      </a:solidFill>
                      <a:prstDash val="solid"/>
                      <a:round/>
                      <a:headEnd type="none" w="med" len="med"/>
                      <a:tailEnd type="none" w="med" len="med"/>
                    </a:lnR>
                    <a:lnT w="6350" cap="flat" cmpd="sng" algn="ctr">
                      <a:solidFill>
                        <a:srgbClr val="F0B378"/>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a:solidFill>
                            <a:srgbClr val="000000"/>
                          </a:solidFill>
                          <a:effectLst/>
                          <a:latin typeface="times new roman" panose="02020603050405020304" pitchFamily="18" charset="0"/>
                        </a:rPr>
                        <a:t>Description</a:t>
                      </a:r>
                    </a:p>
                  </a:txBody>
                  <a:tcPr marL="20182" marR="20182" marT="20182" marB="20182">
                    <a:lnL w="6350" cap="flat" cmpd="sng" algn="ctr">
                      <a:solidFill>
                        <a:srgbClr val="F0B378"/>
                      </a:solidFill>
                      <a:prstDash val="solid"/>
                      <a:round/>
                      <a:headEnd type="none" w="med" len="med"/>
                      <a:tailEnd type="none" w="med" len="med"/>
                    </a:lnL>
                    <a:lnR w="6350" cap="flat" cmpd="sng" algn="ctr">
                      <a:solidFill>
                        <a:srgbClr val="F0B378"/>
                      </a:solidFill>
                      <a:prstDash val="solid"/>
                      <a:round/>
                      <a:headEnd type="none" w="med" len="med"/>
                      <a:tailEnd type="none" w="med" len="med"/>
                    </a:lnR>
                    <a:lnT w="6350" cap="flat" cmpd="sng" algn="ctr">
                      <a:solidFill>
                        <a:srgbClr val="F0B378"/>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358540744"/>
                  </a:ext>
                </a:extLst>
              </a:tr>
              <a:tr h="529541">
                <a:tc>
                  <a:txBody>
                    <a:bodyPr/>
                    <a:lstStyle/>
                    <a:p>
                      <a:pPr algn="just" fontAlgn="t"/>
                      <a:r>
                        <a:rPr lang="en-US" sz="1800">
                          <a:solidFill>
                            <a:srgbClr val="333333"/>
                          </a:solidFill>
                          <a:effectLst/>
                          <a:latin typeface="inter-regular"/>
                        </a:rPr>
                        <a:t>onblur</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Executed the script when form element loses the focus.</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543779746"/>
                  </a:ext>
                </a:extLst>
              </a:tr>
              <a:tr h="529541">
                <a:tc>
                  <a:txBody>
                    <a:bodyPr/>
                    <a:lstStyle/>
                    <a:p>
                      <a:pPr algn="just" fontAlgn="t"/>
                      <a:r>
                        <a:rPr lang="en-US" sz="1800">
                          <a:solidFill>
                            <a:srgbClr val="333333"/>
                          </a:solidFill>
                          <a:effectLst/>
                          <a:latin typeface="inter-regular"/>
                        </a:rPr>
                        <a:t>onchange</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Executed the script when the value of the element is changed.</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011490777"/>
                  </a:ext>
                </a:extLst>
              </a:tr>
              <a:tr h="366054">
                <a:tc>
                  <a:txBody>
                    <a:bodyPr/>
                    <a:lstStyle/>
                    <a:p>
                      <a:pPr algn="just" fontAlgn="t"/>
                      <a:r>
                        <a:rPr lang="en-US" sz="1800">
                          <a:solidFill>
                            <a:srgbClr val="333333"/>
                          </a:solidFill>
                          <a:effectLst/>
                          <a:latin typeface="inter-regular"/>
                        </a:rPr>
                        <a:t>onfocus</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Trigger an event when the element gets focused.</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01982579"/>
                  </a:ext>
                </a:extLst>
              </a:tr>
              <a:tr h="529541">
                <a:tc>
                  <a:txBody>
                    <a:bodyPr/>
                    <a:lstStyle/>
                    <a:p>
                      <a:pPr algn="just" fontAlgn="t"/>
                      <a:r>
                        <a:rPr lang="en-US" sz="1800" dirty="0">
                          <a:solidFill>
                            <a:srgbClr val="333333"/>
                          </a:solidFill>
                          <a:effectLst/>
                          <a:latin typeface="inter-regular"/>
                        </a:rPr>
                        <a:t>oninput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Executed the script when the user enters input to the element.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90261261"/>
                  </a:ext>
                </a:extLst>
              </a:tr>
              <a:tr h="529541">
                <a:tc>
                  <a:txBody>
                    <a:bodyPr/>
                    <a:lstStyle/>
                    <a:p>
                      <a:pPr algn="just" fontAlgn="t"/>
                      <a:r>
                        <a:rPr lang="en-US" sz="1800">
                          <a:solidFill>
                            <a:srgbClr val="333333"/>
                          </a:solidFill>
                          <a:effectLst/>
                          <a:latin typeface="inter-regular"/>
                        </a:rPr>
                        <a:t>oninvalid</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Executed the script when the element does not satisfy its predefined constraints.</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395328790"/>
                  </a:ext>
                </a:extLst>
              </a:tr>
              <a:tr h="529541">
                <a:tc>
                  <a:txBody>
                    <a:bodyPr/>
                    <a:lstStyle/>
                    <a:p>
                      <a:pPr algn="just" fontAlgn="t"/>
                      <a:r>
                        <a:rPr lang="en-US" sz="1800">
                          <a:solidFill>
                            <a:srgbClr val="333333"/>
                          </a:solidFill>
                          <a:effectLst/>
                          <a:latin typeface="inter-regular"/>
                        </a:rPr>
                        <a:t>onreset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Triggers the event when user reset the form element values.</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79949160"/>
                  </a:ext>
                </a:extLst>
              </a:tr>
              <a:tr h="529541">
                <a:tc>
                  <a:txBody>
                    <a:bodyPr/>
                    <a:lstStyle/>
                    <a:p>
                      <a:pPr algn="just" fontAlgn="t"/>
                      <a:r>
                        <a:rPr lang="en-US" sz="1800">
                          <a:solidFill>
                            <a:srgbClr val="333333"/>
                          </a:solidFill>
                          <a:effectLst/>
                          <a:latin typeface="inter-regular"/>
                        </a:rPr>
                        <a:t>onsearch</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Triggers the event when a search field receives some input.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62944455"/>
                  </a:ext>
                </a:extLst>
              </a:tr>
              <a:tr h="529541">
                <a:tc>
                  <a:txBody>
                    <a:bodyPr/>
                    <a:lstStyle/>
                    <a:p>
                      <a:pPr algn="just" fontAlgn="t"/>
                      <a:r>
                        <a:rPr lang="en-US" sz="1800">
                          <a:solidFill>
                            <a:srgbClr val="333333"/>
                          </a:solidFill>
                          <a:effectLst/>
                          <a:latin typeface="inter-regular"/>
                        </a:rPr>
                        <a:t>onselect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Triggers the event when the user has selected some text.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908946833"/>
                  </a:ext>
                </a:extLst>
              </a:tr>
              <a:tr h="366054">
                <a:tc>
                  <a:txBody>
                    <a:bodyPr/>
                    <a:lstStyle/>
                    <a:p>
                      <a:pPr algn="just" fontAlgn="t"/>
                      <a:r>
                        <a:rPr lang="en-US" sz="1800">
                          <a:solidFill>
                            <a:srgbClr val="333333"/>
                          </a:solidFill>
                          <a:effectLst/>
                          <a:latin typeface="inter-regular"/>
                        </a:rPr>
                        <a:t>onsubmit</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Triggers the event when a form is submitted.</a:t>
                      </a:r>
                    </a:p>
                  </a:txBody>
                  <a:tcPr marL="13455" marR="13455" marT="13455" marB="13455">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490999500"/>
                  </a:ext>
                </a:extLst>
              </a:tr>
            </a:tbl>
          </a:graphicData>
        </a:graphic>
      </p:graphicFrame>
    </p:spTree>
    <p:extLst>
      <p:ext uri="{BB962C8B-B14F-4D97-AF65-F5344CB8AC3E}">
        <p14:creationId xmlns:p14="http://schemas.microsoft.com/office/powerpoint/2010/main" val="3993329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Keyboard Event Attributes</a:t>
            </a:r>
          </a:p>
        </p:txBody>
      </p:sp>
      <p:sp>
        <p:nvSpPr>
          <p:cNvPr id="3" name="Content Placeholder 2"/>
          <p:cNvSpPr>
            <a:spLocks noGrp="1"/>
          </p:cNvSpPr>
          <p:nvPr>
            <p:ph idx="1"/>
          </p:nvPr>
        </p:nvSpPr>
        <p:spPr/>
        <p:txBody>
          <a:bodyPr/>
          <a:lstStyle/>
          <a:p>
            <a:r>
              <a:rPr lang="en-US" dirty="0"/>
              <a:t>Keyboard event occurs when a user interacts with the keyboard. Following is a list of the Keyboard event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847310841"/>
              </p:ext>
            </p:extLst>
          </p:nvPr>
        </p:nvGraphicFramePr>
        <p:xfrm>
          <a:off x="2334127" y="3071176"/>
          <a:ext cx="7523746" cy="3105787"/>
        </p:xfrm>
        <a:graphic>
          <a:graphicData uri="http://schemas.openxmlformats.org/drawingml/2006/table">
            <a:tbl>
              <a:tblPr/>
              <a:tblGrid>
                <a:gridCol w="3761873">
                  <a:extLst>
                    <a:ext uri="{9D8B030D-6E8A-4147-A177-3AD203B41FA5}">
                      <a16:colId xmlns:a16="http://schemas.microsoft.com/office/drawing/2014/main" val="667554704"/>
                    </a:ext>
                  </a:extLst>
                </a:gridCol>
                <a:gridCol w="3761873">
                  <a:extLst>
                    <a:ext uri="{9D8B030D-6E8A-4147-A177-3AD203B41FA5}">
                      <a16:colId xmlns:a16="http://schemas.microsoft.com/office/drawing/2014/main" val="72876070"/>
                    </a:ext>
                  </a:extLst>
                </a:gridCol>
              </a:tblGrid>
              <a:tr h="172771">
                <a:tc>
                  <a:txBody>
                    <a:bodyPr/>
                    <a:lstStyle/>
                    <a:p>
                      <a:pPr algn="l" fontAlgn="t"/>
                      <a:r>
                        <a:rPr lang="en-US" sz="1800">
                          <a:solidFill>
                            <a:srgbClr val="000000"/>
                          </a:solidFill>
                          <a:effectLst/>
                          <a:latin typeface="times new roman" panose="02020603050405020304" pitchFamily="18" charset="0"/>
                        </a:rPr>
                        <a:t>Attribute</a:t>
                      </a:r>
                    </a:p>
                  </a:txBody>
                  <a:tcPr marL="45326" marR="45326" marT="45326" marB="45326">
                    <a:lnL w="6350" cap="flat" cmpd="sng" algn="ctr">
                      <a:solidFill>
                        <a:srgbClr val="C08BDC"/>
                      </a:solidFill>
                      <a:prstDash val="solid"/>
                      <a:round/>
                      <a:headEnd type="none" w="med" len="med"/>
                      <a:tailEnd type="none" w="med" len="med"/>
                    </a:lnL>
                    <a:lnR w="6350" cap="flat" cmpd="sng" algn="ctr">
                      <a:solidFill>
                        <a:srgbClr val="C08BDC"/>
                      </a:solidFill>
                      <a:prstDash val="solid"/>
                      <a:round/>
                      <a:headEnd type="none" w="med" len="med"/>
                      <a:tailEnd type="none" w="med" len="med"/>
                    </a:lnR>
                    <a:lnT w="6350" cap="flat" cmpd="sng" algn="ctr">
                      <a:solidFill>
                        <a:srgbClr val="C08BDC"/>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a:solidFill>
                            <a:srgbClr val="000000"/>
                          </a:solidFill>
                          <a:effectLst/>
                          <a:latin typeface="times new roman" panose="02020603050405020304" pitchFamily="18" charset="0"/>
                        </a:rPr>
                        <a:t>Description</a:t>
                      </a:r>
                    </a:p>
                  </a:txBody>
                  <a:tcPr marL="45326" marR="45326" marT="45326" marB="45326">
                    <a:lnL w="6350" cap="flat" cmpd="sng" algn="ctr">
                      <a:solidFill>
                        <a:srgbClr val="C08BDC"/>
                      </a:solidFill>
                      <a:prstDash val="solid"/>
                      <a:round/>
                      <a:headEnd type="none" w="med" len="med"/>
                      <a:tailEnd type="none" w="med" len="med"/>
                    </a:lnL>
                    <a:lnR w="6350" cap="flat" cmpd="sng" algn="ctr">
                      <a:solidFill>
                        <a:srgbClr val="C08BDC"/>
                      </a:solidFill>
                      <a:prstDash val="solid"/>
                      <a:round/>
                      <a:headEnd type="none" w="med" len="med"/>
                      <a:tailEnd type="none" w="med" len="med"/>
                    </a:lnR>
                    <a:lnT w="6350" cap="flat" cmpd="sng" algn="ctr">
                      <a:solidFill>
                        <a:srgbClr val="C08BDC"/>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71929917"/>
                  </a:ext>
                </a:extLst>
              </a:tr>
              <a:tr h="913605">
                <a:tc>
                  <a:txBody>
                    <a:bodyPr/>
                    <a:lstStyle/>
                    <a:p>
                      <a:pPr algn="just" fontAlgn="t"/>
                      <a:r>
                        <a:rPr lang="en-US" sz="1800" dirty="0">
                          <a:solidFill>
                            <a:srgbClr val="333333"/>
                          </a:solidFill>
                          <a:effectLst/>
                          <a:latin typeface="inter-regular"/>
                        </a:rPr>
                        <a:t>onkeydown</a:t>
                      </a:r>
                    </a:p>
                  </a:txBody>
                  <a:tcPr marL="30218" marR="30218" marT="30218" marB="30218">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Triggers the event when the user presses down a key on the keyboard.</a:t>
                      </a:r>
                    </a:p>
                  </a:txBody>
                  <a:tcPr marL="30218" marR="30218" marT="30218" marB="30218">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75784555"/>
                  </a:ext>
                </a:extLst>
              </a:tr>
              <a:tr h="913605">
                <a:tc>
                  <a:txBody>
                    <a:bodyPr/>
                    <a:lstStyle/>
                    <a:p>
                      <a:pPr algn="just" fontAlgn="t"/>
                      <a:r>
                        <a:rPr lang="en-US" sz="1800">
                          <a:solidFill>
                            <a:srgbClr val="333333"/>
                          </a:solidFill>
                          <a:effectLst/>
                          <a:latin typeface="inter-regular"/>
                        </a:rPr>
                        <a:t>onkeypress</a:t>
                      </a:r>
                    </a:p>
                  </a:txBody>
                  <a:tcPr marL="30218" marR="30218" marT="30218" marB="30218">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Trigger the event when the user presses the key which displays some character.</a:t>
                      </a:r>
                    </a:p>
                  </a:txBody>
                  <a:tcPr marL="30218" marR="30218" marT="30218" marB="30218">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946942645"/>
                  </a:ext>
                </a:extLst>
              </a:tr>
              <a:tr h="913605">
                <a:tc>
                  <a:txBody>
                    <a:bodyPr/>
                    <a:lstStyle/>
                    <a:p>
                      <a:pPr algn="just" fontAlgn="t"/>
                      <a:r>
                        <a:rPr lang="en-US" sz="1800">
                          <a:solidFill>
                            <a:srgbClr val="333333"/>
                          </a:solidFill>
                          <a:effectLst/>
                          <a:latin typeface="inter-regular"/>
                        </a:rPr>
                        <a:t>onkeyup</a:t>
                      </a:r>
                    </a:p>
                  </a:txBody>
                  <a:tcPr marL="30218" marR="30218" marT="30218" marB="30218">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Trigger the event when the user releases the currently pressed key.</a:t>
                      </a:r>
                    </a:p>
                  </a:txBody>
                  <a:tcPr marL="30218" marR="30218" marT="30218" marB="30218">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61273501"/>
                  </a:ext>
                </a:extLst>
              </a:tr>
            </a:tbl>
          </a:graphicData>
        </a:graphic>
      </p:graphicFrame>
    </p:spTree>
    <p:extLst>
      <p:ext uri="{BB962C8B-B14F-4D97-AF65-F5344CB8AC3E}">
        <p14:creationId xmlns:p14="http://schemas.microsoft.com/office/powerpoint/2010/main" val="4551931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Mouse Event Attributes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08204425"/>
              </p:ext>
            </p:extLst>
          </p:nvPr>
        </p:nvGraphicFramePr>
        <p:xfrm>
          <a:off x="1491916" y="1690688"/>
          <a:ext cx="9208168" cy="4523936"/>
        </p:xfrm>
        <a:graphic>
          <a:graphicData uri="http://schemas.openxmlformats.org/drawingml/2006/table">
            <a:tbl>
              <a:tblPr/>
              <a:tblGrid>
                <a:gridCol w="4604084">
                  <a:extLst>
                    <a:ext uri="{9D8B030D-6E8A-4147-A177-3AD203B41FA5}">
                      <a16:colId xmlns:a16="http://schemas.microsoft.com/office/drawing/2014/main" val="749421547"/>
                    </a:ext>
                  </a:extLst>
                </a:gridCol>
                <a:gridCol w="4604084">
                  <a:extLst>
                    <a:ext uri="{9D8B030D-6E8A-4147-A177-3AD203B41FA5}">
                      <a16:colId xmlns:a16="http://schemas.microsoft.com/office/drawing/2014/main" val="2541047980"/>
                    </a:ext>
                  </a:extLst>
                </a:gridCol>
              </a:tblGrid>
              <a:tr h="158230">
                <a:tc>
                  <a:txBody>
                    <a:bodyPr/>
                    <a:lstStyle/>
                    <a:p>
                      <a:pPr algn="l" fontAlgn="t"/>
                      <a:r>
                        <a:rPr lang="en-US" sz="1800">
                          <a:solidFill>
                            <a:srgbClr val="000000"/>
                          </a:solidFill>
                          <a:effectLst/>
                          <a:latin typeface="times new roman" panose="02020603050405020304" pitchFamily="18" charset="0"/>
                        </a:rPr>
                        <a:t>Attribute</a:t>
                      </a:r>
                    </a:p>
                  </a:txBody>
                  <a:tcPr marL="28255" marR="28255" marT="28255" marB="28255">
                    <a:lnL w="6350" cap="flat" cmpd="sng" algn="ctr">
                      <a:solidFill>
                        <a:srgbClr val="C03FA0"/>
                      </a:solidFill>
                      <a:prstDash val="solid"/>
                      <a:round/>
                      <a:headEnd type="none" w="med" len="med"/>
                      <a:tailEnd type="none" w="med" len="med"/>
                    </a:lnL>
                    <a:lnR w="6350" cap="flat" cmpd="sng" algn="ctr">
                      <a:solidFill>
                        <a:srgbClr val="C03FA0"/>
                      </a:solidFill>
                      <a:prstDash val="solid"/>
                      <a:round/>
                      <a:headEnd type="none" w="med" len="med"/>
                      <a:tailEnd type="none" w="med" len="med"/>
                    </a:lnR>
                    <a:lnT w="6350" cap="flat" cmpd="sng" algn="ctr">
                      <a:solidFill>
                        <a:srgbClr val="C03FA0"/>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a:solidFill>
                            <a:srgbClr val="000000"/>
                          </a:solidFill>
                          <a:effectLst/>
                          <a:latin typeface="times new roman" panose="02020603050405020304" pitchFamily="18" charset="0"/>
                        </a:rPr>
                        <a:t>Description</a:t>
                      </a:r>
                    </a:p>
                  </a:txBody>
                  <a:tcPr marL="28255" marR="28255" marT="28255" marB="28255">
                    <a:lnL w="6350" cap="flat" cmpd="sng" algn="ctr">
                      <a:solidFill>
                        <a:srgbClr val="C03FA0"/>
                      </a:solidFill>
                      <a:prstDash val="solid"/>
                      <a:round/>
                      <a:headEnd type="none" w="med" len="med"/>
                      <a:tailEnd type="none" w="med" len="med"/>
                    </a:lnL>
                    <a:lnR w="6350" cap="flat" cmpd="sng" algn="ctr">
                      <a:solidFill>
                        <a:srgbClr val="C03FA0"/>
                      </a:solidFill>
                      <a:prstDash val="solid"/>
                      <a:round/>
                      <a:headEnd type="none" w="med" len="med"/>
                      <a:tailEnd type="none" w="med" len="med"/>
                    </a:lnR>
                    <a:lnT w="6350" cap="flat" cmpd="sng" algn="ctr">
                      <a:solidFill>
                        <a:srgbClr val="C03FA0"/>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555678885"/>
                  </a:ext>
                </a:extLst>
              </a:tr>
              <a:tr h="647991">
                <a:tc>
                  <a:txBody>
                    <a:bodyPr/>
                    <a:lstStyle/>
                    <a:p>
                      <a:pPr algn="just" fontAlgn="t"/>
                      <a:r>
                        <a:rPr lang="en-US" sz="1800">
                          <a:solidFill>
                            <a:srgbClr val="333333"/>
                          </a:solidFill>
                          <a:effectLst/>
                          <a:latin typeface="inter-regular"/>
                        </a:rPr>
                        <a:t>onclick</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Trigger the event when the mouse clicks on the element.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028480532"/>
                  </a:ext>
                </a:extLst>
              </a:tr>
              <a:tr h="749711">
                <a:tc>
                  <a:txBody>
                    <a:bodyPr/>
                    <a:lstStyle/>
                    <a:p>
                      <a:pPr algn="just" fontAlgn="t"/>
                      <a:r>
                        <a:rPr lang="en-US" sz="1800">
                          <a:solidFill>
                            <a:srgbClr val="333333"/>
                          </a:solidFill>
                          <a:effectLst/>
                          <a:latin typeface="inter-regular"/>
                        </a:rPr>
                        <a:t>ondblclick</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Trigger the event when mouse double-click occurs on the element.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31421993"/>
                  </a:ext>
                </a:extLst>
              </a:tr>
              <a:tr h="749711">
                <a:tc>
                  <a:txBody>
                    <a:bodyPr/>
                    <a:lstStyle/>
                    <a:p>
                      <a:pPr algn="just" fontAlgn="t"/>
                      <a:r>
                        <a:rPr lang="en-US" sz="1800" dirty="0">
                          <a:solidFill>
                            <a:srgbClr val="333333"/>
                          </a:solidFill>
                          <a:effectLst/>
                          <a:latin typeface="inter-regular"/>
                        </a:rPr>
                        <a:t>onmousedown</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Trigger the event when the mouse button is pressed on the element.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81607112"/>
                  </a:ext>
                </a:extLst>
              </a:tr>
              <a:tr h="749711">
                <a:tc>
                  <a:txBody>
                    <a:bodyPr/>
                    <a:lstStyle/>
                    <a:p>
                      <a:pPr algn="just" fontAlgn="t"/>
                      <a:r>
                        <a:rPr lang="en-US" sz="1800">
                          <a:solidFill>
                            <a:srgbClr val="333333"/>
                          </a:solidFill>
                          <a:effectLst/>
                          <a:latin typeface="inter-regular"/>
                        </a:rPr>
                        <a:t>onmousemove</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Trigger the event when the mouse pointer moves over the element.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682098300"/>
                  </a:ext>
                </a:extLst>
              </a:tr>
              <a:tr h="647991">
                <a:tc>
                  <a:txBody>
                    <a:bodyPr/>
                    <a:lstStyle/>
                    <a:p>
                      <a:pPr algn="just" fontAlgn="t"/>
                      <a:r>
                        <a:rPr lang="en-US" sz="1800">
                          <a:solidFill>
                            <a:srgbClr val="333333"/>
                          </a:solidFill>
                          <a:effectLst/>
                          <a:latin typeface="inter-regular"/>
                        </a:rPr>
                        <a:t>onmouseout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Trigger the event when the mouse moves outside the element.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244504550"/>
                  </a:ext>
                </a:extLst>
              </a:tr>
              <a:tr h="647991">
                <a:tc>
                  <a:txBody>
                    <a:bodyPr/>
                    <a:lstStyle/>
                    <a:p>
                      <a:pPr algn="just" fontAlgn="t"/>
                      <a:r>
                        <a:rPr lang="en-US" sz="1800">
                          <a:solidFill>
                            <a:srgbClr val="333333"/>
                          </a:solidFill>
                          <a:effectLst/>
                          <a:latin typeface="inter-regular"/>
                        </a:rPr>
                        <a:t>onmouseover</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Trigger the event when the mouse moves onto the element.</a:t>
                      </a:r>
                    </a:p>
                  </a:txBody>
                  <a:tcPr marL="18837" marR="18837" marT="18837" marB="18837">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9823935"/>
                  </a:ext>
                </a:extLst>
              </a:tr>
            </a:tbl>
          </a:graphicData>
        </a:graphic>
      </p:graphicFrame>
    </p:spTree>
    <p:extLst>
      <p:ext uri="{BB962C8B-B14F-4D97-AF65-F5344CB8AC3E}">
        <p14:creationId xmlns:p14="http://schemas.microsoft.com/office/powerpoint/2010/main" val="262559646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Mouse Event Attributes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49125750"/>
              </p:ext>
            </p:extLst>
          </p:nvPr>
        </p:nvGraphicFramePr>
        <p:xfrm>
          <a:off x="2277979" y="1979883"/>
          <a:ext cx="8261684" cy="3239957"/>
        </p:xfrm>
        <a:graphic>
          <a:graphicData uri="http://schemas.openxmlformats.org/drawingml/2006/table">
            <a:tbl>
              <a:tblPr/>
              <a:tblGrid>
                <a:gridCol w="4130842">
                  <a:extLst>
                    <a:ext uri="{9D8B030D-6E8A-4147-A177-3AD203B41FA5}">
                      <a16:colId xmlns:a16="http://schemas.microsoft.com/office/drawing/2014/main" val="1429410790"/>
                    </a:ext>
                  </a:extLst>
                </a:gridCol>
                <a:gridCol w="4130842">
                  <a:extLst>
                    <a:ext uri="{9D8B030D-6E8A-4147-A177-3AD203B41FA5}">
                      <a16:colId xmlns:a16="http://schemas.microsoft.com/office/drawing/2014/main" val="1624288601"/>
                    </a:ext>
                  </a:extLst>
                </a:gridCol>
              </a:tblGrid>
              <a:tr h="1365680">
                <a:tc>
                  <a:txBody>
                    <a:bodyPr/>
                    <a:lstStyle/>
                    <a:p>
                      <a:pPr algn="just" fontAlgn="t"/>
                      <a:r>
                        <a:rPr lang="en-US" sz="1700">
                          <a:solidFill>
                            <a:srgbClr val="333333"/>
                          </a:solidFill>
                          <a:effectLst/>
                          <a:latin typeface="inter-regular"/>
                        </a:rPr>
                        <a:t>onmouseup</a:t>
                      </a:r>
                    </a:p>
                  </a:txBody>
                  <a:tcPr marL="47092" marR="47092" marT="47092" marB="4709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700">
                          <a:solidFill>
                            <a:srgbClr val="333333"/>
                          </a:solidFill>
                          <a:effectLst/>
                          <a:latin typeface="inter-regular"/>
                        </a:rPr>
                        <a:t>Trigger the event when the mouse button is released.</a:t>
                      </a:r>
                    </a:p>
                  </a:txBody>
                  <a:tcPr marL="47092" marR="47092" marT="47092" marB="4709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7614389"/>
                  </a:ext>
                </a:extLst>
              </a:tr>
              <a:tr h="1874277">
                <a:tc>
                  <a:txBody>
                    <a:bodyPr/>
                    <a:lstStyle/>
                    <a:p>
                      <a:pPr algn="just" fontAlgn="t"/>
                      <a:r>
                        <a:rPr lang="en-US" sz="1700" dirty="0">
                          <a:solidFill>
                            <a:srgbClr val="333333"/>
                          </a:solidFill>
                          <a:effectLst/>
                          <a:latin typeface="inter-regular"/>
                        </a:rPr>
                        <a:t>onwheel</a:t>
                      </a:r>
                    </a:p>
                  </a:txBody>
                  <a:tcPr marL="47092" marR="47092" marT="47092" marB="4709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700" dirty="0">
                          <a:solidFill>
                            <a:srgbClr val="333333"/>
                          </a:solidFill>
                          <a:effectLst/>
                          <a:latin typeface="inter-regular"/>
                        </a:rPr>
                        <a:t>Trigger the event when the mouse wheel rolls up or down on the element</a:t>
                      </a:r>
                    </a:p>
                  </a:txBody>
                  <a:tcPr marL="47092" marR="47092" marT="47092" marB="47092">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890814701"/>
                  </a:ext>
                </a:extLst>
              </a:tr>
            </a:tbl>
          </a:graphicData>
        </a:graphic>
      </p:graphicFrame>
    </p:spTree>
    <p:extLst>
      <p:ext uri="{BB962C8B-B14F-4D97-AF65-F5344CB8AC3E}">
        <p14:creationId xmlns:p14="http://schemas.microsoft.com/office/powerpoint/2010/main" val="29316108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&lt;html&gt;</a:t>
            </a:r>
          </a:p>
          <a:p>
            <a:pPr marL="0" indent="0">
              <a:buNone/>
            </a:pPr>
            <a:r>
              <a:rPr lang="en-US" dirty="0"/>
              <a:t>&lt;head&gt;</a:t>
            </a:r>
          </a:p>
          <a:p>
            <a:pPr marL="0" indent="0">
              <a:buNone/>
            </a:pPr>
            <a:r>
              <a:rPr lang="en-US" dirty="0"/>
              <a:t>&lt;title&gt; html event1&lt;/title&gt;</a:t>
            </a:r>
          </a:p>
          <a:p>
            <a:pPr marL="0" indent="0">
              <a:buNone/>
            </a:pPr>
            <a:r>
              <a:rPr lang="en-US" dirty="0"/>
              <a:t>&lt;/head&gt;</a:t>
            </a:r>
          </a:p>
          <a:p>
            <a:pPr marL="0" indent="0">
              <a:buNone/>
            </a:pPr>
            <a:endParaRPr lang="en-US" dirty="0"/>
          </a:p>
          <a:p>
            <a:pPr marL="0" indent="0">
              <a:buNone/>
            </a:pPr>
            <a:r>
              <a:rPr lang="en-US" dirty="0"/>
              <a:t>&lt;body&gt;</a:t>
            </a:r>
          </a:p>
          <a:p>
            <a:pPr marL="0" indent="0">
              <a:buNone/>
            </a:pPr>
            <a:r>
              <a:rPr lang="en-US" dirty="0"/>
              <a:t>	&lt;input type="button" </a:t>
            </a:r>
            <a:r>
              <a:rPr lang="en-US" dirty="0" err="1"/>
              <a:t>onclick</a:t>
            </a:r>
            <a:r>
              <a:rPr lang="en-US" dirty="0"/>
              <a:t>="alert('Hello! Welcome Event')" value="click"&gt;</a:t>
            </a:r>
          </a:p>
          <a:p>
            <a:pPr marL="0" indent="0">
              <a:buNone/>
            </a:pPr>
            <a:r>
              <a:rPr lang="en-US" dirty="0"/>
              <a:t>	&lt;button </a:t>
            </a:r>
            <a:r>
              <a:rPr lang="en-US" dirty="0" err="1"/>
              <a:t>onclick</a:t>
            </a:r>
            <a:r>
              <a:rPr lang="en-US" dirty="0"/>
              <a:t>="alert('Hello! Welcome Event')"&gt;Click me&lt;/button&gt;</a:t>
            </a:r>
          </a:p>
          <a:p>
            <a:pPr marL="0" indent="0">
              <a:buNone/>
            </a:pPr>
            <a:r>
              <a:rPr lang="en-US" dirty="0"/>
              <a:t>&lt;/body&gt;</a:t>
            </a:r>
          </a:p>
          <a:p>
            <a:pPr marL="0" indent="0">
              <a:buNone/>
            </a:pPr>
            <a:r>
              <a:rPr lang="en-US" dirty="0"/>
              <a:t>&lt;/html&gt;</a:t>
            </a:r>
          </a:p>
        </p:txBody>
      </p:sp>
      <p:pic>
        <p:nvPicPr>
          <p:cNvPr id="4" name="Picture 3"/>
          <p:cNvPicPr>
            <a:picLocks noChangeAspect="1"/>
          </p:cNvPicPr>
          <p:nvPr/>
        </p:nvPicPr>
        <p:blipFill>
          <a:blip r:embed="rId2"/>
          <a:stretch>
            <a:fillRect/>
          </a:stretch>
        </p:blipFill>
        <p:spPr>
          <a:xfrm>
            <a:off x="5180292" y="2084871"/>
            <a:ext cx="6496431" cy="1916423"/>
          </a:xfrm>
          <a:prstGeom prst="rect">
            <a:avLst/>
          </a:prstGeom>
        </p:spPr>
      </p:pic>
    </p:spTree>
    <p:extLst>
      <p:ext uri="{BB962C8B-B14F-4D97-AF65-F5344CB8AC3E}">
        <p14:creationId xmlns:p14="http://schemas.microsoft.com/office/powerpoint/2010/main" val="3408709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3172</TotalTime>
  <Words>5175</Words>
  <Application>Microsoft Office PowerPoint</Application>
  <PresentationFormat>Widescreen</PresentationFormat>
  <Paragraphs>401</Paragraphs>
  <Slides>71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Arial</vt:lpstr>
      <vt:lpstr>Calibri</vt:lpstr>
      <vt:lpstr>Calibri Light</vt:lpstr>
      <vt:lpstr>Consolas</vt:lpstr>
      <vt:lpstr>inter-regular</vt:lpstr>
      <vt:lpstr>times new roman</vt:lpstr>
      <vt:lpstr>Verdana</vt:lpstr>
      <vt:lpstr>Office Theme</vt:lpstr>
      <vt:lpstr>UNIT 2 Hyper Text Markup Language</vt:lpstr>
      <vt:lpstr>Introduction to HTML</vt:lpstr>
      <vt:lpstr>Structure of HTML</vt:lpstr>
      <vt:lpstr>Element and Attributes of HTML</vt:lpstr>
      <vt:lpstr>Element and Attributes of HTML</vt:lpstr>
      <vt:lpstr>Example 1</vt:lpstr>
      <vt:lpstr>HTML Headings</vt:lpstr>
      <vt:lpstr>Example: 2</vt:lpstr>
      <vt:lpstr>HTML Paragraphs</vt:lpstr>
      <vt:lpstr>Example 3</vt:lpstr>
      <vt:lpstr>Output </vt:lpstr>
      <vt:lpstr>HTML Styles</vt:lpstr>
      <vt:lpstr>Examples</vt:lpstr>
      <vt:lpstr>HTML Formatting Elements</vt:lpstr>
      <vt:lpstr>Example</vt:lpstr>
      <vt:lpstr>Question 1:</vt:lpstr>
      <vt:lpstr>Hyperlink</vt:lpstr>
      <vt:lpstr>Example:</vt:lpstr>
      <vt:lpstr>Example</vt:lpstr>
      <vt:lpstr>Image Tag</vt:lpstr>
      <vt:lpstr>Example:</vt:lpstr>
      <vt:lpstr>Example</vt:lpstr>
      <vt:lpstr>Example</vt:lpstr>
      <vt:lpstr>Question</vt:lpstr>
      <vt:lpstr>Favicon </vt:lpstr>
      <vt:lpstr>Example:</vt:lpstr>
      <vt:lpstr>HTML List Tag</vt:lpstr>
      <vt:lpstr>Unordered List</vt:lpstr>
      <vt:lpstr>Ordered HTML List</vt:lpstr>
      <vt:lpstr>HTML Description Lists</vt:lpstr>
      <vt:lpstr>Question:</vt:lpstr>
      <vt:lpstr>HTML Quotation and Citation Elements</vt:lpstr>
      <vt:lpstr>HTML &lt;blockquote&gt; for Quotations</vt:lpstr>
      <vt:lpstr>HTML &lt;q&gt; for Short Quotations</vt:lpstr>
      <vt:lpstr>HTML &lt;abbr&gt; for Abbreviations</vt:lpstr>
      <vt:lpstr>HTML &lt;address&gt; for Contact Information</vt:lpstr>
      <vt:lpstr>HTML &lt;cite&gt; for Work Title</vt:lpstr>
      <vt:lpstr>HTML &lt;bdo&gt; for Bi-Directional Override</vt:lpstr>
      <vt:lpstr>HTML Table Tag</vt:lpstr>
      <vt:lpstr>HTML Table Tag</vt:lpstr>
      <vt:lpstr>Example</vt:lpstr>
      <vt:lpstr>Example</vt:lpstr>
      <vt:lpstr>Question</vt:lpstr>
      <vt:lpstr>HTML Form Tag</vt:lpstr>
      <vt:lpstr>Example:</vt:lpstr>
      <vt:lpstr>Example</vt:lpstr>
      <vt:lpstr>iframe (Inline Frame)</vt:lpstr>
      <vt:lpstr>Example</vt:lpstr>
      <vt:lpstr>Head Tag in HTML</vt:lpstr>
      <vt:lpstr>Head Tag in HTML</vt:lpstr>
      <vt:lpstr>Working with Audio and Video</vt:lpstr>
      <vt:lpstr>Working with Audio and Video</vt:lpstr>
      <vt:lpstr>Question</vt:lpstr>
      <vt:lpstr>HTML Sectioning/Layout Elements</vt:lpstr>
      <vt:lpstr>HTML Sectioning/Layout Elements</vt:lpstr>
      <vt:lpstr>HTML Sectioning/Layout Elements</vt:lpstr>
      <vt:lpstr>HTML Sectioning/Layout Elements</vt:lpstr>
      <vt:lpstr>DIV Tag</vt:lpstr>
      <vt:lpstr>DIV Attributes</vt:lpstr>
      <vt:lpstr>Class Attribute</vt:lpstr>
      <vt:lpstr>Example</vt:lpstr>
      <vt:lpstr>ID Attribute</vt:lpstr>
      <vt:lpstr>Example</vt:lpstr>
      <vt:lpstr>Assignment</vt:lpstr>
      <vt:lpstr>HTML Events</vt:lpstr>
      <vt:lpstr>Form Event Attributes</vt:lpstr>
      <vt:lpstr>Form Event Attributes</vt:lpstr>
      <vt:lpstr>Keyboard Event Attributes</vt:lpstr>
      <vt:lpstr>Mouse Event Attributes</vt:lpstr>
      <vt:lpstr>Mouse Event Attributes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HTML</dc:title>
  <dc:creator>Hp</dc:creator>
  <cp:lastModifiedBy>Yachu</cp:lastModifiedBy>
  <cp:revision>44</cp:revision>
  <dcterms:created xsi:type="dcterms:W3CDTF">2023-04-24T16:25:22Z</dcterms:created>
  <dcterms:modified xsi:type="dcterms:W3CDTF">2024-12-15T10:07:17Z</dcterms:modified>
</cp:coreProperties>
</file>