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313" r:id="rId7"/>
    <p:sldId id="262" r:id="rId8"/>
    <p:sldId id="263" r:id="rId9"/>
    <p:sldId id="261" r:id="rId10"/>
    <p:sldId id="265" r:id="rId11"/>
    <p:sldId id="266" r:id="rId12"/>
    <p:sldId id="264" r:id="rId13"/>
    <p:sldId id="268" r:id="rId14"/>
    <p:sldId id="267" r:id="rId15"/>
    <p:sldId id="314" r:id="rId16"/>
    <p:sldId id="315" r:id="rId17"/>
    <p:sldId id="316" r:id="rId18"/>
    <p:sldId id="317" r:id="rId19"/>
    <p:sldId id="318" r:id="rId20"/>
    <p:sldId id="269" r:id="rId21"/>
    <p:sldId id="270" r:id="rId22"/>
    <p:sldId id="271" r:id="rId23"/>
    <p:sldId id="272" r:id="rId24"/>
    <p:sldId id="273" r:id="rId25"/>
    <p:sldId id="274" r:id="rId26"/>
    <p:sldId id="275" r:id="rId27"/>
    <p:sldId id="282" r:id="rId28"/>
    <p:sldId id="278" r:id="rId29"/>
    <p:sldId id="280" r:id="rId30"/>
    <p:sldId id="279" r:id="rId31"/>
    <p:sldId id="281" r:id="rId32"/>
    <p:sldId id="276" r:id="rId33"/>
    <p:sldId id="277" r:id="rId34"/>
    <p:sldId id="283" r:id="rId35"/>
    <p:sldId id="284" r:id="rId36"/>
    <p:sldId id="303" r:id="rId37"/>
    <p:sldId id="319" r:id="rId38"/>
    <p:sldId id="320" r:id="rId39"/>
    <p:sldId id="304" r:id="rId40"/>
    <p:sldId id="305" r:id="rId41"/>
    <p:sldId id="306" r:id="rId42"/>
    <p:sldId id="292" r:id="rId43"/>
    <p:sldId id="293" r:id="rId44"/>
    <p:sldId id="294" r:id="rId45"/>
    <p:sldId id="296" r:id="rId46"/>
    <p:sldId id="285" r:id="rId47"/>
    <p:sldId id="286" r:id="rId48"/>
    <p:sldId id="287" r:id="rId49"/>
    <p:sldId id="289" r:id="rId50"/>
    <p:sldId id="288" r:id="rId51"/>
    <p:sldId id="290" r:id="rId52"/>
    <p:sldId id="291" r:id="rId53"/>
    <p:sldId id="325" r:id="rId54"/>
    <p:sldId id="321" r:id="rId55"/>
    <p:sldId id="322" r:id="rId56"/>
    <p:sldId id="323" r:id="rId57"/>
    <p:sldId id="324" r:id="rId58"/>
    <p:sldId id="326" r:id="rId59"/>
    <p:sldId id="339" r:id="rId60"/>
    <p:sldId id="340" r:id="rId61"/>
    <p:sldId id="341" r:id="rId62"/>
    <p:sldId id="327" r:id="rId63"/>
    <p:sldId id="337" r:id="rId64"/>
    <p:sldId id="338" r:id="rId65"/>
    <p:sldId id="342" r:id="rId66"/>
    <p:sldId id="329" r:id="rId67"/>
    <p:sldId id="346" r:id="rId68"/>
    <p:sldId id="343" r:id="rId69"/>
    <p:sldId id="344" r:id="rId70"/>
    <p:sldId id="345" r:id="rId71"/>
    <p:sldId id="364" r:id="rId72"/>
    <p:sldId id="365" r:id="rId73"/>
    <p:sldId id="330" r:id="rId74"/>
    <p:sldId id="351" r:id="rId75"/>
    <p:sldId id="307" r:id="rId76"/>
    <p:sldId id="308" r:id="rId77"/>
    <p:sldId id="331" r:id="rId78"/>
    <p:sldId id="311" r:id="rId79"/>
    <p:sldId id="350" r:id="rId80"/>
    <p:sldId id="348" r:id="rId81"/>
    <p:sldId id="312" r:id="rId82"/>
    <p:sldId id="297" r:id="rId83"/>
    <p:sldId id="298" r:id="rId84"/>
    <p:sldId id="363" r:id="rId85"/>
    <p:sldId id="299" r:id="rId86"/>
    <p:sldId id="300" r:id="rId87"/>
    <p:sldId id="301" r:id="rId88"/>
    <p:sldId id="302" r:id="rId89"/>
    <p:sldId id="332" r:id="rId90"/>
    <p:sldId id="333" r:id="rId91"/>
    <p:sldId id="334" r:id="rId92"/>
    <p:sldId id="352" r:id="rId93"/>
    <p:sldId id="353" r:id="rId94"/>
    <p:sldId id="335" r:id="rId95"/>
    <p:sldId id="354" r:id="rId96"/>
    <p:sldId id="356" r:id="rId97"/>
    <p:sldId id="357" r:id="rId98"/>
    <p:sldId id="358" r:id="rId99"/>
    <p:sldId id="360" r:id="rId100"/>
    <p:sldId id="361" r:id="rId101"/>
    <p:sldId id="362" r:id="rId102"/>
    <p:sldId id="336" r:id="rId103"/>
    <p:sldId id="366" r:id="rId104"/>
    <p:sldId id="368" r:id="rId105"/>
    <p:sldId id="367" r:id="rId106"/>
    <p:sldId id="369" r:id="rId10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p:scale>
          <a:sx n="100" d="100"/>
          <a:sy n="100" d="100"/>
        </p:scale>
        <p:origin x="-182" y="-3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4130857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3769828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505240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1359193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2409663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3681343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2094393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1826218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2318191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3763299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2BFDDC-61F6-4C95-BFCC-583004E7A7B5}" type="slidenum">
              <a:rPr lang="en-US" smtClean="0"/>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41734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4162411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2BFDDC-61F6-4C95-BFCC-583004E7A7B5}"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821206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3752212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36353212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EDA14F-AA8E-46A6-934F-C002E3BFC913}"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52BFDDC-61F6-4C95-BFCC-583004E7A7B5}" type="slidenum">
              <a:rPr lang="en-US" smtClean="0"/>
              <a:t>‹#›</a:t>
            </a:fld>
            <a:endParaRPr lang="en-US" dirty="0"/>
          </a:p>
        </p:txBody>
      </p:sp>
    </p:spTree>
    <p:extLst>
      <p:ext uri="{BB962C8B-B14F-4D97-AF65-F5344CB8AC3E}">
        <p14:creationId xmlns:p14="http://schemas.microsoft.com/office/powerpoint/2010/main" val="3974299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EEDA14F-AA8E-46A6-934F-C002E3BFC913}" type="datetimeFigureOut">
              <a:rPr lang="en-US" smtClean="0"/>
              <a:t>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52BFDDC-61F6-4C95-BFCC-583004E7A7B5}" type="slidenum">
              <a:rPr lang="en-US" smtClean="0"/>
              <a:t>‹#›</a:t>
            </a:fld>
            <a:endParaRPr lang="en-US" dirty="0"/>
          </a:p>
        </p:txBody>
      </p:sp>
    </p:spTree>
    <p:extLst>
      <p:ext uri="{BB962C8B-B14F-4D97-AF65-F5344CB8AC3E}">
        <p14:creationId xmlns:p14="http://schemas.microsoft.com/office/powerpoint/2010/main" val="3916323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hyperlink" Target="https://www.javatpoint.com/javascript-function"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hyperlink" Target="https://www.geeksforgeeks.org/mongodb-tutorial/" TargetMode="External"/><Relationship Id="rId2" Type="http://schemas.openxmlformats.org/officeDocument/2006/relationships/hyperlink" Target="https://www.geeksforgeeks.org/introduction-to-nosq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Unit 4</a:t>
            </a:r>
            <a:br>
              <a:rPr lang="en-US" b="1" dirty="0"/>
            </a:br>
            <a:r>
              <a:rPr lang="en-US" b="1" dirty="0"/>
              <a:t>Client Side Scripting language</a:t>
            </a:r>
          </a:p>
        </p:txBody>
      </p:sp>
      <p:sp>
        <p:nvSpPr>
          <p:cNvPr id="3" name="Subtitle 2"/>
          <p:cNvSpPr>
            <a:spLocks noGrp="1"/>
          </p:cNvSpPr>
          <p:nvPr>
            <p:ph type="subTitle" idx="1"/>
          </p:nvPr>
        </p:nvSpPr>
        <p:spPr/>
        <p:txBody>
          <a:bodyPr/>
          <a:lstStyle/>
          <a:p>
            <a:r>
              <a:rPr lang="en-US" dirty="0"/>
              <a:t>Prepared By : Yachu Shakya</a:t>
            </a:r>
          </a:p>
        </p:txBody>
      </p:sp>
    </p:spTree>
    <p:extLst>
      <p:ext uri="{BB962C8B-B14F-4D97-AF65-F5344CB8AC3E}">
        <p14:creationId xmlns:p14="http://schemas.microsoft.com/office/powerpoint/2010/main" val="385308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to JavaScript</a:t>
            </a:r>
          </a:p>
        </p:txBody>
      </p:sp>
      <p:sp>
        <p:nvSpPr>
          <p:cNvPr id="3" name="Content Placeholder 2"/>
          <p:cNvSpPr>
            <a:spLocks noGrp="1"/>
          </p:cNvSpPr>
          <p:nvPr>
            <p:ph idx="1"/>
          </p:nvPr>
        </p:nvSpPr>
        <p:spPr/>
        <p:txBody>
          <a:bodyPr>
            <a:normAutofit/>
          </a:bodyPr>
          <a:lstStyle/>
          <a:p>
            <a:pPr algn="just"/>
            <a:r>
              <a:rPr lang="en-US" b="1" dirty="0"/>
              <a:t>JavaScript</a:t>
            </a:r>
            <a:r>
              <a:rPr lang="en-US" dirty="0"/>
              <a:t> was invented by </a:t>
            </a:r>
            <a:r>
              <a:rPr lang="en-US" b="1" dirty="0"/>
              <a:t>Brendan Eich</a:t>
            </a:r>
            <a:r>
              <a:rPr lang="en-US" dirty="0"/>
              <a:t> in 1995.</a:t>
            </a:r>
          </a:p>
          <a:p>
            <a:pPr algn="just"/>
            <a:r>
              <a:rPr lang="en-US" dirty="0"/>
              <a:t>It was developed for </a:t>
            </a:r>
            <a:r>
              <a:rPr lang="en-US" b="1" dirty="0"/>
              <a:t>Netscape 2</a:t>
            </a:r>
            <a:r>
              <a:rPr lang="en-US" dirty="0"/>
              <a:t>, and became the </a:t>
            </a:r>
            <a:r>
              <a:rPr lang="en-US" b="1" dirty="0"/>
              <a:t>ECMA-262</a:t>
            </a:r>
            <a:r>
              <a:rPr lang="en-US" dirty="0"/>
              <a:t> standard in 1997.</a:t>
            </a:r>
          </a:p>
          <a:p>
            <a:pPr algn="just"/>
            <a:r>
              <a:rPr lang="en-US" dirty="0"/>
              <a:t>JavaScript is the scripting language of the Web. </a:t>
            </a:r>
          </a:p>
          <a:p>
            <a:pPr algn="just"/>
            <a:r>
              <a:rPr lang="en-US" dirty="0"/>
              <a:t>JavaScript is used in millions of Web pages to add functionality, validate forms, detect browsers, and much more. </a:t>
            </a:r>
          </a:p>
          <a:p>
            <a:pPr algn="just"/>
            <a:r>
              <a:rPr lang="en-US" dirty="0"/>
              <a:t>JavaScript is the most popular scripting language on the Internet, and works in all major browsers, such as Internet Explorer, Mozilla Firefox, Chrome, Opera and many more.</a:t>
            </a:r>
          </a:p>
        </p:txBody>
      </p:sp>
    </p:spTree>
    <p:extLst>
      <p:ext uri="{BB962C8B-B14F-4D97-AF65-F5344CB8AC3E}">
        <p14:creationId xmlns:p14="http://schemas.microsoft.com/office/powerpoint/2010/main" val="2037566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JavaScript?</a:t>
            </a:r>
          </a:p>
        </p:txBody>
      </p:sp>
      <p:sp>
        <p:nvSpPr>
          <p:cNvPr id="3" name="Content Placeholder 2"/>
          <p:cNvSpPr>
            <a:spLocks noGrp="1"/>
          </p:cNvSpPr>
          <p:nvPr>
            <p:ph idx="1"/>
          </p:nvPr>
        </p:nvSpPr>
        <p:spPr/>
        <p:txBody>
          <a:bodyPr/>
          <a:lstStyle/>
          <a:p>
            <a:pPr algn="just"/>
            <a:r>
              <a:rPr lang="en-US" dirty="0"/>
              <a:t>JavaScript was designed to add interactivity to HTML pages </a:t>
            </a:r>
          </a:p>
          <a:p>
            <a:pPr algn="just"/>
            <a:r>
              <a:rPr lang="en-US" dirty="0"/>
              <a:t>JavaScript is a scripting language </a:t>
            </a:r>
          </a:p>
          <a:p>
            <a:pPr algn="just"/>
            <a:r>
              <a:rPr lang="en-US" dirty="0"/>
              <a:t>A scripting language is a lightweight programming language </a:t>
            </a:r>
          </a:p>
          <a:p>
            <a:pPr algn="just"/>
            <a:r>
              <a:rPr lang="en-US" dirty="0"/>
              <a:t>JavaScript is usually embedded directly into HTML pages </a:t>
            </a:r>
          </a:p>
          <a:p>
            <a:pPr algn="just"/>
            <a:r>
              <a:rPr lang="en-US" dirty="0"/>
              <a:t>Everyone can use JavaScript without purchasing a license</a:t>
            </a:r>
          </a:p>
          <a:p>
            <a:pPr algn="just"/>
            <a:r>
              <a:rPr lang="en-US" dirty="0"/>
              <a:t>Loosely tightened</a:t>
            </a:r>
          </a:p>
          <a:p>
            <a:pPr marL="0" indent="0" algn="just">
              <a:buNone/>
            </a:pPr>
            <a:endParaRPr lang="en-US" sz="2400" i="1" dirty="0"/>
          </a:p>
          <a:p>
            <a:pPr marL="0" indent="0" algn="just">
              <a:buNone/>
            </a:pPr>
            <a:r>
              <a:rPr lang="en-US" sz="2400" i="1" dirty="0"/>
              <a:t>Java and JavaScript are two completely different languages in both concept and design!</a:t>
            </a:r>
          </a:p>
        </p:txBody>
      </p:sp>
    </p:spTree>
    <p:extLst>
      <p:ext uri="{BB962C8B-B14F-4D97-AF65-F5344CB8AC3E}">
        <p14:creationId xmlns:p14="http://schemas.microsoft.com/office/powerpoint/2010/main" val="3638557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can a JavaScript Do ?</a:t>
            </a:r>
          </a:p>
        </p:txBody>
      </p:sp>
      <p:sp>
        <p:nvSpPr>
          <p:cNvPr id="3" name="Content Placeholder 2"/>
          <p:cNvSpPr>
            <a:spLocks noGrp="1"/>
          </p:cNvSpPr>
          <p:nvPr>
            <p:ph idx="1"/>
          </p:nvPr>
        </p:nvSpPr>
        <p:spPr>
          <a:xfrm>
            <a:off x="838200" y="1825625"/>
            <a:ext cx="10728158" cy="4767680"/>
          </a:xfrm>
        </p:spPr>
        <p:txBody>
          <a:bodyPr>
            <a:normAutofit fontScale="92500" lnSpcReduction="10000"/>
          </a:bodyPr>
          <a:lstStyle/>
          <a:p>
            <a:pPr algn="just"/>
            <a:r>
              <a:rPr lang="en-US" b="1" dirty="0"/>
              <a:t>JavaScript gives HTML designers a programming tool - </a:t>
            </a:r>
            <a:r>
              <a:rPr lang="en-US" dirty="0"/>
              <a:t>HTML authors are normally not programmers, but JavaScript is a scripting language with a very simple syntax! Almost anyone can put small "snippets" of code into their HTML pages </a:t>
            </a:r>
          </a:p>
          <a:p>
            <a:pPr algn="just"/>
            <a:r>
              <a:rPr lang="en-US" b="1" dirty="0"/>
              <a:t>JavaScript can put dynamic text into an HTML page </a:t>
            </a:r>
            <a:r>
              <a:rPr lang="en-US" dirty="0"/>
              <a:t>- A JavaScript statement like this: document. write</a:t>
            </a:r>
            <a:r>
              <a:rPr lang="en-US" b="1" dirty="0"/>
              <a:t>(“&lt;h1&gt;” + name + “&lt;/h1&gt;</a:t>
            </a:r>
            <a:r>
              <a:rPr lang="en-US" dirty="0"/>
              <a:t>") can write a variable text into an HTML page</a:t>
            </a:r>
          </a:p>
          <a:p>
            <a:pPr algn="just"/>
            <a:r>
              <a:rPr lang="en-US" dirty="0"/>
              <a:t> </a:t>
            </a:r>
            <a:r>
              <a:rPr lang="en-US" b="1" dirty="0"/>
              <a:t>JavaScript can react to events </a:t>
            </a:r>
            <a:r>
              <a:rPr lang="en-US" dirty="0"/>
              <a:t>- A JavaScript can be set to execute when something happens, like when a page has finished loading or when a user clicks on an HTML element </a:t>
            </a:r>
          </a:p>
          <a:p>
            <a:pPr algn="just"/>
            <a:r>
              <a:rPr lang="en-US" b="1" dirty="0"/>
              <a:t>JavaScript can read and write HTML elements - </a:t>
            </a:r>
            <a:r>
              <a:rPr lang="en-US" dirty="0"/>
              <a:t>A JavaScript can read and change the content of an HTML element </a:t>
            </a:r>
          </a:p>
          <a:p>
            <a:pPr algn="just"/>
            <a:r>
              <a:rPr lang="en-US" b="1" dirty="0"/>
              <a:t>JavaScript can be used to validate data - A </a:t>
            </a:r>
            <a:r>
              <a:rPr lang="en-US" dirty="0"/>
              <a:t>JavaScript can be used to validate form data before it is submitted to a server. This saves the server from extra processing</a:t>
            </a:r>
          </a:p>
          <a:p>
            <a:pPr algn="just"/>
            <a:r>
              <a:rPr lang="en-US" dirty="0"/>
              <a:t> </a:t>
            </a:r>
            <a:r>
              <a:rPr lang="en-US" b="1" dirty="0"/>
              <a:t>JavaScript can be used to detect the visitor's browser - </a:t>
            </a:r>
            <a:r>
              <a:rPr lang="en-US" dirty="0"/>
              <a:t>A JavaScript can be used to detect the visitor's browser, and - depending on the browser - load another page specifically designed for that browser</a:t>
            </a:r>
          </a:p>
          <a:p>
            <a:pPr algn="just"/>
            <a:r>
              <a:rPr lang="en-US" b="1" dirty="0"/>
              <a:t>JavaScript can be used to create cookies - </a:t>
            </a:r>
            <a:r>
              <a:rPr lang="en-US" dirty="0"/>
              <a:t>A JavaScript can be used to store and retrieve information on the visitor's computer</a:t>
            </a:r>
          </a:p>
        </p:txBody>
      </p:sp>
    </p:spTree>
    <p:extLst>
      <p:ext uri="{BB962C8B-B14F-4D97-AF65-F5344CB8AC3E}">
        <p14:creationId xmlns:p14="http://schemas.microsoft.com/office/powerpoint/2010/main" val="2072001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Variables</a:t>
            </a:r>
          </a:p>
        </p:txBody>
      </p:sp>
      <p:sp>
        <p:nvSpPr>
          <p:cNvPr id="3" name="Content Placeholder 2"/>
          <p:cNvSpPr>
            <a:spLocks noGrp="1"/>
          </p:cNvSpPr>
          <p:nvPr>
            <p:ph idx="1"/>
          </p:nvPr>
        </p:nvSpPr>
        <p:spPr/>
        <p:txBody>
          <a:bodyPr>
            <a:normAutofit/>
          </a:bodyPr>
          <a:lstStyle/>
          <a:p>
            <a:pPr algn="just"/>
            <a:r>
              <a:rPr lang="en-US" dirty="0"/>
              <a:t>Variables are "containers" for storing information.</a:t>
            </a:r>
          </a:p>
          <a:p>
            <a:pPr algn="just"/>
            <a:r>
              <a:rPr lang="en-US" dirty="0"/>
              <a:t> JavaScript variables are used to hold values or expressions. </a:t>
            </a:r>
          </a:p>
          <a:p>
            <a:pPr algn="just"/>
            <a:r>
              <a:rPr lang="en-US" dirty="0"/>
              <a:t>A variable can have a short name, like x, or a more descriptive name, like carname. </a:t>
            </a:r>
          </a:p>
          <a:p>
            <a:pPr algn="just"/>
            <a:r>
              <a:rPr lang="en-US" dirty="0"/>
              <a:t>Rules for JavaScript variable names: </a:t>
            </a:r>
          </a:p>
          <a:p>
            <a:pPr lvl="1" algn="just"/>
            <a:r>
              <a:rPr lang="en-US" dirty="0"/>
              <a:t>Variable names are case sensitive (y and Y are two different variables)</a:t>
            </a:r>
          </a:p>
          <a:p>
            <a:pPr lvl="1" algn="just"/>
            <a:r>
              <a:rPr lang="en-US" dirty="0"/>
              <a:t>Variable names must begin with a letter or the underscore character </a:t>
            </a:r>
          </a:p>
          <a:p>
            <a:pPr marL="0" indent="0" algn="just">
              <a:buNone/>
            </a:pPr>
            <a:r>
              <a:rPr lang="en-US" dirty="0"/>
              <a:t>Note: Because JavaScript is case-sensitive, variable names are case-sensitive.</a:t>
            </a:r>
          </a:p>
        </p:txBody>
      </p:sp>
    </p:spTree>
    <p:extLst>
      <p:ext uri="{BB962C8B-B14F-4D97-AF65-F5344CB8AC3E}">
        <p14:creationId xmlns:p14="http://schemas.microsoft.com/office/powerpoint/2010/main" val="3246035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Variables</a:t>
            </a:r>
          </a:p>
        </p:txBody>
      </p:sp>
      <p:sp>
        <p:nvSpPr>
          <p:cNvPr id="3" name="Content Placeholder 2"/>
          <p:cNvSpPr>
            <a:spLocks noGrp="1"/>
          </p:cNvSpPr>
          <p:nvPr>
            <p:ph idx="1"/>
          </p:nvPr>
        </p:nvSpPr>
        <p:spPr/>
        <p:txBody>
          <a:bodyPr>
            <a:normAutofit/>
          </a:bodyPr>
          <a:lstStyle/>
          <a:p>
            <a:pPr algn="just"/>
            <a:r>
              <a:rPr lang="en-US" dirty="0"/>
              <a:t>var</a:t>
            </a:r>
          </a:p>
          <a:p>
            <a:pPr algn="just"/>
            <a:r>
              <a:rPr lang="en-US" dirty="0"/>
              <a:t>let</a:t>
            </a:r>
          </a:p>
          <a:p>
            <a:pPr algn="just"/>
            <a:r>
              <a:rPr lang="en-US" dirty="0"/>
              <a:t>const</a:t>
            </a:r>
          </a:p>
          <a:p>
            <a:pPr algn="just"/>
            <a:endParaRPr lang="en-US" dirty="0"/>
          </a:p>
        </p:txBody>
      </p:sp>
    </p:spTree>
    <p:extLst>
      <p:ext uri="{BB962C8B-B14F-4D97-AF65-F5344CB8AC3E}">
        <p14:creationId xmlns:p14="http://schemas.microsoft.com/office/powerpoint/2010/main" val="2518438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11049610" cy="1320800"/>
          </a:xfrm>
        </p:spPr>
        <p:txBody>
          <a:bodyPr/>
          <a:lstStyle/>
          <a:p>
            <a:r>
              <a:rPr lang="en-US" b="1" dirty="0">
                <a:solidFill>
                  <a:schemeClr val="bg2"/>
                </a:solidFill>
                <a:highlight>
                  <a:srgbClr val="000080"/>
                </a:highlight>
              </a:rPr>
              <a:t>Declaring (Creating) JavaScript Variables using var</a:t>
            </a:r>
          </a:p>
        </p:txBody>
      </p:sp>
      <p:pic>
        <p:nvPicPr>
          <p:cNvPr id="4" name="Content Placeholder 3"/>
          <p:cNvPicPr>
            <a:picLocks noGrp="1" noChangeAspect="1"/>
          </p:cNvPicPr>
          <p:nvPr>
            <p:ph idx="1"/>
          </p:nvPr>
        </p:nvPicPr>
        <p:blipFill>
          <a:blip r:embed="rId2"/>
          <a:stretch>
            <a:fillRect/>
          </a:stretch>
        </p:blipFill>
        <p:spPr>
          <a:xfrm>
            <a:off x="691081" y="1284579"/>
            <a:ext cx="9100029" cy="4040790"/>
          </a:xfrm>
          <a:prstGeom prst="rect">
            <a:avLst/>
          </a:prstGeom>
        </p:spPr>
      </p:pic>
      <p:pic>
        <p:nvPicPr>
          <p:cNvPr id="5" name="Picture 4"/>
          <p:cNvPicPr>
            <a:picLocks noChangeAspect="1"/>
          </p:cNvPicPr>
          <p:nvPr/>
        </p:nvPicPr>
        <p:blipFill>
          <a:blip r:embed="rId3"/>
          <a:stretch>
            <a:fillRect/>
          </a:stretch>
        </p:blipFill>
        <p:spPr>
          <a:xfrm>
            <a:off x="838200" y="5325369"/>
            <a:ext cx="5590880" cy="1532631"/>
          </a:xfrm>
          <a:prstGeom prst="rect">
            <a:avLst/>
          </a:prstGeom>
        </p:spPr>
      </p:pic>
    </p:spTree>
    <p:extLst>
      <p:ext uri="{BB962C8B-B14F-4D97-AF65-F5344CB8AC3E}">
        <p14:creationId xmlns:p14="http://schemas.microsoft.com/office/powerpoint/2010/main" val="3900344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Assigning Values to Undeclared JavaScript Variables</a:t>
            </a:r>
          </a:p>
        </p:txBody>
      </p:sp>
      <p:pic>
        <p:nvPicPr>
          <p:cNvPr id="4" name="Content Placeholder 3"/>
          <p:cNvPicPr>
            <a:picLocks noGrp="1" noChangeAspect="1"/>
          </p:cNvPicPr>
          <p:nvPr>
            <p:ph idx="1"/>
          </p:nvPr>
        </p:nvPicPr>
        <p:blipFill>
          <a:blip r:embed="rId2"/>
          <a:stretch>
            <a:fillRect/>
          </a:stretch>
        </p:blipFill>
        <p:spPr>
          <a:xfrm>
            <a:off x="2397786" y="3161458"/>
            <a:ext cx="5156465" cy="1879697"/>
          </a:xfrm>
          <a:prstGeom prst="rect">
            <a:avLst/>
          </a:prstGeom>
        </p:spPr>
      </p:pic>
    </p:spTree>
    <p:extLst>
      <p:ext uri="{BB962C8B-B14F-4D97-AF65-F5344CB8AC3E}">
        <p14:creationId xmlns:p14="http://schemas.microsoft.com/office/powerpoint/2010/main" val="2678455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3116179" y="1922404"/>
            <a:ext cx="5467631" cy="3359323"/>
          </a:xfrm>
          <a:prstGeom prst="rect">
            <a:avLst/>
          </a:prstGeom>
        </p:spPr>
      </p:pic>
      <p:pic>
        <p:nvPicPr>
          <p:cNvPr id="6" name="Picture 5"/>
          <p:cNvPicPr>
            <a:picLocks noChangeAspect="1"/>
          </p:cNvPicPr>
          <p:nvPr/>
        </p:nvPicPr>
        <p:blipFill>
          <a:blip r:embed="rId3"/>
          <a:stretch>
            <a:fillRect/>
          </a:stretch>
        </p:blipFill>
        <p:spPr>
          <a:xfrm>
            <a:off x="2184199" y="5513443"/>
            <a:ext cx="7823602" cy="1028753"/>
          </a:xfrm>
          <a:prstGeom prst="rect">
            <a:avLst/>
          </a:prstGeom>
        </p:spPr>
      </p:pic>
    </p:spTree>
    <p:extLst>
      <p:ext uri="{BB962C8B-B14F-4D97-AF65-F5344CB8AC3E}">
        <p14:creationId xmlns:p14="http://schemas.microsoft.com/office/powerpoint/2010/main" val="1778933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Let</a:t>
            </a:r>
          </a:p>
        </p:txBody>
      </p:sp>
      <p:sp>
        <p:nvSpPr>
          <p:cNvPr id="3" name="Content Placeholder 2"/>
          <p:cNvSpPr>
            <a:spLocks noGrp="1"/>
          </p:cNvSpPr>
          <p:nvPr>
            <p:ph idx="1"/>
          </p:nvPr>
        </p:nvSpPr>
        <p:spPr/>
        <p:txBody>
          <a:bodyPr/>
          <a:lstStyle/>
          <a:p>
            <a:pPr algn="just"/>
            <a:r>
              <a:rPr lang="en-US" dirty="0"/>
              <a:t>The let keyword was introduced in ES6 (2015)</a:t>
            </a:r>
          </a:p>
          <a:p>
            <a:pPr algn="just"/>
            <a:r>
              <a:rPr lang="en-US" dirty="0"/>
              <a:t>Variables defined with let cannot be Redeclared.</a:t>
            </a:r>
          </a:p>
          <a:p>
            <a:pPr algn="just"/>
            <a:r>
              <a:rPr lang="en-US" dirty="0"/>
              <a:t>Variables defined with let must be Declared before use</a:t>
            </a:r>
          </a:p>
          <a:p>
            <a:pPr algn="just"/>
            <a:r>
              <a:rPr lang="en-US" dirty="0"/>
              <a:t>Variables defined with let have Block Scope</a:t>
            </a:r>
          </a:p>
          <a:p>
            <a:pPr algn="just"/>
            <a:endParaRPr lang="en-US" dirty="0"/>
          </a:p>
        </p:txBody>
      </p:sp>
      <p:sp>
        <p:nvSpPr>
          <p:cNvPr id="5" name="Rectangle 2"/>
          <p:cNvSpPr>
            <a:spLocks noChangeArrowheads="1"/>
          </p:cNvSpPr>
          <p:nvPr/>
        </p:nvSpPr>
        <p:spPr bwMode="auto">
          <a:xfrm>
            <a:off x="3978442" y="4068528"/>
            <a:ext cx="3705726" cy="2523671"/>
          </a:xfrm>
          <a:prstGeom prst="rect">
            <a:avLst/>
          </a:prstGeom>
          <a:solidFill>
            <a:srgbClr val="E7E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6960" tIns="152352" rIns="-126960" bIns="15235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Verdana" panose="020B0604030504040204" pitchFamily="34" charset="0"/>
              </a:rPr>
              <a:t>With </a:t>
            </a:r>
            <a:r>
              <a:rPr kumimoji="0" lang="en-US" altLang="en-US" b="0" i="0" u="none" strike="noStrike" cap="none" normalizeH="0" baseline="0" dirty="0">
                <a:ln>
                  <a:noFill/>
                </a:ln>
                <a:solidFill>
                  <a:srgbClr val="DC143C"/>
                </a:solidFill>
                <a:effectLst/>
                <a:latin typeface="Consolas" panose="020B0609020204030204" pitchFamily="49" charset="0"/>
              </a:rPr>
              <a:t>let</a:t>
            </a:r>
            <a:r>
              <a:rPr kumimoji="0" lang="en-US" altLang="en-US" b="0" i="0" u="none" strike="noStrike" cap="none" normalizeH="0" baseline="0" dirty="0">
                <a:ln>
                  <a:noFill/>
                </a:ln>
                <a:solidFill>
                  <a:srgbClr val="000000"/>
                </a:solidFill>
                <a:effectLst/>
                <a:latin typeface="Verdana" panose="020B0604030504040204" pitchFamily="34" charset="0"/>
              </a:rPr>
              <a:t> you can </a:t>
            </a:r>
            <a:r>
              <a:rPr kumimoji="0" lang="en-US" altLang="en-US" b="1" i="0" u="none" strike="noStrike" cap="none" normalizeH="0" baseline="0" dirty="0">
                <a:ln>
                  <a:noFill/>
                </a:ln>
                <a:solidFill>
                  <a:srgbClr val="000000"/>
                </a:solidFill>
                <a:effectLst/>
                <a:latin typeface="Verdana" panose="020B0604030504040204" pitchFamily="34" charset="0"/>
              </a:rPr>
              <a:t>not</a:t>
            </a:r>
            <a:r>
              <a:rPr kumimoji="0" lang="en-US" altLang="en-US" b="0" i="0" u="none" strike="noStrike" cap="none" normalizeH="0" baseline="0" dirty="0">
                <a:ln>
                  <a:noFill/>
                </a:ln>
                <a:solidFill>
                  <a:srgbClr val="000000"/>
                </a:solidFill>
                <a:effectLst/>
                <a:latin typeface="Verdana" panose="020B0604030504040204" pitchFamily="34" charset="0"/>
              </a:rPr>
              <a:t> do this: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CD"/>
                </a:solidFill>
                <a:effectLst/>
                <a:latin typeface="Consolas" panose="020B0609020204030204" pitchFamily="49" charset="0"/>
              </a:rPr>
              <a:t>let</a:t>
            </a:r>
            <a:r>
              <a:rPr kumimoji="0" lang="en-US" altLang="en-US" b="0" i="0" u="none" strike="noStrike" cap="none" normalizeH="0" baseline="0" dirty="0">
                <a:ln>
                  <a:noFill/>
                </a:ln>
                <a:solidFill>
                  <a:srgbClr val="000000"/>
                </a:solidFill>
                <a:effectLst/>
                <a:latin typeface="Consolas" panose="020B0609020204030204" pitchFamily="49" charset="0"/>
              </a:rPr>
              <a:t> x = </a:t>
            </a:r>
            <a:r>
              <a:rPr kumimoji="0" lang="en-US" altLang="en-US" b="0" i="0" u="none" strike="noStrike" cap="none" normalizeH="0" baseline="0" dirty="0">
                <a:ln>
                  <a:noFill/>
                </a:ln>
                <a:solidFill>
                  <a:srgbClr val="A52A2A"/>
                </a:solidFill>
                <a:effectLst/>
                <a:latin typeface="Consolas" panose="020B0609020204030204" pitchFamily="49" charset="0"/>
              </a:rPr>
              <a:t>"John Doe"</a:t>
            </a:r>
            <a:r>
              <a:rPr kumimoji="0" lang="en-US" altLang="en-US" b="0" i="0" u="none" strike="noStrike" cap="none" normalizeH="0" baseline="0" dirty="0">
                <a:ln>
                  <a:noFill/>
                </a:ln>
                <a:solidFill>
                  <a:srgbClr val="000000"/>
                </a:solidFill>
                <a:effectLst/>
                <a:latin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rPr>
            </a:br>
            <a:br>
              <a:rPr kumimoji="0" lang="en-US" altLang="en-US" b="0" i="0" u="none" strike="noStrike" cap="none" normalizeH="0" baseline="0" dirty="0">
                <a:ln>
                  <a:noFill/>
                </a:ln>
                <a:solidFill>
                  <a:srgbClr val="000000"/>
                </a:solidFill>
                <a:effectLst/>
                <a:latin typeface="Consolas" panose="020B0609020204030204" pitchFamily="49" charset="0"/>
              </a:rPr>
            </a:br>
            <a:r>
              <a:rPr kumimoji="0" lang="en-US" altLang="en-US" b="0" i="0" u="none" strike="noStrike" cap="none" normalizeH="0" baseline="0" dirty="0">
                <a:ln>
                  <a:noFill/>
                </a:ln>
                <a:solidFill>
                  <a:srgbClr val="0000CD"/>
                </a:solidFill>
                <a:effectLst/>
                <a:latin typeface="Consolas" panose="020B0609020204030204" pitchFamily="49" charset="0"/>
              </a:rPr>
              <a:t>let</a:t>
            </a:r>
            <a:r>
              <a:rPr kumimoji="0" lang="en-US" altLang="en-US" b="0" i="0" u="none" strike="noStrike" cap="none" normalizeH="0" baseline="0" dirty="0">
                <a:ln>
                  <a:noFill/>
                </a:ln>
                <a:solidFill>
                  <a:srgbClr val="000000"/>
                </a:solidFill>
                <a:effectLst/>
                <a:latin typeface="Consolas" panose="020B0609020204030204" pitchFamily="49" charset="0"/>
              </a:rPr>
              <a:t> x = </a:t>
            </a:r>
            <a:r>
              <a:rPr kumimoji="0" lang="en-US" altLang="en-US" b="0" i="0" u="none" strike="noStrike" cap="none" normalizeH="0" baseline="0" dirty="0">
                <a:ln>
                  <a:noFill/>
                </a:ln>
                <a:solidFill>
                  <a:srgbClr val="FF0000"/>
                </a:solidFill>
                <a:effectLst/>
                <a:latin typeface="Consolas" panose="020B0609020204030204" pitchFamily="49" charset="0"/>
              </a:rPr>
              <a:t>0</a:t>
            </a:r>
            <a:r>
              <a:rPr kumimoji="0" lang="en-US" altLang="en-US" b="0" i="0" u="none" strike="noStrike" cap="none" normalizeH="0" baseline="0" dirty="0">
                <a:ln>
                  <a:noFill/>
                </a:ln>
                <a:solidFill>
                  <a:srgbClr val="000000"/>
                </a:solidFill>
                <a:effectLst/>
                <a:latin typeface="Consolas" panose="020B0609020204030204" pitchFamily="49"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Verdana" panose="020B0604030504040204" pitchFamily="34" charset="0"/>
              </a:rPr>
              <a:t>With </a:t>
            </a:r>
            <a:r>
              <a:rPr kumimoji="0" lang="en-US" altLang="en-US" b="0" i="0" u="none" strike="noStrike" cap="none" normalizeH="0" baseline="0" dirty="0">
                <a:ln>
                  <a:noFill/>
                </a:ln>
                <a:solidFill>
                  <a:srgbClr val="DC143C"/>
                </a:solidFill>
                <a:effectLst/>
                <a:latin typeface="Consolas" panose="020B0609020204030204" pitchFamily="49" charset="0"/>
              </a:rPr>
              <a:t>var</a:t>
            </a:r>
            <a:r>
              <a:rPr kumimoji="0" lang="en-US" altLang="en-US" b="0" i="0" u="none" strike="noStrike" cap="none" normalizeH="0" baseline="0" dirty="0">
                <a:ln>
                  <a:noFill/>
                </a:ln>
                <a:solidFill>
                  <a:srgbClr val="000000"/>
                </a:solidFill>
                <a:effectLst/>
                <a:latin typeface="Verdana" panose="020B0604030504040204" pitchFamily="34" charset="0"/>
              </a:rPr>
              <a:t> you can: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CD"/>
                </a:solidFill>
                <a:effectLst/>
                <a:latin typeface="Consolas" panose="020B0609020204030204" pitchFamily="49" charset="0"/>
              </a:rPr>
              <a:t>var</a:t>
            </a:r>
            <a:r>
              <a:rPr kumimoji="0" lang="en-US" altLang="en-US" b="0" i="0" u="none" strike="noStrike" cap="none" normalizeH="0" baseline="0" dirty="0">
                <a:ln>
                  <a:noFill/>
                </a:ln>
                <a:solidFill>
                  <a:srgbClr val="000000"/>
                </a:solidFill>
                <a:effectLst/>
                <a:latin typeface="Consolas" panose="020B0609020204030204" pitchFamily="49" charset="0"/>
              </a:rPr>
              <a:t> x = </a:t>
            </a:r>
            <a:r>
              <a:rPr kumimoji="0" lang="en-US" altLang="en-US" b="0" i="0" u="none" strike="noStrike" cap="none" normalizeH="0" baseline="0" dirty="0">
                <a:ln>
                  <a:noFill/>
                </a:ln>
                <a:solidFill>
                  <a:srgbClr val="A52A2A"/>
                </a:solidFill>
                <a:effectLst/>
                <a:latin typeface="Consolas" panose="020B0609020204030204" pitchFamily="49" charset="0"/>
              </a:rPr>
              <a:t>"John Doe"</a:t>
            </a:r>
            <a:r>
              <a:rPr kumimoji="0" lang="en-US" altLang="en-US" b="0" i="0" u="none" strike="noStrike" cap="none" normalizeH="0" baseline="0" dirty="0">
                <a:ln>
                  <a:noFill/>
                </a:ln>
                <a:solidFill>
                  <a:srgbClr val="000000"/>
                </a:solidFill>
                <a:effectLst/>
                <a:latin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rPr>
            </a:br>
            <a:br>
              <a:rPr kumimoji="0" lang="en-US" altLang="en-US" b="0" i="0" u="none" strike="noStrike" cap="none" normalizeH="0" baseline="0" dirty="0">
                <a:ln>
                  <a:noFill/>
                </a:ln>
                <a:solidFill>
                  <a:srgbClr val="000000"/>
                </a:solidFill>
                <a:effectLst/>
                <a:latin typeface="Consolas" panose="020B0609020204030204" pitchFamily="49" charset="0"/>
              </a:rPr>
            </a:br>
            <a:r>
              <a:rPr kumimoji="0" lang="en-US" altLang="en-US" b="0" i="0" u="none" strike="noStrike" cap="none" normalizeH="0" baseline="0" dirty="0">
                <a:ln>
                  <a:noFill/>
                </a:ln>
                <a:solidFill>
                  <a:srgbClr val="0000CD"/>
                </a:solidFill>
                <a:effectLst/>
                <a:latin typeface="Consolas" panose="020B0609020204030204" pitchFamily="49" charset="0"/>
              </a:rPr>
              <a:t>var</a:t>
            </a:r>
            <a:r>
              <a:rPr kumimoji="0" lang="en-US" altLang="en-US" b="0" i="0" u="none" strike="noStrike" cap="none" normalizeH="0" baseline="0" dirty="0">
                <a:ln>
                  <a:noFill/>
                </a:ln>
                <a:solidFill>
                  <a:srgbClr val="000000"/>
                </a:solidFill>
                <a:effectLst/>
                <a:latin typeface="Consolas" panose="020B0609020204030204" pitchFamily="49" charset="0"/>
              </a:rPr>
              <a:t> x = </a:t>
            </a:r>
            <a:r>
              <a:rPr kumimoji="0" lang="en-US" altLang="en-US" b="0" i="0" u="none" strike="noStrike" cap="none" normalizeH="0" baseline="0" dirty="0">
                <a:ln>
                  <a:noFill/>
                </a:ln>
                <a:solidFill>
                  <a:srgbClr val="FF0000"/>
                </a:solidFill>
                <a:effectLst/>
                <a:latin typeface="Consolas" panose="020B0609020204030204" pitchFamily="49" charset="0"/>
              </a:rPr>
              <a:t>0</a:t>
            </a:r>
            <a:r>
              <a:rPr kumimoji="0" lang="en-US" altLang="en-US" b="0" i="0" u="none" strike="noStrike" cap="none" normalizeH="0" baseline="0" dirty="0">
                <a:ln>
                  <a:noFill/>
                </a:ln>
                <a:solidFill>
                  <a:srgbClr val="000000"/>
                </a:solidFill>
                <a:effectLst/>
                <a:latin typeface="Consolas" panose="020B0609020204030204" pitchFamily="49" charset="0"/>
              </a:rPr>
              <a:t>;</a:t>
            </a: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16939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Const</a:t>
            </a:r>
          </a:p>
        </p:txBody>
      </p:sp>
      <p:sp>
        <p:nvSpPr>
          <p:cNvPr id="3" name="Content Placeholder 2"/>
          <p:cNvSpPr>
            <a:spLocks noGrp="1"/>
          </p:cNvSpPr>
          <p:nvPr>
            <p:ph idx="1"/>
          </p:nvPr>
        </p:nvSpPr>
        <p:spPr/>
        <p:txBody>
          <a:bodyPr/>
          <a:lstStyle/>
          <a:p>
            <a:r>
              <a:rPr lang="en-US" dirty="0"/>
              <a:t>The const keyword was introduced in ES6 (2015)</a:t>
            </a:r>
          </a:p>
          <a:p>
            <a:endParaRPr lang="en-US" dirty="0"/>
          </a:p>
          <a:p>
            <a:r>
              <a:rPr lang="en-US" dirty="0"/>
              <a:t>Variables defined with const cannot be Redeclared</a:t>
            </a:r>
          </a:p>
          <a:p>
            <a:endParaRPr lang="en-US" dirty="0"/>
          </a:p>
          <a:p>
            <a:r>
              <a:rPr lang="en-US" dirty="0"/>
              <a:t>Variables defined with const cannot be Reassigned</a:t>
            </a:r>
          </a:p>
          <a:p>
            <a:endParaRPr lang="en-US" dirty="0"/>
          </a:p>
          <a:p>
            <a:r>
              <a:rPr lang="en-US" dirty="0"/>
              <a:t>Variables defined with const have Block Scope</a:t>
            </a:r>
          </a:p>
        </p:txBody>
      </p:sp>
    </p:spTree>
    <p:extLst>
      <p:ext uri="{BB962C8B-B14F-4D97-AF65-F5344CB8AC3E}">
        <p14:creationId xmlns:p14="http://schemas.microsoft.com/office/powerpoint/2010/main" val="2952784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Types</a:t>
            </a:r>
          </a:p>
        </p:txBody>
      </p:sp>
      <p:sp>
        <p:nvSpPr>
          <p:cNvPr id="3" name="Content Placeholder 2"/>
          <p:cNvSpPr>
            <a:spLocks noGrp="1"/>
          </p:cNvSpPr>
          <p:nvPr>
            <p:ph idx="1"/>
          </p:nvPr>
        </p:nvSpPr>
        <p:spPr/>
        <p:txBody>
          <a:bodyPr>
            <a:normAutofit/>
          </a:bodyPr>
          <a:lstStyle/>
          <a:p>
            <a:pPr algn="just"/>
            <a:r>
              <a:rPr lang="en-US" b="1" dirty="0"/>
              <a:t>Numbers - </a:t>
            </a:r>
            <a:r>
              <a:rPr lang="en-US" dirty="0"/>
              <a:t>are values that can be processed and calculated. You don't enclose them in quotation marks. The numbers can be either positive or negative. </a:t>
            </a:r>
          </a:p>
          <a:p>
            <a:pPr algn="just"/>
            <a:r>
              <a:rPr lang="en-US" b="1" dirty="0"/>
              <a:t>Strings - </a:t>
            </a:r>
            <a:r>
              <a:rPr lang="en-US" dirty="0"/>
              <a:t>are a series of letters and numbers enclosed in quotation marks. JavaScript uses the string literally; it doesn't process it. You'll use strings for text you want displayed or values you want passed along. </a:t>
            </a:r>
          </a:p>
          <a:p>
            <a:pPr algn="just"/>
            <a:r>
              <a:rPr lang="en-US" b="1" dirty="0"/>
              <a:t>Boolean (true/false) - </a:t>
            </a:r>
            <a:r>
              <a:rPr lang="en-US" dirty="0"/>
              <a:t>lets you evaluate whether a condition meets or does not meet specified criteria. </a:t>
            </a:r>
          </a:p>
          <a:p>
            <a:pPr algn="just"/>
            <a:r>
              <a:rPr lang="en-US" b="1" dirty="0"/>
              <a:t>Null - </a:t>
            </a:r>
            <a:r>
              <a:rPr lang="en-US" dirty="0"/>
              <a:t>is an empty value. null is not the same as 0 -- 0 is a real, calculable number, whereas null is the absence of any value.</a:t>
            </a:r>
          </a:p>
          <a:p>
            <a:pPr algn="just"/>
            <a:r>
              <a:rPr lang="en-US" b="1" dirty="0"/>
              <a:t>Undefined</a:t>
            </a:r>
          </a:p>
        </p:txBody>
      </p:sp>
    </p:spTree>
    <p:extLst>
      <p:ext uri="{BB962C8B-B14F-4D97-AF65-F5344CB8AC3E}">
        <p14:creationId xmlns:p14="http://schemas.microsoft.com/office/powerpoint/2010/main" val="1707980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1100111" y="2077342"/>
            <a:ext cx="4184865" cy="3810196"/>
          </a:xfrm>
          <a:prstGeom prst="rect">
            <a:avLst/>
          </a:prstGeom>
        </p:spPr>
      </p:pic>
      <p:pic>
        <p:nvPicPr>
          <p:cNvPr id="6" name="Picture 5"/>
          <p:cNvPicPr>
            <a:picLocks noChangeAspect="1"/>
          </p:cNvPicPr>
          <p:nvPr/>
        </p:nvPicPr>
        <p:blipFill>
          <a:blip r:embed="rId3"/>
          <a:stretch>
            <a:fillRect/>
          </a:stretch>
        </p:blipFill>
        <p:spPr>
          <a:xfrm>
            <a:off x="6434752" y="2886854"/>
            <a:ext cx="4511392" cy="2071645"/>
          </a:xfrm>
          <a:prstGeom prst="rect">
            <a:avLst/>
          </a:prstGeom>
        </p:spPr>
      </p:pic>
    </p:spTree>
    <p:extLst>
      <p:ext uri="{BB962C8B-B14F-4D97-AF65-F5344CB8AC3E}">
        <p14:creationId xmlns:p14="http://schemas.microsoft.com/office/powerpoint/2010/main" val="3731322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Operators</a:t>
            </a:r>
          </a:p>
        </p:txBody>
      </p:sp>
      <p:pic>
        <p:nvPicPr>
          <p:cNvPr id="5" name="Picture 4"/>
          <p:cNvPicPr>
            <a:picLocks noChangeAspect="1"/>
          </p:cNvPicPr>
          <p:nvPr/>
        </p:nvPicPr>
        <p:blipFill>
          <a:blip r:embed="rId2"/>
          <a:stretch>
            <a:fillRect/>
          </a:stretch>
        </p:blipFill>
        <p:spPr>
          <a:xfrm>
            <a:off x="6511422" y="2458451"/>
            <a:ext cx="4714041" cy="2807369"/>
          </a:xfrm>
          <a:prstGeom prst="rect">
            <a:avLst/>
          </a:prstGeom>
        </p:spPr>
      </p:pic>
      <p:pic>
        <p:nvPicPr>
          <p:cNvPr id="7" name="Picture 6"/>
          <p:cNvPicPr>
            <a:picLocks noChangeAspect="1"/>
          </p:cNvPicPr>
          <p:nvPr/>
        </p:nvPicPr>
        <p:blipFill>
          <a:blip r:embed="rId3"/>
          <a:stretch>
            <a:fillRect/>
          </a:stretch>
        </p:blipFill>
        <p:spPr>
          <a:xfrm>
            <a:off x="1544942" y="2125322"/>
            <a:ext cx="4388076" cy="3473629"/>
          </a:xfrm>
          <a:prstGeom prst="rect">
            <a:avLst/>
          </a:prstGeom>
        </p:spPr>
      </p:pic>
    </p:spTree>
    <p:extLst>
      <p:ext uri="{BB962C8B-B14F-4D97-AF65-F5344CB8AC3E}">
        <p14:creationId xmlns:p14="http://schemas.microsoft.com/office/powerpoint/2010/main" val="1161920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03D40-1EC4-4A25-9741-5E3DC4F2D60A}"/>
              </a:ext>
            </a:extLst>
          </p:cNvPr>
          <p:cNvSpPr>
            <a:spLocks noGrp="1"/>
          </p:cNvSpPr>
          <p:nvPr>
            <p:ph type="title"/>
          </p:nvPr>
        </p:nvSpPr>
        <p:spPr/>
        <p:txBody>
          <a:bodyPr/>
          <a:lstStyle/>
          <a:p>
            <a:r>
              <a:rPr lang="en-US" b="1" dirty="0"/>
              <a:t>Javascript Statements</a:t>
            </a:r>
          </a:p>
        </p:txBody>
      </p:sp>
      <p:sp>
        <p:nvSpPr>
          <p:cNvPr id="3" name="Content Placeholder 2">
            <a:extLst>
              <a:ext uri="{FF2B5EF4-FFF2-40B4-BE49-F238E27FC236}">
                <a16:creationId xmlns:a16="http://schemas.microsoft.com/office/drawing/2014/main" id="{A83B1771-3711-4D1E-986A-7A0084C89776}"/>
              </a:ext>
            </a:extLst>
          </p:cNvPr>
          <p:cNvSpPr>
            <a:spLocks noGrp="1"/>
          </p:cNvSpPr>
          <p:nvPr>
            <p:ph idx="1"/>
          </p:nvPr>
        </p:nvSpPr>
        <p:spPr/>
        <p:txBody>
          <a:bodyPr/>
          <a:lstStyle/>
          <a:p>
            <a:r>
              <a:rPr lang="en-US" dirty="0"/>
              <a:t>A computer program is a list of instructions to be executed by a computer</a:t>
            </a:r>
          </a:p>
          <a:p>
            <a:r>
              <a:rPr lang="en-US" dirty="0"/>
              <a:t>In programming language, these programming instructions are called statements.</a:t>
            </a:r>
          </a:p>
          <a:p>
            <a:r>
              <a:rPr lang="en-US" dirty="0"/>
              <a:t>JavaScript program is a list of programming statements</a:t>
            </a:r>
          </a:p>
          <a:p>
            <a:r>
              <a:rPr lang="en-US" dirty="0"/>
              <a:t>JavaScript statements are composed of:</a:t>
            </a:r>
          </a:p>
          <a:p>
            <a:r>
              <a:rPr lang="en-US" dirty="0"/>
              <a:t>Values, Operators, Expressions, Keywords and Comments</a:t>
            </a:r>
          </a:p>
        </p:txBody>
      </p:sp>
    </p:spTree>
    <p:extLst>
      <p:ext uri="{BB962C8B-B14F-4D97-AF65-F5344CB8AC3E}">
        <p14:creationId xmlns:p14="http://schemas.microsoft.com/office/powerpoint/2010/main" val="563317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03D40-1EC4-4A25-9741-5E3DC4F2D60A}"/>
              </a:ext>
            </a:extLst>
          </p:cNvPr>
          <p:cNvSpPr>
            <a:spLocks noGrp="1"/>
          </p:cNvSpPr>
          <p:nvPr>
            <p:ph type="title"/>
          </p:nvPr>
        </p:nvSpPr>
        <p:spPr/>
        <p:txBody>
          <a:bodyPr/>
          <a:lstStyle/>
          <a:p>
            <a:r>
              <a:rPr lang="en-US" b="1" dirty="0"/>
              <a:t>JavaScript Statements</a:t>
            </a:r>
          </a:p>
        </p:txBody>
      </p:sp>
      <p:sp>
        <p:nvSpPr>
          <p:cNvPr id="3" name="Content Placeholder 2">
            <a:extLst>
              <a:ext uri="{FF2B5EF4-FFF2-40B4-BE49-F238E27FC236}">
                <a16:creationId xmlns:a16="http://schemas.microsoft.com/office/drawing/2014/main" id="{A83B1771-3711-4D1E-986A-7A0084C89776}"/>
              </a:ext>
            </a:extLst>
          </p:cNvPr>
          <p:cNvSpPr>
            <a:spLocks noGrp="1"/>
          </p:cNvSpPr>
          <p:nvPr>
            <p:ph idx="1"/>
          </p:nvPr>
        </p:nvSpPr>
        <p:spPr/>
        <p:txBody>
          <a:bodyPr/>
          <a:lstStyle/>
          <a:p>
            <a:r>
              <a:rPr lang="en-US" dirty="0"/>
              <a:t>JavaScript statements are terminated by “;” semicolon.</a:t>
            </a:r>
          </a:p>
          <a:p>
            <a:r>
              <a:rPr lang="en-US" dirty="0"/>
              <a:t>JavaScript ignores white spaces.</a:t>
            </a:r>
          </a:p>
          <a:p>
            <a:r>
              <a:rPr lang="en-US" dirty="0"/>
              <a:t>If a JavaScript statement does not fit on one line, the best place to break it is after an operator</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4081107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03D40-1EC4-4A25-9741-5E3DC4F2D60A}"/>
              </a:ext>
            </a:extLst>
          </p:cNvPr>
          <p:cNvSpPr>
            <a:spLocks noGrp="1"/>
          </p:cNvSpPr>
          <p:nvPr>
            <p:ph type="title"/>
          </p:nvPr>
        </p:nvSpPr>
        <p:spPr/>
        <p:txBody>
          <a:bodyPr/>
          <a:lstStyle/>
          <a:p>
            <a:r>
              <a:rPr lang="en-US" b="1" dirty="0"/>
              <a:t>JavaScript Expression</a:t>
            </a:r>
          </a:p>
        </p:txBody>
      </p:sp>
      <p:sp>
        <p:nvSpPr>
          <p:cNvPr id="3" name="Content Placeholder 2">
            <a:extLst>
              <a:ext uri="{FF2B5EF4-FFF2-40B4-BE49-F238E27FC236}">
                <a16:creationId xmlns:a16="http://schemas.microsoft.com/office/drawing/2014/main" id="{A83B1771-3711-4D1E-986A-7A0084C89776}"/>
              </a:ext>
            </a:extLst>
          </p:cNvPr>
          <p:cNvSpPr>
            <a:spLocks noGrp="1"/>
          </p:cNvSpPr>
          <p:nvPr>
            <p:ph idx="1"/>
          </p:nvPr>
        </p:nvSpPr>
        <p:spPr/>
        <p:txBody>
          <a:bodyPr/>
          <a:lstStyle/>
          <a:p>
            <a:r>
              <a:rPr lang="en-US" dirty="0"/>
              <a:t>JavaScript expression is composed up of values, variables and operators .</a:t>
            </a:r>
          </a:p>
          <a:p>
            <a:r>
              <a:rPr lang="en-US" dirty="0"/>
              <a:t>Eg. A*5</a:t>
            </a:r>
          </a:p>
          <a:p>
            <a:r>
              <a:rPr lang="en-US" dirty="0"/>
              <a:t>B=A+B;</a:t>
            </a:r>
          </a:p>
        </p:txBody>
      </p:sp>
    </p:spTree>
    <p:extLst>
      <p:ext uri="{BB962C8B-B14F-4D97-AF65-F5344CB8AC3E}">
        <p14:creationId xmlns:p14="http://schemas.microsoft.com/office/powerpoint/2010/main" val="534480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03D40-1EC4-4A25-9741-5E3DC4F2D60A}"/>
              </a:ext>
            </a:extLst>
          </p:cNvPr>
          <p:cNvSpPr>
            <a:spLocks noGrp="1"/>
          </p:cNvSpPr>
          <p:nvPr>
            <p:ph type="title"/>
          </p:nvPr>
        </p:nvSpPr>
        <p:spPr/>
        <p:txBody>
          <a:bodyPr/>
          <a:lstStyle/>
          <a:p>
            <a:r>
              <a:rPr lang="en-US" b="1" dirty="0"/>
              <a:t>JavaScript Keywords</a:t>
            </a:r>
          </a:p>
        </p:txBody>
      </p:sp>
      <p:sp>
        <p:nvSpPr>
          <p:cNvPr id="3" name="Content Placeholder 2">
            <a:extLst>
              <a:ext uri="{FF2B5EF4-FFF2-40B4-BE49-F238E27FC236}">
                <a16:creationId xmlns:a16="http://schemas.microsoft.com/office/drawing/2014/main" id="{A83B1771-3711-4D1E-986A-7A0084C89776}"/>
              </a:ext>
            </a:extLst>
          </p:cNvPr>
          <p:cNvSpPr>
            <a:spLocks noGrp="1"/>
          </p:cNvSpPr>
          <p:nvPr>
            <p:ph idx="1"/>
          </p:nvPr>
        </p:nvSpPr>
        <p:spPr/>
        <p:txBody>
          <a:bodyPr/>
          <a:lstStyle/>
          <a:p>
            <a:r>
              <a:rPr lang="en-US" dirty="0"/>
              <a:t>Keywords are reserved words in JavaScript Library</a:t>
            </a:r>
          </a:p>
          <a:p>
            <a:endParaRPr lang="en-US" dirty="0"/>
          </a:p>
        </p:txBody>
      </p:sp>
      <p:graphicFrame>
        <p:nvGraphicFramePr>
          <p:cNvPr id="4" name="Table 4">
            <a:extLst>
              <a:ext uri="{FF2B5EF4-FFF2-40B4-BE49-F238E27FC236}">
                <a16:creationId xmlns:a16="http://schemas.microsoft.com/office/drawing/2014/main" id="{772402D9-3ACE-44E0-AC2F-62D57FBEC33B}"/>
              </a:ext>
            </a:extLst>
          </p:cNvPr>
          <p:cNvGraphicFramePr>
            <a:graphicFrameLocks noGrp="1"/>
          </p:cNvGraphicFramePr>
          <p:nvPr>
            <p:extLst>
              <p:ext uri="{D42A27DB-BD31-4B8C-83A1-F6EECF244321}">
                <p14:modId xmlns:p14="http://schemas.microsoft.com/office/powerpoint/2010/main" val="1423001465"/>
              </p:ext>
            </p:extLst>
          </p:nvPr>
        </p:nvGraphicFramePr>
        <p:xfrm>
          <a:off x="599126" y="2793563"/>
          <a:ext cx="8128000" cy="2966720"/>
        </p:xfrm>
        <a:graphic>
          <a:graphicData uri="http://schemas.openxmlformats.org/drawingml/2006/table">
            <a:tbl>
              <a:tblPr firstRow="1" bandRow="1">
                <a:tableStyleId>{5C22544A-7EE6-4342-B048-85BDC9FD1C3A}</a:tableStyleId>
              </a:tblPr>
              <a:tblGrid>
                <a:gridCol w="1455917">
                  <a:extLst>
                    <a:ext uri="{9D8B030D-6E8A-4147-A177-3AD203B41FA5}">
                      <a16:colId xmlns:a16="http://schemas.microsoft.com/office/drawing/2014/main" val="3790330995"/>
                    </a:ext>
                  </a:extLst>
                </a:gridCol>
                <a:gridCol w="6672083">
                  <a:extLst>
                    <a:ext uri="{9D8B030D-6E8A-4147-A177-3AD203B41FA5}">
                      <a16:colId xmlns:a16="http://schemas.microsoft.com/office/drawing/2014/main" val="358175979"/>
                    </a:ext>
                  </a:extLst>
                </a:gridCol>
              </a:tblGrid>
              <a:tr h="370840">
                <a:tc>
                  <a:txBody>
                    <a:bodyPr/>
                    <a:lstStyle/>
                    <a:p>
                      <a:r>
                        <a:rPr lang="en-US" dirty="0"/>
                        <a:t>Keyword</a:t>
                      </a:r>
                    </a:p>
                  </a:txBody>
                  <a:tcPr/>
                </a:tc>
                <a:tc>
                  <a:txBody>
                    <a:bodyPr/>
                    <a:lstStyle/>
                    <a:p>
                      <a:r>
                        <a:rPr lang="en-US" dirty="0"/>
                        <a:t>Description</a:t>
                      </a:r>
                    </a:p>
                  </a:txBody>
                  <a:tcPr/>
                </a:tc>
                <a:extLst>
                  <a:ext uri="{0D108BD9-81ED-4DB2-BD59-A6C34878D82A}">
                    <a16:rowId xmlns:a16="http://schemas.microsoft.com/office/drawing/2014/main" val="4259381203"/>
                  </a:ext>
                </a:extLst>
              </a:tr>
              <a:tr h="370840">
                <a:tc>
                  <a:txBody>
                    <a:bodyPr/>
                    <a:lstStyle/>
                    <a:p>
                      <a:r>
                        <a:rPr lang="en-US" dirty="0"/>
                        <a:t>var</a:t>
                      </a:r>
                    </a:p>
                  </a:txBody>
                  <a:tcPr/>
                </a:tc>
                <a:tc>
                  <a:txBody>
                    <a:bodyPr/>
                    <a:lstStyle/>
                    <a:p>
                      <a:r>
                        <a:rPr lang="en-US" dirty="0"/>
                        <a:t>Declares a variable</a:t>
                      </a:r>
                    </a:p>
                  </a:txBody>
                  <a:tcPr/>
                </a:tc>
                <a:extLst>
                  <a:ext uri="{0D108BD9-81ED-4DB2-BD59-A6C34878D82A}">
                    <a16:rowId xmlns:a16="http://schemas.microsoft.com/office/drawing/2014/main" val="939828071"/>
                  </a:ext>
                </a:extLst>
              </a:tr>
              <a:tr h="370840">
                <a:tc>
                  <a:txBody>
                    <a:bodyPr/>
                    <a:lstStyle/>
                    <a:p>
                      <a:r>
                        <a:rPr lang="en-US" dirty="0"/>
                        <a:t>let</a:t>
                      </a:r>
                    </a:p>
                  </a:txBody>
                  <a:tcPr/>
                </a:tc>
                <a:tc>
                  <a:txBody>
                    <a:bodyPr/>
                    <a:lstStyle/>
                    <a:p>
                      <a:r>
                        <a:rPr lang="en-US" dirty="0"/>
                        <a:t>Declares a block variable</a:t>
                      </a:r>
                    </a:p>
                  </a:txBody>
                  <a:tcPr/>
                </a:tc>
                <a:extLst>
                  <a:ext uri="{0D108BD9-81ED-4DB2-BD59-A6C34878D82A}">
                    <a16:rowId xmlns:a16="http://schemas.microsoft.com/office/drawing/2014/main" val="3811552558"/>
                  </a:ext>
                </a:extLst>
              </a:tr>
              <a:tr h="370840">
                <a:tc>
                  <a:txBody>
                    <a:bodyPr/>
                    <a:lstStyle/>
                    <a:p>
                      <a:r>
                        <a:rPr lang="en-US" dirty="0"/>
                        <a:t>const</a:t>
                      </a:r>
                    </a:p>
                  </a:txBody>
                  <a:tcPr/>
                </a:tc>
                <a:tc>
                  <a:txBody>
                    <a:bodyPr/>
                    <a:lstStyle/>
                    <a:p>
                      <a:r>
                        <a:rPr lang="en-US" dirty="0"/>
                        <a:t>Declares a block constant</a:t>
                      </a:r>
                    </a:p>
                  </a:txBody>
                  <a:tcPr/>
                </a:tc>
                <a:extLst>
                  <a:ext uri="{0D108BD9-81ED-4DB2-BD59-A6C34878D82A}">
                    <a16:rowId xmlns:a16="http://schemas.microsoft.com/office/drawing/2014/main" val="3588760503"/>
                  </a:ext>
                </a:extLst>
              </a:tr>
              <a:tr h="370840">
                <a:tc>
                  <a:txBody>
                    <a:bodyPr/>
                    <a:lstStyle/>
                    <a:p>
                      <a:r>
                        <a:rPr lang="en-US" dirty="0"/>
                        <a:t>if</a:t>
                      </a:r>
                    </a:p>
                  </a:txBody>
                  <a:tcPr/>
                </a:tc>
                <a:tc>
                  <a:txBody>
                    <a:bodyPr/>
                    <a:lstStyle/>
                    <a:p>
                      <a:r>
                        <a:rPr lang="en-US" dirty="0"/>
                        <a:t>Marks a block of statements to be executed on a condition</a:t>
                      </a:r>
                    </a:p>
                  </a:txBody>
                  <a:tcPr/>
                </a:tc>
                <a:extLst>
                  <a:ext uri="{0D108BD9-81ED-4DB2-BD59-A6C34878D82A}">
                    <a16:rowId xmlns:a16="http://schemas.microsoft.com/office/drawing/2014/main" val="598200359"/>
                  </a:ext>
                </a:extLst>
              </a:tr>
              <a:tr h="370840">
                <a:tc>
                  <a:txBody>
                    <a:bodyPr/>
                    <a:lstStyle/>
                    <a:p>
                      <a:r>
                        <a:rPr lang="en-US" dirty="0"/>
                        <a:t>switch</a:t>
                      </a:r>
                    </a:p>
                  </a:txBody>
                  <a:tcPr/>
                </a:tc>
                <a:tc>
                  <a:txBody>
                    <a:bodyPr/>
                    <a:lstStyle/>
                    <a:p>
                      <a:r>
                        <a:rPr lang="en-US" dirty="0"/>
                        <a:t>Marks a block of statements to be executed in different cases</a:t>
                      </a:r>
                    </a:p>
                  </a:txBody>
                  <a:tcPr/>
                </a:tc>
                <a:extLst>
                  <a:ext uri="{0D108BD9-81ED-4DB2-BD59-A6C34878D82A}">
                    <a16:rowId xmlns:a16="http://schemas.microsoft.com/office/drawing/2014/main" val="3553344163"/>
                  </a:ext>
                </a:extLst>
              </a:tr>
              <a:tr h="370840">
                <a:tc>
                  <a:txBody>
                    <a:bodyPr/>
                    <a:lstStyle/>
                    <a:p>
                      <a:r>
                        <a:rPr lang="en-US" dirty="0"/>
                        <a:t>for</a:t>
                      </a:r>
                    </a:p>
                  </a:txBody>
                  <a:tcPr/>
                </a:tc>
                <a:tc>
                  <a:txBody>
                    <a:bodyPr/>
                    <a:lstStyle/>
                    <a:p>
                      <a:r>
                        <a:rPr lang="en-US" dirty="0"/>
                        <a:t>Marks a block of statements to be executed in a loop</a:t>
                      </a:r>
                    </a:p>
                  </a:txBody>
                  <a:tcPr/>
                </a:tc>
                <a:extLst>
                  <a:ext uri="{0D108BD9-81ED-4DB2-BD59-A6C34878D82A}">
                    <a16:rowId xmlns:a16="http://schemas.microsoft.com/office/drawing/2014/main" val="2836035639"/>
                  </a:ext>
                </a:extLst>
              </a:tr>
              <a:tr h="370840">
                <a:tc>
                  <a:txBody>
                    <a:bodyPr/>
                    <a:lstStyle/>
                    <a:p>
                      <a:r>
                        <a:rPr lang="en-US" dirty="0"/>
                        <a:t>function</a:t>
                      </a:r>
                    </a:p>
                  </a:txBody>
                  <a:tcPr/>
                </a:tc>
                <a:tc>
                  <a:txBody>
                    <a:bodyPr/>
                    <a:lstStyle/>
                    <a:p>
                      <a:r>
                        <a:rPr lang="en-US" dirty="0"/>
                        <a:t>Declares a function</a:t>
                      </a:r>
                    </a:p>
                  </a:txBody>
                  <a:tcPr/>
                </a:tc>
                <a:extLst>
                  <a:ext uri="{0D108BD9-81ED-4DB2-BD59-A6C34878D82A}">
                    <a16:rowId xmlns:a16="http://schemas.microsoft.com/office/drawing/2014/main" val="2360063699"/>
                  </a:ext>
                </a:extLst>
              </a:tr>
            </a:tbl>
          </a:graphicData>
        </a:graphic>
      </p:graphicFrame>
    </p:spTree>
    <p:extLst>
      <p:ext uri="{BB962C8B-B14F-4D97-AF65-F5344CB8AC3E}">
        <p14:creationId xmlns:p14="http://schemas.microsoft.com/office/powerpoint/2010/main" val="316420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03D40-1EC4-4A25-9741-5E3DC4F2D60A}"/>
              </a:ext>
            </a:extLst>
          </p:cNvPr>
          <p:cNvSpPr>
            <a:spLocks noGrp="1"/>
          </p:cNvSpPr>
          <p:nvPr>
            <p:ph type="title"/>
          </p:nvPr>
        </p:nvSpPr>
        <p:spPr/>
        <p:txBody>
          <a:bodyPr/>
          <a:lstStyle/>
          <a:p>
            <a:r>
              <a:rPr lang="en-US" b="1" dirty="0"/>
              <a:t>JavaScript Blocks</a:t>
            </a:r>
          </a:p>
        </p:txBody>
      </p:sp>
      <p:sp>
        <p:nvSpPr>
          <p:cNvPr id="3" name="Content Placeholder 2">
            <a:extLst>
              <a:ext uri="{FF2B5EF4-FFF2-40B4-BE49-F238E27FC236}">
                <a16:creationId xmlns:a16="http://schemas.microsoft.com/office/drawing/2014/main" id="{A83B1771-3711-4D1E-986A-7A0084C89776}"/>
              </a:ext>
            </a:extLst>
          </p:cNvPr>
          <p:cNvSpPr>
            <a:spLocks noGrp="1"/>
          </p:cNvSpPr>
          <p:nvPr>
            <p:ph idx="1"/>
          </p:nvPr>
        </p:nvSpPr>
        <p:spPr/>
        <p:txBody>
          <a:bodyPr/>
          <a:lstStyle/>
          <a:p>
            <a:r>
              <a:rPr lang="en-US" dirty="0"/>
              <a:t>In JavaScript, statements can be grouped together in blocks inside curly brackets {……………} .</a:t>
            </a:r>
          </a:p>
          <a:p>
            <a:r>
              <a:rPr lang="en-US" dirty="0"/>
              <a:t>Motive is to define and execute statements together.</a:t>
            </a:r>
          </a:p>
          <a:p>
            <a:r>
              <a:rPr lang="en-US" dirty="0"/>
              <a:t>Eg. Using function. </a:t>
            </a:r>
          </a:p>
        </p:txBody>
      </p:sp>
    </p:spTree>
    <p:extLst>
      <p:ext uri="{BB962C8B-B14F-4D97-AF65-F5344CB8AC3E}">
        <p14:creationId xmlns:p14="http://schemas.microsoft.com/office/powerpoint/2010/main" val="4048578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Arithmetic Operators</a:t>
            </a:r>
          </a:p>
        </p:txBody>
      </p:sp>
      <p:pic>
        <p:nvPicPr>
          <p:cNvPr id="4" name="Content Placeholder 3"/>
          <p:cNvPicPr>
            <a:picLocks noGrp="1" noChangeAspect="1"/>
          </p:cNvPicPr>
          <p:nvPr>
            <p:ph idx="1"/>
          </p:nvPr>
        </p:nvPicPr>
        <p:blipFill>
          <a:blip r:embed="rId2"/>
          <a:stretch>
            <a:fillRect/>
          </a:stretch>
        </p:blipFill>
        <p:spPr>
          <a:xfrm>
            <a:off x="2105671" y="2872518"/>
            <a:ext cx="5740695" cy="2457576"/>
          </a:xfrm>
          <a:prstGeom prst="rect">
            <a:avLst/>
          </a:prstGeom>
        </p:spPr>
      </p:pic>
    </p:spTree>
    <p:extLst>
      <p:ext uri="{BB962C8B-B14F-4D97-AF65-F5344CB8AC3E}">
        <p14:creationId xmlns:p14="http://schemas.microsoft.com/office/powerpoint/2010/main" val="3889584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Assignment Operator</a:t>
            </a:r>
          </a:p>
        </p:txBody>
      </p:sp>
      <p:pic>
        <p:nvPicPr>
          <p:cNvPr id="4" name="Content Placeholder 3"/>
          <p:cNvPicPr>
            <a:picLocks noGrp="1" noChangeAspect="1"/>
          </p:cNvPicPr>
          <p:nvPr>
            <p:ph idx="1"/>
          </p:nvPr>
        </p:nvPicPr>
        <p:blipFill>
          <a:blip r:embed="rId2"/>
          <a:stretch>
            <a:fillRect/>
          </a:stretch>
        </p:blipFill>
        <p:spPr>
          <a:xfrm>
            <a:off x="1299844" y="2092375"/>
            <a:ext cx="10053956" cy="3657975"/>
          </a:xfrm>
          <a:prstGeom prst="rect">
            <a:avLst/>
          </a:prstGeom>
        </p:spPr>
      </p:pic>
    </p:spTree>
    <p:extLst>
      <p:ext uri="{BB962C8B-B14F-4D97-AF65-F5344CB8AC3E}">
        <p14:creationId xmlns:p14="http://schemas.microsoft.com/office/powerpoint/2010/main" val="4172130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Comparison Operator</a:t>
            </a:r>
          </a:p>
        </p:txBody>
      </p:sp>
      <p:pic>
        <p:nvPicPr>
          <p:cNvPr id="4" name="Content Placeholder 3"/>
          <p:cNvPicPr>
            <a:picLocks noGrp="1" noChangeAspect="1"/>
          </p:cNvPicPr>
          <p:nvPr>
            <p:ph idx="1"/>
          </p:nvPr>
        </p:nvPicPr>
        <p:blipFill>
          <a:blip r:embed="rId2"/>
          <a:stretch>
            <a:fillRect/>
          </a:stretch>
        </p:blipFill>
        <p:spPr>
          <a:xfrm>
            <a:off x="2051693" y="2815365"/>
            <a:ext cx="5848651" cy="2571882"/>
          </a:xfrm>
          <a:prstGeom prst="rect">
            <a:avLst/>
          </a:prstGeom>
        </p:spPr>
      </p:pic>
    </p:spTree>
    <p:extLst>
      <p:ext uri="{BB962C8B-B14F-4D97-AF65-F5344CB8AC3E}">
        <p14:creationId xmlns:p14="http://schemas.microsoft.com/office/powerpoint/2010/main" val="368389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Logical Operators</a:t>
            </a:r>
          </a:p>
        </p:txBody>
      </p:sp>
      <p:pic>
        <p:nvPicPr>
          <p:cNvPr id="4" name="Content Placeholder 3"/>
          <p:cNvPicPr>
            <a:picLocks noGrp="1" noChangeAspect="1"/>
          </p:cNvPicPr>
          <p:nvPr>
            <p:ph idx="1"/>
          </p:nvPr>
        </p:nvPicPr>
        <p:blipFill>
          <a:blip r:embed="rId2"/>
          <a:stretch>
            <a:fillRect/>
          </a:stretch>
        </p:blipFill>
        <p:spPr>
          <a:xfrm>
            <a:off x="1101164" y="2233366"/>
            <a:ext cx="10252636" cy="2791119"/>
          </a:xfrm>
          <a:prstGeom prst="rect">
            <a:avLst/>
          </a:prstGeom>
        </p:spPr>
      </p:pic>
    </p:spTree>
    <p:extLst>
      <p:ext uri="{BB962C8B-B14F-4D97-AF65-F5344CB8AC3E}">
        <p14:creationId xmlns:p14="http://schemas.microsoft.com/office/powerpoint/2010/main" val="3985426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Conditional Statements</a:t>
            </a:r>
          </a:p>
        </p:txBody>
      </p:sp>
      <p:pic>
        <p:nvPicPr>
          <p:cNvPr id="4" name="Content Placeholder 3"/>
          <p:cNvPicPr>
            <a:picLocks noGrp="1" noChangeAspect="1"/>
          </p:cNvPicPr>
          <p:nvPr>
            <p:ph idx="1"/>
          </p:nvPr>
        </p:nvPicPr>
        <p:blipFill>
          <a:blip r:embed="rId2"/>
          <a:stretch>
            <a:fillRect/>
          </a:stretch>
        </p:blipFill>
        <p:spPr>
          <a:xfrm>
            <a:off x="707986" y="1996942"/>
            <a:ext cx="10645814" cy="3894810"/>
          </a:xfrm>
          <a:prstGeom prst="rect">
            <a:avLst/>
          </a:prstGeom>
        </p:spPr>
      </p:pic>
    </p:spTree>
    <p:extLst>
      <p:ext uri="{BB962C8B-B14F-4D97-AF65-F5344CB8AC3E}">
        <p14:creationId xmlns:p14="http://schemas.microsoft.com/office/powerpoint/2010/main" val="1445264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Controlling(Looping) Statements</a:t>
            </a:r>
          </a:p>
        </p:txBody>
      </p:sp>
      <p:pic>
        <p:nvPicPr>
          <p:cNvPr id="4" name="Content Placeholder 3"/>
          <p:cNvPicPr>
            <a:picLocks noGrp="1" noChangeAspect="1"/>
          </p:cNvPicPr>
          <p:nvPr>
            <p:ph idx="1"/>
          </p:nvPr>
        </p:nvPicPr>
        <p:blipFill>
          <a:blip r:embed="rId2"/>
          <a:stretch>
            <a:fillRect/>
          </a:stretch>
        </p:blipFill>
        <p:spPr>
          <a:xfrm>
            <a:off x="1095251" y="2108764"/>
            <a:ext cx="10277403" cy="3434197"/>
          </a:xfrm>
          <a:prstGeom prst="rect">
            <a:avLst/>
          </a:prstGeom>
        </p:spPr>
      </p:pic>
    </p:spTree>
    <p:extLst>
      <p:ext uri="{BB962C8B-B14F-4D97-AF65-F5344CB8AC3E}">
        <p14:creationId xmlns:p14="http://schemas.microsoft.com/office/powerpoint/2010/main" val="3061386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function</a:t>
            </a:r>
          </a:p>
        </p:txBody>
      </p:sp>
      <p:sp>
        <p:nvSpPr>
          <p:cNvPr id="3" name="Content Placeholder 2"/>
          <p:cNvSpPr>
            <a:spLocks noGrp="1"/>
          </p:cNvSpPr>
          <p:nvPr>
            <p:ph idx="1"/>
          </p:nvPr>
        </p:nvSpPr>
        <p:spPr/>
        <p:txBody>
          <a:bodyPr>
            <a:normAutofit/>
          </a:bodyPr>
          <a:lstStyle/>
          <a:p>
            <a:pPr algn="just"/>
            <a:r>
              <a:rPr lang="en-US" dirty="0"/>
              <a:t>In JavaScript, a function is a block of reusable code that performs a specific task. It is a fundamental building block of JavaScript programming and allows you to encapsulate a set of instructions that can be executed multiple times throughout your code.</a:t>
            </a:r>
          </a:p>
          <a:p>
            <a:pPr algn="just"/>
            <a:r>
              <a:rPr lang="en-US" dirty="0"/>
              <a:t>Functions in JavaScript can be defined using the function keyword followed by a name, a list of parameters (optional), and a block of code enclosed in curly braces. Here's a basic syntax for creating a JavaScript function:</a:t>
            </a:r>
          </a:p>
          <a:p>
            <a:pPr marL="457200" lvl="1" indent="0" algn="just">
              <a:buNone/>
            </a:pPr>
            <a:r>
              <a:rPr lang="en-US" b="1" dirty="0"/>
              <a:t>function functionName(parameter1, parameter2, ...) {</a:t>
            </a:r>
          </a:p>
          <a:p>
            <a:pPr marL="457200" lvl="1" indent="0" algn="just">
              <a:buNone/>
            </a:pPr>
            <a:r>
              <a:rPr lang="en-US" b="1" dirty="0"/>
              <a:t>  // Code to be executed</a:t>
            </a:r>
          </a:p>
          <a:p>
            <a:pPr marL="457200" lvl="1" indent="0" algn="just">
              <a:buNone/>
            </a:pPr>
            <a:r>
              <a:rPr lang="en-US" b="1" dirty="0"/>
              <a:t>  // Optionally, return a value</a:t>
            </a:r>
          </a:p>
          <a:p>
            <a:pPr marL="457200" lvl="1" indent="0" algn="just">
              <a:buNone/>
            </a:pPr>
            <a:r>
              <a:rPr lang="en-US" b="1" dirty="0"/>
              <a:t>}</a:t>
            </a:r>
          </a:p>
          <a:p>
            <a:pPr algn="just"/>
            <a:endParaRPr lang="en-US" dirty="0"/>
          </a:p>
        </p:txBody>
      </p:sp>
    </p:spTree>
    <p:extLst>
      <p:ext uri="{BB962C8B-B14F-4D97-AF65-F5344CB8AC3E}">
        <p14:creationId xmlns:p14="http://schemas.microsoft.com/office/powerpoint/2010/main" val="2979878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function</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endParaRPr lang="en-US" dirty="0"/>
          </a:p>
          <a:p>
            <a:pPr marL="0" indent="0">
              <a:buNone/>
            </a:pPr>
            <a:r>
              <a:rPr lang="en-US" dirty="0"/>
              <a:t>Let's break down the components of a function:</a:t>
            </a:r>
          </a:p>
          <a:p>
            <a:endParaRPr lang="en-US" dirty="0"/>
          </a:p>
          <a:p>
            <a:r>
              <a:rPr lang="en-US" dirty="0"/>
              <a:t>function: The keyword used to define a function.</a:t>
            </a:r>
          </a:p>
          <a:p>
            <a:r>
              <a:rPr lang="en-US" dirty="0"/>
              <a:t>functionName: The name of the function, which should be unique within the scope of your code.</a:t>
            </a:r>
          </a:p>
          <a:p>
            <a:r>
              <a:rPr lang="en-US" dirty="0"/>
              <a:t>parameters: Optional inputs that the function can accept. They are separated by commas and act as placeholders for values that will be passed into the function when it is called.</a:t>
            </a:r>
          </a:p>
          <a:p>
            <a:r>
              <a:rPr lang="en-US" dirty="0"/>
              <a:t>code: The block of code that gets executed when the function is called. It can perform operations, manipulate data, or perform any other desired actions.</a:t>
            </a:r>
          </a:p>
          <a:p>
            <a:r>
              <a:rPr lang="en-US" dirty="0"/>
              <a:t>return: An optional keyword that allows the function to send a value back to the caller. If omitted, the function returns undefined.</a:t>
            </a:r>
          </a:p>
        </p:txBody>
      </p:sp>
    </p:spTree>
    <p:extLst>
      <p:ext uri="{BB962C8B-B14F-4D97-AF65-F5344CB8AC3E}">
        <p14:creationId xmlns:p14="http://schemas.microsoft.com/office/powerpoint/2010/main" val="1649960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document.write() function</a:t>
            </a:r>
          </a:p>
        </p:txBody>
      </p:sp>
      <p:sp>
        <p:nvSpPr>
          <p:cNvPr id="3" name="Content Placeholder 2"/>
          <p:cNvSpPr>
            <a:spLocks noGrp="1"/>
          </p:cNvSpPr>
          <p:nvPr>
            <p:ph idx="1"/>
          </p:nvPr>
        </p:nvSpPr>
        <p:spPr/>
        <p:txBody>
          <a:bodyPr/>
          <a:lstStyle/>
          <a:p>
            <a:pPr algn="just"/>
            <a:r>
              <a:rPr lang="en-US" dirty="0"/>
              <a:t>The document.write() function in JavaScript is used to dynamically generate content and write it directly to the web page. It can be used to display text, HTML, or JavaScript code.</a:t>
            </a:r>
          </a:p>
          <a:p>
            <a:pPr algn="just"/>
            <a:r>
              <a:rPr lang="en-US" dirty="0"/>
              <a:t>Here's the basic syntax of the document.write() function:</a:t>
            </a:r>
          </a:p>
          <a:p>
            <a:pPr marL="0" indent="0" algn="just">
              <a:buNone/>
            </a:pPr>
            <a:r>
              <a:rPr lang="en-US" b="1" dirty="0"/>
              <a:t>document.write(content);</a:t>
            </a:r>
          </a:p>
          <a:p>
            <a:pPr marL="0" indent="0" algn="just">
              <a:buNone/>
            </a:pPr>
            <a:r>
              <a:rPr lang="en-US" dirty="0"/>
              <a:t>The content parameter represents the content you want to write to the document. It can be a string of text, HTML tags, or even JavaScript code.</a:t>
            </a:r>
          </a:p>
          <a:p>
            <a:pPr algn="just"/>
            <a:endParaRPr lang="en-US" dirty="0"/>
          </a:p>
        </p:txBody>
      </p:sp>
    </p:spTree>
    <p:extLst>
      <p:ext uri="{BB962C8B-B14F-4D97-AF65-F5344CB8AC3E}">
        <p14:creationId xmlns:p14="http://schemas.microsoft.com/office/powerpoint/2010/main" val="727657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1026032" y="2057089"/>
            <a:ext cx="5747045" cy="3473629"/>
          </a:xfrm>
          <a:prstGeom prst="rect">
            <a:avLst/>
          </a:prstGeom>
        </p:spPr>
      </p:pic>
      <p:pic>
        <p:nvPicPr>
          <p:cNvPr id="5" name="Picture 4"/>
          <p:cNvPicPr>
            <a:picLocks noChangeAspect="1"/>
          </p:cNvPicPr>
          <p:nvPr/>
        </p:nvPicPr>
        <p:blipFill>
          <a:blip r:embed="rId3"/>
          <a:stretch>
            <a:fillRect/>
          </a:stretch>
        </p:blipFill>
        <p:spPr>
          <a:xfrm>
            <a:off x="6956981" y="2275780"/>
            <a:ext cx="5014839" cy="2880740"/>
          </a:xfrm>
          <a:prstGeom prst="rect">
            <a:avLst/>
          </a:prstGeom>
        </p:spPr>
      </p:pic>
      <p:cxnSp>
        <p:nvCxnSpPr>
          <p:cNvPr id="7" name="Elbow Connector 6"/>
          <p:cNvCxnSpPr>
            <a:endCxn id="5" idx="1"/>
          </p:cNvCxnSpPr>
          <p:nvPr/>
        </p:nvCxnSpPr>
        <p:spPr>
          <a:xfrm flipV="1">
            <a:off x="5580668" y="3716150"/>
            <a:ext cx="1376313" cy="777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079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console.log() function</a:t>
            </a:r>
          </a:p>
        </p:txBody>
      </p:sp>
      <p:sp>
        <p:nvSpPr>
          <p:cNvPr id="3" name="Content Placeholder 2"/>
          <p:cNvSpPr>
            <a:spLocks noGrp="1"/>
          </p:cNvSpPr>
          <p:nvPr>
            <p:ph idx="1"/>
          </p:nvPr>
        </p:nvSpPr>
        <p:spPr/>
        <p:txBody>
          <a:bodyPr/>
          <a:lstStyle/>
          <a:p>
            <a:pPr algn="just"/>
            <a:r>
              <a:rPr lang="en-US" dirty="0"/>
              <a:t>The console.log() function is a method provided by most web browsers' developer tools and JavaScript runtime environments. It allows you to print messages or values to the console for debugging and logging purposes. The output appears in the browser's developer console, which can be accessed by opening the browser's developer tools.</a:t>
            </a:r>
          </a:p>
          <a:p>
            <a:pPr algn="just"/>
            <a:r>
              <a:rPr lang="en-US" dirty="0"/>
              <a:t>Here's the basic syntax of console.log():</a:t>
            </a:r>
          </a:p>
          <a:p>
            <a:pPr marL="0" indent="0" algn="just">
              <a:buNone/>
            </a:pPr>
            <a:r>
              <a:rPr lang="en-US" b="1" dirty="0"/>
              <a:t>console.log(</a:t>
            </a:r>
            <a:r>
              <a:rPr lang="en-US" b="1" i="1" dirty="0"/>
              <a:t>message</a:t>
            </a:r>
            <a:r>
              <a:rPr lang="en-US" b="1" dirty="0"/>
              <a:t>)</a:t>
            </a:r>
          </a:p>
        </p:txBody>
      </p:sp>
    </p:spTree>
    <p:extLst>
      <p:ext uri="{BB962C8B-B14F-4D97-AF65-F5344CB8AC3E}">
        <p14:creationId xmlns:p14="http://schemas.microsoft.com/office/powerpoint/2010/main" val="7748169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7418"/>
            <a:ext cx="10515600" cy="1325563"/>
          </a:xfrm>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668518" y="1416973"/>
            <a:ext cx="5081833" cy="3646442"/>
          </a:xfrm>
          <a:prstGeom prst="rect">
            <a:avLst/>
          </a:prstGeom>
        </p:spPr>
      </p:pic>
      <p:pic>
        <p:nvPicPr>
          <p:cNvPr id="5" name="Picture 4"/>
          <p:cNvPicPr>
            <a:picLocks noChangeAspect="1"/>
          </p:cNvPicPr>
          <p:nvPr/>
        </p:nvPicPr>
        <p:blipFill>
          <a:blip r:embed="rId3"/>
          <a:stretch>
            <a:fillRect/>
          </a:stretch>
        </p:blipFill>
        <p:spPr>
          <a:xfrm>
            <a:off x="5648619" y="2501057"/>
            <a:ext cx="5904295" cy="3777196"/>
          </a:xfrm>
          <a:prstGeom prst="rect">
            <a:avLst/>
          </a:prstGeom>
        </p:spPr>
      </p:pic>
      <p:cxnSp>
        <p:nvCxnSpPr>
          <p:cNvPr id="7" name="Elbow Connector 6"/>
          <p:cNvCxnSpPr/>
          <p:nvPr/>
        </p:nvCxnSpPr>
        <p:spPr>
          <a:xfrm rot="16200000" flipH="1">
            <a:off x="4226018" y="3767247"/>
            <a:ext cx="2555328" cy="7510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694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getElementById function</a:t>
            </a:r>
          </a:p>
        </p:txBody>
      </p:sp>
      <p:sp>
        <p:nvSpPr>
          <p:cNvPr id="3" name="Content Placeholder 2"/>
          <p:cNvSpPr>
            <a:spLocks noGrp="1"/>
          </p:cNvSpPr>
          <p:nvPr>
            <p:ph idx="1"/>
          </p:nvPr>
        </p:nvSpPr>
        <p:spPr/>
        <p:txBody>
          <a:bodyPr/>
          <a:lstStyle/>
          <a:p>
            <a:pPr algn="just"/>
            <a:r>
              <a:rPr lang="en-US" dirty="0"/>
              <a:t>In JavaScript, the getElementById function is used to retrieve an HTML element from the document based on its unique identifier, known as the "id" attribute. Here's an example of how you can use getElementById:</a:t>
            </a:r>
          </a:p>
        </p:txBody>
      </p:sp>
      <p:pic>
        <p:nvPicPr>
          <p:cNvPr id="5" name="Picture 4"/>
          <p:cNvPicPr>
            <a:picLocks noChangeAspect="1"/>
          </p:cNvPicPr>
          <p:nvPr/>
        </p:nvPicPr>
        <p:blipFill>
          <a:blip r:embed="rId2"/>
          <a:stretch>
            <a:fillRect/>
          </a:stretch>
        </p:blipFill>
        <p:spPr>
          <a:xfrm>
            <a:off x="1151506" y="3757489"/>
            <a:ext cx="3968954" cy="2419474"/>
          </a:xfrm>
          <a:prstGeom prst="rect">
            <a:avLst/>
          </a:prstGeom>
        </p:spPr>
      </p:pic>
      <p:pic>
        <p:nvPicPr>
          <p:cNvPr id="6" name="Picture 5"/>
          <p:cNvPicPr>
            <a:picLocks noChangeAspect="1"/>
          </p:cNvPicPr>
          <p:nvPr/>
        </p:nvPicPr>
        <p:blipFill>
          <a:blip r:embed="rId3"/>
          <a:stretch>
            <a:fillRect/>
          </a:stretch>
        </p:blipFill>
        <p:spPr>
          <a:xfrm>
            <a:off x="6671774" y="3962887"/>
            <a:ext cx="3130711" cy="1739989"/>
          </a:xfrm>
          <a:prstGeom prst="rect">
            <a:avLst/>
          </a:prstGeom>
        </p:spPr>
      </p:pic>
    </p:spTree>
    <p:extLst>
      <p:ext uri="{BB962C8B-B14F-4D97-AF65-F5344CB8AC3E}">
        <p14:creationId xmlns:p14="http://schemas.microsoft.com/office/powerpoint/2010/main" val="356854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innerHTML property</a:t>
            </a:r>
          </a:p>
        </p:txBody>
      </p:sp>
      <p:sp>
        <p:nvSpPr>
          <p:cNvPr id="3" name="Content Placeholder 2"/>
          <p:cNvSpPr>
            <a:spLocks noGrp="1"/>
          </p:cNvSpPr>
          <p:nvPr>
            <p:ph idx="1"/>
          </p:nvPr>
        </p:nvSpPr>
        <p:spPr/>
        <p:txBody>
          <a:bodyPr/>
          <a:lstStyle/>
          <a:p>
            <a:pPr algn="just"/>
            <a:r>
              <a:rPr lang="en-US" dirty="0"/>
              <a:t>The innerHTML property in JavaScript allows you to get or set the HTML content of an element. It represents the markup contained within the element, including any child elements, text, or HTML tags.</a:t>
            </a:r>
          </a:p>
          <a:p>
            <a:pPr algn="just"/>
            <a:r>
              <a:rPr lang="en-US" dirty="0"/>
              <a:t>To get the HTML content of an element using innerHTML, you can access the property as shown in the following example:</a:t>
            </a:r>
          </a:p>
        </p:txBody>
      </p:sp>
      <p:pic>
        <p:nvPicPr>
          <p:cNvPr id="5" name="Picture 4"/>
          <p:cNvPicPr>
            <a:picLocks noChangeAspect="1"/>
          </p:cNvPicPr>
          <p:nvPr/>
        </p:nvPicPr>
        <p:blipFill>
          <a:blip r:embed="rId2"/>
          <a:stretch>
            <a:fillRect/>
          </a:stretch>
        </p:blipFill>
        <p:spPr>
          <a:xfrm>
            <a:off x="2835320" y="3936339"/>
            <a:ext cx="3436464" cy="2550777"/>
          </a:xfrm>
          <a:prstGeom prst="rect">
            <a:avLst/>
          </a:prstGeom>
        </p:spPr>
      </p:pic>
      <p:pic>
        <p:nvPicPr>
          <p:cNvPr id="6" name="Picture 5"/>
          <p:cNvPicPr>
            <a:picLocks noChangeAspect="1"/>
          </p:cNvPicPr>
          <p:nvPr/>
        </p:nvPicPr>
        <p:blipFill>
          <a:blip r:embed="rId3"/>
          <a:stretch>
            <a:fillRect/>
          </a:stretch>
        </p:blipFill>
        <p:spPr>
          <a:xfrm>
            <a:off x="6572480" y="4209942"/>
            <a:ext cx="2762392" cy="2101958"/>
          </a:xfrm>
          <a:prstGeom prst="rect">
            <a:avLst/>
          </a:prstGeom>
        </p:spPr>
      </p:pic>
    </p:spTree>
    <p:extLst>
      <p:ext uri="{BB962C8B-B14F-4D97-AF65-F5344CB8AC3E}">
        <p14:creationId xmlns:p14="http://schemas.microsoft.com/office/powerpoint/2010/main" val="25395786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parseFloat</a:t>
            </a:r>
          </a:p>
        </p:txBody>
      </p:sp>
      <p:sp>
        <p:nvSpPr>
          <p:cNvPr id="3" name="Content Placeholder 2"/>
          <p:cNvSpPr>
            <a:spLocks noGrp="1"/>
          </p:cNvSpPr>
          <p:nvPr>
            <p:ph idx="1"/>
          </p:nvPr>
        </p:nvSpPr>
        <p:spPr/>
        <p:txBody>
          <a:bodyPr>
            <a:normAutofit/>
          </a:bodyPr>
          <a:lstStyle/>
          <a:p>
            <a:pPr algn="just"/>
            <a:r>
              <a:rPr lang="en-US" dirty="0"/>
              <a:t>parseFloat is a built-in JavaScript function that parses a string and returns a floating-point number. It is commonly used to convert a string containing a numeric value into its corresponding floating-point representation.</a:t>
            </a:r>
          </a:p>
          <a:p>
            <a:pPr algn="just"/>
            <a:r>
              <a:rPr lang="en-US" dirty="0"/>
              <a:t>The syntax for parseFloat is as follows:</a:t>
            </a:r>
          </a:p>
          <a:p>
            <a:pPr marL="457200" lvl="1" indent="0" algn="just">
              <a:buNone/>
            </a:pPr>
            <a:r>
              <a:rPr lang="en-US" dirty="0"/>
              <a:t>parseFloat(string)</a:t>
            </a:r>
          </a:p>
          <a:p>
            <a:pPr algn="just"/>
            <a:r>
              <a:rPr lang="en-US" dirty="0"/>
              <a:t>Here, string is the input string that you want to parse into a floating-point number. The function will attempt to extract a numeric value from the string.</a:t>
            </a:r>
          </a:p>
          <a:p>
            <a:pPr algn="just"/>
            <a:r>
              <a:rPr lang="en-US" dirty="0"/>
              <a:t>The parseFloat function works by examining the characters in the input string from left to right until it encounters a character that is not a valid part of a number. It then returns the numeric value extracted up to that point.</a:t>
            </a:r>
          </a:p>
          <a:p>
            <a:pPr algn="just"/>
            <a:endParaRPr lang="en-US" dirty="0"/>
          </a:p>
        </p:txBody>
      </p:sp>
    </p:spTree>
    <p:extLst>
      <p:ext uri="{BB962C8B-B14F-4D97-AF65-F5344CB8AC3E}">
        <p14:creationId xmlns:p14="http://schemas.microsoft.com/office/powerpoint/2010/main" val="11941240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parseFloat</a:t>
            </a:r>
            <a:endParaRPr lang="en-US" dirty="0"/>
          </a:p>
        </p:txBody>
      </p:sp>
      <p:sp>
        <p:nvSpPr>
          <p:cNvPr id="3" name="Content Placeholder 2"/>
          <p:cNvSpPr>
            <a:spLocks noGrp="1"/>
          </p:cNvSpPr>
          <p:nvPr>
            <p:ph idx="1"/>
          </p:nvPr>
        </p:nvSpPr>
        <p:spPr/>
        <p:txBody>
          <a:bodyPr>
            <a:normAutofit/>
          </a:bodyPr>
          <a:lstStyle/>
          <a:p>
            <a:pPr algn="just"/>
            <a:r>
              <a:rPr lang="en-US" dirty="0"/>
              <a:t>Here's an example that demonstrates the usage of parseFloat:</a:t>
            </a:r>
          </a:p>
          <a:p>
            <a:pPr marL="457200" lvl="1" indent="0" algn="just">
              <a:buNone/>
            </a:pPr>
            <a:r>
              <a:rPr lang="en-US" b="1" dirty="0"/>
              <a:t>var numberString = '3.14';</a:t>
            </a:r>
          </a:p>
          <a:p>
            <a:pPr marL="457200" lvl="1" indent="0" algn="just">
              <a:buNone/>
            </a:pPr>
            <a:r>
              <a:rPr lang="en-US" b="1" dirty="0"/>
              <a:t>var floatNumber = parseFloat(numberString);</a:t>
            </a:r>
          </a:p>
          <a:p>
            <a:pPr marL="457200" lvl="1" indent="0" algn="just">
              <a:buNone/>
            </a:pPr>
            <a:r>
              <a:rPr lang="en-US" b="1" dirty="0"/>
              <a:t>console.log(floatNumber); // Output: 3.14</a:t>
            </a:r>
          </a:p>
          <a:p>
            <a:pPr marL="457200" lvl="1" indent="0" algn="just">
              <a:buNone/>
            </a:pPr>
            <a:r>
              <a:rPr lang="en-US" b="1" dirty="0"/>
              <a:t>console.log(typeof floatNumber); // Output: "number“</a:t>
            </a:r>
          </a:p>
          <a:p>
            <a:pPr marL="457200" lvl="1" indent="0" algn="just">
              <a:buNone/>
            </a:pPr>
            <a:endParaRPr lang="en-US" dirty="0"/>
          </a:p>
          <a:p>
            <a:pPr algn="just"/>
            <a:r>
              <a:rPr lang="en-US" dirty="0"/>
              <a:t>In this example, the string '3.14' is successfully parsed by parseFloat, resulting in the floating-point number 3.14. The typeof operator confirms that the returned value is of type "number".</a:t>
            </a:r>
          </a:p>
          <a:p>
            <a:pPr algn="just"/>
            <a:r>
              <a:rPr lang="en-US" dirty="0"/>
              <a:t>It's important to note that parseFloat may return NaN (Not a Number) if the string cannot be successfully parsed into a valid number.</a:t>
            </a:r>
          </a:p>
          <a:p>
            <a:pPr algn="just"/>
            <a:endParaRPr lang="en-US" dirty="0"/>
          </a:p>
        </p:txBody>
      </p:sp>
    </p:spTree>
    <p:extLst>
      <p:ext uri="{BB962C8B-B14F-4D97-AF65-F5344CB8AC3E}">
        <p14:creationId xmlns:p14="http://schemas.microsoft.com/office/powerpoint/2010/main" val="1109490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 and Object</a:t>
            </a:r>
          </a:p>
        </p:txBody>
      </p:sp>
      <p:sp>
        <p:nvSpPr>
          <p:cNvPr id="3" name="Content Placeholder 2"/>
          <p:cNvSpPr>
            <a:spLocks noGrp="1"/>
          </p:cNvSpPr>
          <p:nvPr>
            <p:ph idx="1"/>
          </p:nvPr>
        </p:nvSpPr>
        <p:spPr/>
        <p:txBody>
          <a:bodyPr/>
          <a:lstStyle/>
          <a:p>
            <a:pPr algn="just"/>
            <a:r>
              <a:rPr lang="en-US" dirty="0"/>
              <a:t>In JavaScript, class and object are fundamental concepts used in object-oriented programming (OOP).</a:t>
            </a:r>
          </a:p>
          <a:p>
            <a:pPr algn="just"/>
            <a:r>
              <a:rPr lang="en-US" dirty="0"/>
              <a:t>A class is a blueprint or a template for creating objects. It defines the properties and behaviors that objects of that class will have. You can think of a class as a cookie cutter, while objects are the cookies that are created using that cutter.</a:t>
            </a:r>
          </a:p>
          <a:p>
            <a:pPr algn="just"/>
            <a:r>
              <a:rPr lang="en-US" dirty="0"/>
              <a:t>Here's an example of defining a class in JavaScript:</a:t>
            </a:r>
          </a:p>
        </p:txBody>
      </p:sp>
    </p:spTree>
    <p:extLst>
      <p:ext uri="{BB962C8B-B14F-4D97-AF65-F5344CB8AC3E}">
        <p14:creationId xmlns:p14="http://schemas.microsoft.com/office/powerpoint/2010/main" val="38525513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E6B81-EFAB-496B-84FC-B9ED18B479D2}"/>
              </a:ext>
            </a:extLst>
          </p:cNvPr>
          <p:cNvSpPr>
            <a:spLocks noGrp="1"/>
          </p:cNvSpPr>
          <p:nvPr>
            <p:ph type="title"/>
          </p:nvPr>
        </p:nvSpPr>
        <p:spPr>
          <a:xfrm>
            <a:off x="677334" y="609600"/>
            <a:ext cx="8596668" cy="700726"/>
          </a:xfrm>
        </p:spPr>
        <p:txBody>
          <a:bodyPr/>
          <a:lstStyle/>
          <a:p>
            <a:r>
              <a:rPr lang="en-US" b="1" dirty="0"/>
              <a:t>Creating object using object literals</a:t>
            </a:r>
          </a:p>
        </p:txBody>
      </p:sp>
      <p:sp>
        <p:nvSpPr>
          <p:cNvPr id="3" name="Content Placeholder 2">
            <a:extLst>
              <a:ext uri="{FF2B5EF4-FFF2-40B4-BE49-F238E27FC236}">
                <a16:creationId xmlns:a16="http://schemas.microsoft.com/office/drawing/2014/main" id="{79C75BF3-DB0A-4DB1-AE3E-B6EC0B0ED3B4}"/>
              </a:ext>
            </a:extLst>
          </p:cNvPr>
          <p:cNvSpPr>
            <a:spLocks noGrp="1"/>
          </p:cNvSpPr>
          <p:nvPr>
            <p:ph idx="1"/>
          </p:nvPr>
        </p:nvSpPr>
        <p:spPr>
          <a:xfrm>
            <a:off x="677334" y="1310326"/>
            <a:ext cx="8596668" cy="3880773"/>
          </a:xfrm>
        </p:spPr>
        <p:txBody>
          <a:bodyPr/>
          <a:lstStyle/>
          <a:p>
            <a:r>
              <a:rPr lang="en-US" b="1" dirty="0"/>
              <a:t>We create object using object literal method </a:t>
            </a:r>
          </a:p>
          <a:p>
            <a:r>
              <a:rPr lang="en-US" dirty="0"/>
              <a:t>Syntax:</a:t>
            </a:r>
          </a:p>
          <a:p>
            <a:r>
              <a:rPr lang="en-US" dirty="0"/>
              <a:t>Object={ property1:value1,property2:value2;……………property:valueN}</a:t>
            </a:r>
          </a:p>
          <a:p>
            <a:r>
              <a:rPr lang="en-US" dirty="0"/>
              <a:t>Here, property and value is separated by :(colon) and two property is separated by comma.</a:t>
            </a:r>
          </a:p>
          <a:p>
            <a:r>
              <a:rPr lang="en-US" dirty="0"/>
              <a:t>Accessing property</a:t>
            </a:r>
          </a:p>
          <a:p>
            <a:pPr lvl="1"/>
            <a:r>
              <a:rPr lang="en-US" dirty="0"/>
              <a:t>Objectname.propertyname;</a:t>
            </a:r>
          </a:p>
        </p:txBody>
      </p:sp>
      <p:pic>
        <p:nvPicPr>
          <p:cNvPr id="5" name="Picture 4">
            <a:extLst>
              <a:ext uri="{FF2B5EF4-FFF2-40B4-BE49-F238E27FC236}">
                <a16:creationId xmlns:a16="http://schemas.microsoft.com/office/drawing/2014/main" id="{E16C6A69-0B4A-4142-950E-421BA8F913E1}"/>
              </a:ext>
            </a:extLst>
          </p:cNvPr>
          <p:cNvPicPr>
            <a:picLocks noChangeAspect="1"/>
          </p:cNvPicPr>
          <p:nvPr/>
        </p:nvPicPr>
        <p:blipFill>
          <a:blip r:embed="rId2"/>
          <a:stretch>
            <a:fillRect/>
          </a:stretch>
        </p:blipFill>
        <p:spPr>
          <a:xfrm>
            <a:off x="4801692" y="2899684"/>
            <a:ext cx="6973646" cy="3815972"/>
          </a:xfrm>
          <a:prstGeom prst="rect">
            <a:avLst/>
          </a:prstGeom>
          <a:ln w="228600" cap="sq" cmpd="thickThin">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0185436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D7A94-9205-496C-8A0F-AFD54B2DED93}"/>
              </a:ext>
            </a:extLst>
          </p:cNvPr>
          <p:cNvSpPr>
            <a:spLocks noGrp="1"/>
          </p:cNvSpPr>
          <p:nvPr>
            <p:ph type="title"/>
          </p:nvPr>
        </p:nvSpPr>
        <p:spPr/>
        <p:txBody>
          <a:bodyPr/>
          <a:lstStyle/>
          <a:p>
            <a:r>
              <a:rPr lang="en-US" b="1" dirty="0"/>
              <a:t>Creating objects with function constructors</a:t>
            </a:r>
          </a:p>
        </p:txBody>
      </p:sp>
      <p:sp>
        <p:nvSpPr>
          <p:cNvPr id="3" name="Content Placeholder 2">
            <a:extLst>
              <a:ext uri="{FF2B5EF4-FFF2-40B4-BE49-F238E27FC236}">
                <a16:creationId xmlns:a16="http://schemas.microsoft.com/office/drawing/2014/main" id="{787CB47F-D6EB-4F9B-9618-B33D1081602C}"/>
              </a:ext>
            </a:extLst>
          </p:cNvPr>
          <p:cNvSpPr>
            <a:spLocks noGrp="1"/>
          </p:cNvSpPr>
          <p:nvPr>
            <p:ph idx="1"/>
          </p:nvPr>
        </p:nvSpPr>
        <p:spPr>
          <a:xfrm>
            <a:off x="677334" y="1783517"/>
            <a:ext cx="8596668" cy="3880773"/>
          </a:xfrm>
        </p:spPr>
        <p:txBody>
          <a:bodyPr/>
          <a:lstStyle/>
          <a:p>
            <a:pPr marL="0" indent="0">
              <a:buNone/>
            </a:pPr>
            <a:r>
              <a:rPr lang="en-US" dirty="0"/>
              <a:t>Constructors in JavaScript, like in most other OOP languages, provides a template for creation of objects. </a:t>
            </a:r>
          </a:p>
          <a:p>
            <a:pPr marL="0" indent="0">
              <a:buNone/>
            </a:pPr>
            <a:r>
              <a:rPr lang="en-US" dirty="0"/>
              <a:t>In other words, it defines a set of properties and methods that would be common to all objects initialized using the constructor.</a:t>
            </a:r>
          </a:p>
          <a:p>
            <a:pPr marL="0" indent="0">
              <a:buNone/>
            </a:pPr>
            <a:r>
              <a:rPr lang="en-US" dirty="0"/>
              <a:t>For this we need to create function with argument, Each argument value can be assigned in the current object by using the keyword.</a:t>
            </a:r>
          </a:p>
          <a:p>
            <a:pPr marL="0" indent="0">
              <a:buNone/>
            </a:pPr>
            <a:r>
              <a:rPr lang="en-US" dirty="0"/>
              <a:t>This keyword always refer to current object.</a:t>
            </a:r>
          </a:p>
        </p:txBody>
      </p:sp>
      <p:pic>
        <p:nvPicPr>
          <p:cNvPr id="5" name="Picture 4">
            <a:extLst>
              <a:ext uri="{FF2B5EF4-FFF2-40B4-BE49-F238E27FC236}">
                <a16:creationId xmlns:a16="http://schemas.microsoft.com/office/drawing/2014/main" id="{7D77F478-AF8A-42A6-AC5D-8D60148F181F}"/>
              </a:ext>
            </a:extLst>
          </p:cNvPr>
          <p:cNvPicPr>
            <a:picLocks noChangeAspect="1"/>
          </p:cNvPicPr>
          <p:nvPr/>
        </p:nvPicPr>
        <p:blipFill>
          <a:blip r:embed="rId2"/>
          <a:stretch>
            <a:fillRect/>
          </a:stretch>
        </p:blipFill>
        <p:spPr>
          <a:xfrm>
            <a:off x="7154944" y="3692273"/>
            <a:ext cx="4703975" cy="2992330"/>
          </a:xfrm>
          <a:prstGeom prst="rect">
            <a:avLst/>
          </a:prstGeom>
        </p:spPr>
      </p:pic>
    </p:spTree>
    <p:extLst>
      <p:ext uri="{BB962C8B-B14F-4D97-AF65-F5344CB8AC3E}">
        <p14:creationId xmlns:p14="http://schemas.microsoft.com/office/powerpoint/2010/main" val="36938512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Creating objects with class</a:t>
            </a:r>
          </a:p>
        </p:txBody>
      </p:sp>
      <p:pic>
        <p:nvPicPr>
          <p:cNvPr id="4" name="Content Placeholder 3"/>
          <p:cNvPicPr>
            <a:picLocks noGrp="1" noChangeAspect="1"/>
          </p:cNvPicPr>
          <p:nvPr>
            <p:ph idx="1"/>
          </p:nvPr>
        </p:nvPicPr>
        <p:blipFill>
          <a:blip r:embed="rId2"/>
          <a:stretch>
            <a:fillRect/>
          </a:stretch>
        </p:blipFill>
        <p:spPr>
          <a:xfrm>
            <a:off x="1288253" y="1776885"/>
            <a:ext cx="4942865" cy="4854468"/>
          </a:xfrm>
          <a:prstGeom prst="rect">
            <a:avLst/>
          </a:prstGeom>
        </p:spPr>
      </p:pic>
      <p:pic>
        <p:nvPicPr>
          <p:cNvPr id="5" name="Picture 4"/>
          <p:cNvPicPr>
            <a:picLocks noChangeAspect="1"/>
          </p:cNvPicPr>
          <p:nvPr/>
        </p:nvPicPr>
        <p:blipFill>
          <a:blip r:embed="rId3"/>
          <a:stretch>
            <a:fillRect/>
          </a:stretch>
        </p:blipFill>
        <p:spPr>
          <a:xfrm>
            <a:off x="6979640" y="3248938"/>
            <a:ext cx="3511730" cy="1397072"/>
          </a:xfrm>
          <a:prstGeom prst="rect">
            <a:avLst/>
          </a:prstGeom>
        </p:spPr>
      </p:pic>
    </p:spTree>
    <p:extLst>
      <p:ext uri="{BB962C8B-B14F-4D97-AF65-F5344CB8AC3E}">
        <p14:creationId xmlns:p14="http://schemas.microsoft.com/office/powerpoint/2010/main" val="2063528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Built-in objects in JavaScript</a:t>
            </a:r>
          </a:p>
        </p:txBody>
      </p:sp>
      <p:sp>
        <p:nvSpPr>
          <p:cNvPr id="3" name="Content Placeholder 2"/>
          <p:cNvSpPr>
            <a:spLocks noGrp="1"/>
          </p:cNvSpPr>
          <p:nvPr>
            <p:ph idx="1"/>
          </p:nvPr>
        </p:nvSpPr>
        <p:spPr/>
        <p:txBody>
          <a:bodyPr>
            <a:normAutofit lnSpcReduction="10000"/>
          </a:bodyPr>
          <a:lstStyle/>
          <a:p>
            <a:pPr algn="just"/>
            <a:r>
              <a:rPr lang="en-US" dirty="0"/>
              <a:t>JavaScript has several built-in objects that provide a wide range of functionality. These objects are part of the JavaScript language itself and are available for use without requiring additional code or libraries. Here are some commonly used built-in objects in JavaScript:</a:t>
            </a:r>
          </a:p>
          <a:p>
            <a:pPr algn="just"/>
            <a:r>
              <a:rPr lang="en-US" b="1" dirty="0"/>
              <a:t>Array:</a:t>
            </a:r>
            <a:r>
              <a:rPr lang="en-US" dirty="0"/>
              <a:t> The Array object is used to store and manipulate collections of elements. It provides methods for adding, removing, and accessing elements in an array.</a:t>
            </a:r>
          </a:p>
          <a:p>
            <a:pPr algn="just"/>
            <a:r>
              <a:rPr lang="en-US" b="1" dirty="0"/>
              <a:t>String:</a:t>
            </a:r>
            <a:r>
              <a:rPr lang="en-US" dirty="0"/>
              <a:t> The String object represents a sequence of characters and provides methods for manipulating and working with strings.</a:t>
            </a:r>
          </a:p>
          <a:p>
            <a:pPr algn="just"/>
            <a:r>
              <a:rPr lang="en-US" b="1" dirty="0"/>
              <a:t>Number:</a:t>
            </a:r>
            <a:r>
              <a:rPr lang="en-US" dirty="0"/>
              <a:t> The Number object represents numeric values and provides methods for working with numbers, such as mathematical operations</a:t>
            </a:r>
            <a:r>
              <a:rPr lang="en-US" b="1" dirty="0"/>
              <a:t>.</a:t>
            </a:r>
          </a:p>
          <a:p>
            <a:pPr algn="just"/>
            <a:r>
              <a:rPr lang="en-US" b="1" dirty="0"/>
              <a:t>Boolean:</a:t>
            </a:r>
            <a:r>
              <a:rPr lang="en-US" dirty="0"/>
              <a:t> The Boolean object represents a Boolean value (true or false) and provides methods for working with logical operations.</a:t>
            </a:r>
          </a:p>
        </p:txBody>
      </p:sp>
    </p:spTree>
    <p:extLst>
      <p:ext uri="{BB962C8B-B14F-4D97-AF65-F5344CB8AC3E}">
        <p14:creationId xmlns:p14="http://schemas.microsoft.com/office/powerpoint/2010/main" val="4524960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Built-in objects in JavaScript</a:t>
            </a:r>
            <a:endParaRPr lang="en-US" dirty="0"/>
          </a:p>
        </p:txBody>
      </p:sp>
      <p:sp>
        <p:nvSpPr>
          <p:cNvPr id="3" name="Content Placeholder 2"/>
          <p:cNvSpPr>
            <a:spLocks noGrp="1"/>
          </p:cNvSpPr>
          <p:nvPr>
            <p:ph idx="1"/>
          </p:nvPr>
        </p:nvSpPr>
        <p:spPr/>
        <p:txBody>
          <a:bodyPr>
            <a:normAutofit/>
          </a:bodyPr>
          <a:lstStyle/>
          <a:p>
            <a:pPr algn="just"/>
            <a:r>
              <a:rPr lang="en-US" b="1" dirty="0"/>
              <a:t>Date:</a:t>
            </a:r>
            <a:r>
              <a:rPr lang="en-US" dirty="0"/>
              <a:t> The Date object is used for working with dates and times. It provides methods for creating, manipulating, and formatting dates.</a:t>
            </a:r>
          </a:p>
          <a:p>
            <a:pPr algn="just"/>
            <a:endParaRPr lang="en-US" dirty="0"/>
          </a:p>
          <a:p>
            <a:pPr algn="just"/>
            <a:r>
              <a:rPr lang="en-US" b="1" dirty="0"/>
              <a:t>Math:</a:t>
            </a:r>
            <a:r>
              <a:rPr lang="en-US" dirty="0"/>
              <a:t> The Math object provides mathematical functions and constants. It includes methods for tasks like rounding numbers, generating random numbers, and performing complex calculations.</a:t>
            </a:r>
          </a:p>
          <a:p>
            <a:pPr marL="0" indent="0" algn="just">
              <a:buNone/>
            </a:pPr>
            <a:endParaRPr lang="en-US" dirty="0"/>
          </a:p>
          <a:p>
            <a:pPr algn="just"/>
            <a:r>
              <a:rPr lang="en-US" dirty="0"/>
              <a:t>These are just a few examples of the built-in objects available in JavaScript. Each object has its own set of properties and methods that provide specific functionality. You can refer to the JavaScript documentation for more details on these objects and their usage.</a:t>
            </a:r>
          </a:p>
        </p:txBody>
      </p:sp>
    </p:spTree>
    <p:extLst>
      <p:ext uri="{BB962C8B-B14F-4D97-AF65-F5344CB8AC3E}">
        <p14:creationId xmlns:p14="http://schemas.microsoft.com/office/powerpoint/2010/main" val="31338222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Array</a:t>
            </a:r>
          </a:p>
        </p:txBody>
      </p:sp>
      <p:sp>
        <p:nvSpPr>
          <p:cNvPr id="3" name="Content Placeholder 2"/>
          <p:cNvSpPr>
            <a:spLocks noGrp="1"/>
          </p:cNvSpPr>
          <p:nvPr>
            <p:ph idx="1"/>
          </p:nvPr>
        </p:nvSpPr>
        <p:spPr/>
        <p:txBody>
          <a:bodyPr/>
          <a:lstStyle/>
          <a:p>
            <a:pPr algn="just"/>
            <a:r>
              <a:rPr lang="en-US" dirty="0"/>
              <a:t>In JavaScript, an array is a built-in data structure that allows you to store multiple values in a single variable. Arrays can contain elements of any type, including numbers, strings, objects, and even other arrays. Here's how you can work with arrays in JavaScript:</a:t>
            </a:r>
          </a:p>
          <a:p>
            <a:pPr marL="457200" lvl="1" indent="0" algn="just">
              <a:buNone/>
            </a:pPr>
            <a:r>
              <a:rPr lang="en-US" b="1" dirty="0"/>
              <a:t>Creating an array:</a:t>
            </a:r>
          </a:p>
          <a:p>
            <a:pPr marL="457200" lvl="1" indent="0" algn="just">
              <a:buNone/>
            </a:pPr>
            <a:r>
              <a:rPr lang="en-US" dirty="0"/>
              <a:t>const myArray = []; // An empty array </a:t>
            </a:r>
          </a:p>
          <a:p>
            <a:pPr marL="457200" lvl="1" indent="0" algn="just">
              <a:buNone/>
            </a:pPr>
            <a:r>
              <a:rPr lang="en-US" dirty="0"/>
              <a:t>const numbers = [1, 2, 3, 4, 5]; // An array of numbers </a:t>
            </a:r>
          </a:p>
          <a:p>
            <a:pPr marL="457200" lvl="1" indent="0" algn="just">
              <a:buNone/>
            </a:pPr>
            <a:r>
              <a:rPr lang="en-US" dirty="0"/>
              <a:t>const fruits = ["apple", "banana", "orange"]; // An array of strings </a:t>
            </a:r>
          </a:p>
          <a:p>
            <a:pPr marL="457200" lvl="1" indent="0" algn="just">
              <a:buNone/>
            </a:pPr>
            <a:r>
              <a:rPr lang="en-US" dirty="0"/>
              <a:t>const mixedArray = [1, "two", { key: "value" }]; // An array with mixed types</a:t>
            </a:r>
          </a:p>
        </p:txBody>
      </p:sp>
    </p:spTree>
    <p:extLst>
      <p:ext uri="{BB962C8B-B14F-4D97-AF65-F5344CB8AC3E}">
        <p14:creationId xmlns:p14="http://schemas.microsoft.com/office/powerpoint/2010/main" val="40704320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Accessing elements in an array:</a:t>
            </a:r>
          </a:p>
        </p:txBody>
      </p:sp>
      <p:sp>
        <p:nvSpPr>
          <p:cNvPr id="3" name="Content Placeholder 2"/>
          <p:cNvSpPr>
            <a:spLocks noGrp="1"/>
          </p:cNvSpPr>
          <p:nvPr>
            <p:ph idx="1"/>
          </p:nvPr>
        </p:nvSpPr>
        <p:spPr/>
        <p:txBody>
          <a:bodyPr/>
          <a:lstStyle/>
          <a:p>
            <a:pPr marL="0" indent="0">
              <a:buNone/>
            </a:pPr>
            <a:r>
              <a:rPr lang="en-US" dirty="0"/>
              <a:t>const numbers = [1, 2, 3, 4, 5];</a:t>
            </a:r>
          </a:p>
          <a:p>
            <a:pPr marL="0" indent="0">
              <a:buNone/>
            </a:pPr>
            <a:r>
              <a:rPr lang="en-US" dirty="0"/>
              <a:t>console.log(numbers[0]); // Output: 1 (accessing the first element)</a:t>
            </a:r>
          </a:p>
          <a:p>
            <a:pPr marL="0" indent="0">
              <a:buNone/>
            </a:pPr>
            <a:r>
              <a:rPr lang="en-US" dirty="0"/>
              <a:t>console.log(numbers[2]); // Output: 3 (accessing the third element)</a:t>
            </a:r>
          </a:p>
          <a:p>
            <a:pPr marL="0" indent="0">
              <a:buNone/>
            </a:pPr>
            <a:r>
              <a:rPr lang="en-US" dirty="0"/>
              <a:t>console.log(numbers.length); // Output: 5 (getting the length of the array)</a:t>
            </a:r>
          </a:p>
        </p:txBody>
      </p:sp>
    </p:spTree>
    <p:extLst>
      <p:ext uri="{BB962C8B-B14F-4D97-AF65-F5344CB8AC3E}">
        <p14:creationId xmlns:p14="http://schemas.microsoft.com/office/powerpoint/2010/main" val="22684842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Modifying elements in an array:</a:t>
            </a:r>
          </a:p>
        </p:txBody>
      </p:sp>
      <p:sp>
        <p:nvSpPr>
          <p:cNvPr id="3" name="Content Placeholder 2"/>
          <p:cNvSpPr>
            <a:spLocks noGrp="1"/>
          </p:cNvSpPr>
          <p:nvPr>
            <p:ph idx="1"/>
          </p:nvPr>
        </p:nvSpPr>
        <p:spPr/>
        <p:txBody>
          <a:bodyPr>
            <a:normAutofit/>
          </a:bodyPr>
          <a:lstStyle/>
          <a:p>
            <a:pPr marL="0" indent="0">
              <a:buNone/>
            </a:pPr>
            <a:r>
              <a:rPr lang="en-US" dirty="0"/>
              <a:t>let fruits = ["apple", "banana", "orange"];</a:t>
            </a:r>
          </a:p>
          <a:p>
            <a:pPr marL="0" indent="0">
              <a:buNone/>
            </a:pPr>
            <a:r>
              <a:rPr lang="en-US" dirty="0"/>
              <a:t>fruits[1] = "grape"; // Modifying the second element</a:t>
            </a:r>
          </a:p>
          <a:p>
            <a:pPr marL="0" indent="0">
              <a:buNone/>
            </a:pPr>
            <a:r>
              <a:rPr lang="en-US" dirty="0"/>
              <a:t>console.log(fruits); // Output: ["apple", "grape", "orange"]</a:t>
            </a:r>
          </a:p>
          <a:p>
            <a:pPr marL="0" indent="0">
              <a:buNone/>
            </a:pPr>
            <a:endParaRPr lang="en-US" dirty="0"/>
          </a:p>
          <a:p>
            <a:pPr marL="0" indent="0">
              <a:buNone/>
            </a:pPr>
            <a:r>
              <a:rPr lang="en-US" dirty="0"/>
              <a:t>fruits.push("kiwi"); // Adding an element to the end of the array</a:t>
            </a:r>
          </a:p>
          <a:p>
            <a:pPr marL="0" indent="0">
              <a:buNone/>
            </a:pPr>
            <a:r>
              <a:rPr lang="en-US" dirty="0"/>
              <a:t>console.log(fruits); // Output: ["apple", "grape", "orange", "kiwi"]</a:t>
            </a:r>
          </a:p>
          <a:p>
            <a:pPr marL="0" indent="0">
              <a:buNone/>
            </a:pPr>
            <a:endParaRPr lang="en-US" dirty="0"/>
          </a:p>
          <a:p>
            <a:pPr marL="0" indent="0">
              <a:buNone/>
            </a:pPr>
            <a:r>
              <a:rPr lang="en-US" dirty="0"/>
              <a:t>fruits.pop(); // Removing the last element from the array</a:t>
            </a:r>
          </a:p>
          <a:p>
            <a:pPr marL="0" indent="0">
              <a:buNone/>
            </a:pPr>
            <a:r>
              <a:rPr lang="en-US" dirty="0"/>
              <a:t>console.log(fruits); // Output: ["apple", "grape", "orange"]</a:t>
            </a:r>
          </a:p>
        </p:txBody>
      </p:sp>
    </p:spTree>
    <p:extLst>
      <p:ext uri="{BB962C8B-B14F-4D97-AF65-F5344CB8AC3E}">
        <p14:creationId xmlns:p14="http://schemas.microsoft.com/office/powerpoint/2010/main" val="21391917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Array methods and operations:</a:t>
            </a:r>
          </a:p>
        </p:txBody>
      </p:sp>
      <p:sp>
        <p:nvSpPr>
          <p:cNvPr id="3" name="Content Placeholder 2"/>
          <p:cNvSpPr>
            <a:spLocks noGrp="1"/>
          </p:cNvSpPr>
          <p:nvPr>
            <p:ph idx="1"/>
          </p:nvPr>
        </p:nvSpPr>
        <p:spPr>
          <a:xfrm>
            <a:off x="838200" y="1555421"/>
            <a:ext cx="10803903" cy="4977353"/>
          </a:xfrm>
        </p:spPr>
        <p:txBody>
          <a:bodyPr>
            <a:normAutofit fontScale="92500" lnSpcReduction="10000"/>
          </a:bodyPr>
          <a:lstStyle/>
          <a:p>
            <a:pPr marL="0" indent="0">
              <a:buNone/>
            </a:pPr>
            <a:r>
              <a:rPr lang="en-US" dirty="0"/>
              <a:t>JavaScript provides various built-in methods and operations for working with arrays. Some commonly used ones include:</a:t>
            </a:r>
          </a:p>
          <a:p>
            <a:r>
              <a:rPr lang="en-US" b="1" dirty="0"/>
              <a:t>push</a:t>
            </a:r>
            <a:r>
              <a:rPr lang="en-US" dirty="0"/>
              <a:t>(): Adds one or more elements to the end of an array.</a:t>
            </a:r>
          </a:p>
          <a:p>
            <a:r>
              <a:rPr lang="en-US" b="1" dirty="0"/>
              <a:t>pop</a:t>
            </a:r>
            <a:r>
              <a:rPr lang="en-US" dirty="0"/>
              <a:t>(): Removes the last element from an array and returns it.</a:t>
            </a:r>
          </a:p>
          <a:p>
            <a:r>
              <a:rPr lang="en-US" b="1" dirty="0"/>
              <a:t>shift</a:t>
            </a:r>
            <a:r>
              <a:rPr lang="en-US" dirty="0"/>
              <a:t>(): Removes the first element from an array and returns it.</a:t>
            </a:r>
          </a:p>
          <a:p>
            <a:r>
              <a:rPr lang="en-US" b="1" dirty="0"/>
              <a:t>unshift</a:t>
            </a:r>
            <a:r>
              <a:rPr lang="en-US" dirty="0"/>
              <a:t>(): Adds one or more elements to the beginning of an array.</a:t>
            </a:r>
          </a:p>
          <a:p>
            <a:r>
              <a:rPr lang="en-US" b="1" dirty="0"/>
              <a:t>concat</a:t>
            </a:r>
            <a:r>
              <a:rPr lang="en-US" dirty="0"/>
              <a:t>(): Combines two or more arrays.</a:t>
            </a:r>
          </a:p>
          <a:p>
            <a:r>
              <a:rPr lang="en-US" b="1" dirty="0"/>
              <a:t>slice</a:t>
            </a:r>
            <a:r>
              <a:rPr lang="en-US" dirty="0"/>
              <a:t>(): Returns a new array with a portion of the original array.</a:t>
            </a:r>
          </a:p>
          <a:p>
            <a:r>
              <a:rPr lang="en-US" b="1" dirty="0"/>
              <a:t>splice</a:t>
            </a:r>
            <a:r>
              <a:rPr lang="en-US" dirty="0"/>
              <a:t>(): Changes the contents of an array by removing, replacing, or adding elements.</a:t>
            </a:r>
          </a:p>
          <a:p>
            <a:r>
              <a:rPr lang="en-US" b="1" dirty="0"/>
              <a:t>indexOf</a:t>
            </a:r>
            <a:r>
              <a:rPr lang="en-US" dirty="0"/>
              <a:t>(): Returns the first index at which a given element can be found in the array.</a:t>
            </a:r>
          </a:p>
          <a:p>
            <a:r>
              <a:rPr lang="en-US" b="1" dirty="0"/>
              <a:t>includes</a:t>
            </a:r>
            <a:r>
              <a:rPr lang="en-US" dirty="0"/>
              <a:t>(): Checks if an array contains a certain element.</a:t>
            </a:r>
          </a:p>
          <a:p>
            <a:r>
              <a:rPr lang="en-US" b="1" dirty="0"/>
              <a:t>join</a:t>
            </a:r>
            <a:r>
              <a:rPr lang="en-US" dirty="0"/>
              <a:t>(): Joins all elements of an array into a string.</a:t>
            </a:r>
          </a:p>
          <a:p>
            <a:r>
              <a:rPr lang="en-US" b="1" dirty="0"/>
              <a:t>sort</a:t>
            </a:r>
            <a:r>
              <a:rPr lang="en-US" dirty="0"/>
              <a:t>(): Sorts the elements of an array in place.</a:t>
            </a:r>
          </a:p>
          <a:p>
            <a:r>
              <a:rPr lang="en-US" b="1" dirty="0"/>
              <a:t>reverse</a:t>
            </a:r>
            <a:r>
              <a:rPr lang="en-US" dirty="0"/>
              <a:t>(): Reverses the order of elements in an array.</a:t>
            </a:r>
          </a:p>
        </p:txBody>
      </p:sp>
    </p:spTree>
    <p:extLst>
      <p:ext uri="{BB962C8B-B14F-4D97-AF65-F5344CB8AC3E}">
        <p14:creationId xmlns:p14="http://schemas.microsoft.com/office/powerpoint/2010/main" val="24951402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String</a:t>
            </a:r>
          </a:p>
        </p:txBody>
      </p:sp>
      <p:sp>
        <p:nvSpPr>
          <p:cNvPr id="3" name="Content Placeholder 2"/>
          <p:cNvSpPr>
            <a:spLocks noGrp="1"/>
          </p:cNvSpPr>
          <p:nvPr>
            <p:ph idx="1"/>
          </p:nvPr>
        </p:nvSpPr>
        <p:spPr/>
        <p:txBody>
          <a:bodyPr/>
          <a:lstStyle/>
          <a:p>
            <a:pPr algn="just"/>
            <a:r>
              <a:rPr lang="en-US" dirty="0"/>
              <a:t>In JavaScript, a string is a primitive data type used to represent textual data. It is a sequence of characters, such as letters, numbers, symbols, and whitespace, enclosed within single quotes (''), double quotes ("") or backticks (``). Here are some examples of string literals:</a:t>
            </a:r>
          </a:p>
          <a:p>
            <a:pPr marL="0" indent="0" algn="just">
              <a:buNone/>
            </a:pPr>
            <a:r>
              <a:rPr lang="en-US" dirty="0"/>
              <a:t>let message = "Hello, world!"; // using double quotes</a:t>
            </a:r>
          </a:p>
          <a:p>
            <a:pPr marL="0" indent="0" algn="just">
              <a:buNone/>
            </a:pPr>
            <a:r>
              <a:rPr lang="en-US" dirty="0"/>
              <a:t>let name = 'John Doe'; // using single quotes</a:t>
            </a:r>
          </a:p>
          <a:p>
            <a:pPr marL="0" indent="0" algn="just">
              <a:buNone/>
            </a:pPr>
            <a:r>
              <a:rPr lang="en-US" dirty="0"/>
              <a:t>let template = `My name is ${name}`; // using backticks for template literals</a:t>
            </a:r>
          </a:p>
          <a:p>
            <a:pPr algn="just"/>
            <a:endParaRPr lang="en-US" dirty="0"/>
          </a:p>
        </p:txBody>
      </p:sp>
    </p:spTree>
    <p:extLst>
      <p:ext uri="{BB962C8B-B14F-4D97-AF65-F5344CB8AC3E}">
        <p14:creationId xmlns:p14="http://schemas.microsoft.com/office/powerpoint/2010/main" val="41760294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String Methods</a:t>
            </a:r>
          </a:p>
        </p:txBody>
      </p:sp>
      <p:sp>
        <p:nvSpPr>
          <p:cNvPr id="3" name="Content Placeholder 2"/>
          <p:cNvSpPr>
            <a:spLocks noGrp="1"/>
          </p:cNvSpPr>
          <p:nvPr>
            <p:ph idx="1"/>
          </p:nvPr>
        </p:nvSpPr>
        <p:spPr/>
        <p:txBody>
          <a:bodyPr/>
          <a:lstStyle/>
          <a:p>
            <a:r>
              <a:rPr lang="en-US" dirty="0"/>
              <a:t>JavaScript provides a wide range of built-in string methods that allow you to manipulate and perform operations on strings. Here are some commonly used string methods:</a:t>
            </a:r>
          </a:p>
          <a:p>
            <a:endParaRPr lang="en-US" dirty="0"/>
          </a:p>
          <a:p>
            <a:endParaRPr lang="en-US" dirty="0"/>
          </a:p>
        </p:txBody>
      </p:sp>
      <p:pic>
        <p:nvPicPr>
          <p:cNvPr id="5" name="Picture 4"/>
          <p:cNvPicPr>
            <a:picLocks noChangeAspect="1"/>
          </p:cNvPicPr>
          <p:nvPr/>
        </p:nvPicPr>
        <p:blipFill>
          <a:blip r:embed="rId2"/>
          <a:stretch>
            <a:fillRect/>
          </a:stretch>
        </p:blipFill>
        <p:spPr>
          <a:xfrm>
            <a:off x="3213318" y="3148354"/>
            <a:ext cx="6314691" cy="3318434"/>
          </a:xfrm>
          <a:prstGeom prst="rect">
            <a:avLst/>
          </a:prstGeom>
        </p:spPr>
      </p:pic>
    </p:spTree>
    <p:extLst>
      <p:ext uri="{BB962C8B-B14F-4D97-AF65-F5344CB8AC3E}">
        <p14:creationId xmlns:p14="http://schemas.microsoft.com/office/powerpoint/2010/main" val="17358250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String Length</a:t>
            </a:r>
          </a:p>
        </p:txBody>
      </p:sp>
      <p:sp>
        <p:nvSpPr>
          <p:cNvPr id="3" name="Content Placeholder 2"/>
          <p:cNvSpPr>
            <a:spLocks noGrp="1"/>
          </p:cNvSpPr>
          <p:nvPr>
            <p:ph idx="1"/>
          </p:nvPr>
        </p:nvSpPr>
        <p:spPr/>
        <p:txBody>
          <a:bodyPr>
            <a:normAutofit/>
          </a:bodyPr>
          <a:lstStyle/>
          <a:p>
            <a:pPr algn="just"/>
            <a:r>
              <a:rPr lang="en-US" dirty="0"/>
              <a:t>The length property is not a method but a property of a string object in JavaScript. It returns the number of characters in a string. Here's an example:</a:t>
            </a:r>
          </a:p>
          <a:p>
            <a:pPr marL="457200" lvl="1" indent="0" algn="just">
              <a:buNone/>
            </a:pPr>
            <a:r>
              <a:rPr lang="en-US" dirty="0"/>
              <a:t>let message = "Hello, world!";</a:t>
            </a:r>
          </a:p>
          <a:p>
            <a:pPr marL="457200" lvl="1" indent="0" algn="just">
              <a:buNone/>
            </a:pPr>
            <a:r>
              <a:rPr lang="en-US" dirty="0"/>
              <a:t>let messageLength = message.length;</a:t>
            </a:r>
          </a:p>
          <a:p>
            <a:pPr marL="457200" lvl="1" indent="0" algn="just">
              <a:buNone/>
            </a:pPr>
            <a:r>
              <a:rPr lang="en-US" dirty="0"/>
              <a:t>console.log(messageLength); // Output: 13</a:t>
            </a:r>
          </a:p>
          <a:p>
            <a:pPr algn="just"/>
            <a:r>
              <a:rPr lang="en-US" dirty="0"/>
              <a:t>In the example above, message is a string with the value "Hello, world!". The length property is accessed using dot notation (message.length), which returns the length of the string, i.e., the number of characters in the string.</a:t>
            </a:r>
          </a:p>
          <a:p>
            <a:pPr algn="just"/>
            <a:r>
              <a:rPr lang="en-US" dirty="0"/>
              <a:t>The resulting value is then stored in the messageLength variable and printed to the console, which will output 13 because the string "Hello, world!" contains 13 characters, including spaces and punctuation.</a:t>
            </a:r>
          </a:p>
        </p:txBody>
      </p:sp>
    </p:spTree>
    <p:extLst>
      <p:ext uri="{BB962C8B-B14F-4D97-AF65-F5344CB8AC3E}">
        <p14:creationId xmlns:p14="http://schemas.microsoft.com/office/powerpoint/2010/main" val="32789697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toUpperCase() and toLowerCase() </a:t>
            </a:r>
          </a:p>
        </p:txBody>
      </p:sp>
      <p:sp>
        <p:nvSpPr>
          <p:cNvPr id="3" name="Content Placeholder 2"/>
          <p:cNvSpPr>
            <a:spLocks noGrp="1"/>
          </p:cNvSpPr>
          <p:nvPr>
            <p:ph idx="1"/>
          </p:nvPr>
        </p:nvSpPr>
        <p:spPr/>
        <p:txBody>
          <a:bodyPr>
            <a:normAutofit/>
          </a:bodyPr>
          <a:lstStyle/>
          <a:p>
            <a:pPr algn="just"/>
            <a:r>
              <a:rPr lang="en-US" dirty="0"/>
              <a:t>The toUpperCase() method is used to convert a string to uppercase. It returns a new string with all alphabetic characters in the original string converted to uppercase. Non-alphabetic characters remain unchanged.</a:t>
            </a:r>
          </a:p>
          <a:p>
            <a:pPr algn="just"/>
            <a:r>
              <a:rPr lang="en-US" dirty="0"/>
              <a:t>The toLowerCase() method is used to convert a string to lowercase. It returns a new string with all alphabetic characters in the original string converted to lowercase. Non-alphabetic characters remain unchanged.</a:t>
            </a:r>
          </a:p>
          <a:p>
            <a:pPr marL="457200" lvl="1" indent="0" algn="just">
              <a:buNone/>
            </a:pPr>
            <a:r>
              <a:rPr lang="en-US" dirty="0"/>
              <a:t>let str = "Hello, World!"; </a:t>
            </a:r>
          </a:p>
          <a:p>
            <a:pPr marL="457200" lvl="1" indent="0" algn="just">
              <a:buNone/>
            </a:pPr>
            <a:r>
              <a:rPr lang="en-US" dirty="0"/>
              <a:t>let uppercaseStr = str.toUpperCase(); </a:t>
            </a:r>
          </a:p>
          <a:p>
            <a:pPr marL="457200" lvl="1" indent="0" algn="just">
              <a:buNone/>
            </a:pPr>
            <a:r>
              <a:rPr lang="en-US" dirty="0"/>
              <a:t>console.log(uppercaseStr); // Output: "HELLO, WORLD!" </a:t>
            </a:r>
          </a:p>
          <a:p>
            <a:pPr marL="457200" lvl="1" indent="0" algn="just">
              <a:buNone/>
            </a:pPr>
            <a:r>
              <a:rPr lang="en-US" dirty="0"/>
              <a:t>let lowercaseStr = str.toLowerCase(); </a:t>
            </a:r>
          </a:p>
          <a:p>
            <a:pPr marL="457200" lvl="1" indent="0" algn="just">
              <a:buNone/>
            </a:pPr>
            <a:r>
              <a:rPr lang="en-US" dirty="0"/>
              <a:t>console.log(lowercaseStr); // Output: "hello, world!"</a:t>
            </a:r>
          </a:p>
        </p:txBody>
      </p:sp>
    </p:spTree>
    <p:extLst>
      <p:ext uri="{BB962C8B-B14F-4D97-AF65-F5344CB8AC3E}">
        <p14:creationId xmlns:p14="http://schemas.microsoft.com/office/powerpoint/2010/main" val="39115194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concat()</a:t>
            </a:r>
          </a:p>
        </p:txBody>
      </p:sp>
      <p:sp>
        <p:nvSpPr>
          <p:cNvPr id="3" name="Content Placeholder 2"/>
          <p:cNvSpPr>
            <a:spLocks noGrp="1"/>
          </p:cNvSpPr>
          <p:nvPr>
            <p:ph idx="1"/>
          </p:nvPr>
        </p:nvSpPr>
        <p:spPr/>
        <p:txBody>
          <a:bodyPr/>
          <a:lstStyle/>
          <a:p>
            <a:r>
              <a:rPr lang="en-US" dirty="0"/>
              <a:t>In JavaScript, the concat() function can also be used to concatenate strings. It allows you to concatenate two or more strings and returns a new string containing the concatenated values.</a:t>
            </a:r>
          </a:p>
          <a:p>
            <a:r>
              <a:rPr lang="en-US" dirty="0"/>
              <a:t>Here's the syntax for using concat() to concatenate strings:</a:t>
            </a:r>
          </a:p>
          <a:p>
            <a:pPr marL="457200" lvl="1" indent="0">
              <a:buNone/>
            </a:pPr>
            <a:r>
              <a:rPr lang="en-US" dirty="0"/>
              <a:t>let firstName = "John"; </a:t>
            </a:r>
          </a:p>
          <a:p>
            <a:pPr marL="457200" lvl="1" indent="0">
              <a:buNone/>
            </a:pPr>
            <a:r>
              <a:rPr lang="en-US" dirty="0"/>
              <a:t>let lastName = "Doe"; </a:t>
            </a:r>
          </a:p>
          <a:p>
            <a:pPr marL="457200" lvl="1" indent="0">
              <a:buNone/>
            </a:pPr>
            <a:r>
              <a:rPr lang="en-US" dirty="0"/>
              <a:t>let fullName = firstName.concat(" ", lastName);</a:t>
            </a:r>
          </a:p>
          <a:p>
            <a:pPr marL="457200" lvl="1" indent="0">
              <a:buNone/>
            </a:pPr>
            <a:r>
              <a:rPr lang="en-US" dirty="0"/>
              <a:t>console.log(fullName); // Output: John Doe</a:t>
            </a:r>
          </a:p>
        </p:txBody>
      </p:sp>
    </p:spTree>
    <p:extLst>
      <p:ext uri="{BB962C8B-B14F-4D97-AF65-F5344CB8AC3E}">
        <p14:creationId xmlns:p14="http://schemas.microsoft.com/office/powerpoint/2010/main" val="29823714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slice()</a:t>
            </a:r>
          </a:p>
        </p:txBody>
      </p:sp>
      <p:sp>
        <p:nvSpPr>
          <p:cNvPr id="3" name="Content Placeholder 2"/>
          <p:cNvSpPr>
            <a:spLocks noGrp="1"/>
          </p:cNvSpPr>
          <p:nvPr>
            <p:ph idx="1"/>
          </p:nvPr>
        </p:nvSpPr>
        <p:spPr/>
        <p:txBody>
          <a:bodyPr>
            <a:normAutofit/>
          </a:bodyPr>
          <a:lstStyle/>
          <a:p>
            <a:pPr algn="just"/>
            <a:r>
              <a:rPr lang="en-US" dirty="0"/>
              <a:t>In JavaScript, the slice() function is used to extract a portion of a string or an array and return a new string or array containing the extracted elements. The slice() function does not modify the original string or array; instead, it creates a new string or array containing the specified portion.</a:t>
            </a:r>
          </a:p>
          <a:p>
            <a:pPr algn="just"/>
            <a:r>
              <a:rPr lang="en-US" dirty="0"/>
              <a:t>Syntax for using slice() with strings:</a:t>
            </a:r>
          </a:p>
          <a:p>
            <a:pPr marL="0" indent="0" algn="just">
              <a:buNone/>
            </a:pPr>
            <a:r>
              <a:rPr lang="en-US" dirty="0"/>
              <a:t>string.slice(startIndex, endIndex);</a:t>
            </a:r>
          </a:p>
          <a:p>
            <a:pPr marL="0" indent="0" algn="just">
              <a:buNone/>
            </a:pPr>
            <a:r>
              <a:rPr lang="en-US" dirty="0"/>
              <a:t>Example</a:t>
            </a:r>
          </a:p>
          <a:p>
            <a:pPr marL="457200" lvl="1" indent="0">
              <a:buNone/>
            </a:pPr>
            <a:r>
              <a:rPr lang="en-US" dirty="0"/>
              <a:t> 	var sentence = "The quickl brown fox jumps over the lazy dog.";</a:t>
            </a:r>
          </a:p>
          <a:p>
            <a:pPr marL="457200" lvl="1" indent="0">
              <a:buNone/>
            </a:pPr>
            <a:r>
              <a:rPr lang="en-US" dirty="0"/>
              <a:t>       var extracted = sentence.slice(4, 9);</a:t>
            </a:r>
            <a:br>
              <a:rPr lang="en-US" dirty="0"/>
            </a:br>
            <a:r>
              <a:rPr lang="en-US" dirty="0"/>
              <a:t>       document.write(extracted); //output:quick</a:t>
            </a:r>
          </a:p>
          <a:p>
            <a:pPr marL="0" indent="0" algn="just">
              <a:buNone/>
            </a:pPr>
            <a:endParaRPr lang="en-US" dirty="0"/>
          </a:p>
          <a:p>
            <a:pPr algn="just"/>
            <a:endParaRPr lang="en-US" dirty="0"/>
          </a:p>
        </p:txBody>
      </p:sp>
    </p:spTree>
    <p:extLst>
      <p:ext uri="{BB962C8B-B14F-4D97-AF65-F5344CB8AC3E}">
        <p14:creationId xmlns:p14="http://schemas.microsoft.com/office/powerpoint/2010/main" val="38640057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replace()</a:t>
            </a:r>
          </a:p>
        </p:txBody>
      </p:sp>
      <p:sp>
        <p:nvSpPr>
          <p:cNvPr id="3" name="Content Placeholder 2"/>
          <p:cNvSpPr>
            <a:spLocks noGrp="1"/>
          </p:cNvSpPr>
          <p:nvPr>
            <p:ph idx="1"/>
          </p:nvPr>
        </p:nvSpPr>
        <p:spPr>
          <a:xfrm>
            <a:off x="677334" y="2166685"/>
            <a:ext cx="8596668" cy="3880773"/>
          </a:xfrm>
        </p:spPr>
        <p:txBody>
          <a:bodyPr>
            <a:normAutofit/>
          </a:bodyPr>
          <a:lstStyle/>
          <a:p>
            <a:pPr algn="just"/>
            <a:r>
              <a:rPr lang="en-US" dirty="0"/>
              <a:t>In JavaScript, the replace() function is used to replace occurrences of a specified value or pattern within a string with a new value. The replace() function returns a new string with the replacements made.</a:t>
            </a:r>
          </a:p>
          <a:p>
            <a:pPr algn="just"/>
            <a:r>
              <a:rPr lang="en-US" dirty="0"/>
              <a:t>Here's the syntax for using replace():</a:t>
            </a:r>
          </a:p>
          <a:p>
            <a:pPr marL="0" indent="0" algn="just">
              <a:buNone/>
            </a:pPr>
            <a:r>
              <a:rPr lang="en-US" dirty="0"/>
              <a:t>string.replace(searchValue, newValue);</a:t>
            </a:r>
          </a:p>
          <a:p>
            <a:pPr marL="0" indent="0" algn="just">
              <a:buNone/>
            </a:pPr>
            <a:r>
              <a:rPr lang="en-US" dirty="0"/>
              <a:t>Example:</a:t>
            </a:r>
          </a:p>
          <a:p>
            <a:pPr marL="457200" lvl="1" indent="0" algn="just">
              <a:buNone/>
            </a:pPr>
            <a:r>
              <a:rPr lang="en-US" dirty="0"/>
              <a:t>var sentence = "The </a:t>
            </a:r>
            <a:r>
              <a:rPr lang="en-US" b="1" dirty="0"/>
              <a:t>quick</a:t>
            </a:r>
            <a:r>
              <a:rPr lang="en-US" dirty="0"/>
              <a:t> brown fox jumps over the lazy dog."; </a:t>
            </a:r>
          </a:p>
          <a:p>
            <a:pPr marL="457200" lvl="1" indent="0" algn="just">
              <a:buNone/>
            </a:pPr>
            <a:r>
              <a:rPr lang="en-US" dirty="0"/>
              <a:t>var newSentence = sentence.replace("quick", "slow"); </a:t>
            </a:r>
          </a:p>
          <a:p>
            <a:pPr marL="457200" lvl="1" indent="0" algn="just">
              <a:buNone/>
            </a:pPr>
            <a:r>
              <a:rPr lang="en-US" dirty="0"/>
              <a:t>console.log(newSentence);</a:t>
            </a:r>
          </a:p>
          <a:p>
            <a:pPr marL="457200" lvl="1" indent="0" algn="just">
              <a:buNone/>
            </a:pPr>
            <a:r>
              <a:rPr lang="en-US" dirty="0"/>
              <a:t>Output: The </a:t>
            </a:r>
            <a:r>
              <a:rPr lang="en-US" b="1" dirty="0"/>
              <a:t>slow</a:t>
            </a:r>
            <a:r>
              <a:rPr lang="en-US" dirty="0"/>
              <a:t> brown fox jumps over the lazy dog.</a:t>
            </a:r>
          </a:p>
        </p:txBody>
      </p:sp>
      <p:sp>
        <p:nvSpPr>
          <p:cNvPr id="4" name="TextBox 3"/>
          <p:cNvSpPr txBox="1"/>
          <p:nvPr/>
        </p:nvSpPr>
        <p:spPr>
          <a:xfrm>
            <a:off x="6344239" y="6176963"/>
            <a:ext cx="5847761" cy="923330"/>
          </a:xfrm>
          <a:prstGeom prst="rect">
            <a:avLst/>
          </a:prstGeom>
          <a:noFill/>
        </p:spPr>
        <p:txBody>
          <a:bodyPr wrap="square" rtlCol="0">
            <a:spAutoFit/>
          </a:bodyPr>
          <a:lstStyle/>
          <a:p>
            <a:pPr marL="0" lvl="1"/>
            <a:r>
              <a:rPr lang="en-US" i="1" dirty="0"/>
              <a:t>Visit :https://www.w3schools.com/js/js_string_methods.asp </a:t>
            </a:r>
          </a:p>
          <a:p>
            <a:pPr marL="0" lvl="1"/>
            <a:r>
              <a:rPr lang="en-US" i="1" dirty="0"/>
              <a:t>for more string methods</a:t>
            </a:r>
          </a:p>
          <a:p>
            <a:endParaRPr lang="en-US" dirty="0"/>
          </a:p>
        </p:txBody>
      </p:sp>
    </p:spTree>
    <p:extLst>
      <p:ext uri="{BB962C8B-B14F-4D97-AF65-F5344CB8AC3E}">
        <p14:creationId xmlns:p14="http://schemas.microsoft.com/office/powerpoint/2010/main" val="29555593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a:xfrm>
            <a:off x="677334" y="284254"/>
            <a:ext cx="8596668" cy="696134"/>
          </a:xfrm>
        </p:spPr>
        <p:txBody>
          <a:bodyPr/>
          <a:lstStyle/>
          <a:p>
            <a:r>
              <a:rPr lang="en-US" b="1" dirty="0"/>
              <a:t>Boolean objects</a:t>
            </a:r>
          </a:p>
        </p:txBody>
      </p:sp>
      <p:sp>
        <p:nvSpPr>
          <p:cNvPr id="3" name="Content Placeholder 2">
            <a:extLst>
              <a:ext uri="{FF2B5EF4-FFF2-40B4-BE49-F238E27FC236}">
                <a16:creationId xmlns:a16="http://schemas.microsoft.com/office/drawing/2014/main" id="{899FF910-8E9E-49D2-9994-99427A286956}"/>
              </a:ext>
            </a:extLst>
          </p:cNvPr>
          <p:cNvSpPr>
            <a:spLocks noGrp="1"/>
          </p:cNvSpPr>
          <p:nvPr>
            <p:ph idx="1"/>
          </p:nvPr>
        </p:nvSpPr>
        <p:spPr>
          <a:xfrm>
            <a:off x="799882" y="1075960"/>
            <a:ext cx="9032275" cy="5607643"/>
          </a:xfrm>
        </p:spPr>
        <p:txBody>
          <a:bodyPr>
            <a:normAutofit/>
          </a:bodyPr>
          <a:lstStyle/>
          <a:p>
            <a:pPr marL="0" indent="0">
              <a:buNone/>
            </a:pPr>
            <a:r>
              <a:rPr lang="en-US" dirty="0"/>
              <a:t>JavaScript provides the Boolean and Number as object wrappers for Boolean true/false values and numbers, respectively. These wrappers define methods and properties useful in manipulating Boolean values and numbers.</a:t>
            </a:r>
          </a:p>
          <a:p>
            <a:pPr marL="0" indent="0">
              <a:buNone/>
            </a:pPr>
            <a:r>
              <a:rPr lang="en-US" dirty="0"/>
              <a:t>When JavaScript program requires a Boolean value, JavaScript automatically creates a Boolean object to store the value. JavaScript programmers can create Boolean objects explicitly with the statement.</a:t>
            </a:r>
          </a:p>
          <a:p>
            <a:pPr marL="0" indent="0">
              <a:buNone/>
            </a:pPr>
            <a:r>
              <a:rPr lang="en-US" b="1" dirty="0"/>
              <a:t>var b=new Boolean(Boolean value);</a:t>
            </a:r>
          </a:p>
          <a:p>
            <a:pPr marL="0" indent="0">
              <a:buNone/>
            </a:pPr>
            <a:r>
              <a:rPr lang="en-US" b="1" dirty="0"/>
              <a:t>var b=new Boolean(true);</a:t>
            </a:r>
          </a:p>
          <a:p>
            <a:pPr marL="0" indent="0">
              <a:buNone/>
            </a:pPr>
            <a:r>
              <a:rPr lang="en-US" b="1" dirty="0"/>
              <a:t>Boolean object methods</a:t>
            </a:r>
          </a:p>
          <a:p>
            <a:pPr>
              <a:buFont typeface="+mj-lt"/>
              <a:buAutoNum type="arabicPeriod"/>
            </a:pPr>
            <a:r>
              <a:rPr lang="en-US" b="1" dirty="0"/>
              <a:t>toString(): </a:t>
            </a:r>
            <a:r>
              <a:rPr lang="en-US" dirty="0"/>
              <a:t>This method is used to return a string either “true” or “false” depending upon the value of specifies Boolean object.</a:t>
            </a:r>
          </a:p>
          <a:p>
            <a:pPr marL="457200" lvl="1" indent="0">
              <a:buNone/>
            </a:pPr>
            <a:r>
              <a:rPr lang="en-US" dirty="0"/>
              <a:t>var b=true;</a:t>
            </a:r>
          </a:p>
          <a:p>
            <a:pPr marL="457200" lvl="1" indent="0">
              <a:buNone/>
            </a:pPr>
            <a:r>
              <a:rPr lang="en-US" dirty="0"/>
              <a:t>var a=</a:t>
            </a:r>
            <a:r>
              <a:rPr lang="en-US" dirty="0" err="1"/>
              <a:t>b.toString</a:t>
            </a:r>
            <a:r>
              <a:rPr lang="en-US" dirty="0"/>
              <a:t>() // returns Boolean value as string “true” to variable a</a:t>
            </a:r>
          </a:p>
          <a:p>
            <a:pPr>
              <a:buFont typeface="+mj-lt"/>
              <a:buAutoNum type="arabicPeriod"/>
            </a:pPr>
            <a:r>
              <a:rPr lang="en-US" b="1" dirty="0" err="1"/>
              <a:t>tovalueOf</a:t>
            </a:r>
            <a:r>
              <a:rPr lang="en-US" b="1" dirty="0"/>
              <a:t>()</a:t>
            </a:r>
            <a:r>
              <a:rPr lang="en-US" dirty="0"/>
              <a:t>: This method is used to return a Boolean value either “true” or “false” depending upon the value of specifies Boolean object.</a:t>
            </a:r>
          </a:p>
          <a:p>
            <a:pPr marL="457200" lvl="1" indent="0">
              <a:buNone/>
            </a:pPr>
            <a:r>
              <a:rPr lang="en-US" dirty="0" err="1"/>
              <a:t>b.toString</a:t>
            </a:r>
            <a:r>
              <a:rPr lang="en-US" dirty="0"/>
              <a:t>() // returns value a Boolean value “true” or “false”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6028822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a:xfrm>
            <a:off x="677334" y="284254"/>
            <a:ext cx="8596668" cy="696134"/>
          </a:xfrm>
        </p:spPr>
        <p:txBody>
          <a:bodyPr/>
          <a:lstStyle/>
          <a:p>
            <a:r>
              <a:rPr lang="en-US" b="1" dirty="0"/>
              <a:t>Number objects</a:t>
            </a:r>
          </a:p>
        </p:txBody>
      </p:sp>
      <p:sp>
        <p:nvSpPr>
          <p:cNvPr id="3" name="Content Placeholder 2">
            <a:extLst>
              <a:ext uri="{FF2B5EF4-FFF2-40B4-BE49-F238E27FC236}">
                <a16:creationId xmlns:a16="http://schemas.microsoft.com/office/drawing/2014/main" id="{899FF910-8E9E-49D2-9994-99427A286956}"/>
              </a:ext>
            </a:extLst>
          </p:cNvPr>
          <p:cNvSpPr>
            <a:spLocks noGrp="1"/>
          </p:cNvSpPr>
          <p:nvPr>
            <p:ph idx="1"/>
          </p:nvPr>
        </p:nvSpPr>
        <p:spPr>
          <a:xfrm>
            <a:off x="799883" y="1075961"/>
            <a:ext cx="8900298" cy="1827495"/>
          </a:xfrm>
        </p:spPr>
        <p:txBody>
          <a:bodyPr>
            <a:normAutofit lnSpcReduction="10000"/>
          </a:bodyPr>
          <a:lstStyle/>
          <a:p>
            <a:r>
              <a:rPr lang="en-US" dirty="0"/>
              <a:t>JavaScript automatically creates Number objects to store numeric values in a script. You can create a Number object with the statement</a:t>
            </a:r>
          </a:p>
          <a:p>
            <a:r>
              <a:rPr lang="en-US" dirty="0"/>
              <a:t>var n=new Number(value);</a:t>
            </a:r>
          </a:p>
          <a:p>
            <a:r>
              <a:rPr lang="en-US" dirty="0"/>
              <a:t>The constructor argument value is the number to store in the object. Although you can explicitly create Number objects, normally the JavaScript interpreter creates them as needed.</a:t>
            </a:r>
          </a:p>
          <a:p>
            <a:pPr marL="0" indent="0">
              <a:buNone/>
            </a:pPr>
            <a:endParaRPr lang="en-US" dirty="0"/>
          </a:p>
          <a:p>
            <a:endParaRPr lang="en-US" dirty="0"/>
          </a:p>
          <a:p>
            <a:endParaRPr lang="en-US" dirty="0"/>
          </a:p>
        </p:txBody>
      </p:sp>
      <p:graphicFrame>
        <p:nvGraphicFramePr>
          <p:cNvPr id="4" name="Table 3">
            <a:extLst>
              <a:ext uri="{FF2B5EF4-FFF2-40B4-BE49-F238E27FC236}">
                <a16:creationId xmlns:a16="http://schemas.microsoft.com/office/drawing/2014/main" id="{1D28AE78-C625-4B2B-9BD7-F8117AC9E36F}"/>
              </a:ext>
            </a:extLst>
          </p:cNvPr>
          <p:cNvGraphicFramePr>
            <a:graphicFrameLocks noGrp="1"/>
          </p:cNvGraphicFramePr>
          <p:nvPr>
            <p:extLst>
              <p:ext uri="{D42A27DB-BD31-4B8C-83A1-F6EECF244321}">
                <p14:modId xmlns:p14="http://schemas.microsoft.com/office/powerpoint/2010/main" val="483704242"/>
              </p:ext>
            </p:extLst>
          </p:nvPr>
        </p:nvGraphicFramePr>
        <p:xfrm>
          <a:off x="799883" y="3210386"/>
          <a:ext cx="7418895" cy="3475857"/>
        </p:xfrm>
        <a:graphic>
          <a:graphicData uri="http://schemas.openxmlformats.org/drawingml/2006/table">
            <a:tbl>
              <a:tblPr/>
              <a:tblGrid>
                <a:gridCol w="1853262">
                  <a:extLst>
                    <a:ext uri="{9D8B030D-6E8A-4147-A177-3AD203B41FA5}">
                      <a16:colId xmlns:a16="http://schemas.microsoft.com/office/drawing/2014/main" val="2207980771"/>
                    </a:ext>
                  </a:extLst>
                </a:gridCol>
                <a:gridCol w="5565633">
                  <a:extLst>
                    <a:ext uri="{9D8B030D-6E8A-4147-A177-3AD203B41FA5}">
                      <a16:colId xmlns:a16="http://schemas.microsoft.com/office/drawing/2014/main" val="3720093816"/>
                    </a:ext>
                  </a:extLst>
                </a:gridCol>
              </a:tblGrid>
              <a:tr h="264616">
                <a:tc>
                  <a:txBody>
                    <a:bodyPr/>
                    <a:lstStyle/>
                    <a:p>
                      <a:pPr algn="l" fontAlgn="t"/>
                      <a:r>
                        <a:rPr lang="en-US" sz="1400" dirty="0">
                          <a:effectLst/>
                        </a:rPr>
                        <a:t>Property</a:t>
                      </a:r>
                    </a:p>
                  </a:txBody>
                  <a:tcPr marL="95838"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400" dirty="0">
                          <a:effectLst/>
                        </a:rPr>
                        <a:t>Description</a:t>
                      </a:r>
                    </a:p>
                  </a:txBody>
                  <a:tcPr marL="47919"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995676803"/>
                  </a:ext>
                </a:extLst>
              </a:tr>
              <a:tr h="447813">
                <a:tc>
                  <a:txBody>
                    <a:bodyPr/>
                    <a:lstStyle/>
                    <a:p>
                      <a:pPr algn="l" fontAlgn="t"/>
                      <a:r>
                        <a:rPr lang="en-US" sz="1400" dirty="0">
                          <a:effectLst/>
                        </a:rPr>
                        <a:t>EPSILON</a:t>
                      </a:r>
                    </a:p>
                  </a:txBody>
                  <a:tcPr marL="95838"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400" dirty="0">
                          <a:effectLst/>
                        </a:rPr>
                        <a:t>The difference between 1 and the smallest number &gt; 1.</a:t>
                      </a:r>
                    </a:p>
                  </a:txBody>
                  <a:tcPr marL="47919"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947304390"/>
                  </a:ext>
                </a:extLst>
              </a:tr>
              <a:tr h="264616">
                <a:tc>
                  <a:txBody>
                    <a:bodyPr/>
                    <a:lstStyle/>
                    <a:p>
                      <a:pPr algn="l" fontAlgn="t"/>
                      <a:r>
                        <a:rPr lang="en-US" sz="1400" dirty="0">
                          <a:effectLst/>
                        </a:rPr>
                        <a:t>MAX_VALUE</a:t>
                      </a:r>
                    </a:p>
                  </a:txBody>
                  <a:tcPr marL="95838"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400" dirty="0">
                          <a:effectLst/>
                        </a:rPr>
                        <a:t>The largest number possible in JavaScript</a:t>
                      </a:r>
                    </a:p>
                  </a:txBody>
                  <a:tcPr marL="47919"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735522244"/>
                  </a:ext>
                </a:extLst>
              </a:tr>
              <a:tr h="264616">
                <a:tc>
                  <a:txBody>
                    <a:bodyPr/>
                    <a:lstStyle/>
                    <a:p>
                      <a:pPr algn="l" fontAlgn="t"/>
                      <a:r>
                        <a:rPr lang="en-US" sz="1400" dirty="0">
                          <a:effectLst/>
                        </a:rPr>
                        <a:t>MIN_VALUE</a:t>
                      </a:r>
                    </a:p>
                  </a:txBody>
                  <a:tcPr marL="95838"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400" dirty="0">
                          <a:effectLst/>
                        </a:rPr>
                        <a:t>The smallest number possible in JavaScript</a:t>
                      </a:r>
                    </a:p>
                  </a:txBody>
                  <a:tcPr marL="47919"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3780646474"/>
                  </a:ext>
                </a:extLst>
              </a:tr>
              <a:tr h="447813">
                <a:tc>
                  <a:txBody>
                    <a:bodyPr/>
                    <a:lstStyle/>
                    <a:p>
                      <a:pPr algn="l" fontAlgn="t"/>
                      <a:r>
                        <a:rPr lang="en-US" sz="1400" dirty="0">
                          <a:effectLst/>
                        </a:rPr>
                        <a:t>MAX_SAFE_INTEGER</a:t>
                      </a:r>
                    </a:p>
                  </a:txBody>
                  <a:tcPr marL="95838"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400" dirty="0">
                          <a:effectLst/>
                        </a:rPr>
                        <a:t>The maximum safe integer (2</a:t>
                      </a:r>
                      <a:r>
                        <a:rPr lang="en-US" sz="1400" baseline="30000" dirty="0">
                          <a:effectLst/>
                        </a:rPr>
                        <a:t>53</a:t>
                      </a:r>
                      <a:r>
                        <a:rPr lang="en-US" sz="1400" dirty="0">
                          <a:effectLst/>
                        </a:rPr>
                        <a:t> - 1)</a:t>
                      </a:r>
                    </a:p>
                  </a:txBody>
                  <a:tcPr marL="47919"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113694016"/>
                  </a:ext>
                </a:extLst>
              </a:tr>
              <a:tr h="447813">
                <a:tc>
                  <a:txBody>
                    <a:bodyPr/>
                    <a:lstStyle/>
                    <a:p>
                      <a:pPr algn="l" fontAlgn="t"/>
                      <a:r>
                        <a:rPr lang="en-US" sz="1400" dirty="0">
                          <a:effectLst/>
                        </a:rPr>
                        <a:t>MIN_SAFE_INTEGER</a:t>
                      </a:r>
                    </a:p>
                  </a:txBody>
                  <a:tcPr marL="95838"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400" dirty="0">
                          <a:effectLst/>
                        </a:rPr>
                        <a:t>The minimum safe integer -(2</a:t>
                      </a:r>
                      <a:r>
                        <a:rPr lang="en-US" sz="1400" baseline="30000" dirty="0">
                          <a:effectLst/>
                        </a:rPr>
                        <a:t>53</a:t>
                      </a:r>
                      <a:r>
                        <a:rPr lang="en-US" sz="1400" dirty="0">
                          <a:effectLst/>
                        </a:rPr>
                        <a:t> - 1)</a:t>
                      </a:r>
                    </a:p>
                  </a:txBody>
                  <a:tcPr marL="47919"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607232256"/>
                  </a:ext>
                </a:extLst>
              </a:tr>
              <a:tr h="447813">
                <a:tc>
                  <a:txBody>
                    <a:bodyPr/>
                    <a:lstStyle/>
                    <a:p>
                      <a:pPr algn="l" fontAlgn="t"/>
                      <a:r>
                        <a:rPr lang="en-US" sz="1400" dirty="0">
                          <a:effectLst/>
                        </a:rPr>
                        <a:t>POSITIVE_INFINITY</a:t>
                      </a:r>
                    </a:p>
                  </a:txBody>
                  <a:tcPr marL="95838"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400" dirty="0">
                          <a:effectLst/>
                        </a:rPr>
                        <a:t>Infinity (returned on overflow)</a:t>
                      </a:r>
                    </a:p>
                  </a:txBody>
                  <a:tcPr marL="47919"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34395895"/>
                  </a:ext>
                </a:extLst>
              </a:tr>
              <a:tr h="447813">
                <a:tc>
                  <a:txBody>
                    <a:bodyPr/>
                    <a:lstStyle/>
                    <a:p>
                      <a:pPr algn="l" fontAlgn="t"/>
                      <a:r>
                        <a:rPr lang="en-US" sz="1400" dirty="0">
                          <a:effectLst/>
                        </a:rPr>
                        <a:t>NEGATIVE_INFINITY</a:t>
                      </a:r>
                    </a:p>
                  </a:txBody>
                  <a:tcPr marL="95838"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400" dirty="0">
                          <a:effectLst/>
                        </a:rPr>
                        <a:t>Negative infinity (returned on overflow)</a:t>
                      </a:r>
                    </a:p>
                  </a:txBody>
                  <a:tcPr marL="47919"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81569279"/>
                  </a:ext>
                </a:extLst>
              </a:tr>
              <a:tr h="264616">
                <a:tc>
                  <a:txBody>
                    <a:bodyPr/>
                    <a:lstStyle/>
                    <a:p>
                      <a:pPr algn="l" fontAlgn="t"/>
                      <a:r>
                        <a:rPr lang="en-US" sz="1400" dirty="0">
                          <a:effectLst/>
                        </a:rPr>
                        <a:t>NaN</a:t>
                      </a:r>
                    </a:p>
                  </a:txBody>
                  <a:tcPr marL="95838"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dirty="0">
                          <a:effectLst/>
                        </a:rPr>
                        <a:t>A "Not-a-Number" value</a:t>
                      </a:r>
                    </a:p>
                  </a:txBody>
                  <a:tcPr marL="47919" marR="47919" marT="47919" marB="47919">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382413769"/>
                  </a:ext>
                </a:extLst>
              </a:tr>
            </a:tbl>
          </a:graphicData>
        </a:graphic>
      </p:graphicFrame>
    </p:spTree>
    <p:extLst>
      <p:ext uri="{BB962C8B-B14F-4D97-AF65-F5344CB8AC3E}">
        <p14:creationId xmlns:p14="http://schemas.microsoft.com/office/powerpoint/2010/main" val="28555479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a:xfrm>
            <a:off x="677334" y="284254"/>
            <a:ext cx="8596668" cy="696134"/>
          </a:xfrm>
        </p:spPr>
        <p:txBody>
          <a:bodyPr/>
          <a:lstStyle/>
          <a:p>
            <a:r>
              <a:rPr lang="en-US" b="1" dirty="0"/>
              <a:t>Number object methods</a:t>
            </a:r>
          </a:p>
        </p:txBody>
      </p:sp>
      <p:sp>
        <p:nvSpPr>
          <p:cNvPr id="3" name="Content Placeholder 2">
            <a:extLst>
              <a:ext uri="{FF2B5EF4-FFF2-40B4-BE49-F238E27FC236}">
                <a16:creationId xmlns:a16="http://schemas.microsoft.com/office/drawing/2014/main" id="{899FF910-8E9E-49D2-9994-99427A286956}"/>
              </a:ext>
            </a:extLst>
          </p:cNvPr>
          <p:cNvSpPr>
            <a:spLocks noGrp="1"/>
          </p:cNvSpPr>
          <p:nvPr>
            <p:ph idx="1"/>
          </p:nvPr>
        </p:nvSpPr>
        <p:spPr>
          <a:xfrm>
            <a:off x="799883" y="1075960"/>
            <a:ext cx="10276612" cy="5607643"/>
          </a:xfrm>
        </p:spPr>
        <p:txBody>
          <a:bodyPr>
            <a:normAutofit/>
          </a:bodyPr>
          <a:lstStyle/>
          <a:p>
            <a:pPr>
              <a:buFont typeface="+mj-lt"/>
              <a:buAutoNum type="arabicPeriod"/>
            </a:pPr>
            <a:r>
              <a:rPr lang="en-US" b="1" dirty="0"/>
              <a:t>toExponential()</a:t>
            </a:r>
            <a:r>
              <a:rPr lang="en-US" dirty="0"/>
              <a:t> :this method returns a string representation of a number with rounded and written in exponential form. The uniqueness of each method is in the arguments it accepts. The toExponential() method has an optional argument that can be used to set how many significant digits to use. </a:t>
            </a:r>
          </a:p>
          <a:p>
            <a:pPr marL="457200" lvl="1" indent="0">
              <a:buNone/>
            </a:pPr>
            <a:r>
              <a:rPr lang="en-US" dirty="0"/>
              <a:t>	Example: </a:t>
            </a:r>
          </a:p>
          <a:p>
            <a:pPr marL="457200" lvl="1" indent="0">
              <a:buNone/>
            </a:pPr>
            <a:r>
              <a:rPr lang="en-US" dirty="0"/>
              <a:t>	let n=12.6798;</a:t>
            </a:r>
          </a:p>
          <a:p>
            <a:pPr marL="457200" lvl="1" indent="0">
              <a:buNone/>
            </a:pPr>
            <a:r>
              <a:rPr lang="en-US" dirty="0"/>
              <a:t>	alert(n.toExponential(2)); // return string 12.68e+0</a:t>
            </a:r>
          </a:p>
          <a:p>
            <a:pPr marL="457200" lvl="1" indent="0">
              <a:buNone/>
            </a:pPr>
            <a:r>
              <a:rPr lang="en-US" dirty="0"/>
              <a:t>	alert(n.toExponential(3)); // return string 12.679e+0</a:t>
            </a:r>
          </a:p>
          <a:p>
            <a:pPr>
              <a:buFont typeface="+mj-lt"/>
              <a:buAutoNum type="arabicPeriod"/>
            </a:pPr>
            <a:endParaRPr lang="en-US" dirty="0"/>
          </a:p>
          <a:p>
            <a:pPr>
              <a:buFont typeface="+mj-lt"/>
              <a:buAutoNum type="arabicPeriod"/>
            </a:pPr>
            <a:r>
              <a:rPr lang="en-US" b="1" dirty="0"/>
              <a:t>toFixed()</a:t>
            </a:r>
            <a:r>
              <a:rPr lang="en-US" dirty="0"/>
              <a:t> : this method determines the post decimal precision based on the argument passed.</a:t>
            </a:r>
          </a:p>
          <a:p>
            <a:pPr marL="457200" lvl="1" indent="0">
              <a:buNone/>
            </a:pPr>
            <a:r>
              <a:rPr lang="en-US" dirty="0"/>
              <a:t>	let n=12.6798;</a:t>
            </a:r>
          </a:p>
          <a:p>
            <a:pPr marL="457200" lvl="1" indent="0">
              <a:buNone/>
            </a:pPr>
            <a:r>
              <a:rPr lang="en-US" dirty="0"/>
              <a:t>	n.toFixed(0); // return 13</a:t>
            </a:r>
          </a:p>
          <a:p>
            <a:pPr marL="457200" lvl="1" indent="0">
              <a:buNone/>
            </a:pPr>
            <a:r>
              <a:rPr lang="en-US" dirty="0"/>
              <a:t>	n.toFixed(2); // return 12.68</a:t>
            </a:r>
          </a:p>
        </p:txBody>
      </p:sp>
    </p:spTree>
    <p:extLst>
      <p:ext uri="{BB962C8B-B14F-4D97-AF65-F5344CB8AC3E}">
        <p14:creationId xmlns:p14="http://schemas.microsoft.com/office/powerpoint/2010/main" val="8740409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a:xfrm>
            <a:off x="677334" y="284254"/>
            <a:ext cx="8596668" cy="696134"/>
          </a:xfrm>
        </p:spPr>
        <p:txBody>
          <a:bodyPr/>
          <a:lstStyle/>
          <a:p>
            <a:r>
              <a:rPr lang="en-US" b="1" dirty="0"/>
              <a:t>Number object methods</a:t>
            </a:r>
          </a:p>
        </p:txBody>
      </p:sp>
      <p:sp>
        <p:nvSpPr>
          <p:cNvPr id="3" name="Content Placeholder 2">
            <a:extLst>
              <a:ext uri="{FF2B5EF4-FFF2-40B4-BE49-F238E27FC236}">
                <a16:creationId xmlns:a16="http://schemas.microsoft.com/office/drawing/2014/main" id="{899FF910-8E9E-49D2-9994-99427A286956}"/>
              </a:ext>
            </a:extLst>
          </p:cNvPr>
          <p:cNvSpPr>
            <a:spLocks noGrp="1"/>
          </p:cNvSpPr>
          <p:nvPr>
            <p:ph idx="1"/>
          </p:nvPr>
        </p:nvSpPr>
        <p:spPr>
          <a:xfrm>
            <a:off x="799882" y="1075960"/>
            <a:ext cx="10191771" cy="5607643"/>
          </a:xfrm>
        </p:spPr>
        <p:txBody>
          <a:bodyPr>
            <a:normAutofit/>
          </a:bodyPr>
          <a:lstStyle/>
          <a:p>
            <a:pPr>
              <a:buFont typeface="+mj-lt"/>
              <a:buAutoNum type="arabicPeriod" startAt="3"/>
            </a:pPr>
            <a:r>
              <a:rPr lang="en-US" b="1" dirty="0"/>
              <a:t>toPrecision</a:t>
            </a:r>
            <a:r>
              <a:rPr lang="en-US" dirty="0"/>
              <a:t>(): The toPrecision method determines the significant digits to display  based on the argument passed.</a:t>
            </a:r>
          </a:p>
          <a:p>
            <a:pPr marL="457200" lvl="1" indent="0">
              <a:buNone/>
            </a:pPr>
            <a:r>
              <a:rPr lang="en-US" dirty="0"/>
              <a:t>let n=12.6798;</a:t>
            </a:r>
          </a:p>
          <a:p>
            <a:pPr marL="457200" lvl="1" indent="0">
              <a:buNone/>
            </a:pPr>
            <a:r>
              <a:rPr lang="en-US" dirty="0"/>
              <a:t>n.toPrecision();  // return 12.9798</a:t>
            </a:r>
          </a:p>
          <a:p>
            <a:pPr marL="457200" lvl="1" indent="0">
              <a:buNone/>
            </a:pPr>
            <a:r>
              <a:rPr lang="en-US" dirty="0"/>
              <a:t>n.toPrecision(3);  // </a:t>
            </a:r>
            <a:r>
              <a:rPr lang="en-US"/>
              <a:t>return 12.9</a:t>
            </a:r>
            <a:endParaRPr lang="en-US" dirty="0"/>
          </a:p>
          <a:p>
            <a:pPr>
              <a:buFont typeface="+mj-lt"/>
              <a:buAutoNum type="arabicPeriod" startAt="3"/>
            </a:pPr>
            <a:endParaRPr lang="en-US" dirty="0"/>
          </a:p>
          <a:p>
            <a:pPr>
              <a:buFont typeface="+mj-lt"/>
              <a:buAutoNum type="arabicPeriod" startAt="3"/>
            </a:pPr>
            <a:r>
              <a:rPr lang="en-US" b="1" dirty="0"/>
              <a:t>toString</a:t>
            </a:r>
            <a:r>
              <a:rPr lang="en-US" dirty="0"/>
              <a:t>() : This method returns a string representation of a number(in this case), but in other objects, it returns a string representation of that object type</a:t>
            </a:r>
          </a:p>
          <a:p>
            <a:pPr marL="457200" lvl="1" indent="0">
              <a:buNone/>
            </a:pPr>
            <a:r>
              <a:rPr lang="en-US" dirty="0"/>
              <a:t>let a =298;</a:t>
            </a:r>
          </a:p>
          <a:p>
            <a:pPr marL="457200" lvl="1" indent="0">
              <a:buNone/>
            </a:pPr>
            <a:r>
              <a:rPr lang="en-US" dirty="0"/>
              <a:t>a.toString(); // return string 298 from variable a</a:t>
            </a:r>
          </a:p>
          <a:p>
            <a:pPr>
              <a:buFont typeface="+mj-lt"/>
              <a:buAutoNum type="arabicPeriod" startAt="3"/>
            </a:pPr>
            <a:r>
              <a:rPr lang="en-US" b="1" dirty="0"/>
              <a:t>valueOf</a:t>
            </a:r>
            <a:r>
              <a:rPr lang="en-US" dirty="0"/>
              <a:t>() : this method returns the primitive value of object type that calls it in this case, the Number object.</a:t>
            </a:r>
          </a:p>
          <a:p>
            <a:pPr marL="457200" lvl="1" indent="0">
              <a:buNone/>
            </a:pPr>
            <a:r>
              <a:rPr lang="en-US" dirty="0"/>
              <a:t>let a=298;</a:t>
            </a:r>
          </a:p>
          <a:p>
            <a:pPr marL="457200" lvl="1" indent="0">
              <a:buNone/>
            </a:pPr>
            <a:r>
              <a:rPr lang="en-US" dirty="0"/>
              <a:t>a.valueOf(); //returns 298 from a</a:t>
            </a:r>
          </a:p>
          <a:p>
            <a:pPr marL="457200" lvl="1" indent="0">
              <a:buNone/>
            </a:pPr>
            <a:r>
              <a:rPr lang="en-US" dirty="0"/>
              <a:t>(150+148).valueOf(); // returns 298 from (150+148)</a:t>
            </a:r>
          </a:p>
          <a:p>
            <a:pPr marL="457200" lvl="1" indent="0">
              <a:buNone/>
            </a:pPr>
            <a:endParaRPr lang="en-US" dirty="0"/>
          </a:p>
          <a:p>
            <a:endParaRPr lang="en-US" dirty="0"/>
          </a:p>
        </p:txBody>
      </p:sp>
    </p:spTree>
    <p:extLst>
      <p:ext uri="{BB962C8B-B14F-4D97-AF65-F5344CB8AC3E}">
        <p14:creationId xmlns:p14="http://schemas.microsoft.com/office/powerpoint/2010/main" val="31703831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a:xfrm>
            <a:off x="677334" y="284254"/>
            <a:ext cx="8596668" cy="696134"/>
          </a:xfrm>
        </p:spPr>
        <p:txBody>
          <a:bodyPr/>
          <a:lstStyle/>
          <a:p>
            <a:r>
              <a:rPr lang="en-US" b="1" dirty="0"/>
              <a:t>Number object methods</a:t>
            </a:r>
          </a:p>
        </p:txBody>
      </p:sp>
      <p:sp>
        <p:nvSpPr>
          <p:cNvPr id="3" name="Content Placeholder 2">
            <a:extLst>
              <a:ext uri="{FF2B5EF4-FFF2-40B4-BE49-F238E27FC236}">
                <a16:creationId xmlns:a16="http://schemas.microsoft.com/office/drawing/2014/main" id="{899FF910-8E9E-49D2-9994-99427A286956}"/>
              </a:ext>
            </a:extLst>
          </p:cNvPr>
          <p:cNvSpPr>
            <a:spLocks noGrp="1"/>
          </p:cNvSpPr>
          <p:nvPr>
            <p:ph idx="1"/>
          </p:nvPr>
        </p:nvSpPr>
        <p:spPr>
          <a:xfrm>
            <a:off x="799882" y="1075960"/>
            <a:ext cx="10191771" cy="5607643"/>
          </a:xfrm>
        </p:spPr>
        <p:txBody>
          <a:bodyPr>
            <a:normAutofit/>
          </a:bodyPr>
          <a:lstStyle/>
          <a:p>
            <a:pPr>
              <a:buFont typeface="+mj-lt"/>
              <a:buAutoNum type="arabicPeriod" startAt="6"/>
            </a:pPr>
            <a:r>
              <a:rPr lang="en-US" b="1" dirty="0" err="1"/>
              <a:t>ToLocateString</a:t>
            </a:r>
            <a:r>
              <a:rPr lang="en-US" b="1" dirty="0"/>
              <a:t>():</a:t>
            </a:r>
            <a:r>
              <a:rPr lang="en-US" dirty="0"/>
              <a:t> returns a string value version of the current number in a format that may vary according to a browser’s locate settings.</a:t>
            </a:r>
          </a:p>
          <a:p>
            <a:endParaRPr lang="en-US" dirty="0"/>
          </a:p>
        </p:txBody>
      </p:sp>
    </p:spTree>
    <p:extLst>
      <p:ext uri="{BB962C8B-B14F-4D97-AF65-F5344CB8AC3E}">
        <p14:creationId xmlns:p14="http://schemas.microsoft.com/office/powerpoint/2010/main" val="5448573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p:txBody>
          <a:bodyPr/>
          <a:lstStyle/>
          <a:p>
            <a:r>
              <a:rPr lang="en-US" b="1" dirty="0"/>
              <a:t>Math object methods</a:t>
            </a:r>
          </a:p>
        </p:txBody>
      </p:sp>
      <p:sp>
        <p:nvSpPr>
          <p:cNvPr id="3" name="Content Placeholder 2">
            <a:extLst>
              <a:ext uri="{FF2B5EF4-FFF2-40B4-BE49-F238E27FC236}">
                <a16:creationId xmlns:a16="http://schemas.microsoft.com/office/drawing/2014/main" id="{899FF910-8E9E-49D2-9994-99427A286956}"/>
              </a:ext>
            </a:extLst>
          </p:cNvPr>
          <p:cNvSpPr>
            <a:spLocks noGrp="1"/>
          </p:cNvSpPr>
          <p:nvPr>
            <p:ph idx="1"/>
          </p:nvPr>
        </p:nvSpPr>
        <p:spPr>
          <a:xfrm>
            <a:off x="677334" y="1536569"/>
            <a:ext cx="8596668" cy="4504793"/>
          </a:xfrm>
        </p:spPr>
        <p:txBody>
          <a:bodyPr>
            <a:normAutofit/>
          </a:bodyPr>
          <a:lstStyle/>
          <a:p>
            <a:r>
              <a:rPr lang="en-US" dirty="0"/>
              <a:t>JavaScript math object is a top level, a predefined object for mathematical constants and functions. </a:t>
            </a:r>
          </a:p>
          <a:p>
            <a:r>
              <a:rPr lang="en-US" dirty="0"/>
              <a:t>This object cannot be created by the user. It is a predefined object.</a:t>
            </a:r>
          </a:p>
          <a:p>
            <a:r>
              <a:rPr lang="en-US" dirty="0"/>
              <a:t>Mathematical properties and functions can be calculated by </a:t>
            </a:r>
            <a:r>
              <a:rPr lang="en-US" dirty="0" err="1"/>
              <a:t>math.property</a:t>
            </a:r>
            <a:r>
              <a:rPr lang="en-US" dirty="0"/>
              <a:t> or </a:t>
            </a:r>
            <a:r>
              <a:rPr lang="en-US" dirty="0" err="1"/>
              <a:t>Math.method</a:t>
            </a:r>
            <a:endParaRPr lang="en-US" dirty="0"/>
          </a:p>
          <a:p>
            <a:endParaRPr lang="en-US" dirty="0"/>
          </a:p>
          <a:p>
            <a:r>
              <a:rPr lang="en-US" b="0" i="0" dirty="0" err="1">
                <a:solidFill>
                  <a:srgbClr val="000000"/>
                </a:solidFill>
                <a:effectLst/>
                <a:latin typeface="Consolas" panose="020B0609020204030204" pitchFamily="49" charset="0"/>
              </a:rPr>
              <a:t>Math.E</a:t>
            </a:r>
            <a:r>
              <a:rPr lang="en-US" b="0" i="0" dirty="0">
                <a:solidFill>
                  <a:srgbClr val="000000"/>
                </a:solidFill>
                <a:effectLst/>
                <a:latin typeface="Consolas" panose="020B0609020204030204" pitchFamily="49" charset="0"/>
              </a:rPr>
              <a:t>        </a:t>
            </a:r>
            <a:r>
              <a:rPr lang="en-US" b="0" i="0" dirty="0">
                <a:solidFill>
                  <a:srgbClr val="008000"/>
                </a:solidFill>
                <a:effectLst/>
                <a:latin typeface="Consolas" panose="020B0609020204030204" pitchFamily="49" charset="0"/>
              </a:rPr>
              <a:t>// returns Euler's number</a:t>
            </a:r>
            <a:br>
              <a:rPr lang="en-US" b="0" i="0" dirty="0">
                <a:solidFill>
                  <a:srgbClr val="008000"/>
                </a:solidFill>
                <a:effectLst/>
                <a:latin typeface="Consolas" panose="020B0609020204030204" pitchFamily="49" charset="0"/>
              </a:rPr>
            </a:br>
            <a:r>
              <a:rPr lang="en-US" b="0" i="0" dirty="0" err="1">
                <a:solidFill>
                  <a:srgbClr val="000000"/>
                </a:solidFill>
                <a:effectLst/>
                <a:latin typeface="Consolas" panose="020B0609020204030204" pitchFamily="49" charset="0"/>
              </a:rPr>
              <a:t>Math.PI</a:t>
            </a:r>
            <a:r>
              <a:rPr lang="en-US" b="0" i="0" dirty="0">
                <a:solidFill>
                  <a:srgbClr val="000000"/>
                </a:solidFill>
                <a:effectLst/>
                <a:latin typeface="Consolas" panose="020B0609020204030204" pitchFamily="49" charset="0"/>
              </a:rPr>
              <a:t>       </a:t>
            </a:r>
            <a:r>
              <a:rPr lang="en-US" b="0" i="0" dirty="0">
                <a:solidFill>
                  <a:srgbClr val="008000"/>
                </a:solidFill>
                <a:effectLst/>
                <a:latin typeface="Consolas" panose="020B0609020204030204" pitchFamily="49" charset="0"/>
              </a:rPr>
              <a:t>// returns PI</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Math.SQRT2    </a:t>
            </a:r>
            <a:r>
              <a:rPr lang="en-US" b="0" i="0" dirty="0">
                <a:solidFill>
                  <a:srgbClr val="008000"/>
                </a:solidFill>
                <a:effectLst/>
                <a:latin typeface="Consolas" panose="020B0609020204030204" pitchFamily="49" charset="0"/>
              </a:rPr>
              <a:t>// returns the square root of 2</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Math.SQRT1_2  </a:t>
            </a:r>
            <a:r>
              <a:rPr lang="en-US" b="0" i="0" dirty="0">
                <a:solidFill>
                  <a:srgbClr val="008000"/>
                </a:solidFill>
                <a:effectLst/>
                <a:latin typeface="Consolas" panose="020B0609020204030204" pitchFamily="49" charset="0"/>
              </a:rPr>
              <a:t>// returns the square root of 1/2</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Math.LN2      </a:t>
            </a:r>
            <a:r>
              <a:rPr lang="en-US" b="0" i="0" dirty="0">
                <a:solidFill>
                  <a:srgbClr val="008000"/>
                </a:solidFill>
                <a:effectLst/>
                <a:latin typeface="Consolas" panose="020B0609020204030204" pitchFamily="49" charset="0"/>
              </a:rPr>
              <a:t>// returns the natural logarithm of 2</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Math.LN10     </a:t>
            </a:r>
            <a:r>
              <a:rPr lang="en-US" b="0" i="0" dirty="0">
                <a:solidFill>
                  <a:srgbClr val="008000"/>
                </a:solidFill>
                <a:effectLst/>
                <a:latin typeface="Consolas" panose="020B0609020204030204" pitchFamily="49" charset="0"/>
              </a:rPr>
              <a:t>// returns the natural logarithm of 10</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Math.LOG2E    </a:t>
            </a:r>
            <a:r>
              <a:rPr lang="en-US" b="0" i="0" dirty="0">
                <a:solidFill>
                  <a:srgbClr val="008000"/>
                </a:solidFill>
                <a:effectLst/>
                <a:latin typeface="Consolas" panose="020B0609020204030204" pitchFamily="49" charset="0"/>
              </a:rPr>
              <a:t>// returns base 2 logarithm of E</a:t>
            </a:r>
            <a:br>
              <a:rPr lang="en-US" b="0" i="0"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Math.LOG10E   </a:t>
            </a:r>
            <a:r>
              <a:rPr lang="en-US" b="0" i="0" dirty="0">
                <a:solidFill>
                  <a:srgbClr val="008000"/>
                </a:solidFill>
                <a:effectLst/>
                <a:latin typeface="Consolas" panose="020B0609020204030204" pitchFamily="49" charset="0"/>
              </a:rPr>
              <a:t>// returns base 10 logarithm of E</a:t>
            </a:r>
            <a:endParaRPr lang="en-US" dirty="0"/>
          </a:p>
        </p:txBody>
      </p:sp>
    </p:spTree>
    <p:extLst>
      <p:ext uri="{BB962C8B-B14F-4D97-AF65-F5344CB8AC3E}">
        <p14:creationId xmlns:p14="http://schemas.microsoft.com/office/powerpoint/2010/main" val="37774303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p:txBody>
          <a:bodyPr/>
          <a:lstStyle/>
          <a:p>
            <a:r>
              <a:rPr lang="en-US" b="1" dirty="0"/>
              <a:t>Math object methods</a:t>
            </a:r>
          </a:p>
        </p:txBody>
      </p:sp>
      <p:pic>
        <p:nvPicPr>
          <p:cNvPr id="8" name="Content Placeholder 7">
            <a:extLst>
              <a:ext uri="{FF2B5EF4-FFF2-40B4-BE49-F238E27FC236}">
                <a16:creationId xmlns:a16="http://schemas.microsoft.com/office/drawing/2014/main" id="{FD5CFFCC-5228-464B-A8FB-DB0C39F270EA}"/>
              </a:ext>
            </a:extLst>
          </p:cNvPr>
          <p:cNvPicPr>
            <a:picLocks noGrp="1" noChangeAspect="1"/>
          </p:cNvPicPr>
          <p:nvPr>
            <p:ph idx="1"/>
          </p:nvPr>
        </p:nvPicPr>
        <p:blipFill>
          <a:blip r:embed="rId2"/>
          <a:stretch>
            <a:fillRect/>
          </a:stretch>
        </p:blipFill>
        <p:spPr>
          <a:xfrm>
            <a:off x="1081144" y="1548977"/>
            <a:ext cx="6328324" cy="2659498"/>
          </a:xfrm>
        </p:spPr>
      </p:pic>
    </p:spTree>
    <p:extLst>
      <p:ext uri="{BB962C8B-B14F-4D97-AF65-F5344CB8AC3E}">
        <p14:creationId xmlns:p14="http://schemas.microsoft.com/office/powerpoint/2010/main" val="28316214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p:txBody>
          <a:bodyPr/>
          <a:lstStyle/>
          <a:p>
            <a:r>
              <a:rPr lang="en-US" b="1" dirty="0"/>
              <a:t>Math object methods</a:t>
            </a:r>
          </a:p>
        </p:txBody>
      </p:sp>
      <p:pic>
        <p:nvPicPr>
          <p:cNvPr id="10" name="Picture 9">
            <a:extLst>
              <a:ext uri="{FF2B5EF4-FFF2-40B4-BE49-F238E27FC236}">
                <a16:creationId xmlns:a16="http://schemas.microsoft.com/office/drawing/2014/main" id="{8FBBF52C-C6C5-4894-913E-2AD584FC3457}"/>
              </a:ext>
            </a:extLst>
          </p:cNvPr>
          <p:cNvPicPr>
            <a:picLocks noChangeAspect="1"/>
          </p:cNvPicPr>
          <p:nvPr/>
        </p:nvPicPr>
        <p:blipFill>
          <a:blip r:embed="rId2"/>
          <a:stretch>
            <a:fillRect/>
          </a:stretch>
        </p:blipFill>
        <p:spPr>
          <a:xfrm>
            <a:off x="677334" y="696639"/>
            <a:ext cx="8807134" cy="5919157"/>
          </a:xfrm>
          <a:prstGeom prst="rect">
            <a:avLst/>
          </a:prstGeom>
        </p:spPr>
      </p:pic>
    </p:spTree>
    <p:extLst>
      <p:ext uri="{BB962C8B-B14F-4D97-AF65-F5344CB8AC3E}">
        <p14:creationId xmlns:p14="http://schemas.microsoft.com/office/powerpoint/2010/main" val="32631750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p:txBody>
          <a:bodyPr/>
          <a:lstStyle/>
          <a:p>
            <a:r>
              <a:rPr lang="en-US" b="1" dirty="0"/>
              <a:t>Math object methods</a:t>
            </a:r>
          </a:p>
        </p:txBody>
      </p:sp>
      <p:pic>
        <p:nvPicPr>
          <p:cNvPr id="12" name="Picture 11">
            <a:extLst>
              <a:ext uri="{FF2B5EF4-FFF2-40B4-BE49-F238E27FC236}">
                <a16:creationId xmlns:a16="http://schemas.microsoft.com/office/drawing/2014/main" id="{B4BD833A-39B6-493C-AAF6-65D97510E744}"/>
              </a:ext>
            </a:extLst>
          </p:cNvPr>
          <p:cNvPicPr>
            <a:picLocks noChangeAspect="1"/>
          </p:cNvPicPr>
          <p:nvPr/>
        </p:nvPicPr>
        <p:blipFill>
          <a:blip r:embed="rId2"/>
          <a:stretch>
            <a:fillRect/>
          </a:stretch>
        </p:blipFill>
        <p:spPr>
          <a:xfrm>
            <a:off x="762989" y="156706"/>
            <a:ext cx="7194173" cy="6185728"/>
          </a:xfrm>
          <a:prstGeom prst="rect">
            <a:avLst/>
          </a:prstGeom>
        </p:spPr>
      </p:pic>
    </p:spTree>
    <p:extLst>
      <p:ext uri="{BB962C8B-B14F-4D97-AF65-F5344CB8AC3E}">
        <p14:creationId xmlns:p14="http://schemas.microsoft.com/office/powerpoint/2010/main" val="14472513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p:txBody>
          <a:bodyPr>
            <a:normAutofit/>
          </a:bodyPr>
          <a:lstStyle/>
          <a:p>
            <a:r>
              <a:rPr lang="en-US" b="1" dirty="0"/>
              <a:t>Date object </a:t>
            </a:r>
          </a:p>
        </p:txBody>
      </p:sp>
      <p:sp>
        <p:nvSpPr>
          <p:cNvPr id="3" name="Content Placeholder 2">
            <a:extLst>
              <a:ext uri="{FF2B5EF4-FFF2-40B4-BE49-F238E27FC236}">
                <a16:creationId xmlns:a16="http://schemas.microsoft.com/office/drawing/2014/main" id="{899FF910-8E9E-49D2-9994-99427A286956}"/>
              </a:ext>
            </a:extLst>
          </p:cNvPr>
          <p:cNvSpPr>
            <a:spLocks noGrp="1"/>
          </p:cNvSpPr>
          <p:nvPr>
            <p:ph idx="1"/>
          </p:nvPr>
        </p:nvSpPr>
        <p:spPr>
          <a:xfrm>
            <a:off x="677334" y="1272619"/>
            <a:ext cx="8596668" cy="4768743"/>
          </a:xfrm>
        </p:spPr>
        <p:txBody>
          <a:bodyPr>
            <a:normAutofit/>
          </a:bodyPr>
          <a:lstStyle/>
          <a:p>
            <a:pPr marL="0" indent="0">
              <a:buNone/>
            </a:pPr>
            <a:endParaRPr lang="en-US" dirty="0"/>
          </a:p>
          <a:p>
            <a:r>
              <a:rPr lang="en-US" dirty="0"/>
              <a:t>It is used to work with dates and times. The date object is created by using new keyword. i.e. new Date().</a:t>
            </a:r>
          </a:p>
          <a:p>
            <a:r>
              <a:rPr lang="en-US" dirty="0"/>
              <a:t>The Date object can be used date and time in terms of millisecond precision within 100 million dates before or after 1/1/1970. But sing another methods we can only get and set the year, month, date, hour, minutes second and millisecond fields using local or UTC of GMT time.</a:t>
            </a:r>
          </a:p>
          <a:p>
            <a:r>
              <a:rPr lang="en-US" dirty="0"/>
              <a:t>So, we can declare date in different ways, the basic things is that the date objects are created by the </a:t>
            </a:r>
          </a:p>
          <a:p>
            <a:pPr lvl="1"/>
            <a:r>
              <a:rPr lang="en-US" dirty="0"/>
              <a:t>new Date()</a:t>
            </a:r>
          </a:p>
          <a:p>
            <a:pPr lvl="1"/>
            <a:r>
              <a:rPr lang="en-US" dirty="0"/>
              <a:t>new Date(year, month, day, hours, minutes, seconds, milliseconds)</a:t>
            </a:r>
          </a:p>
          <a:p>
            <a:pPr lvl="1"/>
            <a:r>
              <a:rPr lang="en-US" dirty="0"/>
              <a:t>new Date(milliseconds)</a:t>
            </a:r>
          </a:p>
          <a:p>
            <a:pPr lvl="1"/>
            <a:r>
              <a:rPr lang="en-US" dirty="0"/>
              <a:t>new Date(date string)</a:t>
            </a:r>
          </a:p>
          <a:p>
            <a:endParaRPr lang="en-US" dirty="0"/>
          </a:p>
        </p:txBody>
      </p:sp>
    </p:spTree>
    <p:extLst>
      <p:ext uri="{BB962C8B-B14F-4D97-AF65-F5344CB8AC3E}">
        <p14:creationId xmlns:p14="http://schemas.microsoft.com/office/powerpoint/2010/main" val="8682860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p:txBody>
          <a:bodyPr>
            <a:normAutofit/>
          </a:bodyPr>
          <a:lstStyle/>
          <a:p>
            <a:r>
              <a:rPr lang="en-US" b="1" dirty="0"/>
              <a:t>Date object </a:t>
            </a:r>
          </a:p>
        </p:txBody>
      </p:sp>
      <p:sp>
        <p:nvSpPr>
          <p:cNvPr id="3" name="Content Placeholder 2">
            <a:extLst>
              <a:ext uri="{FF2B5EF4-FFF2-40B4-BE49-F238E27FC236}">
                <a16:creationId xmlns:a16="http://schemas.microsoft.com/office/drawing/2014/main" id="{899FF910-8E9E-49D2-9994-99427A286956}"/>
              </a:ext>
            </a:extLst>
          </p:cNvPr>
          <p:cNvSpPr>
            <a:spLocks noGrp="1"/>
          </p:cNvSpPr>
          <p:nvPr>
            <p:ph idx="1"/>
          </p:nvPr>
        </p:nvSpPr>
        <p:spPr>
          <a:xfrm>
            <a:off x="677334" y="1272619"/>
            <a:ext cx="8596668" cy="4768743"/>
          </a:xfrm>
        </p:spPr>
        <p:txBody>
          <a:bodyPr>
            <a:normAutofit fontScale="92500"/>
          </a:bodyPr>
          <a:lstStyle/>
          <a:p>
            <a:r>
              <a:rPr lang="en-US" b="1" dirty="0"/>
              <a:t>new Date(): </a:t>
            </a:r>
            <a:r>
              <a:rPr lang="en-US" dirty="0"/>
              <a:t>Date() constructor creates a Date object which sets the current date and time depend on the browser’s time zone. It does not accepts any value.</a:t>
            </a:r>
          </a:p>
          <a:p>
            <a:r>
              <a:rPr lang="en-US" b="1" dirty="0"/>
              <a:t>new Date(milliseconds): </a:t>
            </a:r>
            <a:r>
              <a:rPr lang="en-US" dirty="0"/>
              <a:t>this method accepts single parameter milliseconds which indicates any numeric value. This argument is taken as the internal </a:t>
            </a:r>
            <a:r>
              <a:rPr lang="en-US" dirty="0" err="1"/>
              <a:t>numer</a:t>
            </a:r>
            <a:r>
              <a:rPr lang="en-US" b="1" dirty="0" err="1"/>
              <a:t>New</a:t>
            </a:r>
            <a:r>
              <a:rPr lang="en-US" b="1" dirty="0"/>
              <a:t> Date(</a:t>
            </a:r>
            <a:r>
              <a:rPr lang="en-US" b="1" dirty="0" err="1"/>
              <a:t>datastring</a:t>
            </a:r>
            <a:r>
              <a:rPr lang="en-US" b="1" dirty="0"/>
              <a:t>)</a:t>
            </a:r>
            <a:r>
              <a:rPr lang="en-US" dirty="0"/>
              <a:t>: this ,method accepts single parameter data string which indicates any string value. It is a string representation of a date and return the </a:t>
            </a:r>
            <a:r>
              <a:rPr lang="en-US" dirty="0" err="1"/>
              <a:t>datastring</a:t>
            </a:r>
            <a:r>
              <a:rPr lang="en-US" dirty="0"/>
              <a:t> with the day.</a:t>
            </a:r>
            <a:endParaRPr lang="en-US" b="1" dirty="0"/>
          </a:p>
          <a:p>
            <a:r>
              <a:rPr lang="en-US" b="1" dirty="0"/>
              <a:t>New Date(year, month, day, hours, minutes, seconds, milliseconds)</a:t>
            </a:r>
          </a:p>
          <a:p>
            <a:r>
              <a:rPr lang="en-US" dirty="0"/>
              <a:t>This method accepts seven parameters as mentioned above and described below.</a:t>
            </a:r>
          </a:p>
          <a:p>
            <a:r>
              <a:rPr lang="en-US" dirty="0"/>
              <a:t>Year: integer value which represents the year. Use full year, 2018 instead of 18 only.</a:t>
            </a:r>
          </a:p>
          <a:p>
            <a:r>
              <a:rPr lang="en-US" dirty="0"/>
              <a:t>Month: integer value which represents the month. The integer value are starts from 0 for January to 11 for December.</a:t>
            </a:r>
          </a:p>
          <a:p>
            <a:r>
              <a:rPr lang="en-US" dirty="0"/>
              <a:t>Date: integer value which represents the date</a:t>
            </a:r>
          </a:p>
        </p:txBody>
      </p:sp>
    </p:spTree>
    <p:extLst>
      <p:ext uri="{BB962C8B-B14F-4D97-AF65-F5344CB8AC3E}">
        <p14:creationId xmlns:p14="http://schemas.microsoft.com/office/powerpoint/2010/main" val="29019631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p:txBody>
          <a:bodyPr>
            <a:normAutofit/>
          </a:bodyPr>
          <a:lstStyle/>
          <a:p>
            <a:r>
              <a:rPr lang="en-US" b="1" dirty="0"/>
              <a:t>Date object </a:t>
            </a:r>
          </a:p>
        </p:txBody>
      </p:sp>
      <p:sp>
        <p:nvSpPr>
          <p:cNvPr id="3" name="Content Placeholder 2">
            <a:extLst>
              <a:ext uri="{FF2B5EF4-FFF2-40B4-BE49-F238E27FC236}">
                <a16:creationId xmlns:a16="http://schemas.microsoft.com/office/drawing/2014/main" id="{899FF910-8E9E-49D2-9994-99427A286956}"/>
              </a:ext>
            </a:extLst>
          </p:cNvPr>
          <p:cNvSpPr>
            <a:spLocks noGrp="1"/>
          </p:cNvSpPr>
          <p:nvPr>
            <p:ph idx="1"/>
          </p:nvPr>
        </p:nvSpPr>
        <p:spPr>
          <a:xfrm>
            <a:off x="677334" y="1272619"/>
            <a:ext cx="8596668" cy="4768743"/>
          </a:xfrm>
        </p:spPr>
        <p:txBody>
          <a:bodyPr>
            <a:normAutofit/>
          </a:bodyPr>
          <a:lstStyle/>
          <a:p>
            <a:r>
              <a:rPr lang="en-US" dirty="0"/>
              <a:t>Hour: integer value which represents the hour in 24 hours scale.</a:t>
            </a:r>
          </a:p>
          <a:p>
            <a:r>
              <a:rPr lang="en-US" dirty="0"/>
              <a:t>Minute: integer value which represents the minute</a:t>
            </a:r>
          </a:p>
          <a:p>
            <a:r>
              <a:rPr lang="en-US" dirty="0"/>
              <a:t>Second: integer value which represents the second</a:t>
            </a:r>
          </a:p>
          <a:p>
            <a:r>
              <a:rPr lang="en-US" dirty="0"/>
              <a:t>Millisecond: integer value which represents the millisecond. </a:t>
            </a:r>
          </a:p>
          <a:p>
            <a:pPr marL="0" indent="0">
              <a:buNone/>
            </a:pPr>
            <a:endParaRPr lang="en-US" dirty="0"/>
          </a:p>
        </p:txBody>
      </p:sp>
    </p:spTree>
    <p:extLst>
      <p:ext uri="{BB962C8B-B14F-4D97-AF65-F5344CB8AC3E}">
        <p14:creationId xmlns:p14="http://schemas.microsoft.com/office/powerpoint/2010/main" val="34305170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p:txBody>
          <a:bodyPr>
            <a:normAutofit/>
          </a:bodyPr>
          <a:lstStyle/>
          <a:p>
            <a:r>
              <a:rPr lang="en-US" b="1" dirty="0"/>
              <a:t>Date object methods</a:t>
            </a:r>
          </a:p>
        </p:txBody>
      </p:sp>
      <p:pic>
        <p:nvPicPr>
          <p:cNvPr id="7" name="Picture 6">
            <a:extLst>
              <a:ext uri="{FF2B5EF4-FFF2-40B4-BE49-F238E27FC236}">
                <a16:creationId xmlns:a16="http://schemas.microsoft.com/office/drawing/2014/main" id="{27A59F17-350B-4436-BEE7-4239881CAE81}"/>
              </a:ext>
            </a:extLst>
          </p:cNvPr>
          <p:cNvPicPr>
            <a:picLocks noChangeAspect="1"/>
          </p:cNvPicPr>
          <p:nvPr/>
        </p:nvPicPr>
        <p:blipFill>
          <a:blip r:embed="rId2"/>
          <a:stretch>
            <a:fillRect/>
          </a:stretch>
        </p:blipFill>
        <p:spPr>
          <a:xfrm>
            <a:off x="785796" y="1407442"/>
            <a:ext cx="8678486" cy="5391902"/>
          </a:xfrm>
          <a:prstGeom prst="rect">
            <a:avLst/>
          </a:prstGeom>
        </p:spPr>
      </p:pic>
    </p:spTree>
    <p:extLst>
      <p:ext uri="{BB962C8B-B14F-4D97-AF65-F5344CB8AC3E}">
        <p14:creationId xmlns:p14="http://schemas.microsoft.com/office/powerpoint/2010/main" val="30027256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a:xfrm>
            <a:off x="677334" y="284254"/>
            <a:ext cx="8596668" cy="696134"/>
          </a:xfrm>
        </p:spPr>
        <p:txBody>
          <a:bodyPr>
            <a:normAutofit/>
          </a:bodyPr>
          <a:lstStyle/>
          <a:p>
            <a:r>
              <a:rPr lang="en-US" b="1" dirty="0"/>
              <a:t>RegExp object</a:t>
            </a:r>
          </a:p>
        </p:txBody>
      </p:sp>
      <p:sp>
        <p:nvSpPr>
          <p:cNvPr id="3" name="Content Placeholder 2">
            <a:extLst>
              <a:ext uri="{FF2B5EF4-FFF2-40B4-BE49-F238E27FC236}">
                <a16:creationId xmlns:a16="http://schemas.microsoft.com/office/drawing/2014/main" id="{899FF910-8E9E-49D2-9994-99427A286956}"/>
              </a:ext>
            </a:extLst>
          </p:cNvPr>
          <p:cNvSpPr>
            <a:spLocks noGrp="1"/>
          </p:cNvSpPr>
          <p:nvPr>
            <p:ph idx="1"/>
          </p:nvPr>
        </p:nvSpPr>
        <p:spPr>
          <a:xfrm>
            <a:off x="799882" y="1075960"/>
            <a:ext cx="9305651" cy="5607643"/>
          </a:xfrm>
        </p:spPr>
        <p:txBody>
          <a:bodyPr>
            <a:normAutofit/>
          </a:bodyPr>
          <a:lstStyle/>
          <a:p>
            <a:r>
              <a:rPr lang="en-US" b="0" i="0" dirty="0">
                <a:effectLst/>
                <a:latin typeface="euclid_circular_a"/>
              </a:rPr>
              <a:t>In JavaScript, a </a:t>
            </a:r>
            <a:r>
              <a:rPr lang="en-US" b="1" i="0" dirty="0">
                <a:effectLst/>
                <a:latin typeface="euclid_circular_a"/>
              </a:rPr>
              <a:t>Reg</a:t>
            </a:r>
            <a:r>
              <a:rPr lang="en-US" b="0" i="0" dirty="0">
                <a:effectLst/>
                <a:latin typeface="euclid_circular_a"/>
              </a:rPr>
              <a:t>ular </a:t>
            </a:r>
            <a:r>
              <a:rPr lang="en-US" b="1" i="0" dirty="0">
                <a:effectLst/>
                <a:latin typeface="euclid_circular_a"/>
              </a:rPr>
              <a:t>Ex</a:t>
            </a:r>
            <a:r>
              <a:rPr lang="en-US" b="0" i="0" dirty="0">
                <a:effectLst/>
                <a:latin typeface="euclid_circular_a"/>
              </a:rPr>
              <a:t>pression (RegEx) is an object that describes a sequence of characters used for defining a search pattern. It provide more precise search pattern.</a:t>
            </a:r>
          </a:p>
          <a:p>
            <a:r>
              <a:rPr lang="en-US" sz="1600" b="1" dirty="0"/>
              <a:t>Create a RegExp object:</a:t>
            </a:r>
          </a:p>
          <a:p>
            <a:r>
              <a:rPr lang="en-US" dirty="0"/>
              <a:t>There are two ways you can create a regular expression in JavaScript.</a:t>
            </a:r>
          </a:p>
          <a:p>
            <a:pPr marL="800100" lvl="1" indent="-342900">
              <a:buFont typeface="+mj-lt"/>
              <a:buAutoNum type="arabicPeriod"/>
            </a:pPr>
            <a:r>
              <a:rPr lang="en-US" b="1" dirty="0"/>
              <a:t>Using a regular expression literal:</a:t>
            </a:r>
          </a:p>
          <a:p>
            <a:pPr marL="857250" lvl="2" indent="0">
              <a:buNone/>
            </a:pPr>
            <a:r>
              <a:rPr lang="en-US" dirty="0"/>
              <a:t>The regular expression consists of a pattern enclosed between slashes </a:t>
            </a:r>
            <a:r>
              <a:rPr lang="en-US" b="1" dirty="0">
                <a:solidFill>
                  <a:schemeClr val="accent1"/>
                </a:solidFill>
              </a:rPr>
              <a:t>/</a:t>
            </a:r>
            <a:r>
              <a:rPr lang="en-US" dirty="0"/>
              <a:t>. For example,</a:t>
            </a:r>
          </a:p>
          <a:p>
            <a:pPr marL="857250" lvl="2" indent="0">
              <a:buNone/>
            </a:pPr>
            <a:r>
              <a:rPr lang="en-US" dirty="0"/>
              <a:t>const </a:t>
            </a:r>
            <a:r>
              <a:rPr lang="en-US" dirty="0" err="1"/>
              <a:t>regularExp</a:t>
            </a:r>
            <a:r>
              <a:rPr lang="en-US" dirty="0"/>
              <a:t> = /</a:t>
            </a:r>
            <a:r>
              <a:rPr lang="en-US" dirty="0" err="1"/>
              <a:t>abc</a:t>
            </a:r>
            <a:r>
              <a:rPr lang="en-US" dirty="0"/>
              <a:t>/;       </a:t>
            </a:r>
          </a:p>
          <a:p>
            <a:pPr marL="857250" lvl="2" indent="0">
              <a:buNone/>
            </a:pPr>
            <a:r>
              <a:rPr lang="en-US" dirty="0"/>
              <a:t>Here, /</a:t>
            </a:r>
            <a:r>
              <a:rPr lang="en-US" dirty="0" err="1"/>
              <a:t>abc</a:t>
            </a:r>
            <a:r>
              <a:rPr lang="en-US" dirty="0"/>
              <a:t>/ is a regular expression.</a:t>
            </a:r>
          </a:p>
          <a:p>
            <a:pPr marL="800100" lvl="1" indent="-342900">
              <a:buFont typeface="+mj-lt"/>
              <a:buAutoNum type="arabicPeriod"/>
            </a:pPr>
            <a:r>
              <a:rPr lang="en-US" b="1" dirty="0"/>
              <a:t>Using the RegExp() constructor function:</a:t>
            </a:r>
          </a:p>
          <a:p>
            <a:pPr marL="857250" lvl="2" indent="0">
              <a:buNone/>
            </a:pPr>
            <a:r>
              <a:rPr lang="en-US" dirty="0"/>
              <a:t>You can also create a regular expression by calling the RegExp() constructor function. For example,</a:t>
            </a:r>
          </a:p>
          <a:p>
            <a:pPr marL="857250" lvl="2" indent="0">
              <a:buNone/>
            </a:pPr>
            <a:r>
              <a:rPr lang="en-US" dirty="0"/>
              <a:t>const </a:t>
            </a:r>
            <a:r>
              <a:rPr lang="en-US" dirty="0" err="1"/>
              <a:t>regularExp</a:t>
            </a:r>
            <a:r>
              <a:rPr lang="en-US" dirty="0"/>
              <a:t> = new RegExp('</a:t>
            </a:r>
            <a:r>
              <a:rPr lang="en-US" dirty="0" err="1"/>
              <a:t>abc</a:t>
            </a:r>
            <a:r>
              <a:rPr lang="en-US" dirty="0"/>
              <a:t>');</a:t>
            </a:r>
          </a:p>
          <a:p>
            <a:pPr marL="857250" lvl="2" indent="0">
              <a:buNone/>
            </a:pPr>
            <a:r>
              <a:rPr lang="en-US" dirty="0"/>
              <a:t>For example,</a:t>
            </a:r>
          </a:p>
          <a:p>
            <a:pPr marL="857250" lvl="2" indent="0">
              <a:buNone/>
            </a:pPr>
            <a:r>
              <a:rPr lang="en-US" dirty="0"/>
              <a:t>const regex = new RegExp(/^a...s$/);</a:t>
            </a:r>
          </a:p>
          <a:p>
            <a:pPr marL="857250" lvl="2" indent="0">
              <a:buNone/>
            </a:pPr>
            <a:r>
              <a:rPr lang="en-US" dirty="0"/>
              <a:t>console.log(</a:t>
            </a:r>
            <a:r>
              <a:rPr lang="en-US" dirty="0" err="1"/>
              <a:t>regex.test</a:t>
            </a:r>
            <a:r>
              <a:rPr lang="en-US" dirty="0"/>
              <a:t>('alias')); // true</a:t>
            </a:r>
          </a:p>
          <a:p>
            <a:pPr marL="857250" lvl="2" indent="0">
              <a:buNone/>
            </a:pPr>
            <a:r>
              <a:rPr lang="en-US" dirty="0"/>
              <a:t>In the above example, the string alias matches with the RegEx pattern /^a...s$/. Here, the test() method is used to check if the string matches the pattern.</a:t>
            </a:r>
          </a:p>
        </p:txBody>
      </p:sp>
    </p:spTree>
    <p:extLst>
      <p:ext uri="{BB962C8B-B14F-4D97-AF65-F5344CB8AC3E}">
        <p14:creationId xmlns:p14="http://schemas.microsoft.com/office/powerpoint/2010/main" val="19169322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a:xfrm>
            <a:off x="677334" y="284254"/>
            <a:ext cx="8596668" cy="696134"/>
          </a:xfrm>
        </p:spPr>
        <p:txBody>
          <a:bodyPr>
            <a:normAutofit/>
          </a:bodyPr>
          <a:lstStyle/>
          <a:p>
            <a:r>
              <a:rPr lang="en-US" b="1" dirty="0"/>
              <a:t>RegEx object methods</a:t>
            </a:r>
          </a:p>
        </p:txBody>
      </p:sp>
      <p:sp>
        <p:nvSpPr>
          <p:cNvPr id="3" name="Content Placeholder 2">
            <a:extLst>
              <a:ext uri="{FF2B5EF4-FFF2-40B4-BE49-F238E27FC236}">
                <a16:creationId xmlns:a16="http://schemas.microsoft.com/office/drawing/2014/main" id="{899FF910-8E9E-49D2-9994-99427A286956}"/>
              </a:ext>
            </a:extLst>
          </p:cNvPr>
          <p:cNvSpPr>
            <a:spLocks noGrp="1"/>
          </p:cNvSpPr>
          <p:nvPr>
            <p:ph idx="1"/>
          </p:nvPr>
        </p:nvSpPr>
        <p:spPr>
          <a:xfrm>
            <a:off x="799883" y="1075960"/>
            <a:ext cx="8474120" cy="5607643"/>
          </a:xfrm>
        </p:spPr>
        <p:txBody>
          <a:bodyPr>
            <a:normAutofit/>
          </a:bodyPr>
          <a:lstStyle/>
          <a:p>
            <a:r>
              <a:rPr lang="en-US" dirty="0"/>
              <a:t>Syntax :   /pattern/modifier(s);</a:t>
            </a:r>
          </a:p>
          <a:p>
            <a:r>
              <a:rPr lang="en-US" dirty="0"/>
              <a:t>Let b=/</a:t>
            </a:r>
            <a:r>
              <a:rPr lang="en-US" dirty="0" err="1"/>
              <a:t>nccscollege</a:t>
            </a:r>
            <a:r>
              <a:rPr lang="en-US" dirty="0"/>
              <a:t>/</a:t>
            </a:r>
            <a:r>
              <a:rPr lang="en-US" dirty="0" err="1"/>
              <a:t>i</a:t>
            </a:r>
            <a:r>
              <a:rPr lang="en-US" dirty="0"/>
              <a:t>;</a:t>
            </a:r>
          </a:p>
          <a:p>
            <a:pPr marL="0" indent="0">
              <a:buNone/>
            </a:pPr>
            <a:endParaRPr lang="en-US" dirty="0"/>
          </a:p>
          <a:p>
            <a:r>
              <a:rPr lang="en-US" dirty="0"/>
              <a:t>Regexr.com to try and learn all variations of regex</a:t>
            </a:r>
          </a:p>
          <a:p>
            <a:endParaRPr lang="en-US" dirty="0"/>
          </a:p>
        </p:txBody>
      </p:sp>
      <p:pic>
        <p:nvPicPr>
          <p:cNvPr id="5" name="Picture 4">
            <a:extLst>
              <a:ext uri="{FF2B5EF4-FFF2-40B4-BE49-F238E27FC236}">
                <a16:creationId xmlns:a16="http://schemas.microsoft.com/office/drawing/2014/main" id="{8511C58E-70C1-4AE8-BA08-AAF111F9A95C}"/>
              </a:ext>
            </a:extLst>
          </p:cNvPr>
          <p:cNvPicPr>
            <a:picLocks noChangeAspect="1"/>
          </p:cNvPicPr>
          <p:nvPr/>
        </p:nvPicPr>
        <p:blipFill>
          <a:blip r:embed="rId2"/>
          <a:stretch>
            <a:fillRect/>
          </a:stretch>
        </p:blipFill>
        <p:spPr>
          <a:xfrm>
            <a:off x="799883" y="3495837"/>
            <a:ext cx="4380748" cy="2286203"/>
          </a:xfrm>
          <a:prstGeom prst="rect">
            <a:avLst/>
          </a:prstGeom>
        </p:spPr>
      </p:pic>
    </p:spTree>
    <p:extLst>
      <p:ext uri="{BB962C8B-B14F-4D97-AF65-F5344CB8AC3E}">
        <p14:creationId xmlns:p14="http://schemas.microsoft.com/office/powerpoint/2010/main" val="9080416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a:xfrm>
            <a:off x="677334" y="284254"/>
            <a:ext cx="8596668" cy="696134"/>
          </a:xfrm>
        </p:spPr>
        <p:txBody>
          <a:bodyPr>
            <a:normAutofit/>
          </a:bodyPr>
          <a:lstStyle/>
          <a:p>
            <a:r>
              <a:rPr lang="en-US" b="1" dirty="0"/>
              <a:t>RegEx object methods</a:t>
            </a:r>
          </a:p>
        </p:txBody>
      </p:sp>
      <p:sp>
        <p:nvSpPr>
          <p:cNvPr id="3" name="Content Placeholder 2">
            <a:extLst>
              <a:ext uri="{FF2B5EF4-FFF2-40B4-BE49-F238E27FC236}">
                <a16:creationId xmlns:a16="http://schemas.microsoft.com/office/drawing/2014/main" id="{899FF910-8E9E-49D2-9994-99427A286956}"/>
              </a:ext>
            </a:extLst>
          </p:cNvPr>
          <p:cNvSpPr>
            <a:spLocks noGrp="1"/>
          </p:cNvSpPr>
          <p:nvPr>
            <p:ph idx="1"/>
          </p:nvPr>
        </p:nvSpPr>
        <p:spPr>
          <a:xfrm>
            <a:off x="799882" y="1075960"/>
            <a:ext cx="9729857" cy="5607643"/>
          </a:xfrm>
        </p:spPr>
        <p:txBody>
          <a:bodyPr>
            <a:normAutofit/>
          </a:bodyPr>
          <a:lstStyle/>
          <a:p>
            <a:pPr marL="0" indent="0">
              <a:buNone/>
            </a:pPr>
            <a:r>
              <a:rPr lang="en-US" dirty="0" err="1"/>
              <a:t>Eg.</a:t>
            </a:r>
            <a:r>
              <a:rPr lang="en-US" dirty="0"/>
              <a:t> Text=“My favorite number is 7”; </a:t>
            </a:r>
          </a:p>
          <a:p>
            <a:pPr marL="0" indent="0">
              <a:buNone/>
            </a:pPr>
            <a:r>
              <a:rPr lang="en-US" dirty="0"/>
              <a:t>document.write(text.match([0-9]);   //  selects the numbers between 0 to 9 i.e. returns 7</a:t>
            </a:r>
          </a:p>
        </p:txBody>
      </p:sp>
      <p:pic>
        <p:nvPicPr>
          <p:cNvPr id="7" name="Picture 6">
            <a:extLst>
              <a:ext uri="{FF2B5EF4-FFF2-40B4-BE49-F238E27FC236}">
                <a16:creationId xmlns:a16="http://schemas.microsoft.com/office/drawing/2014/main" id="{C84286DE-426E-4300-8435-8125807A9073}"/>
              </a:ext>
            </a:extLst>
          </p:cNvPr>
          <p:cNvPicPr>
            <a:picLocks noChangeAspect="1"/>
          </p:cNvPicPr>
          <p:nvPr/>
        </p:nvPicPr>
        <p:blipFill>
          <a:blip r:embed="rId2"/>
          <a:stretch>
            <a:fillRect/>
          </a:stretch>
        </p:blipFill>
        <p:spPr>
          <a:xfrm>
            <a:off x="799882" y="1968693"/>
            <a:ext cx="6096500" cy="2705282"/>
          </a:xfrm>
          <a:prstGeom prst="rect">
            <a:avLst/>
          </a:prstGeom>
        </p:spPr>
      </p:pic>
    </p:spTree>
    <p:extLst>
      <p:ext uri="{BB962C8B-B14F-4D97-AF65-F5344CB8AC3E}">
        <p14:creationId xmlns:p14="http://schemas.microsoft.com/office/powerpoint/2010/main" val="28759147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a:xfrm>
            <a:off x="677334" y="284254"/>
            <a:ext cx="8596668" cy="696134"/>
          </a:xfrm>
        </p:spPr>
        <p:txBody>
          <a:bodyPr>
            <a:normAutofit/>
          </a:bodyPr>
          <a:lstStyle/>
          <a:p>
            <a:r>
              <a:rPr lang="en-US" b="1" dirty="0"/>
              <a:t>RegEx object methods</a:t>
            </a:r>
          </a:p>
        </p:txBody>
      </p:sp>
      <p:pic>
        <p:nvPicPr>
          <p:cNvPr id="5" name="Picture 4">
            <a:extLst>
              <a:ext uri="{FF2B5EF4-FFF2-40B4-BE49-F238E27FC236}">
                <a16:creationId xmlns:a16="http://schemas.microsoft.com/office/drawing/2014/main" id="{72043D19-ACB6-43DD-BD9E-40773729FE5A}"/>
              </a:ext>
            </a:extLst>
          </p:cNvPr>
          <p:cNvPicPr>
            <a:picLocks noChangeAspect="1"/>
          </p:cNvPicPr>
          <p:nvPr/>
        </p:nvPicPr>
        <p:blipFill>
          <a:blip r:embed="rId2"/>
          <a:stretch>
            <a:fillRect/>
          </a:stretch>
        </p:blipFill>
        <p:spPr>
          <a:xfrm>
            <a:off x="677334" y="1178350"/>
            <a:ext cx="6379786" cy="5161175"/>
          </a:xfrm>
          <a:prstGeom prst="rect">
            <a:avLst/>
          </a:prstGeom>
        </p:spPr>
      </p:pic>
    </p:spTree>
    <p:extLst>
      <p:ext uri="{BB962C8B-B14F-4D97-AF65-F5344CB8AC3E}">
        <p14:creationId xmlns:p14="http://schemas.microsoft.com/office/powerpoint/2010/main" val="31310855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C855-537D-444D-BAB1-56EC7DFE4C05}"/>
              </a:ext>
            </a:extLst>
          </p:cNvPr>
          <p:cNvSpPr>
            <a:spLocks noGrp="1"/>
          </p:cNvSpPr>
          <p:nvPr>
            <p:ph type="title"/>
          </p:nvPr>
        </p:nvSpPr>
        <p:spPr>
          <a:xfrm>
            <a:off x="677334" y="284254"/>
            <a:ext cx="8596668" cy="696134"/>
          </a:xfrm>
        </p:spPr>
        <p:txBody>
          <a:bodyPr>
            <a:normAutofit/>
          </a:bodyPr>
          <a:lstStyle/>
          <a:p>
            <a:r>
              <a:rPr lang="en-US" b="1" dirty="0"/>
              <a:t>RegEx object methods</a:t>
            </a:r>
          </a:p>
        </p:txBody>
      </p:sp>
      <p:pic>
        <p:nvPicPr>
          <p:cNvPr id="4" name="Picture 3">
            <a:extLst>
              <a:ext uri="{FF2B5EF4-FFF2-40B4-BE49-F238E27FC236}">
                <a16:creationId xmlns:a16="http://schemas.microsoft.com/office/drawing/2014/main" id="{464E801D-484D-4D52-9459-8B83755C8296}"/>
              </a:ext>
            </a:extLst>
          </p:cNvPr>
          <p:cNvPicPr>
            <a:picLocks noChangeAspect="1"/>
          </p:cNvPicPr>
          <p:nvPr/>
        </p:nvPicPr>
        <p:blipFill>
          <a:blip r:embed="rId2"/>
          <a:stretch>
            <a:fillRect/>
          </a:stretch>
        </p:blipFill>
        <p:spPr>
          <a:xfrm>
            <a:off x="531635" y="1238726"/>
            <a:ext cx="8888065" cy="5134692"/>
          </a:xfrm>
          <a:prstGeom prst="rect">
            <a:avLst/>
          </a:prstGeom>
        </p:spPr>
      </p:pic>
    </p:spTree>
    <p:extLst>
      <p:ext uri="{BB962C8B-B14F-4D97-AF65-F5344CB8AC3E}">
        <p14:creationId xmlns:p14="http://schemas.microsoft.com/office/powerpoint/2010/main" val="29817365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B8D46-51ED-4C46-AC18-CED8EA15F802}"/>
              </a:ext>
            </a:extLst>
          </p:cNvPr>
          <p:cNvSpPr>
            <a:spLocks noGrp="1"/>
          </p:cNvSpPr>
          <p:nvPr>
            <p:ph type="title"/>
          </p:nvPr>
        </p:nvSpPr>
        <p:spPr/>
        <p:txBody>
          <a:bodyPr/>
          <a:lstStyle/>
          <a:p>
            <a:r>
              <a:rPr lang="en-US" b="1" dirty="0"/>
              <a:t>Window object</a:t>
            </a:r>
          </a:p>
        </p:txBody>
      </p:sp>
      <p:sp>
        <p:nvSpPr>
          <p:cNvPr id="3" name="Content Placeholder 2">
            <a:extLst>
              <a:ext uri="{FF2B5EF4-FFF2-40B4-BE49-F238E27FC236}">
                <a16:creationId xmlns:a16="http://schemas.microsoft.com/office/drawing/2014/main" id="{3E1EF387-433F-4115-AFEB-17C24A2FB560}"/>
              </a:ext>
            </a:extLst>
          </p:cNvPr>
          <p:cNvSpPr>
            <a:spLocks noGrp="1"/>
          </p:cNvSpPr>
          <p:nvPr>
            <p:ph idx="1"/>
          </p:nvPr>
        </p:nvSpPr>
        <p:spPr>
          <a:xfrm>
            <a:off x="677334" y="1494693"/>
            <a:ext cx="9662420" cy="4546670"/>
          </a:xfrm>
        </p:spPr>
        <p:txBody>
          <a:bodyPr>
            <a:normAutofit/>
          </a:bodyPr>
          <a:lstStyle/>
          <a:p>
            <a:r>
              <a:rPr lang="en-US" dirty="0"/>
              <a:t>The window object is supported by all browsers. It represents the browser’s window. All global JavaScript objects, functions and variables automatically become members of the window object. Two properties can be used to determine the size of browsers window.</a:t>
            </a:r>
          </a:p>
          <a:p>
            <a:r>
              <a:rPr lang="en-US" dirty="0"/>
              <a:t>Both properties return sizes in pixels.</a:t>
            </a:r>
          </a:p>
          <a:p>
            <a:r>
              <a:rPr lang="en-US" dirty="0"/>
              <a:t>window.innerHeight: specifies inner height of browsers window</a:t>
            </a:r>
          </a:p>
          <a:p>
            <a:r>
              <a:rPr lang="en-US" dirty="0"/>
              <a:t>window.innerwidth: specifies inner width of the browser’s window</a:t>
            </a:r>
          </a:p>
          <a:p>
            <a:r>
              <a:rPr lang="en-US" dirty="0"/>
              <a:t>Methods				Description</a:t>
            </a:r>
          </a:p>
          <a:p>
            <a:r>
              <a:rPr lang="en-US" dirty="0" err="1"/>
              <a:t>window.open</a:t>
            </a:r>
            <a:r>
              <a:rPr lang="en-US" dirty="0"/>
              <a:t>()		Open a new window</a:t>
            </a:r>
          </a:p>
          <a:p>
            <a:r>
              <a:rPr lang="en-US" dirty="0" err="1"/>
              <a:t>window.close</a:t>
            </a:r>
            <a:r>
              <a:rPr lang="en-US" dirty="0"/>
              <a:t>()		Close the current window</a:t>
            </a:r>
          </a:p>
          <a:p>
            <a:r>
              <a:rPr lang="en-US" dirty="0" err="1"/>
              <a:t>window.moveTo</a:t>
            </a:r>
            <a:r>
              <a:rPr lang="en-US" dirty="0"/>
              <a:t>()		Move to current window</a:t>
            </a:r>
          </a:p>
          <a:p>
            <a:r>
              <a:rPr lang="en-US" dirty="0" err="1"/>
              <a:t>window.resizeTo</a:t>
            </a:r>
            <a:r>
              <a:rPr lang="en-US" dirty="0"/>
              <a:t>()		Resize the current window</a:t>
            </a:r>
          </a:p>
        </p:txBody>
      </p:sp>
    </p:spTree>
    <p:extLst>
      <p:ext uri="{BB962C8B-B14F-4D97-AF65-F5344CB8AC3E}">
        <p14:creationId xmlns:p14="http://schemas.microsoft.com/office/powerpoint/2010/main" val="16437003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B8D46-51ED-4C46-AC18-CED8EA15F802}"/>
              </a:ext>
            </a:extLst>
          </p:cNvPr>
          <p:cNvSpPr>
            <a:spLocks noGrp="1"/>
          </p:cNvSpPr>
          <p:nvPr>
            <p:ph type="title"/>
          </p:nvPr>
        </p:nvSpPr>
        <p:spPr/>
        <p:txBody>
          <a:bodyPr/>
          <a:lstStyle/>
          <a:p>
            <a:r>
              <a:rPr lang="en-US" b="1" dirty="0"/>
              <a:t>Window object</a:t>
            </a:r>
          </a:p>
        </p:txBody>
      </p:sp>
      <p:pic>
        <p:nvPicPr>
          <p:cNvPr id="5" name="Content Placeholder 4">
            <a:extLst>
              <a:ext uri="{FF2B5EF4-FFF2-40B4-BE49-F238E27FC236}">
                <a16:creationId xmlns:a16="http://schemas.microsoft.com/office/drawing/2014/main" id="{C37F0496-93E7-4E41-ABEF-6F40B05B56AC}"/>
              </a:ext>
            </a:extLst>
          </p:cNvPr>
          <p:cNvPicPr>
            <a:picLocks noGrp="1" noChangeAspect="1"/>
          </p:cNvPicPr>
          <p:nvPr>
            <p:ph idx="1"/>
          </p:nvPr>
        </p:nvPicPr>
        <p:blipFill>
          <a:blip r:embed="rId2"/>
          <a:stretch>
            <a:fillRect/>
          </a:stretch>
        </p:blipFill>
        <p:spPr>
          <a:xfrm>
            <a:off x="848729" y="1776046"/>
            <a:ext cx="7529075" cy="3219605"/>
          </a:xfrm>
        </p:spPr>
      </p:pic>
    </p:spTree>
    <p:extLst>
      <p:ext uri="{BB962C8B-B14F-4D97-AF65-F5344CB8AC3E}">
        <p14:creationId xmlns:p14="http://schemas.microsoft.com/office/powerpoint/2010/main" val="13195782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E20FD-29E8-4814-AD93-0815DCB19F24}"/>
              </a:ext>
            </a:extLst>
          </p:cNvPr>
          <p:cNvSpPr>
            <a:spLocks noGrp="1"/>
          </p:cNvSpPr>
          <p:nvPr>
            <p:ph type="title"/>
          </p:nvPr>
        </p:nvSpPr>
        <p:spPr/>
        <p:txBody>
          <a:bodyPr/>
          <a:lstStyle/>
          <a:p>
            <a:r>
              <a:rPr lang="en-US" b="1" dirty="0"/>
              <a:t>Event Handling</a:t>
            </a:r>
          </a:p>
        </p:txBody>
      </p:sp>
      <p:sp>
        <p:nvSpPr>
          <p:cNvPr id="3" name="Content Placeholder 2">
            <a:extLst>
              <a:ext uri="{FF2B5EF4-FFF2-40B4-BE49-F238E27FC236}">
                <a16:creationId xmlns:a16="http://schemas.microsoft.com/office/drawing/2014/main" id="{7690E58B-A3F1-481A-943C-14B56779FD5A}"/>
              </a:ext>
            </a:extLst>
          </p:cNvPr>
          <p:cNvSpPr>
            <a:spLocks noGrp="1"/>
          </p:cNvSpPr>
          <p:nvPr>
            <p:ph idx="1"/>
          </p:nvPr>
        </p:nvSpPr>
        <p:spPr>
          <a:xfrm>
            <a:off x="677334" y="1451728"/>
            <a:ext cx="10455722" cy="5250729"/>
          </a:xfrm>
        </p:spPr>
        <p:txBody>
          <a:bodyPr>
            <a:normAutofit/>
          </a:bodyPr>
          <a:lstStyle/>
          <a:p>
            <a:r>
              <a:rPr lang="en-US" dirty="0"/>
              <a:t>We can use events in </a:t>
            </a:r>
            <a:r>
              <a:rPr lang="en-US" dirty="0" err="1"/>
              <a:t>javascript</a:t>
            </a:r>
            <a:r>
              <a:rPr lang="en-US" dirty="0"/>
              <a:t> same as CSS. Check CSS slide for that.</a:t>
            </a:r>
          </a:p>
          <a:p>
            <a:r>
              <a:rPr lang="en-US" dirty="0"/>
              <a:t>JavaScript addEventListener()</a:t>
            </a:r>
          </a:p>
          <a:p>
            <a:r>
              <a:rPr lang="en-US" dirty="0"/>
              <a:t>The addEventListener() method is used to attach an event handler to a particular element. It does not override the existing event handlers. An event listener is a JavaScript's procedure that waits for the occurrence of an event.</a:t>
            </a:r>
          </a:p>
          <a:p>
            <a:r>
              <a:rPr lang="en-US" dirty="0"/>
              <a:t>The addEventListener() method is an inbuilt function of JavaScript. We can add multiple event handlers to a particular element without overwriting the existing event handlers.</a:t>
            </a:r>
          </a:p>
          <a:p>
            <a:r>
              <a:rPr lang="en-US" dirty="0"/>
              <a:t>Syntax</a:t>
            </a:r>
          </a:p>
          <a:p>
            <a:r>
              <a:rPr lang="en-US" dirty="0"/>
              <a:t>element.addEventListener(event, function);  </a:t>
            </a:r>
          </a:p>
          <a:p>
            <a:pPr algn="just"/>
            <a:r>
              <a:rPr lang="en-US" b="1" i="0" dirty="0">
                <a:solidFill>
                  <a:srgbClr val="333333"/>
                </a:solidFill>
                <a:effectLst/>
                <a:latin typeface="Montserrat" panose="00000500000000000000" pitchFamily="2" charset="0"/>
              </a:rPr>
              <a:t>event:</a:t>
            </a:r>
            <a:r>
              <a:rPr lang="en-US" b="0" i="0" dirty="0">
                <a:solidFill>
                  <a:srgbClr val="333333"/>
                </a:solidFill>
                <a:effectLst/>
                <a:latin typeface="Montserrat" panose="00000500000000000000" pitchFamily="2" charset="0"/>
              </a:rPr>
              <a:t> It is a required parameter. It can be defined as a string that specifies the event's name.</a:t>
            </a:r>
          </a:p>
          <a:p>
            <a:pPr algn="just"/>
            <a:r>
              <a:rPr lang="en-US" b="1" i="0" dirty="0">
                <a:solidFill>
                  <a:srgbClr val="333333"/>
                </a:solidFill>
                <a:effectLst/>
                <a:latin typeface="Montserrat" panose="00000500000000000000" pitchFamily="2" charset="0"/>
              </a:rPr>
              <a:t>function:</a:t>
            </a:r>
            <a:r>
              <a:rPr lang="en-US" b="0" i="0" dirty="0">
                <a:solidFill>
                  <a:srgbClr val="333333"/>
                </a:solidFill>
                <a:effectLst/>
                <a:latin typeface="Montserrat" panose="00000500000000000000" pitchFamily="2" charset="0"/>
              </a:rPr>
              <a:t> It is also a required parameter. It is a </a:t>
            </a:r>
            <a:r>
              <a:rPr lang="en-US" b="0" i="0" u="none" strike="noStrike" dirty="0">
                <a:solidFill>
                  <a:srgbClr val="1A1D8E"/>
                </a:solidFill>
                <a:effectLst/>
                <a:latin typeface="Montserrat" panose="00000500000000000000" pitchFamily="2" charset="0"/>
                <a:hlinkClick r:id="rId2"/>
              </a:rPr>
              <a:t>JavaScript function</a:t>
            </a:r>
            <a:r>
              <a:rPr lang="en-US" b="0" i="0" dirty="0">
                <a:solidFill>
                  <a:srgbClr val="333333"/>
                </a:solidFill>
                <a:effectLst/>
                <a:latin typeface="Montserrat" panose="00000500000000000000" pitchFamily="2" charset="0"/>
              </a:rPr>
              <a:t> which responds to the event occur.</a:t>
            </a:r>
          </a:p>
          <a:p>
            <a:endParaRPr lang="en-US" dirty="0"/>
          </a:p>
        </p:txBody>
      </p:sp>
    </p:spTree>
    <p:extLst>
      <p:ext uri="{BB962C8B-B14F-4D97-AF65-F5344CB8AC3E}">
        <p14:creationId xmlns:p14="http://schemas.microsoft.com/office/powerpoint/2010/main" val="33288644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BF117-971E-43AA-BC91-7009EC1CCDE0}"/>
              </a:ext>
            </a:extLst>
          </p:cNvPr>
          <p:cNvSpPr>
            <a:spLocks noGrp="1"/>
          </p:cNvSpPr>
          <p:nvPr>
            <p:ph type="title"/>
          </p:nvPr>
        </p:nvSpPr>
        <p:spPr>
          <a:xfrm>
            <a:off x="677334" y="309055"/>
            <a:ext cx="8596668" cy="1320800"/>
          </a:xfrm>
        </p:spPr>
        <p:txBody>
          <a:bodyPr/>
          <a:lstStyle/>
          <a:p>
            <a:r>
              <a:rPr lang="en-US" b="1" dirty="0"/>
              <a:t>Event handling </a:t>
            </a:r>
            <a:r>
              <a:rPr lang="en-US" b="1" dirty="0" err="1"/>
              <a:t>Eg</a:t>
            </a:r>
            <a:endParaRPr lang="en-US" b="1" dirty="0"/>
          </a:p>
        </p:txBody>
      </p:sp>
      <p:pic>
        <p:nvPicPr>
          <p:cNvPr id="9" name="Content Placeholder 8">
            <a:extLst>
              <a:ext uri="{FF2B5EF4-FFF2-40B4-BE49-F238E27FC236}">
                <a16:creationId xmlns:a16="http://schemas.microsoft.com/office/drawing/2014/main" id="{90CEA4AE-DCE0-4BB6-B240-CD1C0449099B}"/>
              </a:ext>
            </a:extLst>
          </p:cNvPr>
          <p:cNvPicPr>
            <a:picLocks noGrp="1" noChangeAspect="1"/>
          </p:cNvPicPr>
          <p:nvPr>
            <p:ph idx="1"/>
          </p:nvPr>
        </p:nvPicPr>
        <p:blipFill>
          <a:blip r:embed="rId2"/>
          <a:stretch>
            <a:fillRect/>
          </a:stretch>
        </p:blipFill>
        <p:spPr>
          <a:xfrm>
            <a:off x="1469896" y="969455"/>
            <a:ext cx="4538122" cy="3189394"/>
          </a:xfrm>
        </p:spPr>
      </p:pic>
      <p:pic>
        <p:nvPicPr>
          <p:cNvPr id="11" name="Picture 10">
            <a:extLst>
              <a:ext uri="{FF2B5EF4-FFF2-40B4-BE49-F238E27FC236}">
                <a16:creationId xmlns:a16="http://schemas.microsoft.com/office/drawing/2014/main" id="{754A6AB6-D127-422A-BDD1-295F1E9192AA}"/>
              </a:ext>
            </a:extLst>
          </p:cNvPr>
          <p:cNvPicPr>
            <a:picLocks noChangeAspect="1"/>
          </p:cNvPicPr>
          <p:nvPr/>
        </p:nvPicPr>
        <p:blipFill>
          <a:blip r:embed="rId3"/>
          <a:stretch>
            <a:fillRect/>
          </a:stretch>
        </p:blipFill>
        <p:spPr>
          <a:xfrm>
            <a:off x="1706280" y="4472223"/>
            <a:ext cx="6538775" cy="2193846"/>
          </a:xfrm>
          <a:prstGeom prst="rect">
            <a:avLst/>
          </a:prstGeom>
        </p:spPr>
      </p:pic>
    </p:spTree>
    <p:extLst>
      <p:ext uri="{BB962C8B-B14F-4D97-AF65-F5344CB8AC3E}">
        <p14:creationId xmlns:p14="http://schemas.microsoft.com/office/powerpoint/2010/main" val="7071836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HTML DOM (Document Object Model)</a:t>
            </a:r>
          </a:p>
        </p:txBody>
      </p:sp>
      <p:sp>
        <p:nvSpPr>
          <p:cNvPr id="3" name="Content Placeholder 2"/>
          <p:cNvSpPr>
            <a:spLocks noGrp="1"/>
          </p:cNvSpPr>
          <p:nvPr>
            <p:ph idx="1"/>
          </p:nvPr>
        </p:nvSpPr>
        <p:spPr/>
        <p:txBody>
          <a:bodyPr/>
          <a:lstStyle/>
          <a:p>
            <a:pPr algn="just"/>
            <a:r>
              <a:rPr lang="en-US" dirty="0"/>
              <a:t>With the HTML DOM, JavaScript can access and change all the elements of an HTML document.</a:t>
            </a:r>
          </a:p>
          <a:p>
            <a:pPr algn="just"/>
            <a:r>
              <a:rPr lang="en-US" dirty="0"/>
              <a:t>When a web page is loaded, the browser creates a </a:t>
            </a:r>
            <a:r>
              <a:rPr lang="en-US" b="1" dirty="0"/>
              <a:t>D</a:t>
            </a:r>
            <a:r>
              <a:rPr lang="en-US" dirty="0"/>
              <a:t>ocument </a:t>
            </a:r>
            <a:r>
              <a:rPr lang="en-US" b="1" dirty="0"/>
              <a:t>O</a:t>
            </a:r>
            <a:r>
              <a:rPr lang="en-US" dirty="0"/>
              <a:t>bject </a:t>
            </a:r>
            <a:r>
              <a:rPr lang="en-US" b="1" dirty="0"/>
              <a:t>M</a:t>
            </a:r>
            <a:r>
              <a:rPr lang="en-US" dirty="0"/>
              <a:t>odel of the page.</a:t>
            </a:r>
          </a:p>
          <a:p>
            <a:pPr algn="just"/>
            <a:r>
              <a:rPr lang="en-US" dirty="0"/>
              <a:t>The </a:t>
            </a:r>
            <a:r>
              <a:rPr lang="en-US" b="1" dirty="0"/>
              <a:t>HTML DOM</a:t>
            </a:r>
            <a:r>
              <a:rPr lang="en-US" dirty="0"/>
              <a:t> model is constructed as a tree of </a:t>
            </a:r>
            <a:r>
              <a:rPr lang="en-US" b="1" dirty="0"/>
              <a:t>Objects</a:t>
            </a:r>
            <a:r>
              <a:rPr lang="en-US" dirty="0"/>
              <a:t>:</a:t>
            </a:r>
          </a:p>
        </p:txBody>
      </p:sp>
      <p:pic>
        <p:nvPicPr>
          <p:cNvPr id="4" name="Picture 3"/>
          <p:cNvPicPr>
            <a:picLocks noChangeAspect="1"/>
          </p:cNvPicPr>
          <p:nvPr/>
        </p:nvPicPr>
        <p:blipFill>
          <a:blip r:embed="rId2"/>
          <a:stretch>
            <a:fillRect/>
          </a:stretch>
        </p:blipFill>
        <p:spPr>
          <a:xfrm>
            <a:off x="2956525" y="4164327"/>
            <a:ext cx="5986022" cy="2468215"/>
          </a:xfrm>
          <a:prstGeom prst="rect">
            <a:avLst/>
          </a:prstGeom>
        </p:spPr>
      </p:pic>
    </p:spTree>
    <p:extLst>
      <p:ext uri="{BB962C8B-B14F-4D97-AF65-F5344CB8AC3E}">
        <p14:creationId xmlns:p14="http://schemas.microsoft.com/office/powerpoint/2010/main" val="2570130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Here are some key concepts related to the DOM in JavaScript:</a:t>
            </a:r>
          </a:p>
        </p:txBody>
      </p:sp>
      <p:sp>
        <p:nvSpPr>
          <p:cNvPr id="3" name="Content Placeholder 2"/>
          <p:cNvSpPr>
            <a:spLocks noGrp="1"/>
          </p:cNvSpPr>
          <p:nvPr>
            <p:ph idx="1"/>
          </p:nvPr>
        </p:nvSpPr>
        <p:spPr/>
        <p:txBody>
          <a:bodyPr>
            <a:normAutofit fontScale="85000" lnSpcReduction="10000"/>
          </a:bodyPr>
          <a:lstStyle/>
          <a:p>
            <a:pPr algn="just"/>
            <a:r>
              <a:rPr lang="en-US" dirty="0"/>
              <a:t>Document: The document object represents the HTML document loaded in the browser. It serves as the entry point to access and manipulate the DOM tree.</a:t>
            </a:r>
          </a:p>
          <a:p>
            <a:pPr algn="just"/>
            <a:endParaRPr lang="en-US" dirty="0"/>
          </a:p>
          <a:p>
            <a:pPr algn="just"/>
            <a:r>
              <a:rPr lang="en-US" dirty="0"/>
              <a:t>Element: Elements represent the individual HTML tags within the document. They are nodes in the DOM tree and can be accessed using methods like getElementById, getElementsByTagName, or querySelector.</a:t>
            </a:r>
          </a:p>
          <a:p>
            <a:pPr algn="just"/>
            <a:endParaRPr lang="en-US" dirty="0"/>
          </a:p>
          <a:p>
            <a:pPr algn="just"/>
            <a:r>
              <a:rPr lang="en-US" dirty="0"/>
              <a:t>Node: Nodes are the building blocks of the DOM tree. They can represent elements, text, comments, or other types of nodes. Nodes have various properties and methods to traverse the DOM tree and interact with other nodes.</a:t>
            </a:r>
          </a:p>
          <a:p>
            <a:pPr algn="just"/>
            <a:endParaRPr lang="en-US" dirty="0"/>
          </a:p>
          <a:p>
            <a:pPr algn="just"/>
            <a:r>
              <a:rPr lang="en-US" dirty="0"/>
              <a:t>Event: The DOM provides a way to handle events triggered by user actions or other sources, such as clicks, key presses, mouse movements, and more. You can attach event handlers to elements to respond to these events using methods like addEventListener.</a:t>
            </a:r>
          </a:p>
        </p:txBody>
      </p:sp>
    </p:spTree>
    <p:extLst>
      <p:ext uri="{BB962C8B-B14F-4D97-AF65-F5344CB8AC3E}">
        <p14:creationId xmlns:p14="http://schemas.microsoft.com/office/powerpoint/2010/main" val="15417709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E20FD-29E8-4814-AD93-0815DCB19F24}"/>
              </a:ext>
            </a:extLst>
          </p:cNvPr>
          <p:cNvSpPr>
            <a:spLocks noGrp="1"/>
          </p:cNvSpPr>
          <p:nvPr>
            <p:ph type="title"/>
          </p:nvPr>
        </p:nvSpPr>
        <p:spPr/>
        <p:txBody>
          <a:bodyPr/>
          <a:lstStyle/>
          <a:p>
            <a:r>
              <a:rPr lang="en-US" b="1" dirty="0"/>
              <a:t>Form validation</a:t>
            </a:r>
          </a:p>
        </p:txBody>
      </p:sp>
      <p:sp>
        <p:nvSpPr>
          <p:cNvPr id="3" name="Content Placeholder 2">
            <a:extLst>
              <a:ext uri="{FF2B5EF4-FFF2-40B4-BE49-F238E27FC236}">
                <a16:creationId xmlns:a16="http://schemas.microsoft.com/office/drawing/2014/main" id="{7690E58B-A3F1-481A-943C-14B56779FD5A}"/>
              </a:ext>
            </a:extLst>
          </p:cNvPr>
          <p:cNvSpPr>
            <a:spLocks noGrp="1"/>
          </p:cNvSpPr>
          <p:nvPr>
            <p:ph idx="1"/>
          </p:nvPr>
        </p:nvSpPr>
        <p:spPr/>
        <p:txBody>
          <a:bodyPr/>
          <a:lstStyle/>
          <a:p>
            <a:r>
              <a:rPr lang="en-US" dirty="0"/>
              <a:t>Forms in web pages are sent to server for processing. If the data in form are incorrect then it may put lot of burden in server. So JavaScript provides a way to validate forms data on the clients computer before sending it to the web server.</a:t>
            </a:r>
          </a:p>
          <a:p>
            <a:r>
              <a:rPr lang="en-US" dirty="0"/>
              <a:t>Form validation generally performs two functions:</a:t>
            </a:r>
          </a:p>
          <a:p>
            <a:pPr lvl="1"/>
            <a:r>
              <a:rPr lang="en-US" dirty="0"/>
              <a:t>Basic validation: First of all, the form must be checked </a:t>
            </a:r>
            <a:r>
              <a:rPr lang="en-US"/>
              <a:t>to make </a:t>
            </a:r>
            <a:r>
              <a:rPr lang="en-US" dirty="0"/>
              <a:t>sure all the mandatory fields are filled in.</a:t>
            </a:r>
          </a:p>
          <a:p>
            <a:pPr lvl="1"/>
            <a:r>
              <a:rPr lang="en-US" dirty="0"/>
              <a:t>Data format validation: Secondly, the data that is entered must be checked for correct form and value.</a:t>
            </a:r>
          </a:p>
        </p:txBody>
      </p:sp>
    </p:spTree>
    <p:extLst>
      <p:ext uri="{BB962C8B-B14F-4D97-AF65-F5344CB8AC3E}">
        <p14:creationId xmlns:p14="http://schemas.microsoft.com/office/powerpoint/2010/main" val="37762319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Error Handling in JavaScript</a:t>
            </a:r>
          </a:p>
        </p:txBody>
      </p:sp>
      <p:sp>
        <p:nvSpPr>
          <p:cNvPr id="3" name="Content Placeholder 2"/>
          <p:cNvSpPr>
            <a:spLocks noGrp="1"/>
          </p:cNvSpPr>
          <p:nvPr>
            <p:ph idx="1"/>
          </p:nvPr>
        </p:nvSpPr>
        <p:spPr>
          <a:xfrm>
            <a:off x="677334" y="1423447"/>
            <a:ext cx="10248332" cy="5434553"/>
          </a:xfrm>
        </p:spPr>
        <p:txBody>
          <a:bodyPr>
            <a:normAutofit/>
          </a:bodyPr>
          <a:lstStyle/>
          <a:p>
            <a:pPr marL="0" indent="0">
              <a:buNone/>
            </a:pPr>
            <a:r>
              <a:rPr lang="en-US" dirty="0"/>
              <a:t>What is an Error?</a:t>
            </a:r>
          </a:p>
          <a:p>
            <a:pPr marL="0" indent="0">
              <a:buNone/>
            </a:pPr>
            <a:r>
              <a:rPr lang="en-US" dirty="0"/>
              <a:t>An error is an event that occurs during the execution of a program that prevents it from continuing normally. Errors can be caused by a variety of factors, such as syntax errors, runtime errors, and logical errors.</a:t>
            </a:r>
          </a:p>
          <a:p>
            <a:pPr marL="0" indent="0">
              <a:buNone/>
            </a:pPr>
            <a:endParaRPr lang="en-US" dirty="0"/>
          </a:p>
          <a:p>
            <a:pPr marL="0" indent="0">
              <a:buNone/>
            </a:pPr>
            <a:r>
              <a:rPr lang="en-US" dirty="0"/>
              <a:t>Syntax Errors</a:t>
            </a:r>
          </a:p>
          <a:p>
            <a:pPr marL="0" indent="0">
              <a:buNone/>
            </a:pPr>
            <a:r>
              <a:rPr lang="en-US" dirty="0"/>
              <a:t>Logical Errors</a:t>
            </a:r>
          </a:p>
          <a:p>
            <a:pPr marL="0" indent="0">
              <a:buNone/>
            </a:pPr>
            <a:r>
              <a:rPr lang="en-US" dirty="0"/>
              <a:t>Runtime Error</a:t>
            </a:r>
          </a:p>
        </p:txBody>
      </p:sp>
    </p:spTree>
    <p:extLst>
      <p:ext uri="{BB962C8B-B14F-4D97-AF65-F5344CB8AC3E}">
        <p14:creationId xmlns:p14="http://schemas.microsoft.com/office/powerpoint/2010/main" val="23539413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Error Handling in JavaScript</a:t>
            </a:r>
          </a:p>
        </p:txBody>
      </p:sp>
      <p:sp>
        <p:nvSpPr>
          <p:cNvPr id="3" name="Content Placeholder 2"/>
          <p:cNvSpPr>
            <a:spLocks noGrp="1"/>
          </p:cNvSpPr>
          <p:nvPr>
            <p:ph idx="1"/>
          </p:nvPr>
        </p:nvSpPr>
        <p:spPr>
          <a:xfrm>
            <a:off x="677333" y="1366887"/>
            <a:ext cx="8872019" cy="4674475"/>
          </a:xfrm>
        </p:spPr>
        <p:txBody>
          <a:bodyPr>
            <a:normAutofit/>
          </a:bodyPr>
          <a:lstStyle/>
          <a:p>
            <a:pPr marL="0" indent="0">
              <a:buNone/>
            </a:pPr>
            <a:r>
              <a:rPr lang="en-US" dirty="0"/>
              <a:t>What is Error Handling?</a:t>
            </a:r>
          </a:p>
          <a:p>
            <a:pPr marL="0" indent="0">
              <a:buNone/>
            </a:pPr>
            <a:r>
              <a:rPr lang="en-US" dirty="0"/>
              <a:t>Whenever any error occurs in the JavaScript code, the JavaScript engine stops the execution of the whole code. If you handle such errors in the proper way, you can skip the code with errors and continue to execute the other JavaScript code.</a:t>
            </a:r>
          </a:p>
        </p:txBody>
      </p:sp>
    </p:spTree>
    <p:extLst>
      <p:ext uri="{BB962C8B-B14F-4D97-AF65-F5344CB8AC3E}">
        <p14:creationId xmlns:p14="http://schemas.microsoft.com/office/powerpoint/2010/main" val="27408711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Error Handling in JavaScript</a:t>
            </a:r>
          </a:p>
        </p:txBody>
      </p:sp>
      <p:sp>
        <p:nvSpPr>
          <p:cNvPr id="3" name="Content Placeholder 2"/>
          <p:cNvSpPr>
            <a:spLocks noGrp="1"/>
          </p:cNvSpPr>
          <p:nvPr>
            <p:ph idx="1"/>
          </p:nvPr>
        </p:nvSpPr>
        <p:spPr/>
        <p:txBody>
          <a:bodyPr>
            <a:normAutofit/>
          </a:bodyPr>
          <a:lstStyle/>
          <a:p>
            <a:pPr marL="0" indent="0">
              <a:buNone/>
            </a:pPr>
            <a:r>
              <a:rPr lang="en-US" b="1" dirty="0"/>
              <a:t>Throw, and Try...Catch...Finally</a:t>
            </a:r>
          </a:p>
          <a:p>
            <a:r>
              <a:rPr lang="en-US" dirty="0"/>
              <a:t>The try statement defines a code block to run (to try).</a:t>
            </a:r>
          </a:p>
          <a:p>
            <a:endParaRPr lang="en-US" dirty="0"/>
          </a:p>
          <a:p>
            <a:r>
              <a:rPr lang="en-US" dirty="0"/>
              <a:t>The catch statement defines a code block to handle any error.</a:t>
            </a:r>
          </a:p>
          <a:p>
            <a:endParaRPr lang="en-US" dirty="0"/>
          </a:p>
          <a:p>
            <a:r>
              <a:rPr lang="en-US" dirty="0"/>
              <a:t>The finally statement defines a code block to run regardless of the result.</a:t>
            </a:r>
          </a:p>
          <a:p>
            <a:endParaRPr lang="en-US" dirty="0"/>
          </a:p>
          <a:p>
            <a:r>
              <a:rPr lang="en-US" dirty="0"/>
              <a:t>The throw statement defines a custom error.</a:t>
            </a:r>
          </a:p>
          <a:p>
            <a:endParaRPr lang="en-US" dirty="0"/>
          </a:p>
        </p:txBody>
      </p:sp>
    </p:spTree>
    <p:extLst>
      <p:ext uri="{BB962C8B-B14F-4D97-AF65-F5344CB8AC3E}">
        <p14:creationId xmlns:p14="http://schemas.microsoft.com/office/powerpoint/2010/main" val="3082533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7876748" y="2818125"/>
            <a:ext cx="2603634" cy="1536779"/>
          </a:xfrm>
          <a:prstGeom prst="rect">
            <a:avLst/>
          </a:prstGeom>
        </p:spPr>
      </p:pic>
      <p:pic>
        <p:nvPicPr>
          <p:cNvPr id="5" name="Picture 4"/>
          <p:cNvPicPr>
            <a:picLocks noChangeAspect="1"/>
          </p:cNvPicPr>
          <p:nvPr/>
        </p:nvPicPr>
        <p:blipFill>
          <a:blip r:embed="rId3"/>
          <a:stretch>
            <a:fillRect/>
          </a:stretch>
        </p:blipFill>
        <p:spPr>
          <a:xfrm>
            <a:off x="1327178" y="1930400"/>
            <a:ext cx="5239019" cy="4159464"/>
          </a:xfrm>
          <a:prstGeom prst="rect">
            <a:avLst/>
          </a:prstGeom>
        </p:spPr>
      </p:pic>
    </p:spTree>
    <p:extLst>
      <p:ext uri="{BB962C8B-B14F-4D97-AF65-F5344CB8AC3E}">
        <p14:creationId xmlns:p14="http://schemas.microsoft.com/office/powerpoint/2010/main" val="18596002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Cookies</a:t>
            </a:r>
          </a:p>
        </p:txBody>
      </p:sp>
      <p:sp>
        <p:nvSpPr>
          <p:cNvPr id="3" name="Content Placeholder 2"/>
          <p:cNvSpPr>
            <a:spLocks noGrp="1"/>
          </p:cNvSpPr>
          <p:nvPr>
            <p:ph idx="1"/>
          </p:nvPr>
        </p:nvSpPr>
        <p:spPr/>
        <p:txBody>
          <a:bodyPr>
            <a:normAutofit/>
          </a:bodyPr>
          <a:lstStyle/>
          <a:p>
            <a:pPr algn="just"/>
            <a:r>
              <a:rPr lang="en-US" dirty="0"/>
              <a:t>Cookies are data, stored in small text files, on your computer.</a:t>
            </a:r>
          </a:p>
          <a:p>
            <a:r>
              <a:rPr lang="en-US" dirty="0"/>
              <a:t>Cookies let you store user information in web pages.</a:t>
            </a:r>
          </a:p>
          <a:p>
            <a:pPr algn="just"/>
            <a:r>
              <a:rPr lang="en-US" dirty="0"/>
              <a:t>When a web server has sent a web page to a browser, the connection is shut down, and the server forgets everything about the user.</a:t>
            </a:r>
          </a:p>
          <a:p>
            <a:pPr algn="just"/>
            <a:r>
              <a:rPr lang="en-US" dirty="0"/>
              <a:t>Cookies were invented to solve the problem "how to remember information about the user":</a:t>
            </a:r>
          </a:p>
          <a:p>
            <a:pPr algn="just"/>
            <a:r>
              <a:rPr lang="en-US" dirty="0"/>
              <a:t>When a user visits a web page, his/her name can be stored in a cookie.</a:t>
            </a:r>
          </a:p>
          <a:p>
            <a:pPr algn="just"/>
            <a:r>
              <a:rPr lang="en-US" dirty="0"/>
              <a:t>Next time the user visits the page, the cookie "remembers" his/her name.</a:t>
            </a:r>
          </a:p>
        </p:txBody>
      </p:sp>
    </p:spTree>
    <p:extLst>
      <p:ext uri="{BB962C8B-B14F-4D97-AF65-F5344CB8AC3E}">
        <p14:creationId xmlns:p14="http://schemas.microsoft.com/office/powerpoint/2010/main" val="41668305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Cookies</a:t>
            </a:r>
            <a:endParaRPr lang="en-US" dirty="0"/>
          </a:p>
        </p:txBody>
      </p:sp>
      <p:sp>
        <p:nvSpPr>
          <p:cNvPr id="3" name="Content Placeholder 2"/>
          <p:cNvSpPr>
            <a:spLocks noGrp="1"/>
          </p:cNvSpPr>
          <p:nvPr>
            <p:ph idx="1"/>
          </p:nvPr>
        </p:nvSpPr>
        <p:spPr/>
        <p:txBody>
          <a:bodyPr/>
          <a:lstStyle/>
          <a:p>
            <a:pPr algn="just"/>
            <a:r>
              <a:rPr lang="en-US" dirty="0"/>
              <a:t>Cookies are saved in name-value pairs like:</a:t>
            </a:r>
          </a:p>
          <a:p>
            <a:pPr algn="just"/>
            <a:r>
              <a:rPr lang="en-US" dirty="0"/>
              <a:t>username = John Doe</a:t>
            </a:r>
          </a:p>
          <a:p>
            <a:pPr algn="just"/>
            <a:r>
              <a:rPr lang="en-US" dirty="0"/>
              <a:t>When a browser requests a web page from a server, cookies belonging to the page are added to the request. This way the server gets the necessary data to "remember" information about users.</a:t>
            </a:r>
          </a:p>
          <a:p>
            <a:pPr algn="just"/>
            <a:endParaRPr lang="en-US" dirty="0"/>
          </a:p>
          <a:p>
            <a:pPr algn="just"/>
            <a:r>
              <a:rPr lang="en-US" dirty="0"/>
              <a:t>None of the examples below will work if your browser has local cookies support turned off.</a:t>
            </a:r>
          </a:p>
        </p:txBody>
      </p:sp>
    </p:spTree>
    <p:extLst>
      <p:ext uri="{BB962C8B-B14F-4D97-AF65-F5344CB8AC3E}">
        <p14:creationId xmlns:p14="http://schemas.microsoft.com/office/powerpoint/2010/main" val="6794303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77759-B590-4C50-8D99-DBB0BAA44D4C}"/>
              </a:ext>
            </a:extLst>
          </p:cNvPr>
          <p:cNvSpPr>
            <a:spLocks noGrp="1"/>
          </p:cNvSpPr>
          <p:nvPr>
            <p:ph type="title"/>
          </p:nvPr>
        </p:nvSpPr>
        <p:spPr/>
        <p:txBody>
          <a:bodyPr/>
          <a:lstStyle/>
          <a:p>
            <a:r>
              <a:rPr lang="en-US" b="1" dirty="0"/>
              <a:t>How It Works ?</a:t>
            </a:r>
            <a:br>
              <a:rPr lang="en-US" b="1" dirty="0"/>
            </a:br>
            <a:endParaRPr lang="en-US" b="1" dirty="0"/>
          </a:p>
        </p:txBody>
      </p:sp>
      <p:sp>
        <p:nvSpPr>
          <p:cNvPr id="3" name="Content Placeholder 2">
            <a:extLst>
              <a:ext uri="{FF2B5EF4-FFF2-40B4-BE49-F238E27FC236}">
                <a16:creationId xmlns:a16="http://schemas.microsoft.com/office/drawing/2014/main" id="{3CCAEA8C-7461-4157-950A-F86B745439BF}"/>
              </a:ext>
            </a:extLst>
          </p:cNvPr>
          <p:cNvSpPr>
            <a:spLocks noGrp="1"/>
          </p:cNvSpPr>
          <p:nvPr>
            <p:ph idx="1"/>
          </p:nvPr>
        </p:nvSpPr>
        <p:spPr>
          <a:xfrm>
            <a:off x="677334" y="1715679"/>
            <a:ext cx="8843738" cy="4325684"/>
          </a:xfrm>
        </p:spPr>
        <p:txBody>
          <a:bodyPr>
            <a:normAutofit/>
          </a:bodyPr>
          <a:lstStyle/>
          <a:p>
            <a:r>
              <a:rPr lang="en-US" dirty="0"/>
              <a:t>Your server sends some data to the visitor's browser in the form of a cookie. The browser may accept the cookie. If it does, it is stored as a plain text record on the visitor's hard drive. Now, when the visitor arrives at another page on your site, the browser sends the same cookie to the server for retrieval. Once retrieved, your server knows/remembers what was stored earlier.</a:t>
            </a:r>
          </a:p>
        </p:txBody>
      </p:sp>
    </p:spTree>
    <p:extLst>
      <p:ext uri="{BB962C8B-B14F-4D97-AF65-F5344CB8AC3E}">
        <p14:creationId xmlns:p14="http://schemas.microsoft.com/office/powerpoint/2010/main" val="14222512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Create a Cookie with JavaScript</a:t>
            </a:r>
          </a:p>
        </p:txBody>
      </p:sp>
      <p:sp>
        <p:nvSpPr>
          <p:cNvPr id="3" name="Content Placeholder 2"/>
          <p:cNvSpPr>
            <a:spLocks noGrp="1"/>
          </p:cNvSpPr>
          <p:nvPr>
            <p:ph idx="1"/>
          </p:nvPr>
        </p:nvSpPr>
        <p:spPr>
          <a:xfrm>
            <a:off x="677334" y="1414021"/>
            <a:ext cx="10837332" cy="4627341"/>
          </a:xfrm>
        </p:spPr>
        <p:txBody>
          <a:bodyPr>
            <a:normAutofit/>
          </a:bodyPr>
          <a:lstStyle/>
          <a:p>
            <a:pPr algn="just"/>
            <a:r>
              <a:rPr lang="en-US" dirty="0"/>
              <a:t>JavaScript can create, read, and delete cookies with the document.cookie property.</a:t>
            </a:r>
          </a:p>
          <a:p>
            <a:pPr algn="just"/>
            <a:endParaRPr lang="en-US" dirty="0"/>
          </a:p>
          <a:p>
            <a:pPr algn="just"/>
            <a:r>
              <a:rPr lang="en-US" dirty="0"/>
              <a:t>With JavaScript, a cookie can be created like this:</a:t>
            </a:r>
          </a:p>
          <a:p>
            <a:pPr algn="just"/>
            <a:r>
              <a:rPr lang="en-US" b="1" dirty="0"/>
              <a:t>document.cookie = "username=John Doe";</a:t>
            </a:r>
          </a:p>
          <a:p>
            <a:pPr algn="just"/>
            <a:endParaRPr lang="en-US" dirty="0"/>
          </a:p>
          <a:p>
            <a:pPr algn="just"/>
            <a:r>
              <a:rPr lang="en-US" dirty="0"/>
              <a:t>You can also add an expiry date (in UTC time). By default, the cookie is deleted when the browser is closed:</a:t>
            </a:r>
          </a:p>
          <a:p>
            <a:pPr algn="just"/>
            <a:r>
              <a:rPr lang="en-US" b="1" dirty="0"/>
              <a:t>document.cookie = "username=John Doe; expires=Thu, 18 Dec 2013 12:00:00 UTC";</a:t>
            </a:r>
          </a:p>
          <a:p>
            <a:pPr algn="just"/>
            <a:endParaRPr lang="en-US" dirty="0"/>
          </a:p>
          <a:p>
            <a:pPr algn="just"/>
            <a:r>
              <a:rPr lang="en-US" dirty="0"/>
              <a:t>With a path parameter, you can tell the browser what path the cookie belongs to. By default, the cookie belongs to the current page.</a:t>
            </a:r>
          </a:p>
          <a:p>
            <a:pPr algn="just"/>
            <a:r>
              <a:rPr lang="en-US" b="1" dirty="0"/>
              <a:t>document.cookie = "username=John Doe; expires=Thu, 18 Dec 2013 12:00:00 UTC; path=/";</a:t>
            </a:r>
          </a:p>
        </p:txBody>
      </p:sp>
    </p:spTree>
    <p:extLst>
      <p:ext uri="{BB962C8B-B14F-4D97-AF65-F5344CB8AC3E}">
        <p14:creationId xmlns:p14="http://schemas.microsoft.com/office/powerpoint/2010/main" val="34924869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Read a Cookie with JavaScript</a:t>
            </a:r>
          </a:p>
        </p:txBody>
      </p:sp>
      <p:sp>
        <p:nvSpPr>
          <p:cNvPr id="3" name="Content Placeholder 2"/>
          <p:cNvSpPr>
            <a:spLocks noGrp="1"/>
          </p:cNvSpPr>
          <p:nvPr>
            <p:ph idx="1"/>
          </p:nvPr>
        </p:nvSpPr>
        <p:spPr/>
        <p:txBody>
          <a:bodyPr/>
          <a:lstStyle/>
          <a:p>
            <a:pPr algn="just"/>
            <a:r>
              <a:rPr lang="en-US" dirty="0"/>
              <a:t>With JavaScript, cookies can be read like this:</a:t>
            </a:r>
          </a:p>
          <a:p>
            <a:pPr algn="just"/>
            <a:endParaRPr lang="en-US" dirty="0"/>
          </a:p>
          <a:p>
            <a:pPr algn="just"/>
            <a:r>
              <a:rPr lang="en-US" dirty="0"/>
              <a:t>let x = document.cookie;</a:t>
            </a:r>
          </a:p>
          <a:p>
            <a:pPr marL="0" indent="0" algn="just">
              <a:buNone/>
            </a:pPr>
            <a:endParaRPr lang="en-US" dirty="0"/>
          </a:p>
          <a:p>
            <a:pPr algn="just"/>
            <a:r>
              <a:rPr lang="en-US" dirty="0"/>
              <a:t>document.cookie will return all cookies in one string much like: cookie1=value; cookie2=value; cookie3=value;</a:t>
            </a:r>
          </a:p>
        </p:txBody>
      </p:sp>
    </p:spTree>
    <p:extLst>
      <p:ext uri="{BB962C8B-B14F-4D97-AF65-F5344CB8AC3E}">
        <p14:creationId xmlns:p14="http://schemas.microsoft.com/office/powerpoint/2010/main" val="35595815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Change a Cookie with JavaScript</a:t>
            </a:r>
          </a:p>
        </p:txBody>
      </p:sp>
      <p:sp>
        <p:nvSpPr>
          <p:cNvPr id="3" name="Content Placeholder 2"/>
          <p:cNvSpPr>
            <a:spLocks noGrp="1"/>
          </p:cNvSpPr>
          <p:nvPr>
            <p:ph idx="1"/>
          </p:nvPr>
        </p:nvSpPr>
        <p:spPr/>
        <p:txBody>
          <a:bodyPr/>
          <a:lstStyle/>
          <a:p>
            <a:r>
              <a:rPr lang="en-US" dirty="0"/>
              <a:t>With JavaScript, you can change a cookie the same way as you create it:</a:t>
            </a:r>
          </a:p>
          <a:p>
            <a:endParaRPr lang="en-US" dirty="0"/>
          </a:p>
          <a:p>
            <a:r>
              <a:rPr lang="en-US" dirty="0"/>
              <a:t>document.cookie = "username=John Smith; expires=Thu, 18 Dec 2013 12:00:00 UTC; path=/";</a:t>
            </a:r>
          </a:p>
          <a:p>
            <a:endParaRPr lang="en-US" dirty="0"/>
          </a:p>
          <a:p>
            <a:r>
              <a:rPr lang="en-US" dirty="0"/>
              <a:t>The old cookie is overwritten.</a:t>
            </a:r>
          </a:p>
        </p:txBody>
      </p:sp>
    </p:spTree>
    <p:extLst>
      <p:ext uri="{BB962C8B-B14F-4D97-AF65-F5344CB8AC3E}">
        <p14:creationId xmlns:p14="http://schemas.microsoft.com/office/powerpoint/2010/main" val="13887345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Delete a Cookie with JavaScript</a:t>
            </a:r>
            <a:br>
              <a:rPr lang="en-US" b="1" dirty="0"/>
            </a:br>
            <a:endParaRPr lang="en-US" b="1" dirty="0"/>
          </a:p>
        </p:txBody>
      </p:sp>
      <p:sp>
        <p:nvSpPr>
          <p:cNvPr id="3" name="Content Placeholder 2"/>
          <p:cNvSpPr>
            <a:spLocks noGrp="1"/>
          </p:cNvSpPr>
          <p:nvPr>
            <p:ph idx="1"/>
          </p:nvPr>
        </p:nvSpPr>
        <p:spPr/>
        <p:txBody>
          <a:bodyPr/>
          <a:lstStyle/>
          <a:p>
            <a:r>
              <a:rPr lang="en-US" dirty="0"/>
              <a:t>Deleting a cookie is very simple</a:t>
            </a:r>
          </a:p>
          <a:p>
            <a:pPr marL="0" indent="0">
              <a:buNone/>
            </a:pPr>
            <a:endParaRPr lang="en-US" dirty="0"/>
          </a:p>
          <a:p>
            <a:r>
              <a:rPr lang="en-US" dirty="0"/>
              <a:t>You don't have to specify a cookie value when you delete a cookie.</a:t>
            </a:r>
          </a:p>
          <a:p>
            <a:endParaRPr lang="en-US" dirty="0"/>
          </a:p>
          <a:p>
            <a:r>
              <a:rPr lang="en-US" dirty="0"/>
              <a:t>Just set the expires parameter to a past date:</a:t>
            </a:r>
          </a:p>
          <a:p>
            <a:endParaRPr lang="en-US" dirty="0"/>
          </a:p>
          <a:p>
            <a:r>
              <a:rPr lang="en-US" dirty="0"/>
              <a:t>document.cookie = "username=; expires=Thu, 01 Jan 1970 00:00:00 UTC; path=/;";</a:t>
            </a:r>
          </a:p>
        </p:txBody>
      </p:sp>
    </p:spTree>
    <p:extLst>
      <p:ext uri="{BB962C8B-B14F-4D97-AF65-F5344CB8AC3E}">
        <p14:creationId xmlns:p14="http://schemas.microsoft.com/office/powerpoint/2010/main" val="3707174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JQuery</a:t>
            </a:r>
            <a:br>
              <a:rPr lang="en-US" b="1" dirty="0"/>
            </a:br>
            <a:endParaRPr lang="en-US" b="1" dirty="0"/>
          </a:p>
        </p:txBody>
      </p:sp>
      <p:sp>
        <p:nvSpPr>
          <p:cNvPr id="3" name="Content Placeholder 2"/>
          <p:cNvSpPr>
            <a:spLocks noGrp="1"/>
          </p:cNvSpPr>
          <p:nvPr>
            <p:ph idx="1"/>
          </p:nvPr>
        </p:nvSpPr>
        <p:spPr>
          <a:xfrm>
            <a:off x="554785" y="1576127"/>
            <a:ext cx="10455722" cy="4947221"/>
          </a:xfrm>
        </p:spPr>
        <p:txBody>
          <a:bodyPr>
            <a:normAutofit fontScale="92500" lnSpcReduction="10000"/>
          </a:bodyPr>
          <a:lstStyle/>
          <a:p>
            <a:r>
              <a:rPr lang="en-US" dirty="0"/>
              <a:t>jQuery is a JavaScript library that makes web pages quicker, easier, responsive and handler the request. </a:t>
            </a:r>
          </a:p>
          <a:p>
            <a:r>
              <a:rPr lang="en-US" dirty="0"/>
              <a:t>Often with jQuery you can write a single line of code to achieve what would have taken 10-20 lines of regular JavaScript code. </a:t>
            </a:r>
          </a:p>
          <a:p>
            <a:r>
              <a:rPr lang="en-US" dirty="0"/>
              <a:t>jQuery allows web developers to plug routine JavaScript features into a web page so they can spend more time focusing on complicated features that are unique to their site.</a:t>
            </a:r>
          </a:p>
          <a:p>
            <a:r>
              <a:rPr lang="en-US" b="1" dirty="0"/>
              <a:t>Things you can do with jQuery:</a:t>
            </a:r>
          </a:p>
          <a:p>
            <a:pPr marL="800100" lvl="1" indent="-342900">
              <a:buFont typeface="+mj-lt"/>
              <a:buAutoNum type="arabicPeriod"/>
            </a:pPr>
            <a:r>
              <a:rPr lang="en-US" dirty="0"/>
              <a:t>Adding animated effects to elements like fading in/out, sliding in/out and expanding/contracting.</a:t>
            </a:r>
          </a:p>
          <a:p>
            <a:pPr marL="800100" lvl="1" indent="-342900">
              <a:buFont typeface="+mj-lt"/>
              <a:buAutoNum type="arabicPeriod"/>
            </a:pPr>
            <a:r>
              <a:rPr lang="en-US" dirty="0"/>
              <a:t>Making XML requests.</a:t>
            </a:r>
          </a:p>
          <a:p>
            <a:pPr marL="800100" lvl="1" indent="-342900">
              <a:buFont typeface="+mj-lt"/>
              <a:buAutoNum type="arabicPeriod"/>
            </a:pPr>
            <a:r>
              <a:rPr lang="en-US" dirty="0"/>
              <a:t>Manipulating DOM. You can easily add, remove and reorder content in the web pages using just a couple of lines of code.</a:t>
            </a:r>
          </a:p>
          <a:p>
            <a:pPr marL="800100" lvl="1" indent="-342900">
              <a:buFont typeface="+mj-lt"/>
              <a:buAutoNum type="arabicPeriod"/>
            </a:pPr>
            <a:r>
              <a:rPr lang="en-US" dirty="0"/>
              <a:t>Creating image slideshows</a:t>
            </a:r>
          </a:p>
          <a:p>
            <a:pPr marL="800100" lvl="1" indent="-342900">
              <a:buFont typeface="+mj-lt"/>
              <a:buAutoNum type="arabicPeriod"/>
            </a:pPr>
            <a:r>
              <a:rPr lang="en-US" dirty="0"/>
              <a:t>Making Drop-down menus</a:t>
            </a:r>
          </a:p>
          <a:p>
            <a:pPr marL="800100" lvl="1" indent="-342900">
              <a:buFont typeface="+mj-lt"/>
              <a:buAutoNum type="arabicPeriod"/>
            </a:pPr>
            <a:r>
              <a:rPr lang="en-US" dirty="0"/>
              <a:t>Creating drag and drop interfaces</a:t>
            </a:r>
          </a:p>
          <a:p>
            <a:pPr marL="800100" lvl="1" indent="-342900">
              <a:buFont typeface="+mj-lt"/>
              <a:buAutoNum type="arabicPeriod"/>
            </a:pPr>
            <a:r>
              <a:rPr lang="en-US" dirty="0"/>
              <a:t>Adding complex client side form validation.</a:t>
            </a:r>
          </a:p>
        </p:txBody>
      </p:sp>
      <p:pic>
        <p:nvPicPr>
          <p:cNvPr id="5" name="Picture 4">
            <a:extLst>
              <a:ext uri="{FF2B5EF4-FFF2-40B4-BE49-F238E27FC236}">
                <a16:creationId xmlns:a16="http://schemas.microsoft.com/office/drawing/2014/main" id="{E9B6E374-456E-45FF-AC75-D14237C104DF}"/>
              </a:ext>
            </a:extLst>
          </p:cNvPr>
          <p:cNvPicPr>
            <a:picLocks noChangeAspect="1"/>
          </p:cNvPicPr>
          <p:nvPr/>
        </p:nvPicPr>
        <p:blipFill>
          <a:blip r:embed="rId2"/>
          <a:stretch>
            <a:fillRect/>
          </a:stretch>
        </p:blipFill>
        <p:spPr>
          <a:xfrm>
            <a:off x="10812956" y="203051"/>
            <a:ext cx="1124107" cy="1066949"/>
          </a:xfrm>
          <a:prstGeom prst="rect">
            <a:avLst/>
          </a:prstGeom>
        </p:spPr>
      </p:pic>
    </p:spTree>
    <p:extLst>
      <p:ext uri="{BB962C8B-B14F-4D97-AF65-F5344CB8AC3E}">
        <p14:creationId xmlns:p14="http://schemas.microsoft.com/office/powerpoint/2010/main" val="8887738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JQuery Syntax</a:t>
            </a:r>
          </a:p>
        </p:txBody>
      </p:sp>
      <p:sp>
        <p:nvSpPr>
          <p:cNvPr id="3" name="Content Placeholder 2"/>
          <p:cNvSpPr>
            <a:spLocks noGrp="1"/>
          </p:cNvSpPr>
          <p:nvPr>
            <p:ph idx="1"/>
          </p:nvPr>
        </p:nvSpPr>
        <p:spPr>
          <a:xfrm>
            <a:off x="677334" y="1319753"/>
            <a:ext cx="9267944" cy="4721609"/>
          </a:xfrm>
        </p:spPr>
        <p:txBody>
          <a:bodyPr/>
          <a:lstStyle/>
          <a:p>
            <a:pPr algn="ctr"/>
            <a:r>
              <a:rPr lang="en-US" sz="2800" b="1" dirty="0"/>
              <a:t>$(selector).methodorFunction();</a:t>
            </a:r>
          </a:p>
          <a:p>
            <a:r>
              <a:rPr lang="en-US" dirty="0"/>
              <a:t>All statements come from a basic template for applying functions and methods to selected HTML elements and their attributes. This method can be easily modified depending on the selector and the action which is the applied method or function.</a:t>
            </a:r>
          </a:p>
          <a:p>
            <a:r>
              <a:rPr lang="en-US" b="1" dirty="0"/>
              <a:t>Document Ready Event</a:t>
            </a:r>
          </a:p>
          <a:p>
            <a:r>
              <a:rPr lang="en-US" dirty="0"/>
              <a:t>Before jQuery is applied, it is important to make sure that all HTML elements have been loaded and the CSS is fully computed. These conditions are necessary for jQuery to be applied properly. To make sure that is the case, we place all jQuery inside the document ready event. This means that the statements inside the block of code will only be applied once the web page has finished loading.</a:t>
            </a:r>
          </a:p>
          <a:p>
            <a:r>
              <a:rPr lang="en-US" b="1" dirty="0"/>
              <a:t>$(document).ready(()=&gt;{</a:t>
            </a:r>
          </a:p>
          <a:p>
            <a:pPr marL="457200" lvl="1" indent="0">
              <a:buNone/>
            </a:pPr>
            <a:r>
              <a:rPr lang="en-US" b="1" dirty="0"/>
              <a:t>	$(‘.fast’).hide();			//All jQuery statements go here</a:t>
            </a:r>
          </a:p>
          <a:p>
            <a:pPr marL="457200" lvl="1" indent="0">
              <a:buNone/>
            </a:pPr>
            <a:r>
              <a:rPr lang="en-US" b="1" dirty="0"/>
              <a:t>});</a:t>
            </a:r>
          </a:p>
        </p:txBody>
      </p:sp>
      <p:pic>
        <p:nvPicPr>
          <p:cNvPr id="5" name="Picture 4">
            <a:extLst>
              <a:ext uri="{FF2B5EF4-FFF2-40B4-BE49-F238E27FC236}">
                <a16:creationId xmlns:a16="http://schemas.microsoft.com/office/drawing/2014/main" id="{532F476B-1BA9-425D-BCA0-4BEDC253BC90}"/>
              </a:ext>
            </a:extLst>
          </p:cNvPr>
          <p:cNvPicPr>
            <a:picLocks noChangeAspect="1"/>
          </p:cNvPicPr>
          <p:nvPr/>
        </p:nvPicPr>
        <p:blipFill>
          <a:blip r:embed="rId2"/>
          <a:stretch>
            <a:fillRect/>
          </a:stretch>
        </p:blipFill>
        <p:spPr>
          <a:xfrm>
            <a:off x="10680981" y="252804"/>
            <a:ext cx="1124107" cy="1066949"/>
          </a:xfrm>
          <a:prstGeom prst="rect">
            <a:avLst/>
          </a:prstGeom>
        </p:spPr>
      </p:pic>
    </p:spTree>
    <p:extLst>
      <p:ext uri="{BB962C8B-B14F-4D97-AF65-F5344CB8AC3E}">
        <p14:creationId xmlns:p14="http://schemas.microsoft.com/office/powerpoint/2010/main" val="419703413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B74DF-A164-4672-967E-04D7E13E6855}"/>
              </a:ext>
            </a:extLst>
          </p:cNvPr>
          <p:cNvSpPr>
            <a:spLocks noGrp="1"/>
          </p:cNvSpPr>
          <p:nvPr>
            <p:ph type="title"/>
          </p:nvPr>
        </p:nvSpPr>
        <p:spPr/>
        <p:txBody>
          <a:bodyPr/>
          <a:lstStyle/>
          <a:p>
            <a:r>
              <a:rPr lang="en-US" b="1" dirty="0"/>
              <a:t>jQuery Selectors</a:t>
            </a:r>
          </a:p>
        </p:txBody>
      </p:sp>
      <p:sp>
        <p:nvSpPr>
          <p:cNvPr id="3" name="Content Placeholder 2">
            <a:extLst>
              <a:ext uri="{FF2B5EF4-FFF2-40B4-BE49-F238E27FC236}">
                <a16:creationId xmlns:a16="http://schemas.microsoft.com/office/drawing/2014/main" id="{38BE374E-DF32-4B55-AE09-A6CBF12082D9}"/>
              </a:ext>
            </a:extLst>
          </p:cNvPr>
          <p:cNvSpPr>
            <a:spLocks noGrp="1"/>
          </p:cNvSpPr>
          <p:nvPr>
            <p:ph idx="1"/>
          </p:nvPr>
        </p:nvSpPr>
        <p:spPr/>
        <p:txBody>
          <a:bodyPr/>
          <a:lstStyle/>
          <a:p>
            <a:r>
              <a:rPr lang="en-US" dirty="0"/>
              <a:t>Selectors in jQuery are meant to specify a set of elements based on certain attributes such as ID, class, or the type of tag itself. These elements can then be selected of applying the jQuery method or a function you define.</a:t>
            </a:r>
          </a:p>
          <a:p>
            <a:r>
              <a:rPr lang="en-US" b="1" dirty="0"/>
              <a:t>Selecting by Type:(element name)</a:t>
            </a:r>
          </a:p>
          <a:p>
            <a:pPr lvl="1"/>
            <a:r>
              <a:rPr lang="en-US" dirty="0"/>
              <a:t>$(“a”)					// a tag </a:t>
            </a:r>
            <a:endParaRPr lang="en-US" b="1" dirty="0">
              <a:solidFill>
                <a:schemeClr val="tx2">
                  <a:lumMod val="50000"/>
                </a:schemeClr>
              </a:solidFill>
            </a:endParaRPr>
          </a:p>
          <a:p>
            <a:r>
              <a:rPr lang="en-US" b="1" dirty="0">
                <a:solidFill>
                  <a:schemeClr val="tx2">
                    <a:lumMod val="50000"/>
                  </a:schemeClr>
                </a:solidFill>
              </a:rPr>
              <a:t>Selecting by Class:</a:t>
            </a:r>
          </a:p>
          <a:p>
            <a:pPr lvl="1"/>
            <a:r>
              <a:rPr lang="en-US" dirty="0"/>
              <a:t>$(“.example”)				// example being class name of HTML element</a:t>
            </a:r>
          </a:p>
          <a:p>
            <a:r>
              <a:rPr lang="en-US" b="1" dirty="0">
                <a:solidFill>
                  <a:schemeClr val="tx2">
                    <a:lumMod val="50000"/>
                  </a:schemeClr>
                </a:solidFill>
              </a:rPr>
              <a:t>Selecting by ID:</a:t>
            </a:r>
          </a:p>
          <a:p>
            <a:pPr lvl="1"/>
            <a:r>
              <a:rPr lang="en-US" dirty="0"/>
              <a:t>$(“#example1”)			//example1 being ID name of HTML element</a:t>
            </a:r>
          </a:p>
        </p:txBody>
      </p:sp>
      <p:pic>
        <p:nvPicPr>
          <p:cNvPr id="5" name="Picture 4">
            <a:extLst>
              <a:ext uri="{FF2B5EF4-FFF2-40B4-BE49-F238E27FC236}">
                <a16:creationId xmlns:a16="http://schemas.microsoft.com/office/drawing/2014/main" id="{5DE971A1-3316-49D3-A0AB-1823EF1380CD}"/>
              </a:ext>
            </a:extLst>
          </p:cNvPr>
          <p:cNvPicPr>
            <a:picLocks noChangeAspect="1"/>
          </p:cNvPicPr>
          <p:nvPr/>
        </p:nvPicPr>
        <p:blipFill>
          <a:blip r:embed="rId2"/>
          <a:stretch>
            <a:fillRect/>
          </a:stretch>
        </p:blipFill>
        <p:spPr>
          <a:xfrm>
            <a:off x="10473592" y="435129"/>
            <a:ext cx="1124107" cy="1066949"/>
          </a:xfrm>
          <a:prstGeom prst="rect">
            <a:avLst/>
          </a:prstGeom>
        </p:spPr>
      </p:pic>
    </p:spTree>
    <p:extLst>
      <p:ext uri="{BB962C8B-B14F-4D97-AF65-F5344CB8AC3E}">
        <p14:creationId xmlns:p14="http://schemas.microsoft.com/office/powerpoint/2010/main" val="258615776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B74DF-A164-4672-967E-04D7E13E6855}"/>
              </a:ext>
            </a:extLst>
          </p:cNvPr>
          <p:cNvSpPr>
            <a:spLocks noGrp="1"/>
          </p:cNvSpPr>
          <p:nvPr>
            <p:ph type="title"/>
          </p:nvPr>
        </p:nvSpPr>
        <p:spPr/>
        <p:txBody>
          <a:bodyPr/>
          <a:lstStyle/>
          <a:p>
            <a:r>
              <a:rPr lang="en-US" b="1" dirty="0"/>
              <a:t>jQuery Selectors</a:t>
            </a:r>
          </a:p>
        </p:txBody>
      </p:sp>
      <p:sp>
        <p:nvSpPr>
          <p:cNvPr id="3" name="Content Placeholder 2">
            <a:extLst>
              <a:ext uri="{FF2B5EF4-FFF2-40B4-BE49-F238E27FC236}">
                <a16:creationId xmlns:a16="http://schemas.microsoft.com/office/drawing/2014/main" id="{38BE374E-DF32-4B55-AE09-A6CBF12082D9}"/>
              </a:ext>
            </a:extLst>
          </p:cNvPr>
          <p:cNvSpPr>
            <a:spLocks noGrp="1"/>
          </p:cNvSpPr>
          <p:nvPr>
            <p:ph idx="1"/>
          </p:nvPr>
        </p:nvSpPr>
        <p:spPr>
          <a:xfrm>
            <a:off x="677334" y="1717531"/>
            <a:ext cx="8596668" cy="3880773"/>
          </a:xfrm>
        </p:spPr>
        <p:txBody>
          <a:bodyPr>
            <a:normAutofit lnSpcReduction="10000"/>
          </a:bodyPr>
          <a:lstStyle/>
          <a:p>
            <a:r>
              <a:rPr lang="en-US" b="1" dirty="0"/>
              <a:t>Selecting by Possession of Attribute</a:t>
            </a:r>
          </a:p>
          <a:p>
            <a:pPr lvl="1"/>
            <a:r>
              <a:rPr lang="en-US" dirty="0"/>
              <a:t>$(“[href]”)			// selects the HTML element(a tag) with href as attribute</a:t>
            </a:r>
            <a:endParaRPr lang="en-US" b="1" dirty="0">
              <a:solidFill>
                <a:schemeClr val="tx2">
                  <a:lumMod val="50000"/>
                </a:schemeClr>
              </a:solidFill>
            </a:endParaRPr>
          </a:p>
          <a:p>
            <a:r>
              <a:rPr lang="en-US" b="1" dirty="0">
                <a:solidFill>
                  <a:schemeClr val="tx2">
                    <a:lumMod val="50000"/>
                  </a:schemeClr>
                </a:solidFill>
              </a:rPr>
              <a:t>Selecting by Attribute Value:</a:t>
            </a:r>
          </a:p>
          <a:p>
            <a:pPr lvl="1"/>
            <a:r>
              <a:rPr lang="en-US" dirty="0"/>
              <a:t>$(“[href=‘index.html’]”)	</a:t>
            </a:r>
          </a:p>
          <a:p>
            <a:pPr lvl="1"/>
            <a:r>
              <a:rPr lang="en-US" dirty="0"/>
              <a:t>//selects the HTML element with href attribute and index.HTML as value</a:t>
            </a:r>
          </a:p>
          <a:p>
            <a:r>
              <a:rPr lang="en-US" b="1" dirty="0">
                <a:solidFill>
                  <a:schemeClr val="tx2">
                    <a:lumMod val="50000"/>
                  </a:schemeClr>
                </a:solidFill>
              </a:rPr>
              <a:t>Selecting by ID:</a:t>
            </a:r>
          </a:p>
          <a:p>
            <a:pPr lvl="1"/>
            <a:r>
              <a:rPr lang="en-US" dirty="0"/>
              <a:t>$(“#example1”)			//example1 being ID name of HTML element</a:t>
            </a:r>
          </a:p>
          <a:p>
            <a:r>
              <a:rPr lang="en-US" b="1" dirty="0">
                <a:solidFill>
                  <a:schemeClr val="tx2">
                    <a:lumMod val="50000"/>
                  </a:schemeClr>
                </a:solidFill>
              </a:rPr>
              <a:t>Selecting by Pseudo state</a:t>
            </a:r>
          </a:p>
          <a:p>
            <a:pPr lvl="1"/>
            <a:r>
              <a:rPr lang="en-US" dirty="0">
                <a:solidFill>
                  <a:schemeClr val="tx2">
                    <a:lumMod val="50000"/>
                  </a:schemeClr>
                </a:solidFill>
              </a:rPr>
              <a:t>You can also select in jQuery using pseudo states including :first-child, :last-child, :first-of-type, :last-of-type, etc</a:t>
            </a:r>
          </a:p>
          <a:p>
            <a:pPr lvl="1"/>
            <a:r>
              <a:rPr lang="en-US" dirty="0"/>
              <a:t>$(“a:first-of-type”)	 	//will select first a tag element among series of a tags.</a:t>
            </a:r>
          </a:p>
          <a:p>
            <a:pPr lvl="1"/>
            <a:endParaRPr lang="en-US" dirty="0"/>
          </a:p>
          <a:p>
            <a:pPr marL="457200" lvl="1" indent="0">
              <a:buNone/>
            </a:pPr>
            <a:endParaRPr lang="en-US" dirty="0"/>
          </a:p>
        </p:txBody>
      </p:sp>
      <p:pic>
        <p:nvPicPr>
          <p:cNvPr id="5" name="Picture 4">
            <a:extLst>
              <a:ext uri="{FF2B5EF4-FFF2-40B4-BE49-F238E27FC236}">
                <a16:creationId xmlns:a16="http://schemas.microsoft.com/office/drawing/2014/main" id="{25D465C0-BA42-44FE-A28A-30D1708D7EA9}"/>
              </a:ext>
            </a:extLst>
          </p:cNvPr>
          <p:cNvPicPr>
            <a:picLocks noChangeAspect="1"/>
          </p:cNvPicPr>
          <p:nvPr/>
        </p:nvPicPr>
        <p:blipFill>
          <a:blip r:embed="rId2"/>
          <a:stretch>
            <a:fillRect/>
          </a:stretch>
        </p:blipFill>
        <p:spPr>
          <a:xfrm>
            <a:off x="10530153" y="369141"/>
            <a:ext cx="1124107" cy="1066949"/>
          </a:xfrm>
          <a:prstGeom prst="rect">
            <a:avLst/>
          </a:prstGeom>
        </p:spPr>
      </p:pic>
    </p:spTree>
    <p:extLst>
      <p:ext uri="{BB962C8B-B14F-4D97-AF65-F5344CB8AC3E}">
        <p14:creationId xmlns:p14="http://schemas.microsoft.com/office/powerpoint/2010/main" val="35600663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B74DF-A164-4672-967E-04D7E13E6855}"/>
              </a:ext>
            </a:extLst>
          </p:cNvPr>
          <p:cNvSpPr>
            <a:spLocks noGrp="1"/>
          </p:cNvSpPr>
          <p:nvPr>
            <p:ph type="title"/>
          </p:nvPr>
        </p:nvSpPr>
        <p:spPr/>
        <p:txBody>
          <a:bodyPr/>
          <a:lstStyle/>
          <a:p>
            <a:r>
              <a:rPr lang="en-US" b="1" dirty="0"/>
              <a:t>jQuery Selectors</a:t>
            </a:r>
          </a:p>
        </p:txBody>
      </p:sp>
      <p:sp>
        <p:nvSpPr>
          <p:cNvPr id="3" name="Content Placeholder 2">
            <a:extLst>
              <a:ext uri="{FF2B5EF4-FFF2-40B4-BE49-F238E27FC236}">
                <a16:creationId xmlns:a16="http://schemas.microsoft.com/office/drawing/2014/main" id="{38BE374E-DF32-4B55-AE09-A6CBF12082D9}"/>
              </a:ext>
            </a:extLst>
          </p:cNvPr>
          <p:cNvSpPr>
            <a:spLocks noGrp="1"/>
          </p:cNvSpPr>
          <p:nvPr>
            <p:ph idx="1"/>
          </p:nvPr>
        </p:nvSpPr>
        <p:spPr/>
        <p:txBody>
          <a:bodyPr>
            <a:normAutofit/>
          </a:bodyPr>
          <a:lstStyle/>
          <a:p>
            <a:r>
              <a:rPr lang="en-US" b="1" dirty="0"/>
              <a:t>Combining jQuery selectors</a:t>
            </a:r>
          </a:p>
          <a:p>
            <a:pPr lvl="1"/>
            <a:r>
              <a:rPr lang="en-US" dirty="0"/>
              <a:t>$(“a.class1.class2#someid[attribute][attribute=‘something’”) 	OR</a:t>
            </a:r>
          </a:p>
          <a:p>
            <a:pPr lvl="1"/>
            <a:r>
              <a:rPr lang="en-US" dirty="0">
                <a:solidFill>
                  <a:schemeClr val="tx2">
                    <a:lumMod val="50000"/>
                  </a:schemeClr>
                </a:solidFill>
              </a:rPr>
              <a:t>$(“a,.class1,#someID”)</a:t>
            </a:r>
          </a:p>
          <a:p>
            <a:r>
              <a:rPr lang="en-US" b="1" dirty="0">
                <a:solidFill>
                  <a:schemeClr val="tx2">
                    <a:lumMod val="50000"/>
                  </a:schemeClr>
                </a:solidFill>
              </a:rPr>
              <a:t>Wildcard selection(Universal):</a:t>
            </a:r>
          </a:p>
          <a:p>
            <a:pPr lvl="1"/>
            <a:r>
              <a:rPr lang="en-US" dirty="0"/>
              <a:t>There might be cases when we want to select all elements but there is not a common property to select upon(class, attribute, etc). In that case we can use the * selector that simply selects all the elements.</a:t>
            </a:r>
          </a:p>
          <a:p>
            <a:pPr lvl="1"/>
            <a:r>
              <a:rPr lang="en-US" dirty="0"/>
              <a:t>$(‘#wrapper *’)			//selects all elements inside #wrapper element</a:t>
            </a:r>
          </a:p>
          <a:p>
            <a:pPr marL="457200" lvl="1" indent="0">
              <a:buNone/>
            </a:pPr>
            <a:endParaRPr lang="en-US" dirty="0"/>
          </a:p>
        </p:txBody>
      </p:sp>
      <p:pic>
        <p:nvPicPr>
          <p:cNvPr id="5" name="Picture 4">
            <a:extLst>
              <a:ext uri="{FF2B5EF4-FFF2-40B4-BE49-F238E27FC236}">
                <a16:creationId xmlns:a16="http://schemas.microsoft.com/office/drawing/2014/main" id="{5AFB56A1-F2ED-4519-9C49-CB61BD305ED8}"/>
              </a:ext>
            </a:extLst>
          </p:cNvPr>
          <p:cNvPicPr>
            <a:picLocks noChangeAspect="1"/>
          </p:cNvPicPr>
          <p:nvPr/>
        </p:nvPicPr>
        <p:blipFill>
          <a:blip r:embed="rId2"/>
          <a:stretch>
            <a:fillRect/>
          </a:stretch>
        </p:blipFill>
        <p:spPr>
          <a:xfrm>
            <a:off x="10558433" y="378569"/>
            <a:ext cx="1124107" cy="1066949"/>
          </a:xfrm>
          <a:prstGeom prst="rect">
            <a:avLst/>
          </a:prstGeom>
        </p:spPr>
      </p:pic>
    </p:spTree>
    <p:extLst>
      <p:ext uri="{BB962C8B-B14F-4D97-AF65-F5344CB8AC3E}">
        <p14:creationId xmlns:p14="http://schemas.microsoft.com/office/powerpoint/2010/main" val="35105363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E5A77-3293-451A-B8FF-9EE24555449D}"/>
              </a:ext>
            </a:extLst>
          </p:cNvPr>
          <p:cNvSpPr>
            <a:spLocks noGrp="1"/>
          </p:cNvSpPr>
          <p:nvPr>
            <p:ph type="title"/>
          </p:nvPr>
        </p:nvSpPr>
        <p:spPr/>
        <p:txBody>
          <a:bodyPr/>
          <a:lstStyle/>
          <a:p>
            <a:r>
              <a:rPr lang="en-US" b="1" dirty="0"/>
              <a:t>jQuery Events</a:t>
            </a:r>
          </a:p>
        </p:txBody>
      </p:sp>
      <p:pic>
        <p:nvPicPr>
          <p:cNvPr id="7" name="Picture 6">
            <a:extLst>
              <a:ext uri="{FF2B5EF4-FFF2-40B4-BE49-F238E27FC236}">
                <a16:creationId xmlns:a16="http://schemas.microsoft.com/office/drawing/2014/main" id="{E1BBCA48-4E92-4A6E-AE78-B2E3D134EA2D}"/>
              </a:ext>
            </a:extLst>
          </p:cNvPr>
          <p:cNvPicPr>
            <a:picLocks noChangeAspect="1"/>
          </p:cNvPicPr>
          <p:nvPr/>
        </p:nvPicPr>
        <p:blipFill>
          <a:blip r:embed="rId2"/>
          <a:stretch>
            <a:fillRect/>
          </a:stretch>
        </p:blipFill>
        <p:spPr>
          <a:xfrm>
            <a:off x="677334" y="1930400"/>
            <a:ext cx="9956101" cy="3480768"/>
          </a:xfrm>
          <a:prstGeom prst="rect">
            <a:avLst/>
          </a:prstGeom>
        </p:spPr>
      </p:pic>
      <p:pic>
        <p:nvPicPr>
          <p:cNvPr id="9" name="Picture 8">
            <a:extLst>
              <a:ext uri="{FF2B5EF4-FFF2-40B4-BE49-F238E27FC236}">
                <a16:creationId xmlns:a16="http://schemas.microsoft.com/office/drawing/2014/main" id="{EE203E60-74F1-4ADC-93E3-F7337E00EE96}"/>
              </a:ext>
            </a:extLst>
          </p:cNvPr>
          <p:cNvPicPr>
            <a:picLocks noChangeAspect="1"/>
          </p:cNvPicPr>
          <p:nvPr/>
        </p:nvPicPr>
        <p:blipFill>
          <a:blip r:embed="rId3"/>
          <a:stretch>
            <a:fillRect/>
          </a:stretch>
        </p:blipFill>
        <p:spPr>
          <a:xfrm>
            <a:off x="10583159" y="453982"/>
            <a:ext cx="1124107" cy="1066949"/>
          </a:xfrm>
          <a:prstGeom prst="rect">
            <a:avLst/>
          </a:prstGeom>
        </p:spPr>
      </p:pic>
    </p:spTree>
    <p:extLst>
      <p:ext uri="{BB962C8B-B14F-4D97-AF65-F5344CB8AC3E}">
        <p14:creationId xmlns:p14="http://schemas.microsoft.com/office/powerpoint/2010/main" val="11403905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6F14-6339-41D0-8B86-760934AED0B0}"/>
              </a:ext>
            </a:extLst>
          </p:cNvPr>
          <p:cNvSpPr>
            <a:spLocks noGrp="1"/>
          </p:cNvSpPr>
          <p:nvPr>
            <p:ph type="title"/>
          </p:nvPr>
        </p:nvSpPr>
        <p:spPr/>
        <p:txBody>
          <a:bodyPr/>
          <a:lstStyle/>
          <a:p>
            <a:r>
              <a:rPr lang="en-US" b="1" dirty="0"/>
              <a:t>jQuery Effects</a:t>
            </a:r>
          </a:p>
        </p:txBody>
      </p:sp>
      <p:sp>
        <p:nvSpPr>
          <p:cNvPr id="3" name="Content Placeholder 2">
            <a:extLst>
              <a:ext uri="{FF2B5EF4-FFF2-40B4-BE49-F238E27FC236}">
                <a16:creationId xmlns:a16="http://schemas.microsoft.com/office/drawing/2014/main" id="{F4B987AB-3984-4771-9164-EBF7170998D3}"/>
              </a:ext>
            </a:extLst>
          </p:cNvPr>
          <p:cNvSpPr>
            <a:spLocks noGrp="1"/>
          </p:cNvSpPr>
          <p:nvPr>
            <p:ph idx="1"/>
          </p:nvPr>
        </p:nvSpPr>
        <p:spPr>
          <a:xfrm>
            <a:off x="677334" y="1874519"/>
            <a:ext cx="8847666" cy="4166843"/>
          </a:xfrm>
        </p:spPr>
        <p:txBody>
          <a:bodyPr/>
          <a:lstStyle/>
          <a:p>
            <a:pPr marL="0" indent="0">
              <a:buNone/>
            </a:pPr>
            <a:r>
              <a:rPr lang="en-US" dirty="0" err="1"/>
              <a:t>i</a:t>
            </a:r>
            <a:r>
              <a:rPr lang="en-US" dirty="0"/>
              <a:t>) </a:t>
            </a:r>
            <a:r>
              <a:rPr lang="en-US" b="1" dirty="0"/>
              <a:t>hide/show:</a:t>
            </a:r>
            <a:r>
              <a:rPr lang="en-US" dirty="0"/>
              <a:t> with jQuery we can hide and show HTML elements with the hide() and show() methods:</a:t>
            </a:r>
          </a:p>
          <a:p>
            <a:pPr marL="0" indent="0">
              <a:buNone/>
            </a:pPr>
            <a:r>
              <a:rPr lang="en-US" dirty="0"/>
              <a:t>	Syntax: $(selector).hide(speed, callback);</a:t>
            </a:r>
          </a:p>
          <a:p>
            <a:pPr marL="0" indent="0">
              <a:buNone/>
            </a:pPr>
            <a:r>
              <a:rPr lang="en-US" dirty="0"/>
              <a:t>	Syntax: $(selector).hide(speed, callback);</a:t>
            </a:r>
          </a:p>
          <a:p>
            <a:r>
              <a:rPr lang="en-US" dirty="0"/>
              <a:t>The optional speed parameter specifies the speed of the hiding or showing and can take values : “slow”, “fast” or milliseconds. The optional callback parameter is a function to be executed after the hide() or show() method completes.</a:t>
            </a:r>
          </a:p>
          <a:p>
            <a:pPr marL="0" indent="0">
              <a:buNone/>
            </a:pPr>
            <a:r>
              <a:rPr lang="en-US" dirty="0"/>
              <a:t>	</a:t>
            </a:r>
            <a:r>
              <a:rPr lang="en-US" b="1" dirty="0"/>
              <a:t>Example:</a:t>
            </a:r>
            <a:r>
              <a:rPr lang="en-US" dirty="0"/>
              <a:t> $(“button”).click(function(){</a:t>
            </a:r>
          </a:p>
          <a:p>
            <a:pPr marL="1371600" lvl="3" indent="0">
              <a:buNone/>
            </a:pPr>
            <a:r>
              <a:rPr lang="en-US" sz="1800" dirty="0"/>
              <a:t>$(“p”).hide(1000);	//</a:t>
            </a:r>
            <a:r>
              <a:rPr lang="en-US" sz="1100" dirty="0"/>
              <a:t>hide content under p tag with 1000 millisecond speed on clicking button</a:t>
            </a:r>
            <a:endParaRPr lang="en-US" sz="1800" dirty="0"/>
          </a:p>
          <a:p>
            <a:pPr marL="1371600" lvl="3" indent="0">
              <a:buNone/>
            </a:pPr>
            <a:r>
              <a:rPr lang="en-US" sz="1800" dirty="0"/>
              <a:t>});</a:t>
            </a:r>
          </a:p>
        </p:txBody>
      </p:sp>
      <p:pic>
        <p:nvPicPr>
          <p:cNvPr id="5" name="Picture 4">
            <a:extLst>
              <a:ext uri="{FF2B5EF4-FFF2-40B4-BE49-F238E27FC236}">
                <a16:creationId xmlns:a16="http://schemas.microsoft.com/office/drawing/2014/main" id="{163B81C4-D7CC-41DE-B19C-43023458AC37}"/>
              </a:ext>
            </a:extLst>
          </p:cNvPr>
          <p:cNvPicPr>
            <a:picLocks noChangeAspect="1"/>
          </p:cNvPicPr>
          <p:nvPr/>
        </p:nvPicPr>
        <p:blipFill>
          <a:blip r:embed="rId2"/>
          <a:stretch>
            <a:fillRect/>
          </a:stretch>
        </p:blipFill>
        <p:spPr>
          <a:xfrm>
            <a:off x="10511299" y="510544"/>
            <a:ext cx="1124107" cy="1066949"/>
          </a:xfrm>
          <a:prstGeom prst="rect">
            <a:avLst/>
          </a:prstGeom>
        </p:spPr>
      </p:pic>
    </p:spTree>
    <p:extLst>
      <p:ext uri="{BB962C8B-B14F-4D97-AF65-F5344CB8AC3E}">
        <p14:creationId xmlns:p14="http://schemas.microsoft.com/office/powerpoint/2010/main" val="11441149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6F14-6339-41D0-8B86-760934AED0B0}"/>
              </a:ext>
            </a:extLst>
          </p:cNvPr>
          <p:cNvSpPr>
            <a:spLocks noGrp="1"/>
          </p:cNvSpPr>
          <p:nvPr>
            <p:ph type="title"/>
          </p:nvPr>
        </p:nvSpPr>
        <p:spPr/>
        <p:txBody>
          <a:bodyPr/>
          <a:lstStyle/>
          <a:p>
            <a:r>
              <a:rPr lang="en-US" b="1" dirty="0"/>
              <a:t>jQuery Effects</a:t>
            </a:r>
          </a:p>
        </p:txBody>
      </p:sp>
      <p:sp>
        <p:nvSpPr>
          <p:cNvPr id="3" name="Content Placeholder 2">
            <a:extLst>
              <a:ext uri="{FF2B5EF4-FFF2-40B4-BE49-F238E27FC236}">
                <a16:creationId xmlns:a16="http://schemas.microsoft.com/office/drawing/2014/main" id="{F4B987AB-3984-4771-9164-EBF7170998D3}"/>
              </a:ext>
            </a:extLst>
          </p:cNvPr>
          <p:cNvSpPr>
            <a:spLocks noGrp="1"/>
          </p:cNvSpPr>
          <p:nvPr>
            <p:ph idx="1"/>
          </p:nvPr>
        </p:nvSpPr>
        <p:spPr>
          <a:xfrm>
            <a:off x="677334" y="1874519"/>
            <a:ext cx="8847666" cy="4166843"/>
          </a:xfrm>
        </p:spPr>
        <p:txBody>
          <a:bodyPr/>
          <a:lstStyle/>
          <a:p>
            <a:pPr marL="400050" indent="-400050">
              <a:buFont typeface="+mj-lt"/>
              <a:buAutoNum type="romanLcPeriod" startAt="2"/>
            </a:pPr>
            <a:r>
              <a:rPr lang="en-US" dirty="0"/>
              <a:t>fade: </a:t>
            </a:r>
          </a:p>
          <a:p>
            <a:pPr marL="0" indent="0">
              <a:buNone/>
            </a:pPr>
            <a:r>
              <a:rPr lang="en-US" dirty="0"/>
              <a:t>With jQuery we can fade an element in and out of visibility. jQuery has </a:t>
            </a:r>
            <a:r>
              <a:rPr lang="en-US" dirty="0" err="1"/>
              <a:t>fadeIn</a:t>
            </a:r>
            <a:r>
              <a:rPr lang="en-US" dirty="0"/>
              <a:t>(), </a:t>
            </a:r>
            <a:r>
              <a:rPr lang="en-US" dirty="0" err="1"/>
              <a:t>fadeOut</a:t>
            </a:r>
            <a:r>
              <a:rPr lang="en-US" dirty="0"/>
              <a:t>(), </a:t>
            </a:r>
            <a:r>
              <a:rPr lang="en-US" dirty="0" err="1"/>
              <a:t>fadeToggle</a:t>
            </a:r>
            <a:r>
              <a:rPr lang="en-US" dirty="0"/>
              <a:t>(), </a:t>
            </a:r>
            <a:r>
              <a:rPr lang="en-US" dirty="0" err="1"/>
              <a:t>fadeTo</a:t>
            </a:r>
            <a:r>
              <a:rPr lang="en-US" dirty="0"/>
              <a:t>() fade methods. Let us take jQuery </a:t>
            </a:r>
            <a:r>
              <a:rPr lang="en-US" dirty="0" err="1"/>
              <a:t>fadeIn</a:t>
            </a:r>
            <a:r>
              <a:rPr lang="en-US" dirty="0"/>
              <a:t>() method.</a:t>
            </a:r>
          </a:p>
          <a:p>
            <a:pPr marL="0" indent="0">
              <a:buNone/>
            </a:pPr>
            <a:r>
              <a:rPr lang="en-US" dirty="0"/>
              <a:t>Syntax: $(selector).</a:t>
            </a:r>
            <a:r>
              <a:rPr lang="en-US" dirty="0" err="1"/>
              <a:t>fadeIn</a:t>
            </a:r>
            <a:r>
              <a:rPr lang="en-US" dirty="0"/>
              <a:t>(speed, callback);</a:t>
            </a:r>
          </a:p>
          <a:p>
            <a:pPr marL="0" indent="0">
              <a:buNone/>
            </a:pPr>
            <a:r>
              <a:rPr lang="en-US" b="1" dirty="0"/>
              <a:t>Example:</a:t>
            </a:r>
            <a:r>
              <a:rPr lang="en-US" dirty="0"/>
              <a:t> $(“button”).click(function(){</a:t>
            </a:r>
          </a:p>
          <a:p>
            <a:pPr marL="1371600" lvl="3" indent="0">
              <a:buNone/>
            </a:pPr>
            <a:r>
              <a:rPr lang="en-US" sz="1800" dirty="0"/>
              <a:t>$(“p”).</a:t>
            </a:r>
            <a:r>
              <a:rPr lang="en-US" sz="1800" dirty="0" err="1"/>
              <a:t>fadeIn</a:t>
            </a:r>
            <a:r>
              <a:rPr lang="en-US" sz="1800" dirty="0"/>
              <a:t>(1000);	//</a:t>
            </a:r>
            <a:r>
              <a:rPr lang="en-US" sz="1100" dirty="0"/>
              <a:t>fades content under p tag with 1000 millisecond speed on clicking button</a:t>
            </a:r>
            <a:endParaRPr lang="en-US" sz="1800" dirty="0"/>
          </a:p>
          <a:p>
            <a:pPr marL="1371600" lvl="3" indent="0">
              <a:buNone/>
            </a:pPr>
            <a:r>
              <a:rPr lang="en-US" sz="1800" dirty="0"/>
              <a:t>});</a:t>
            </a:r>
          </a:p>
          <a:p>
            <a:pPr marL="0" indent="0">
              <a:buNone/>
            </a:pPr>
            <a:endParaRPr lang="en-US" dirty="0"/>
          </a:p>
        </p:txBody>
      </p:sp>
      <p:pic>
        <p:nvPicPr>
          <p:cNvPr id="5" name="Picture 4">
            <a:extLst>
              <a:ext uri="{FF2B5EF4-FFF2-40B4-BE49-F238E27FC236}">
                <a16:creationId xmlns:a16="http://schemas.microsoft.com/office/drawing/2014/main" id="{FEC46D29-DB2E-4AB4-A6EC-63BD34D7DDBF}"/>
              </a:ext>
            </a:extLst>
          </p:cNvPr>
          <p:cNvPicPr>
            <a:picLocks noChangeAspect="1"/>
          </p:cNvPicPr>
          <p:nvPr/>
        </p:nvPicPr>
        <p:blipFill>
          <a:blip r:embed="rId2"/>
          <a:stretch>
            <a:fillRect/>
          </a:stretch>
        </p:blipFill>
        <p:spPr>
          <a:xfrm>
            <a:off x="10390559" y="550682"/>
            <a:ext cx="1124107" cy="1066949"/>
          </a:xfrm>
          <a:prstGeom prst="rect">
            <a:avLst/>
          </a:prstGeom>
        </p:spPr>
      </p:pic>
    </p:spTree>
    <p:extLst>
      <p:ext uri="{BB962C8B-B14F-4D97-AF65-F5344CB8AC3E}">
        <p14:creationId xmlns:p14="http://schemas.microsoft.com/office/powerpoint/2010/main" val="24123918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6F14-6339-41D0-8B86-760934AED0B0}"/>
              </a:ext>
            </a:extLst>
          </p:cNvPr>
          <p:cNvSpPr>
            <a:spLocks noGrp="1"/>
          </p:cNvSpPr>
          <p:nvPr>
            <p:ph type="title"/>
          </p:nvPr>
        </p:nvSpPr>
        <p:spPr/>
        <p:txBody>
          <a:bodyPr/>
          <a:lstStyle/>
          <a:p>
            <a:r>
              <a:rPr lang="en-US" b="1" dirty="0"/>
              <a:t>jQuery Effects</a:t>
            </a:r>
          </a:p>
        </p:txBody>
      </p:sp>
      <p:sp>
        <p:nvSpPr>
          <p:cNvPr id="3" name="Content Placeholder 2">
            <a:extLst>
              <a:ext uri="{FF2B5EF4-FFF2-40B4-BE49-F238E27FC236}">
                <a16:creationId xmlns:a16="http://schemas.microsoft.com/office/drawing/2014/main" id="{F4B987AB-3984-4771-9164-EBF7170998D3}"/>
              </a:ext>
            </a:extLst>
          </p:cNvPr>
          <p:cNvSpPr>
            <a:spLocks noGrp="1"/>
          </p:cNvSpPr>
          <p:nvPr>
            <p:ph idx="1"/>
          </p:nvPr>
        </p:nvSpPr>
        <p:spPr>
          <a:xfrm>
            <a:off x="677334" y="1874519"/>
            <a:ext cx="8847666" cy="4166843"/>
          </a:xfrm>
        </p:spPr>
        <p:txBody>
          <a:bodyPr/>
          <a:lstStyle/>
          <a:p>
            <a:pPr marL="400050" indent="-400050">
              <a:buFont typeface="+mj-lt"/>
              <a:buAutoNum type="romanLcPeriod" startAt="3"/>
            </a:pPr>
            <a:r>
              <a:rPr lang="en-US" dirty="0"/>
              <a:t>Slide: </a:t>
            </a:r>
          </a:p>
          <a:p>
            <a:pPr marL="0" indent="0">
              <a:buNone/>
            </a:pPr>
            <a:r>
              <a:rPr lang="en-US" dirty="0"/>
              <a:t>The jQuery slide methods slide elements up and down. It creates sliding effect on elements. jQuery has </a:t>
            </a:r>
            <a:r>
              <a:rPr lang="en-US" dirty="0" err="1"/>
              <a:t>slideDown</a:t>
            </a:r>
            <a:r>
              <a:rPr lang="en-US" dirty="0"/>
              <a:t>(), </a:t>
            </a:r>
            <a:r>
              <a:rPr lang="en-US" dirty="0" err="1"/>
              <a:t>slideUp</a:t>
            </a:r>
            <a:r>
              <a:rPr lang="en-US" dirty="0"/>
              <a:t>(), </a:t>
            </a:r>
            <a:r>
              <a:rPr lang="en-US" dirty="0" err="1"/>
              <a:t>slideToggle</a:t>
            </a:r>
            <a:r>
              <a:rPr lang="en-US" dirty="0"/>
              <a:t>() methods. Let us take </a:t>
            </a:r>
            <a:r>
              <a:rPr lang="en-US" dirty="0" err="1"/>
              <a:t>slideDown</a:t>
            </a:r>
            <a:r>
              <a:rPr lang="en-US" dirty="0"/>
              <a:t>() method.</a:t>
            </a:r>
          </a:p>
          <a:p>
            <a:pPr marL="0" indent="0">
              <a:buNone/>
            </a:pPr>
            <a:r>
              <a:rPr lang="en-US" dirty="0"/>
              <a:t>Syntax: $(selector).</a:t>
            </a:r>
            <a:r>
              <a:rPr lang="en-US" dirty="0" err="1"/>
              <a:t>slideDown</a:t>
            </a:r>
            <a:r>
              <a:rPr lang="en-US" dirty="0"/>
              <a:t>(speed, callback);</a:t>
            </a:r>
          </a:p>
          <a:p>
            <a:pPr marL="0" indent="0">
              <a:buNone/>
            </a:pPr>
            <a:r>
              <a:rPr lang="en-US" b="1" dirty="0"/>
              <a:t>Example:</a:t>
            </a:r>
            <a:r>
              <a:rPr lang="en-US" dirty="0"/>
              <a:t> $(“button”).click(function(){</a:t>
            </a:r>
          </a:p>
          <a:p>
            <a:pPr marL="0" indent="0">
              <a:buNone/>
            </a:pPr>
            <a:r>
              <a:rPr lang="en-US" sz="1800" dirty="0"/>
              <a:t>		   $(“p”).</a:t>
            </a:r>
            <a:r>
              <a:rPr lang="en-US" sz="1800" dirty="0" err="1"/>
              <a:t>slideDown</a:t>
            </a:r>
            <a:r>
              <a:rPr lang="en-US" sz="1800" dirty="0"/>
              <a:t>(1000);	//</a:t>
            </a:r>
            <a:r>
              <a:rPr lang="en-US" sz="1100" dirty="0"/>
              <a:t>slides content under p tag with 1000 millisecond speed on clicking button</a:t>
            </a:r>
            <a:endParaRPr lang="en-US" sz="1800" dirty="0"/>
          </a:p>
          <a:p>
            <a:pPr marL="1371600" lvl="3" indent="0">
              <a:buNone/>
            </a:pPr>
            <a:r>
              <a:rPr lang="en-US" sz="1800" dirty="0"/>
              <a:t>});</a:t>
            </a:r>
          </a:p>
          <a:p>
            <a:pPr marL="0" indent="0">
              <a:buNone/>
            </a:pPr>
            <a:endParaRPr lang="en-US" dirty="0"/>
          </a:p>
        </p:txBody>
      </p:sp>
      <p:pic>
        <p:nvPicPr>
          <p:cNvPr id="5" name="Picture 4">
            <a:extLst>
              <a:ext uri="{FF2B5EF4-FFF2-40B4-BE49-F238E27FC236}">
                <a16:creationId xmlns:a16="http://schemas.microsoft.com/office/drawing/2014/main" id="{AC023E0C-1ABE-43B2-AAC4-E2583935A6B5}"/>
              </a:ext>
            </a:extLst>
          </p:cNvPr>
          <p:cNvPicPr>
            <a:picLocks noChangeAspect="1"/>
          </p:cNvPicPr>
          <p:nvPr/>
        </p:nvPicPr>
        <p:blipFill>
          <a:blip r:embed="rId2"/>
          <a:stretch>
            <a:fillRect/>
          </a:stretch>
        </p:blipFill>
        <p:spPr>
          <a:xfrm>
            <a:off x="10390559" y="406848"/>
            <a:ext cx="1124107" cy="1066949"/>
          </a:xfrm>
          <a:prstGeom prst="rect">
            <a:avLst/>
          </a:prstGeom>
        </p:spPr>
      </p:pic>
    </p:spTree>
    <p:extLst>
      <p:ext uri="{BB962C8B-B14F-4D97-AF65-F5344CB8AC3E}">
        <p14:creationId xmlns:p14="http://schemas.microsoft.com/office/powerpoint/2010/main" val="33437874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6F14-6339-41D0-8B86-760934AED0B0}"/>
              </a:ext>
            </a:extLst>
          </p:cNvPr>
          <p:cNvSpPr>
            <a:spLocks noGrp="1"/>
          </p:cNvSpPr>
          <p:nvPr>
            <p:ph type="title"/>
          </p:nvPr>
        </p:nvSpPr>
        <p:spPr/>
        <p:txBody>
          <a:bodyPr/>
          <a:lstStyle/>
          <a:p>
            <a:r>
              <a:rPr lang="en-US" b="1" dirty="0"/>
              <a:t>jQuery Effects</a:t>
            </a:r>
          </a:p>
        </p:txBody>
      </p:sp>
      <p:sp>
        <p:nvSpPr>
          <p:cNvPr id="3" name="Content Placeholder 2">
            <a:extLst>
              <a:ext uri="{FF2B5EF4-FFF2-40B4-BE49-F238E27FC236}">
                <a16:creationId xmlns:a16="http://schemas.microsoft.com/office/drawing/2014/main" id="{F4B987AB-3984-4771-9164-EBF7170998D3}"/>
              </a:ext>
            </a:extLst>
          </p:cNvPr>
          <p:cNvSpPr>
            <a:spLocks noGrp="1"/>
          </p:cNvSpPr>
          <p:nvPr>
            <p:ph idx="1"/>
          </p:nvPr>
        </p:nvSpPr>
        <p:spPr>
          <a:xfrm>
            <a:off x="677334" y="1874519"/>
            <a:ext cx="8847666" cy="4166843"/>
          </a:xfrm>
        </p:spPr>
        <p:txBody>
          <a:bodyPr/>
          <a:lstStyle/>
          <a:p>
            <a:pPr marL="400050" indent="-400050">
              <a:buFont typeface="+mj-lt"/>
              <a:buAutoNum type="romanLcPeriod" startAt="4"/>
            </a:pPr>
            <a:r>
              <a:rPr lang="en-US" dirty="0"/>
              <a:t>Animate: </a:t>
            </a:r>
          </a:p>
          <a:p>
            <a:pPr marL="0" indent="0">
              <a:buNone/>
            </a:pPr>
            <a:r>
              <a:rPr lang="en-US" dirty="0"/>
              <a:t>We can create custom animations using jQuery.</a:t>
            </a:r>
          </a:p>
          <a:p>
            <a:pPr marL="0" indent="0">
              <a:buNone/>
            </a:pPr>
            <a:r>
              <a:rPr lang="en-US" dirty="0"/>
              <a:t>Syntax: $(selector).animate({parameter},speed, callback);</a:t>
            </a:r>
          </a:p>
          <a:p>
            <a:pPr marL="0" indent="0">
              <a:buNone/>
            </a:pPr>
            <a:r>
              <a:rPr lang="en-US" dirty="0"/>
              <a:t>The parameters specifies the CSS properties to be animated.</a:t>
            </a:r>
          </a:p>
          <a:p>
            <a:pPr marL="0" indent="0">
              <a:buNone/>
            </a:pPr>
            <a:r>
              <a:rPr lang="en-US" dirty="0"/>
              <a:t>Example: $(“button”).click(function(){</a:t>
            </a:r>
          </a:p>
          <a:p>
            <a:pPr marL="0" indent="0">
              <a:buNone/>
            </a:pPr>
            <a:r>
              <a:rPr lang="en-US" sz="1800" dirty="0"/>
              <a:t>		   $(“p”).</a:t>
            </a:r>
            <a:r>
              <a:rPr lang="en-US" dirty="0"/>
              <a:t>animate</a:t>
            </a:r>
            <a:r>
              <a:rPr lang="en-US" sz="1800" dirty="0"/>
              <a:t>({left: ‘250px’});	</a:t>
            </a:r>
            <a:endParaRPr lang="en-US" dirty="0"/>
          </a:p>
          <a:p>
            <a:pPr marL="0" indent="0">
              <a:buNone/>
            </a:pPr>
            <a:r>
              <a:rPr lang="en-US" sz="1800" dirty="0"/>
              <a:t>		  });</a:t>
            </a:r>
          </a:p>
          <a:p>
            <a:pPr marL="0" indent="0">
              <a:buNone/>
            </a:pPr>
            <a:endParaRPr lang="en-US" dirty="0"/>
          </a:p>
        </p:txBody>
      </p:sp>
      <p:pic>
        <p:nvPicPr>
          <p:cNvPr id="5" name="Picture 4">
            <a:extLst>
              <a:ext uri="{FF2B5EF4-FFF2-40B4-BE49-F238E27FC236}">
                <a16:creationId xmlns:a16="http://schemas.microsoft.com/office/drawing/2014/main" id="{5496CABD-E9B5-4CEB-BC8D-D83751D8EA73}"/>
              </a:ext>
            </a:extLst>
          </p:cNvPr>
          <p:cNvPicPr>
            <a:picLocks noChangeAspect="1"/>
          </p:cNvPicPr>
          <p:nvPr/>
        </p:nvPicPr>
        <p:blipFill>
          <a:blip r:embed="rId2"/>
          <a:stretch>
            <a:fillRect/>
          </a:stretch>
        </p:blipFill>
        <p:spPr>
          <a:xfrm>
            <a:off x="10330856" y="529397"/>
            <a:ext cx="1124107" cy="1066949"/>
          </a:xfrm>
          <a:prstGeom prst="rect">
            <a:avLst/>
          </a:prstGeom>
        </p:spPr>
      </p:pic>
    </p:spTree>
    <p:extLst>
      <p:ext uri="{BB962C8B-B14F-4D97-AF65-F5344CB8AC3E}">
        <p14:creationId xmlns:p14="http://schemas.microsoft.com/office/powerpoint/2010/main" val="341160374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6F14-6339-41D0-8B86-760934AED0B0}"/>
              </a:ext>
            </a:extLst>
          </p:cNvPr>
          <p:cNvSpPr>
            <a:spLocks noGrp="1"/>
          </p:cNvSpPr>
          <p:nvPr>
            <p:ph type="title"/>
          </p:nvPr>
        </p:nvSpPr>
        <p:spPr/>
        <p:txBody>
          <a:bodyPr/>
          <a:lstStyle/>
          <a:p>
            <a:r>
              <a:rPr lang="en-US" b="1" dirty="0"/>
              <a:t>jQuery Effects</a:t>
            </a:r>
          </a:p>
        </p:txBody>
      </p:sp>
      <p:sp>
        <p:nvSpPr>
          <p:cNvPr id="3" name="Content Placeholder 2">
            <a:extLst>
              <a:ext uri="{FF2B5EF4-FFF2-40B4-BE49-F238E27FC236}">
                <a16:creationId xmlns:a16="http://schemas.microsoft.com/office/drawing/2014/main" id="{F4B987AB-3984-4771-9164-EBF7170998D3}"/>
              </a:ext>
            </a:extLst>
          </p:cNvPr>
          <p:cNvSpPr>
            <a:spLocks noGrp="1"/>
          </p:cNvSpPr>
          <p:nvPr>
            <p:ph idx="1"/>
          </p:nvPr>
        </p:nvSpPr>
        <p:spPr>
          <a:xfrm>
            <a:off x="677334" y="1874519"/>
            <a:ext cx="8847666" cy="4166843"/>
          </a:xfrm>
        </p:spPr>
        <p:txBody>
          <a:bodyPr/>
          <a:lstStyle/>
          <a:p>
            <a:pPr marL="400050" indent="-400050">
              <a:buFont typeface="+mj-lt"/>
              <a:buAutoNum type="romanLcPeriod" startAt="5"/>
            </a:pPr>
            <a:r>
              <a:rPr lang="en-US" dirty="0"/>
              <a:t>stop(): </a:t>
            </a:r>
          </a:p>
          <a:p>
            <a:pPr marL="0" indent="0">
              <a:buNone/>
            </a:pPr>
            <a:r>
              <a:rPr lang="en-US" dirty="0"/>
              <a:t>	stop() method is used to stop animations or effects before it is finished. This method words for all jQuery effect functions, including sliding, fading and custom animations.</a:t>
            </a:r>
          </a:p>
          <a:p>
            <a:pPr marL="0" indent="0">
              <a:buNone/>
            </a:pPr>
            <a:r>
              <a:rPr lang="en-US" dirty="0"/>
              <a:t>Syntax: $(selector).stop({parameter}, </a:t>
            </a:r>
            <a:r>
              <a:rPr lang="en-US" dirty="0" err="1"/>
              <a:t>stopAll</a:t>
            </a:r>
            <a:r>
              <a:rPr lang="en-US" dirty="0"/>
              <a:t>, </a:t>
            </a:r>
            <a:r>
              <a:rPr lang="en-US" dirty="0" err="1"/>
              <a:t>goToEnd</a:t>
            </a:r>
            <a:r>
              <a:rPr lang="en-US" dirty="0"/>
              <a:t>);</a:t>
            </a:r>
          </a:p>
          <a:p>
            <a:pPr marL="0" indent="0">
              <a:buNone/>
            </a:pPr>
            <a:r>
              <a:rPr lang="en-US" dirty="0"/>
              <a:t>The optional </a:t>
            </a:r>
            <a:r>
              <a:rPr lang="en-US" dirty="0" err="1"/>
              <a:t>stopAll</a:t>
            </a:r>
            <a:r>
              <a:rPr lang="en-US" dirty="0"/>
              <a:t> parameter specifies whether also the animation queues should be cleared or not, default is false. The optional </a:t>
            </a:r>
            <a:r>
              <a:rPr lang="en-US" dirty="0" err="1"/>
              <a:t>goToEnd</a:t>
            </a:r>
            <a:r>
              <a:rPr lang="en-US" dirty="0"/>
              <a:t> parameter specifies whether or not to complete the current animation immediately, default is false.</a:t>
            </a:r>
          </a:p>
          <a:p>
            <a:pPr marL="0" indent="0">
              <a:buNone/>
            </a:pPr>
            <a:r>
              <a:rPr lang="en-US" b="1" dirty="0"/>
              <a:t>Example:</a:t>
            </a:r>
            <a:r>
              <a:rPr lang="en-US" dirty="0"/>
              <a:t> $(“button”).click(function(){</a:t>
            </a:r>
          </a:p>
          <a:p>
            <a:pPr marL="0" indent="0">
              <a:buNone/>
            </a:pPr>
            <a:r>
              <a:rPr lang="en-US" sz="1800" dirty="0"/>
              <a:t>		   $(“#div”).stop();	</a:t>
            </a:r>
            <a:endParaRPr lang="en-US" dirty="0"/>
          </a:p>
          <a:p>
            <a:pPr marL="0" indent="0">
              <a:buNone/>
            </a:pPr>
            <a:r>
              <a:rPr lang="en-US" sz="1800" dirty="0"/>
              <a:t>		  });</a:t>
            </a:r>
          </a:p>
          <a:p>
            <a:pPr marL="0" indent="0">
              <a:buNone/>
            </a:pPr>
            <a:endParaRPr lang="en-US" dirty="0"/>
          </a:p>
        </p:txBody>
      </p:sp>
      <p:pic>
        <p:nvPicPr>
          <p:cNvPr id="5" name="Picture 4">
            <a:extLst>
              <a:ext uri="{FF2B5EF4-FFF2-40B4-BE49-F238E27FC236}">
                <a16:creationId xmlns:a16="http://schemas.microsoft.com/office/drawing/2014/main" id="{9FD27D61-2EEE-4DEC-915C-0FEA2DBDDD02}"/>
              </a:ext>
            </a:extLst>
          </p:cNvPr>
          <p:cNvPicPr>
            <a:picLocks noChangeAspect="1"/>
          </p:cNvPicPr>
          <p:nvPr/>
        </p:nvPicPr>
        <p:blipFill>
          <a:blip r:embed="rId2"/>
          <a:stretch>
            <a:fillRect/>
          </a:stretch>
        </p:blipFill>
        <p:spPr>
          <a:xfrm>
            <a:off x="10390559" y="435129"/>
            <a:ext cx="1124107" cy="1066949"/>
          </a:xfrm>
          <a:prstGeom prst="rect">
            <a:avLst/>
          </a:prstGeom>
        </p:spPr>
      </p:pic>
    </p:spTree>
    <p:extLst>
      <p:ext uri="{BB962C8B-B14F-4D97-AF65-F5344CB8AC3E}">
        <p14:creationId xmlns:p14="http://schemas.microsoft.com/office/powerpoint/2010/main" val="18063563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6F14-6339-41D0-8B86-760934AED0B0}"/>
              </a:ext>
            </a:extLst>
          </p:cNvPr>
          <p:cNvSpPr>
            <a:spLocks noGrp="1"/>
          </p:cNvSpPr>
          <p:nvPr>
            <p:ph type="title"/>
          </p:nvPr>
        </p:nvSpPr>
        <p:spPr/>
        <p:txBody>
          <a:bodyPr/>
          <a:lstStyle/>
          <a:p>
            <a:r>
              <a:rPr lang="en-US" b="1" dirty="0"/>
              <a:t>jQuery Effects</a:t>
            </a:r>
          </a:p>
        </p:txBody>
      </p:sp>
      <p:sp>
        <p:nvSpPr>
          <p:cNvPr id="3" name="Content Placeholder 2">
            <a:extLst>
              <a:ext uri="{FF2B5EF4-FFF2-40B4-BE49-F238E27FC236}">
                <a16:creationId xmlns:a16="http://schemas.microsoft.com/office/drawing/2014/main" id="{F4B987AB-3984-4771-9164-EBF7170998D3}"/>
              </a:ext>
            </a:extLst>
          </p:cNvPr>
          <p:cNvSpPr>
            <a:spLocks noGrp="1"/>
          </p:cNvSpPr>
          <p:nvPr>
            <p:ph idx="1"/>
          </p:nvPr>
        </p:nvSpPr>
        <p:spPr>
          <a:xfrm>
            <a:off x="677334" y="1874519"/>
            <a:ext cx="8847666" cy="4166843"/>
          </a:xfrm>
        </p:spPr>
        <p:txBody>
          <a:bodyPr/>
          <a:lstStyle/>
          <a:p>
            <a:pPr marL="400050" indent="-400050">
              <a:buFont typeface="+mj-lt"/>
              <a:buAutoNum type="romanLcPeriod" startAt="6"/>
            </a:pPr>
            <a:r>
              <a:rPr lang="en-US" dirty="0"/>
              <a:t>callback(): </a:t>
            </a:r>
          </a:p>
          <a:p>
            <a:pPr marL="0" indent="0">
              <a:buNone/>
            </a:pPr>
            <a:r>
              <a:rPr lang="en-US" dirty="0"/>
              <a:t>	stop() function is executed after the current effect is finished.</a:t>
            </a:r>
          </a:p>
          <a:p>
            <a:pPr marL="0" indent="0">
              <a:buNone/>
            </a:pPr>
            <a:r>
              <a:rPr lang="en-US" dirty="0"/>
              <a:t>Syntax: $(selector).hide(</a:t>
            </a:r>
            <a:r>
              <a:rPr lang="en-US" dirty="0" err="1"/>
              <a:t>speed,callback</a:t>
            </a:r>
            <a:r>
              <a:rPr lang="en-US" dirty="0"/>
              <a:t>);</a:t>
            </a:r>
          </a:p>
          <a:p>
            <a:pPr marL="0" indent="0">
              <a:buNone/>
            </a:pPr>
            <a:r>
              <a:rPr lang="en-US" b="1" dirty="0"/>
              <a:t>Example:</a:t>
            </a:r>
            <a:r>
              <a:rPr lang="en-US" dirty="0"/>
              <a:t> $(“button”).click(function(){</a:t>
            </a:r>
          </a:p>
          <a:p>
            <a:pPr marL="0" indent="0">
              <a:buNone/>
            </a:pPr>
            <a:r>
              <a:rPr lang="en-US" sz="1800" dirty="0"/>
              <a:t>		   $(“p”).hide(“</a:t>
            </a:r>
            <a:r>
              <a:rPr lang="en-US" sz="1800" dirty="0" err="1"/>
              <a:t>slow”,function</a:t>
            </a:r>
            <a:r>
              <a:rPr lang="en-US" sz="1800" dirty="0"/>
              <a:t>(){</a:t>
            </a:r>
          </a:p>
          <a:p>
            <a:pPr marL="0" indent="0">
              <a:buNone/>
            </a:pPr>
            <a:r>
              <a:rPr lang="en-US" dirty="0"/>
              <a:t>					alert(“The paragraph is now hidden”)</a:t>
            </a:r>
            <a:r>
              <a:rPr lang="en-US" sz="1800" dirty="0"/>
              <a:t>;	</a:t>
            </a:r>
            <a:endParaRPr lang="en-US" dirty="0"/>
          </a:p>
          <a:p>
            <a:pPr marL="0" indent="0">
              <a:buNone/>
            </a:pPr>
            <a:r>
              <a:rPr lang="en-US" sz="1800" dirty="0"/>
              <a:t>		  });</a:t>
            </a:r>
          </a:p>
          <a:p>
            <a:pPr marL="0" indent="0">
              <a:buNone/>
            </a:pPr>
            <a:r>
              <a:rPr lang="en-US" dirty="0"/>
              <a:t>	});</a:t>
            </a:r>
            <a:endParaRPr lang="en-US" sz="1800" dirty="0"/>
          </a:p>
          <a:p>
            <a:pPr marL="0" indent="0">
              <a:buNone/>
            </a:pPr>
            <a:endParaRPr lang="en-US" dirty="0"/>
          </a:p>
        </p:txBody>
      </p:sp>
      <p:pic>
        <p:nvPicPr>
          <p:cNvPr id="5" name="Picture 4">
            <a:extLst>
              <a:ext uri="{FF2B5EF4-FFF2-40B4-BE49-F238E27FC236}">
                <a16:creationId xmlns:a16="http://schemas.microsoft.com/office/drawing/2014/main" id="{14919DE6-C0FA-4E32-B67E-34CE7DF4DEB5}"/>
              </a:ext>
            </a:extLst>
          </p:cNvPr>
          <p:cNvPicPr>
            <a:picLocks noChangeAspect="1"/>
          </p:cNvPicPr>
          <p:nvPr/>
        </p:nvPicPr>
        <p:blipFill>
          <a:blip r:embed="rId2"/>
          <a:stretch>
            <a:fillRect/>
          </a:stretch>
        </p:blipFill>
        <p:spPr>
          <a:xfrm>
            <a:off x="10390559" y="378569"/>
            <a:ext cx="1124107" cy="1066949"/>
          </a:xfrm>
          <a:prstGeom prst="rect">
            <a:avLst/>
          </a:prstGeom>
        </p:spPr>
      </p:pic>
    </p:spTree>
    <p:extLst>
      <p:ext uri="{BB962C8B-B14F-4D97-AF65-F5344CB8AC3E}">
        <p14:creationId xmlns:p14="http://schemas.microsoft.com/office/powerpoint/2010/main" val="110977700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6F14-6339-41D0-8B86-760934AED0B0}"/>
              </a:ext>
            </a:extLst>
          </p:cNvPr>
          <p:cNvSpPr>
            <a:spLocks noGrp="1"/>
          </p:cNvSpPr>
          <p:nvPr>
            <p:ph type="title"/>
          </p:nvPr>
        </p:nvSpPr>
        <p:spPr/>
        <p:txBody>
          <a:bodyPr/>
          <a:lstStyle/>
          <a:p>
            <a:r>
              <a:rPr lang="en-US" b="1" dirty="0"/>
              <a:t>jQuery Effects</a:t>
            </a:r>
          </a:p>
        </p:txBody>
      </p:sp>
      <p:sp>
        <p:nvSpPr>
          <p:cNvPr id="3" name="Content Placeholder 2">
            <a:extLst>
              <a:ext uri="{FF2B5EF4-FFF2-40B4-BE49-F238E27FC236}">
                <a16:creationId xmlns:a16="http://schemas.microsoft.com/office/drawing/2014/main" id="{F4B987AB-3984-4771-9164-EBF7170998D3}"/>
              </a:ext>
            </a:extLst>
          </p:cNvPr>
          <p:cNvSpPr>
            <a:spLocks noGrp="1"/>
          </p:cNvSpPr>
          <p:nvPr>
            <p:ph idx="1"/>
          </p:nvPr>
        </p:nvSpPr>
        <p:spPr>
          <a:xfrm>
            <a:off x="677334" y="1874519"/>
            <a:ext cx="8847666" cy="4166843"/>
          </a:xfrm>
        </p:spPr>
        <p:txBody>
          <a:bodyPr/>
          <a:lstStyle/>
          <a:p>
            <a:pPr marL="400050" indent="-400050">
              <a:buFont typeface="+mj-lt"/>
              <a:buAutoNum type="romanLcPeriod" startAt="7"/>
            </a:pPr>
            <a:r>
              <a:rPr lang="en-US" dirty="0"/>
              <a:t>chaining(): </a:t>
            </a:r>
          </a:p>
          <a:p>
            <a:pPr marL="0" indent="0">
              <a:buNone/>
            </a:pPr>
            <a:r>
              <a:rPr lang="en-US" dirty="0"/>
              <a:t>Chaining allows us to run multiple jQuery commands one after another on the same element(s). To chain an action we simply append the action to the previous action. The following example chains together the </a:t>
            </a:r>
            <a:r>
              <a:rPr lang="en-US" dirty="0" err="1"/>
              <a:t>css</a:t>
            </a:r>
            <a:r>
              <a:rPr lang="en-US" dirty="0"/>
              <a:t>(), </a:t>
            </a:r>
            <a:r>
              <a:rPr lang="en-US" dirty="0" err="1"/>
              <a:t>slideUp</a:t>
            </a:r>
            <a:r>
              <a:rPr lang="en-US" dirty="0"/>
              <a:t>() and </a:t>
            </a:r>
            <a:r>
              <a:rPr lang="en-US" dirty="0" err="1"/>
              <a:t>slideDown</a:t>
            </a:r>
            <a:r>
              <a:rPr lang="en-US" dirty="0"/>
              <a:t>() methods.</a:t>
            </a:r>
          </a:p>
          <a:p>
            <a:pPr marL="0" indent="0">
              <a:buNone/>
            </a:pPr>
            <a:r>
              <a:rPr lang="en-US" b="1" dirty="0"/>
              <a:t>Example:</a:t>
            </a:r>
            <a:r>
              <a:rPr lang="en-US" dirty="0"/>
              <a:t> $(“button”).click(function(){</a:t>
            </a:r>
          </a:p>
          <a:p>
            <a:pPr marL="0" indent="0">
              <a:buNone/>
            </a:pPr>
            <a:r>
              <a:rPr lang="en-US" sz="1800" dirty="0"/>
              <a:t>		   $(“#div”).</a:t>
            </a:r>
            <a:r>
              <a:rPr lang="en-US" sz="1800" dirty="0" err="1"/>
              <a:t>css</a:t>
            </a:r>
            <a:r>
              <a:rPr lang="en-US" sz="1800" dirty="0"/>
              <a:t>(“</a:t>
            </a:r>
            <a:r>
              <a:rPr lang="en-US" dirty="0"/>
              <a:t>color</a:t>
            </a:r>
            <a:r>
              <a:rPr lang="en-US" sz="1800" dirty="0"/>
              <a:t>”, “red”).</a:t>
            </a:r>
            <a:r>
              <a:rPr lang="en-US" sz="1800" dirty="0" err="1"/>
              <a:t>slideUp</a:t>
            </a:r>
            <a:r>
              <a:rPr lang="en-US" sz="1800" dirty="0"/>
              <a:t>(2000),</a:t>
            </a:r>
            <a:r>
              <a:rPr lang="en-US" sz="1800" dirty="0" err="1"/>
              <a:t>slideDown</a:t>
            </a:r>
            <a:r>
              <a:rPr lang="en-US" sz="1800" dirty="0"/>
              <a:t>(2000);	</a:t>
            </a:r>
            <a:endParaRPr lang="en-US" dirty="0"/>
          </a:p>
          <a:p>
            <a:pPr marL="0" indent="0">
              <a:buNone/>
            </a:pPr>
            <a:r>
              <a:rPr lang="en-US" sz="1800" dirty="0"/>
              <a:t>		  });</a:t>
            </a:r>
          </a:p>
          <a:p>
            <a:pPr marL="0" indent="0">
              <a:buNone/>
            </a:pPr>
            <a:r>
              <a:rPr lang="en-US" dirty="0"/>
              <a:t>	</a:t>
            </a:r>
            <a:endParaRPr lang="en-US" sz="1800" dirty="0"/>
          </a:p>
          <a:p>
            <a:pPr marL="0" indent="0">
              <a:buNone/>
            </a:pPr>
            <a:endParaRPr lang="en-US" dirty="0"/>
          </a:p>
        </p:txBody>
      </p:sp>
      <p:pic>
        <p:nvPicPr>
          <p:cNvPr id="5" name="Picture 4">
            <a:extLst>
              <a:ext uri="{FF2B5EF4-FFF2-40B4-BE49-F238E27FC236}">
                <a16:creationId xmlns:a16="http://schemas.microsoft.com/office/drawing/2014/main" id="{5D0768BE-394F-4FCD-815B-01F9E3B78D6B}"/>
              </a:ext>
            </a:extLst>
          </p:cNvPr>
          <p:cNvPicPr>
            <a:picLocks noChangeAspect="1"/>
          </p:cNvPicPr>
          <p:nvPr/>
        </p:nvPicPr>
        <p:blipFill>
          <a:blip r:embed="rId2"/>
          <a:stretch>
            <a:fillRect/>
          </a:stretch>
        </p:blipFill>
        <p:spPr>
          <a:xfrm>
            <a:off x="10266202" y="609600"/>
            <a:ext cx="1124107" cy="1066949"/>
          </a:xfrm>
          <a:prstGeom prst="rect">
            <a:avLst/>
          </a:prstGeom>
        </p:spPr>
      </p:pic>
    </p:spTree>
    <p:extLst>
      <p:ext uri="{BB962C8B-B14F-4D97-AF65-F5344CB8AC3E}">
        <p14:creationId xmlns:p14="http://schemas.microsoft.com/office/powerpoint/2010/main" val="18260733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E5A77-3293-451A-B8FF-9EE24555449D}"/>
              </a:ext>
            </a:extLst>
          </p:cNvPr>
          <p:cNvSpPr>
            <a:spLocks noGrp="1"/>
          </p:cNvSpPr>
          <p:nvPr>
            <p:ph type="title"/>
          </p:nvPr>
        </p:nvSpPr>
        <p:spPr/>
        <p:txBody>
          <a:bodyPr/>
          <a:lstStyle/>
          <a:p>
            <a:r>
              <a:rPr lang="en-US" b="1" dirty="0"/>
              <a:t>Introduction to JSON</a:t>
            </a:r>
          </a:p>
        </p:txBody>
      </p:sp>
      <p:sp>
        <p:nvSpPr>
          <p:cNvPr id="3" name="Content Placeholder 2">
            <a:extLst>
              <a:ext uri="{FF2B5EF4-FFF2-40B4-BE49-F238E27FC236}">
                <a16:creationId xmlns:a16="http://schemas.microsoft.com/office/drawing/2014/main" id="{A2A84244-C462-4110-95F3-416073BABA90}"/>
              </a:ext>
            </a:extLst>
          </p:cNvPr>
          <p:cNvSpPr>
            <a:spLocks noGrp="1"/>
          </p:cNvSpPr>
          <p:nvPr>
            <p:ph idx="1"/>
          </p:nvPr>
        </p:nvSpPr>
        <p:spPr/>
        <p:txBody>
          <a:bodyPr/>
          <a:lstStyle/>
          <a:p>
            <a:pPr marL="0" indent="0">
              <a:buNone/>
            </a:pPr>
            <a:r>
              <a:rPr lang="en-US" dirty="0"/>
              <a:t>JSON (JavaScript Object Notation) is a text-based, human-readable data interchange format used to exchange data between web clients and web servers. The format defines a set of structuring rules for the representation of structured data. JSON is used as an alternative to Extensible Markup Language (XML).</a:t>
            </a:r>
          </a:p>
          <a:p>
            <a:pPr marL="0" indent="0">
              <a:buNone/>
            </a:pPr>
            <a:endParaRPr lang="en-US" dirty="0"/>
          </a:p>
          <a:p>
            <a:pPr marL="0" indent="0">
              <a:buNone/>
            </a:pPr>
            <a:r>
              <a:rPr lang="en-US" dirty="0"/>
              <a:t>JSON is used in JavaScript on the internet as an alternative to XML for organizing data. JSON is language-independent and can be combined with C++, Java, Python and many other languages. Unlike XML, which is a full markup language, JSON is simply a way to represent data structures. JSON documents are relatively lightweight and are rapidly executed on web servers.</a:t>
            </a:r>
          </a:p>
        </p:txBody>
      </p:sp>
      <p:pic>
        <p:nvPicPr>
          <p:cNvPr id="4098" name="Picture 2" descr="New JSON validation service available | Interoperable Europe ...">
            <a:extLst>
              <a:ext uri="{FF2B5EF4-FFF2-40B4-BE49-F238E27FC236}">
                <a16:creationId xmlns:a16="http://schemas.microsoft.com/office/drawing/2014/main" id="{A0891956-FF38-43D1-9231-40D39850221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78359" y="207389"/>
            <a:ext cx="1871712" cy="1704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66055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E5A77-3293-451A-B8FF-9EE24555449D}"/>
              </a:ext>
            </a:extLst>
          </p:cNvPr>
          <p:cNvSpPr>
            <a:spLocks noGrp="1"/>
          </p:cNvSpPr>
          <p:nvPr>
            <p:ph type="title"/>
          </p:nvPr>
        </p:nvSpPr>
        <p:spPr>
          <a:xfrm>
            <a:off x="677334" y="609600"/>
            <a:ext cx="8596668" cy="634738"/>
          </a:xfrm>
        </p:spPr>
        <p:txBody>
          <a:bodyPr>
            <a:normAutofit fontScale="90000"/>
          </a:bodyPr>
          <a:lstStyle/>
          <a:p>
            <a:pPr marL="0" indent="0">
              <a:buNone/>
            </a:pPr>
            <a:r>
              <a:rPr lang="en-US" b="1" dirty="0"/>
              <a:t>JSON Data Flow: From Server to Client</a:t>
            </a:r>
          </a:p>
        </p:txBody>
      </p:sp>
      <p:sp>
        <p:nvSpPr>
          <p:cNvPr id="3" name="Content Placeholder 2">
            <a:extLst>
              <a:ext uri="{FF2B5EF4-FFF2-40B4-BE49-F238E27FC236}">
                <a16:creationId xmlns:a16="http://schemas.microsoft.com/office/drawing/2014/main" id="{A2A84244-C462-4110-95F3-416073BABA90}"/>
              </a:ext>
            </a:extLst>
          </p:cNvPr>
          <p:cNvSpPr>
            <a:spLocks noGrp="1"/>
          </p:cNvSpPr>
          <p:nvPr>
            <p:ph idx="1"/>
          </p:nvPr>
        </p:nvSpPr>
        <p:spPr>
          <a:xfrm>
            <a:off x="677334" y="3624605"/>
            <a:ext cx="11417256" cy="2944658"/>
          </a:xfrm>
        </p:spPr>
        <p:txBody>
          <a:bodyPr>
            <a:normAutofit fontScale="92500" lnSpcReduction="10000"/>
          </a:bodyPr>
          <a:lstStyle/>
          <a:p>
            <a:pPr marL="0" indent="0">
              <a:buNone/>
            </a:pPr>
            <a:r>
              <a:rPr lang="en-US" dirty="0"/>
              <a:t>In a typical web application, the server sends data to the client (frontend) as JSON.</a:t>
            </a:r>
          </a:p>
          <a:p>
            <a:pPr marL="0" indent="0">
              <a:buNone/>
            </a:pPr>
            <a:r>
              <a:rPr lang="en-US" b="1" dirty="0"/>
              <a:t>Server Side:</a:t>
            </a:r>
          </a:p>
          <a:p>
            <a:r>
              <a:rPr lang="en-US" dirty="0"/>
              <a:t>	Data is stored as a JavaScript object.</a:t>
            </a:r>
          </a:p>
          <a:p>
            <a:r>
              <a:rPr lang="en-US" dirty="0"/>
              <a:t>	Before sending the data to the client, it's converted to a JSON string using 	</a:t>
            </a:r>
            <a:r>
              <a:rPr lang="en-US" dirty="0" err="1"/>
              <a:t>JSON.stringify</a:t>
            </a:r>
            <a:r>
              <a:rPr lang="en-US" dirty="0"/>
              <a:t>().</a:t>
            </a:r>
          </a:p>
          <a:p>
            <a:pPr marL="0" indent="0">
              <a:buNone/>
            </a:pPr>
            <a:r>
              <a:rPr lang="en-US" b="1" dirty="0"/>
              <a:t>Client Side:</a:t>
            </a:r>
          </a:p>
          <a:p>
            <a:r>
              <a:rPr lang="en-US" dirty="0"/>
              <a:t>The JSON string is received as part of an API response (e.g., via an HTTP GET request).</a:t>
            </a:r>
          </a:p>
          <a:p>
            <a:r>
              <a:rPr lang="en-US" dirty="0"/>
              <a:t>The client parses this string back into a JavaScript object using </a:t>
            </a:r>
            <a:r>
              <a:rPr lang="en-US" dirty="0" err="1"/>
              <a:t>JSON.parse</a:t>
            </a:r>
            <a:r>
              <a:rPr lang="en-US" dirty="0"/>
              <a:t>().</a:t>
            </a:r>
          </a:p>
          <a:p>
            <a:r>
              <a:rPr lang="en-US" dirty="0"/>
              <a:t>The parsed object is then used in the frontend code.</a:t>
            </a:r>
          </a:p>
        </p:txBody>
      </p:sp>
      <p:pic>
        <p:nvPicPr>
          <p:cNvPr id="8" name="Picture 7">
            <a:extLst>
              <a:ext uri="{FF2B5EF4-FFF2-40B4-BE49-F238E27FC236}">
                <a16:creationId xmlns:a16="http://schemas.microsoft.com/office/drawing/2014/main" id="{FC7AF52C-14D3-453B-9D3B-3A6438FC42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440" y="1177674"/>
            <a:ext cx="7709513" cy="2446931"/>
          </a:xfrm>
          <a:prstGeom prst="rect">
            <a:avLst/>
          </a:prstGeom>
        </p:spPr>
      </p:pic>
    </p:spTree>
    <p:extLst>
      <p:ext uri="{BB962C8B-B14F-4D97-AF65-F5344CB8AC3E}">
        <p14:creationId xmlns:p14="http://schemas.microsoft.com/office/powerpoint/2010/main" val="267772985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E5A77-3293-451A-B8FF-9EE24555449D}"/>
              </a:ext>
            </a:extLst>
          </p:cNvPr>
          <p:cNvSpPr>
            <a:spLocks noGrp="1"/>
          </p:cNvSpPr>
          <p:nvPr>
            <p:ph type="title"/>
          </p:nvPr>
        </p:nvSpPr>
        <p:spPr>
          <a:xfrm>
            <a:off x="677334" y="609600"/>
            <a:ext cx="8596668" cy="634738"/>
          </a:xfrm>
        </p:spPr>
        <p:txBody>
          <a:bodyPr>
            <a:normAutofit fontScale="90000"/>
          </a:bodyPr>
          <a:lstStyle/>
          <a:p>
            <a:pPr marL="0" indent="0">
              <a:buNone/>
            </a:pPr>
            <a:r>
              <a:rPr lang="en-US" b="1" dirty="0"/>
              <a:t>Convert Object into JSON</a:t>
            </a:r>
          </a:p>
        </p:txBody>
      </p:sp>
      <p:sp>
        <p:nvSpPr>
          <p:cNvPr id="3" name="Content Placeholder 2">
            <a:extLst>
              <a:ext uri="{FF2B5EF4-FFF2-40B4-BE49-F238E27FC236}">
                <a16:creationId xmlns:a16="http://schemas.microsoft.com/office/drawing/2014/main" id="{A2A84244-C462-4110-95F3-416073BABA90}"/>
              </a:ext>
            </a:extLst>
          </p:cNvPr>
          <p:cNvSpPr>
            <a:spLocks noGrp="1"/>
          </p:cNvSpPr>
          <p:nvPr>
            <p:ph idx="1"/>
          </p:nvPr>
        </p:nvSpPr>
        <p:spPr>
          <a:xfrm>
            <a:off x="677334" y="1244338"/>
            <a:ext cx="11417256" cy="5324925"/>
          </a:xfrm>
        </p:spPr>
        <p:txBody>
          <a:bodyPr>
            <a:normAutofit/>
          </a:bodyPr>
          <a:lstStyle/>
          <a:p>
            <a:pPr marL="0" indent="0">
              <a:buNone/>
            </a:pPr>
            <a:r>
              <a:rPr lang="en-US" b="1" dirty="0"/>
              <a:t>Transferring Objects from server side to client side</a:t>
            </a:r>
          </a:p>
          <a:p>
            <a:pPr marL="0" indent="0">
              <a:buNone/>
            </a:pPr>
            <a:r>
              <a:rPr lang="en-US" b="1" dirty="0"/>
              <a:t>Convert Object into JSON</a:t>
            </a:r>
          </a:p>
          <a:p>
            <a:pPr marL="0" indent="0">
              <a:buNone/>
            </a:pPr>
            <a:r>
              <a:rPr lang="en-US" dirty="0"/>
              <a:t>let obj = {name: "Mohit", age: 30};</a:t>
            </a:r>
          </a:p>
          <a:p>
            <a:pPr marL="0" indent="0">
              <a:buNone/>
            </a:pPr>
            <a:r>
              <a:rPr lang="en-US" dirty="0"/>
              <a:t>let </a:t>
            </a:r>
            <a:r>
              <a:rPr lang="en-US" dirty="0" err="1"/>
              <a:t>jsonS</a:t>
            </a:r>
            <a:r>
              <a:rPr lang="en-US" dirty="0"/>
              <a:t>= </a:t>
            </a:r>
            <a:r>
              <a:rPr lang="en-US" dirty="0" err="1"/>
              <a:t>JSON.stringify</a:t>
            </a:r>
            <a:r>
              <a:rPr lang="en-US" dirty="0"/>
              <a:t>(obj);</a:t>
            </a:r>
          </a:p>
          <a:p>
            <a:pPr marL="0" indent="0">
              <a:buNone/>
            </a:pPr>
            <a:r>
              <a:rPr lang="en-US" dirty="0"/>
              <a:t>console.log(</a:t>
            </a:r>
            <a:r>
              <a:rPr lang="en-US" dirty="0" err="1"/>
              <a:t>jsonS</a:t>
            </a:r>
            <a:r>
              <a:rPr lang="en-US" dirty="0"/>
              <a:t>);</a:t>
            </a:r>
          </a:p>
        </p:txBody>
      </p:sp>
    </p:spTree>
    <p:extLst>
      <p:ext uri="{BB962C8B-B14F-4D97-AF65-F5344CB8AC3E}">
        <p14:creationId xmlns:p14="http://schemas.microsoft.com/office/powerpoint/2010/main" val="55668357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E5A77-3293-451A-B8FF-9EE24555449D}"/>
              </a:ext>
            </a:extLst>
          </p:cNvPr>
          <p:cNvSpPr>
            <a:spLocks noGrp="1"/>
          </p:cNvSpPr>
          <p:nvPr>
            <p:ph type="title"/>
          </p:nvPr>
        </p:nvSpPr>
        <p:spPr>
          <a:xfrm>
            <a:off x="677334" y="609600"/>
            <a:ext cx="8596668" cy="634738"/>
          </a:xfrm>
        </p:spPr>
        <p:txBody>
          <a:bodyPr>
            <a:normAutofit fontScale="90000"/>
          </a:bodyPr>
          <a:lstStyle/>
          <a:p>
            <a:pPr marL="0" indent="0">
              <a:buNone/>
            </a:pPr>
            <a:r>
              <a:rPr lang="en-US" b="1" dirty="0"/>
              <a:t>Convert JSON into object</a:t>
            </a:r>
          </a:p>
        </p:txBody>
      </p:sp>
      <p:sp>
        <p:nvSpPr>
          <p:cNvPr id="3" name="Content Placeholder 2">
            <a:extLst>
              <a:ext uri="{FF2B5EF4-FFF2-40B4-BE49-F238E27FC236}">
                <a16:creationId xmlns:a16="http://schemas.microsoft.com/office/drawing/2014/main" id="{A2A84244-C462-4110-95F3-416073BABA90}"/>
              </a:ext>
            </a:extLst>
          </p:cNvPr>
          <p:cNvSpPr>
            <a:spLocks noGrp="1"/>
          </p:cNvSpPr>
          <p:nvPr>
            <p:ph idx="1"/>
          </p:nvPr>
        </p:nvSpPr>
        <p:spPr>
          <a:xfrm>
            <a:off x="677334" y="1244338"/>
            <a:ext cx="11417256" cy="5324925"/>
          </a:xfrm>
        </p:spPr>
        <p:txBody>
          <a:bodyPr>
            <a:normAutofit/>
          </a:bodyPr>
          <a:lstStyle/>
          <a:p>
            <a:pPr marL="0" indent="0">
              <a:buNone/>
            </a:pPr>
            <a:r>
              <a:rPr lang="en-US" dirty="0"/>
              <a:t>Here’s a JSON string received from the server</a:t>
            </a:r>
            <a:br>
              <a:rPr lang="en-US" dirty="0"/>
            </a:br>
            <a:r>
              <a:rPr lang="en-US" dirty="0"/>
              <a:t> we need to parse it into a JavaScript object:</a:t>
            </a:r>
          </a:p>
          <a:p>
            <a:pPr>
              <a:buFont typeface="Wingdings" panose="05000000000000000000" pitchFamily="2" charset="2"/>
              <a:buChar char="q"/>
            </a:pPr>
            <a:r>
              <a:rPr lang="en-US" dirty="0"/>
              <a:t>const </a:t>
            </a:r>
            <a:r>
              <a:rPr lang="en-US" dirty="0" err="1"/>
              <a:t>jsonS</a:t>
            </a:r>
            <a:r>
              <a:rPr lang="en-US" dirty="0"/>
              <a:t> = '{"</a:t>
            </a:r>
            <a:r>
              <a:rPr lang="en-US" dirty="0" err="1"/>
              <a:t>name":"Mohit</a:t>
            </a:r>
            <a:r>
              <a:rPr lang="en-US" dirty="0"/>
              <a:t>", "age":30}’;</a:t>
            </a:r>
          </a:p>
          <a:p>
            <a:pPr>
              <a:buFont typeface="Wingdings" panose="05000000000000000000" pitchFamily="2" charset="2"/>
              <a:buChar char="q"/>
            </a:pPr>
            <a:r>
              <a:rPr lang="en-US" dirty="0"/>
              <a:t>const obj1 = </a:t>
            </a:r>
            <a:r>
              <a:rPr lang="en-US" dirty="0" err="1"/>
              <a:t>JSON.parse</a:t>
            </a:r>
            <a:r>
              <a:rPr lang="en-US" dirty="0"/>
              <a:t>(</a:t>
            </a:r>
            <a:r>
              <a:rPr lang="en-US" dirty="0" err="1"/>
              <a:t>jsonS</a:t>
            </a:r>
            <a:r>
              <a:rPr lang="en-US" dirty="0"/>
              <a:t>);</a:t>
            </a:r>
          </a:p>
          <a:p>
            <a:pPr>
              <a:buFont typeface="Wingdings" panose="05000000000000000000" pitchFamily="2" charset="2"/>
              <a:buChar char="q"/>
            </a:pPr>
            <a:r>
              <a:rPr lang="en-US" dirty="0"/>
              <a:t>let name = obj1.name;</a:t>
            </a:r>
          </a:p>
          <a:p>
            <a:pPr>
              <a:buFont typeface="Wingdings" panose="05000000000000000000" pitchFamily="2" charset="2"/>
              <a:buChar char="q"/>
            </a:pPr>
            <a:r>
              <a:rPr lang="en-US" dirty="0"/>
              <a:t>let age = obj1.age;</a:t>
            </a:r>
          </a:p>
          <a:p>
            <a:pPr>
              <a:buFont typeface="Wingdings" panose="05000000000000000000" pitchFamily="2" charset="2"/>
              <a:buChar char="q"/>
            </a:pPr>
            <a:r>
              <a:rPr lang="en-US" dirty="0"/>
              <a:t>console.log(`Name: ${name}, Age: ${age}`);</a:t>
            </a:r>
          </a:p>
        </p:txBody>
      </p:sp>
    </p:spTree>
    <p:extLst>
      <p:ext uri="{BB962C8B-B14F-4D97-AF65-F5344CB8AC3E}">
        <p14:creationId xmlns:p14="http://schemas.microsoft.com/office/powerpoint/2010/main" val="263550101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A84244-C462-4110-95F3-416073BABA90}"/>
              </a:ext>
            </a:extLst>
          </p:cNvPr>
          <p:cNvSpPr>
            <a:spLocks noGrp="1"/>
          </p:cNvSpPr>
          <p:nvPr>
            <p:ph idx="1"/>
          </p:nvPr>
        </p:nvSpPr>
        <p:spPr>
          <a:xfrm>
            <a:off x="677334" y="254524"/>
            <a:ext cx="11417256" cy="6314739"/>
          </a:xfrm>
        </p:spPr>
        <p:txBody>
          <a:bodyPr>
            <a:normAutofit/>
          </a:bodyPr>
          <a:lstStyle/>
          <a:p>
            <a:pPr algn="l" fontAlgn="base"/>
            <a:r>
              <a:rPr lang="en-US" b="1" i="0" dirty="0">
                <a:solidFill>
                  <a:srgbClr val="273239"/>
                </a:solidFill>
                <a:effectLst/>
                <a:latin typeface="Nunito" pitchFamily="2" charset="0"/>
              </a:rPr>
              <a:t>Key Features of JSON</a:t>
            </a:r>
          </a:p>
          <a:p>
            <a:pPr lvl="1" fontAlgn="base">
              <a:buFont typeface="Arial" panose="020B0604020202020204" pitchFamily="34" charset="0"/>
              <a:buChar char="•"/>
            </a:pPr>
            <a:r>
              <a:rPr lang="en-US" b="1" i="0" dirty="0">
                <a:solidFill>
                  <a:srgbClr val="273239"/>
                </a:solidFill>
                <a:effectLst/>
                <a:latin typeface="Nunito" pitchFamily="2" charset="0"/>
              </a:rPr>
              <a:t>Text-based: </a:t>
            </a:r>
            <a:r>
              <a:rPr lang="en-US" b="0" i="0" dirty="0">
                <a:solidFill>
                  <a:srgbClr val="273239"/>
                </a:solidFill>
                <a:effectLst/>
                <a:latin typeface="Nunito" pitchFamily="2" charset="0"/>
              </a:rPr>
              <a:t>JSON is a simple text format, making it lightweight and easy to transmit.</a:t>
            </a:r>
          </a:p>
          <a:p>
            <a:pPr lvl="1" fontAlgn="base">
              <a:buFont typeface="Arial" panose="020B0604020202020204" pitchFamily="34" charset="0"/>
              <a:buChar char="•"/>
            </a:pPr>
            <a:r>
              <a:rPr lang="en-US" b="1" i="0" dirty="0">
                <a:solidFill>
                  <a:srgbClr val="273239"/>
                </a:solidFill>
                <a:effectLst/>
                <a:latin typeface="Nunito" pitchFamily="2" charset="0"/>
              </a:rPr>
              <a:t>Human-readable: </a:t>
            </a:r>
            <a:r>
              <a:rPr lang="en-US" b="0" i="0" dirty="0">
                <a:solidFill>
                  <a:srgbClr val="273239"/>
                </a:solidFill>
                <a:effectLst/>
                <a:latin typeface="Nunito" pitchFamily="2" charset="0"/>
              </a:rPr>
              <a:t>It uses key-value pairs, making the structure easy to understand.</a:t>
            </a:r>
          </a:p>
          <a:p>
            <a:pPr lvl="1" fontAlgn="base">
              <a:buFont typeface="Arial" panose="020B0604020202020204" pitchFamily="34" charset="0"/>
              <a:buChar char="•"/>
            </a:pPr>
            <a:r>
              <a:rPr lang="en-US" b="1" i="0" dirty="0">
                <a:solidFill>
                  <a:srgbClr val="273239"/>
                </a:solidFill>
                <a:effectLst/>
                <a:latin typeface="Nunito" pitchFamily="2" charset="0"/>
              </a:rPr>
              <a:t>Language-independent: </a:t>
            </a:r>
            <a:r>
              <a:rPr lang="en-US" b="0" i="0" dirty="0">
                <a:solidFill>
                  <a:srgbClr val="273239"/>
                </a:solidFill>
                <a:effectLst/>
                <a:latin typeface="Nunito" pitchFamily="2" charset="0"/>
              </a:rPr>
              <a:t>While it is derived from JavaScript, JSON is supported by many programming 	languages including Python, Java, PHP, and more.</a:t>
            </a:r>
          </a:p>
          <a:p>
            <a:pPr lvl="1" fontAlgn="base">
              <a:buFont typeface="Arial" panose="020B0604020202020204" pitchFamily="34" charset="0"/>
              <a:buChar char="•"/>
            </a:pPr>
            <a:r>
              <a:rPr lang="en-US" b="1" i="0" dirty="0">
                <a:solidFill>
                  <a:srgbClr val="273239"/>
                </a:solidFill>
                <a:effectLst/>
                <a:latin typeface="Nunito" pitchFamily="2" charset="0"/>
              </a:rPr>
              <a:t>Data structure: </a:t>
            </a:r>
            <a:r>
              <a:rPr lang="en-US" b="0" i="0" dirty="0">
                <a:solidFill>
                  <a:srgbClr val="273239"/>
                </a:solidFill>
                <a:effectLst/>
                <a:latin typeface="Nunito" pitchFamily="2" charset="0"/>
              </a:rPr>
              <a:t>It represents data as objects, arrays, strings, numbers, </a:t>
            </a:r>
            <a:r>
              <a:rPr lang="en-US" b="0" i="0" dirty="0" err="1">
                <a:solidFill>
                  <a:srgbClr val="273239"/>
                </a:solidFill>
                <a:effectLst/>
                <a:latin typeface="Nunito" pitchFamily="2" charset="0"/>
              </a:rPr>
              <a:t>booleans</a:t>
            </a:r>
            <a:r>
              <a:rPr lang="en-US" b="0" i="0" dirty="0">
                <a:solidFill>
                  <a:srgbClr val="273239"/>
                </a:solidFill>
                <a:effectLst/>
                <a:latin typeface="Nunito" pitchFamily="2" charset="0"/>
              </a:rPr>
              <a:t>, and null.</a:t>
            </a:r>
          </a:p>
          <a:p>
            <a:pPr algn="l" fontAlgn="base"/>
            <a:r>
              <a:rPr lang="en-US" b="1" i="0" dirty="0">
                <a:solidFill>
                  <a:srgbClr val="273239"/>
                </a:solidFill>
                <a:effectLst/>
                <a:latin typeface="Nunito" pitchFamily="2" charset="0"/>
              </a:rPr>
              <a:t>JSON Structure</a:t>
            </a:r>
          </a:p>
          <a:p>
            <a:pPr algn="l" rtl="0" fontAlgn="base"/>
            <a:r>
              <a:rPr lang="en-US" b="0" i="0" dirty="0">
                <a:solidFill>
                  <a:srgbClr val="273239"/>
                </a:solidFill>
                <a:effectLst/>
                <a:latin typeface="Nunito" pitchFamily="2" charset="0"/>
              </a:rPr>
              <a:t>The basic structure of JSON consists of two primary components:</a:t>
            </a:r>
          </a:p>
          <a:p>
            <a:pPr lvl="1" fontAlgn="base">
              <a:buFont typeface="Arial" panose="020B0604020202020204" pitchFamily="34" charset="0"/>
              <a:buChar char="•"/>
            </a:pPr>
            <a:r>
              <a:rPr lang="en-US" b="1" i="0" dirty="0">
                <a:solidFill>
                  <a:srgbClr val="273239"/>
                </a:solidFill>
                <a:effectLst/>
                <a:latin typeface="Nunito" pitchFamily="2" charset="0"/>
              </a:rPr>
              <a:t>Objects:</a:t>
            </a:r>
            <a:r>
              <a:rPr lang="en-US" b="0" i="0" dirty="0">
                <a:solidFill>
                  <a:srgbClr val="273239"/>
                </a:solidFill>
                <a:effectLst/>
                <a:latin typeface="Nunito" pitchFamily="2" charset="0"/>
              </a:rPr>
              <a:t> These are enclosed in curly braces {} and contain key-value pairs.</a:t>
            </a:r>
          </a:p>
          <a:p>
            <a:pPr lvl="1" fontAlgn="base">
              <a:buFont typeface="Arial" panose="020B0604020202020204" pitchFamily="34" charset="0"/>
              <a:buChar char="•"/>
            </a:pPr>
            <a:r>
              <a:rPr lang="en-US" b="1" i="0" dirty="0">
                <a:solidFill>
                  <a:srgbClr val="273239"/>
                </a:solidFill>
                <a:effectLst/>
                <a:latin typeface="Nunito" pitchFamily="2" charset="0"/>
              </a:rPr>
              <a:t>Arrays: </a:t>
            </a:r>
            <a:r>
              <a:rPr lang="en-US" b="0" i="0" dirty="0">
                <a:solidFill>
                  <a:srgbClr val="273239"/>
                </a:solidFill>
                <a:effectLst/>
                <a:latin typeface="Nunito" pitchFamily="2" charset="0"/>
              </a:rPr>
              <a:t>Arrays are ordered lists enclosed in square brackets [].</a:t>
            </a:r>
            <a:endParaRPr lang="en-US" dirty="0"/>
          </a:p>
          <a:p>
            <a:pPr algn="l" fontAlgn="base"/>
            <a:r>
              <a:rPr lang="en-US" b="1" i="0" dirty="0">
                <a:solidFill>
                  <a:srgbClr val="273239"/>
                </a:solidFill>
                <a:effectLst/>
                <a:latin typeface="Nunito" pitchFamily="2" charset="0"/>
              </a:rPr>
              <a:t>Applications of JSON</a:t>
            </a:r>
          </a:p>
          <a:p>
            <a:pPr lvl="1" fontAlgn="base">
              <a:buFont typeface="Arial" panose="020B0604020202020204" pitchFamily="34" charset="0"/>
              <a:buChar char="•"/>
            </a:pPr>
            <a:r>
              <a:rPr lang="en-US" b="1" i="0" dirty="0">
                <a:solidFill>
                  <a:srgbClr val="273239"/>
                </a:solidFill>
                <a:effectLst/>
                <a:latin typeface="Nunito" pitchFamily="2" charset="0"/>
              </a:rPr>
              <a:t>APIs: </a:t>
            </a:r>
            <a:r>
              <a:rPr lang="en-US" b="0" i="0" dirty="0">
                <a:solidFill>
                  <a:srgbClr val="273239"/>
                </a:solidFill>
                <a:effectLst/>
                <a:latin typeface="Nunito" pitchFamily="2" charset="0"/>
              </a:rPr>
              <a:t>JSON is the most commonly used format for API responses due to its lightweight nature.</a:t>
            </a:r>
          </a:p>
          <a:p>
            <a:pPr lvl="1" fontAlgn="base">
              <a:buFont typeface="Arial" panose="020B0604020202020204" pitchFamily="34" charset="0"/>
              <a:buChar char="•"/>
            </a:pPr>
            <a:r>
              <a:rPr lang="en-US" b="1" i="0" dirty="0">
                <a:solidFill>
                  <a:srgbClr val="273239"/>
                </a:solidFill>
                <a:effectLst/>
                <a:latin typeface="Nunito" pitchFamily="2" charset="0"/>
              </a:rPr>
              <a:t>Configuration Files:</a:t>
            </a:r>
            <a:r>
              <a:rPr lang="en-US" b="0" i="0" dirty="0">
                <a:solidFill>
                  <a:srgbClr val="273239"/>
                </a:solidFill>
                <a:effectLst/>
                <a:latin typeface="Nunito" pitchFamily="2" charset="0"/>
              </a:rPr>
              <a:t> Many software systems use JSON files for storing configuration data.</a:t>
            </a:r>
          </a:p>
          <a:p>
            <a:pPr lvl="1" fontAlgn="base">
              <a:buFont typeface="Arial" panose="020B0604020202020204" pitchFamily="34" charset="0"/>
              <a:buChar char="•"/>
            </a:pPr>
            <a:r>
              <a:rPr lang="en-US" b="1" i="0" dirty="0">
                <a:solidFill>
                  <a:srgbClr val="273239"/>
                </a:solidFill>
                <a:effectLst/>
                <a:latin typeface="Nunito" pitchFamily="2" charset="0"/>
              </a:rPr>
              <a:t>Databases: </a:t>
            </a:r>
            <a:r>
              <a:rPr lang="en-US" b="0" i="0" dirty="0">
                <a:solidFill>
                  <a:srgbClr val="273239"/>
                </a:solidFill>
                <a:effectLst/>
                <a:latin typeface="Nunito" pitchFamily="2" charset="0"/>
              </a:rPr>
              <a:t>Some </a:t>
            </a:r>
            <a:r>
              <a:rPr lang="en-US" b="0" i="0" u="sng" dirty="0">
                <a:solidFill>
                  <a:srgbClr val="273239"/>
                </a:solidFill>
                <a:effectLst/>
                <a:latin typeface="Nunito" pitchFamily="2" charset="0"/>
                <a:hlinkClick r:id="rId2"/>
              </a:rPr>
              <a:t>NoSQL databases</a:t>
            </a:r>
            <a:r>
              <a:rPr lang="en-US" b="0" i="0" dirty="0">
                <a:solidFill>
                  <a:srgbClr val="273239"/>
                </a:solidFill>
                <a:effectLst/>
                <a:latin typeface="Nunito" pitchFamily="2" charset="0"/>
              </a:rPr>
              <a:t>, like </a:t>
            </a:r>
            <a:r>
              <a:rPr lang="en-US" b="0" i="0" u="sng" dirty="0">
                <a:solidFill>
                  <a:srgbClr val="273239"/>
                </a:solidFill>
                <a:effectLst/>
                <a:latin typeface="Nunito" pitchFamily="2" charset="0"/>
                <a:hlinkClick r:id="rId3"/>
              </a:rPr>
              <a:t>MongoDB</a:t>
            </a:r>
            <a:r>
              <a:rPr lang="en-US" b="0" i="0" dirty="0">
                <a:solidFill>
                  <a:srgbClr val="273239"/>
                </a:solidFill>
                <a:effectLst/>
                <a:latin typeface="Nunito" pitchFamily="2" charset="0"/>
              </a:rPr>
              <a:t>, store data in JSON-like formats.</a:t>
            </a:r>
          </a:p>
          <a:p>
            <a:pPr lvl="1" fontAlgn="base">
              <a:buFont typeface="Arial" panose="020B0604020202020204" pitchFamily="34" charset="0"/>
              <a:buChar char="•"/>
            </a:pPr>
            <a:r>
              <a:rPr lang="en-US" b="1" i="0" dirty="0">
                <a:solidFill>
                  <a:srgbClr val="273239"/>
                </a:solidFill>
                <a:effectLst/>
                <a:latin typeface="Nunito" pitchFamily="2" charset="0"/>
              </a:rPr>
              <a:t>Data Transfer: </a:t>
            </a:r>
            <a:r>
              <a:rPr lang="en-US" b="0" i="0" dirty="0">
                <a:solidFill>
                  <a:srgbClr val="273239"/>
                </a:solidFill>
                <a:effectLst/>
                <a:latin typeface="Nunito" pitchFamily="2" charset="0"/>
              </a:rPr>
              <a:t>JSON is widely used for transferring data between servers and clients, especially in web development.</a:t>
            </a:r>
          </a:p>
        </p:txBody>
      </p:sp>
    </p:spTree>
    <p:extLst>
      <p:ext uri="{BB962C8B-B14F-4D97-AF65-F5344CB8AC3E}">
        <p14:creationId xmlns:p14="http://schemas.microsoft.com/office/powerpoint/2010/main" val="385343808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5247</TotalTime>
  <Words>7842</Words>
  <Application>Microsoft Office PowerPoint</Application>
  <PresentationFormat>Widescreen</PresentationFormat>
  <Paragraphs>629</Paragraphs>
  <Slides>106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106</vt:i4>
      </vt:variant>
    </vt:vector>
  </HeadingPairs>
  <TitlesOfParts>
    <vt:vector size="116" baseType="lpstr">
      <vt:lpstr>Arial</vt:lpstr>
      <vt:lpstr>Consolas</vt:lpstr>
      <vt:lpstr>euclid_circular_a</vt:lpstr>
      <vt:lpstr>Montserrat</vt:lpstr>
      <vt:lpstr>Nunito</vt:lpstr>
      <vt:lpstr>Trebuchet MS</vt:lpstr>
      <vt:lpstr>Verdana</vt:lpstr>
      <vt:lpstr>Wingdings</vt:lpstr>
      <vt:lpstr>Wingdings 3</vt:lpstr>
      <vt:lpstr>Facet</vt:lpstr>
      <vt:lpstr>Unit 4 Client Side Scripting language</vt:lpstr>
      <vt:lpstr>Introduction to JavaScript</vt:lpstr>
      <vt:lpstr>What is JavaScript?</vt:lpstr>
      <vt:lpstr>What can a JavaScript Do ?</vt:lpstr>
      <vt:lpstr>JavaScript Variables</vt:lpstr>
      <vt:lpstr>JavaScript Variables</vt:lpstr>
      <vt:lpstr>Declaring (Creating) JavaScript Variables using var</vt:lpstr>
      <vt:lpstr>Assigning Values to Undeclared JavaScript Variables</vt:lpstr>
      <vt:lpstr>Example</vt:lpstr>
      <vt:lpstr>JavaScript Let</vt:lpstr>
      <vt:lpstr>JavaScript Const</vt:lpstr>
      <vt:lpstr>Data Types</vt:lpstr>
      <vt:lpstr>Example</vt:lpstr>
      <vt:lpstr>JavaScript Operators</vt:lpstr>
      <vt:lpstr>Javascript Statements</vt:lpstr>
      <vt:lpstr>JavaScript Statements</vt:lpstr>
      <vt:lpstr>JavaScript Expression</vt:lpstr>
      <vt:lpstr>JavaScript Keywords</vt:lpstr>
      <vt:lpstr>JavaScript Blocks</vt:lpstr>
      <vt:lpstr>Arithmetic Operators</vt:lpstr>
      <vt:lpstr>Assignment Operator</vt:lpstr>
      <vt:lpstr>Comparison Operator</vt:lpstr>
      <vt:lpstr>Logical Operators</vt:lpstr>
      <vt:lpstr>Conditional Statements</vt:lpstr>
      <vt:lpstr>JavaScript Controlling(Looping) Statements</vt:lpstr>
      <vt:lpstr>JavaScript function</vt:lpstr>
      <vt:lpstr>JavaScript function</vt:lpstr>
      <vt:lpstr>document.write() function</vt:lpstr>
      <vt:lpstr>Example</vt:lpstr>
      <vt:lpstr>console.log() function</vt:lpstr>
      <vt:lpstr>Example</vt:lpstr>
      <vt:lpstr>getElementById function</vt:lpstr>
      <vt:lpstr>innerHTML property</vt:lpstr>
      <vt:lpstr>parseFloat</vt:lpstr>
      <vt:lpstr>parseFloat</vt:lpstr>
      <vt:lpstr>Class and Object</vt:lpstr>
      <vt:lpstr>Creating object using object literals</vt:lpstr>
      <vt:lpstr>Creating objects with function constructors</vt:lpstr>
      <vt:lpstr>Creating objects with class</vt:lpstr>
      <vt:lpstr>Built-in objects in JavaScript</vt:lpstr>
      <vt:lpstr>Built-in objects in JavaScript</vt:lpstr>
      <vt:lpstr>JavaScript Array</vt:lpstr>
      <vt:lpstr>Accessing elements in an array:</vt:lpstr>
      <vt:lpstr>Modifying elements in an array:</vt:lpstr>
      <vt:lpstr>Array methods and operations:</vt:lpstr>
      <vt:lpstr>JavaScript String</vt:lpstr>
      <vt:lpstr>JavaScript String Methods</vt:lpstr>
      <vt:lpstr>String Length</vt:lpstr>
      <vt:lpstr>toUpperCase() and toLowerCase() </vt:lpstr>
      <vt:lpstr>concat()</vt:lpstr>
      <vt:lpstr>slice()</vt:lpstr>
      <vt:lpstr>replace()</vt:lpstr>
      <vt:lpstr>Boolean objects</vt:lpstr>
      <vt:lpstr>Number objects</vt:lpstr>
      <vt:lpstr>Number object methods</vt:lpstr>
      <vt:lpstr>Number object methods</vt:lpstr>
      <vt:lpstr>Number object methods</vt:lpstr>
      <vt:lpstr>Math object methods</vt:lpstr>
      <vt:lpstr>Math object methods</vt:lpstr>
      <vt:lpstr>Math object methods</vt:lpstr>
      <vt:lpstr>Math object methods</vt:lpstr>
      <vt:lpstr>Date object </vt:lpstr>
      <vt:lpstr>Date object </vt:lpstr>
      <vt:lpstr>Date object </vt:lpstr>
      <vt:lpstr>Date object methods</vt:lpstr>
      <vt:lpstr>RegExp object</vt:lpstr>
      <vt:lpstr>RegEx object methods</vt:lpstr>
      <vt:lpstr>RegEx object methods</vt:lpstr>
      <vt:lpstr>RegEx object methods</vt:lpstr>
      <vt:lpstr>RegEx object methods</vt:lpstr>
      <vt:lpstr>Window object</vt:lpstr>
      <vt:lpstr>Window object</vt:lpstr>
      <vt:lpstr>Event Handling</vt:lpstr>
      <vt:lpstr>Event handling Eg</vt:lpstr>
      <vt:lpstr>The HTML DOM (Document Object Model)</vt:lpstr>
      <vt:lpstr>Here are some key concepts related to the DOM in JavaScript:</vt:lpstr>
      <vt:lpstr>Form validation</vt:lpstr>
      <vt:lpstr>Error Handling in JavaScript</vt:lpstr>
      <vt:lpstr>Error Handling in JavaScript</vt:lpstr>
      <vt:lpstr>Error Handling in JavaScript</vt:lpstr>
      <vt:lpstr>Example</vt:lpstr>
      <vt:lpstr>JavaScript Cookies</vt:lpstr>
      <vt:lpstr>JavaScript Cookies</vt:lpstr>
      <vt:lpstr>How It Works ? </vt:lpstr>
      <vt:lpstr>Create a Cookie with JavaScript</vt:lpstr>
      <vt:lpstr>Read a Cookie with JavaScript</vt:lpstr>
      <vt:lpstr>Change a Cookie with JavaScript</vt:lpstr>
      <vt:lpstr>Delete a Cookie with JavaScript </vt:lpstr>
      <vt:lpstr>JQuery </vt:lpstr>
      <vt:lpstr>JQuery Syntax</vt:lpstr>
      <vt:lpstr>jQuery Selectors</vt:lpstr>
      <vt:lpstr>jQuery Selectors</vt:lpstr>
      <vt:lpstr>jQuery Selectors</vt:lpstr>
      <vt:lpstr>jQuery Events</vt:lpstr>
      <vt:lpstr>jQuery Effects</vt:lpstr>
      <vt:lpstr>jQuery Effects</vt:lpstr>
      <vt:lpstr>jQuery Effects</vt:lpstr>
      <vt:lpstr>jQuery Effects</vt:lpstr>
      <vt:lpstr>jQuery Effects</vt:lpstr>
      <vt:lpstr>jQuery Effects</vt:lpstr>
      <vt:lpstr>jQuery Effects</vt:lpstr>
      <vt:lpstr>Introduction to JSON</vt:lpstr>
      <vt:lpstr>JSON Data Flow: From Server to Client</vt:lpstr>
      <vt:lpstr>Convert Object into JSON</vt:lpstr>
      <vt:lpstr>Convert JSON into object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Client side Scripting language</dc:title>
  <dc:creator>Hp</dc:creator>
  <cp:lastModifiedBy>Yachu</cp:lastModifiedBy>
  <cp:revision>207</cp:revision>
  <dcterms:created xsi:type="dcterms:W3CDTF">2023-06-19T16:21:00Z</dcterms:created>
  <dcterms:modified xsi:type="dcterms:W3CDTF">2026-02-03T03:00:54Z</dcterms:modified>
</cp:coreProperties>
</file>